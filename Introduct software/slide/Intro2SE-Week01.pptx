
<file path=[Content_Types].xml><?xml version="1.0" encoding="utf-8"?>
<Types xmlns="http://schemas.openxmlformats.org/package/2006/content-types">
  <Default Extension="jpeg" ContentType="image/jpeg"/>
  <Default Extension="jpg" ContentType="image/jpeg"/>
  <Default Extension="png" ContentType="image/png"/>
  <Default Extension="png&amp;w=3840&amp;q=75&amp;dpl=dpl_5iecw4kH6bzeKyVWGx3VNn5nxDtj"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4"/>
  </p:notesMasterIdLst>
  <p:sldIdLst>
    <p:sldId id="256" r:id="rId2"/>
    <p:sldId id="257" r:id="rId3"/>
    <p:sldId id="285" r:id="rId4"/>
    <p:sldId id="283" r:id="rId5"/>
    <p:sldId id="259" r:id="rId6"/>
    <p:sldId id="276" r:id="rId7"/>
    <p:sldId id="277" r:id="rId8"/>
    <p:sldId id="261" r:id="rId9"/>
    <p:sldId id="290" r:id="rId10"/>
    <p:sldId id="279" r:id="rId11"/>
    <p:sldId id="284" r:id="rId12"/>
    <p:sldId id="263" r:id="rId13"/>
    <p:sldId id="291" r:id="rId14"/>
    <p:sldId id="286" r:id="rId15"/>
    <p:sldId id="287" r:id="rId16"/>
    <p:sldId id="280" r:id="rId17"/>
    <p:sldId id="260" r:id="rId18"/>
    <p:sldId id="270" r:id="rId19"/>
    <p:sldId id="267" r:id="rId20"/>
    <p:sldId id="292" r:id="rId21"/>
    <p:sldId id="275" r:id="rId22"/>
    <p:sldId id="272" r:id="rId23"/>
    <p:sldId id="274" r:id="rId24"/>
    <p:sldId id="273" r:id="rId25"/>
    <p:sldId id="288" r:id="rId26"/>
    <p:sldId id="278" r:id="rId27"/>
    <p:sldId id="262" r:id="rId28"/>
    <p:sldId id="289" r:id="rId29"/>
    <p:sldId id="282" r:id="rId30"/>
    <p:sldId id="269" r:id="rId31"/>
    <p:sldId id="271" r:id="rId32"/>
    <p:sldId id="268" r:id="rId3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26"/>
    <p:restoredTop sz="96498"/>
  </p:normalViewPr>
  <p:slideViewPr>
    <p:cSldViewPr snapToGrid="0">
      <p:cViewPr>
        <p:scale>
          <a:sx n="65" d="100"/>
          <a:sy n="65" d="100"/>
        </p:scale>
        <p:origin x="1232" y="9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pPr/>
              <a:t>7/30/26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github.com</a:t>
            </a:r>
            <a:r>
              <a:rPr lang="en-US" dirty="0"/>
              <a:t>/Sumanth077/</a:t>
            </a:r>
            <a:r>
              <a:rPr lang="en-US" dirty="0" err="1"/>
              <a:t>Hands-On-AI-Engineering?fbclid</a:t>
            </a:r>
            <a:r>
              <a:rPr lang="en-US" dirty="0"/>
              <a:t>=IwY2xjawTNFqNleHRuA2FlbQIxMABicmlkETEyaGFLUVYwc21NSWpxalZxc3J0YwZhcHBfaWQQMjIyMDM5MTc4ODIwMDg5MgABHuQP4mOITmKyGnjKJyj7C1GylqnvbnIuWptQZDmlGsvmJGhuCvzlI10gdNkV_aem_Goui0yImp9K9Siht2JrNNw</a:t>
            </a:r>
            <a:endParaRPr lang="th-TH"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H" dirty="0"/>
          </a:p>
        </p:txBody>
      </p:sp>
      <p:sp>
        <p:nvSpPr>
          <p:cNvPr id="4" name="Slide Number Placeholder 3"/>
          <p:cNvSpPr>
            <a:spLocks noGrp="1"/>
          </p:cNvSpPr>
          <p:nvPr>
            <p:ph type="sldNum" sz="quarter" idx="5"/>
          </p:nvPr>
        </p:nvSpPr>
        <p:spPr/>
        <p:txBody>
          <a:bodyPr/>
          <a:lstStyle/>
          <a:p>
            <a:fld id="{CE5E9CC1-C706-0F49-92D6-E571CC5EEA8F}" type="slidenum">
              <a:rPr lang="en-US" smtClean="0"/>
              <a:pPr/>
              <a:t>3</a:t>
            </a:fld>
            <a:endParaRPr lang="en-US"/>
          </a:p>
        </p:txBody>
      </p:sp>
    </p:spTree>
    <p:extLst>
      <p:ext uri="{BB962C8B-B14F-4D97-AF65-F5344CB8AC3E}">
        <p14:creationId xmlns:p14="http://schemas.microsoft.com/office/powerpoint/2010/main" val="1721143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0" spc="-120" dirty="0">
                <a:solidFill>
                  <a:srgbClr val="0B0F19"/>
                </a:solidFill>
                <a:latin typeface="Space Grotesk" pitchFamily="34" charset="0"/>
                <a:ea typeface="Space Grotesk" pitchFamily="34" charset="-122"/>
                <a:cs typeface="Space Grotesk" pitchFamily="34" charset="-120"/>
              </a:rPr>
              <a:t>How the fourteen weeks run</a:t>
            </a:r>
            <a:endParaRPr lang="en-US" sz="1200" dirty="0"/>
          </a:p>
          <a:p>
            <a:endParaRPr lang="en-TH" dirty="0"/>
          </a:p>
        </p:txBody>
      </p:sp>
      <p:sp>
        <p:nvSpPr>
          <p:cNvPr id="4" name="Slide Number Placeholder 3"/>
          <p:cNvSpPr>
            <a:spLocks noGrp="1"/>
          </p:cNvSpPr>
          <p:nvPr>
            <p:ph type="sldNum" sz="quarter" idx="5"/>
          </p:nvPr>
        </p:nvSpPr>
        <p:spPr/>
        <p:txBody>
          <a:bodyPr/>
          <a:lstStyle/>
          <a:p>
            <a:fld id="{CE5E9CC1-C706-0F49-92D6-E571CC5EEA8F}" type="slidenum">
              <a:rPr lang="en-US" smtClean="0"/>
              <a:pPr/>
              <a:t>9</a:t>
            </a:fld>
            <a:endParaRPr lang="en-US"/>
          </a:p>
        </p:txBody>
      </p:sp>
    </p:spTree>
    <p:extLst>
      <p:ext uri="{BB962C8B-B14F-4D97-AF65-F5344CB8AC3E}">
        <p14:creationId xmlns:p14="http://schemas.microsoft.com/office/powerpoint/2010/main" val="14012589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9F0FE-35DA-BD22-1350-4755F90F27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5D426B-D017-CBA3-FD40-C877F5AD41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FB3D2-50AA-4E50-DF3B-9BD0E90937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A4250"/>
                </a:solidFill>
                <a:latin typeface="Arimo"/>
                <a:ea typeface="Arimo"/>
                <a:cs typeface="Arimo"/>
                <a:sym typeface="Arimo"/>
              </a:rPr>
              <a:t>Six components, one grade. Every component ties to a real engineering skill — not just exam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3A4250"/>
              </a:solidFill>
              <a:latin typeface="Arimo"/>
              <a:ea typeface="Arimo"/>
              <a:cs typeface="Arimo"/>
              <a:sym typeface="Arim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A4250"/>
                </a:solidFill>
                <a:latin typeface="Arimo"/>
                <a:ea typeface="Arimo"/>
                <a:cs typeface="Arimo"/>
                <a:sym typeface="Arimo"/>
              </a:rPr>
              <a:t>30% Five milestones from problem definition to final demonstration. Teamwork, iteration, and delivery all count.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A4250"/>
                </a:solidFill>
                <a:latin typeface="Arimo"/>
                <a:ea typeface="Arimo"/>
                <a:cs typeface="Arimo"/>
                <a:sym typeface="Arimo"/>
              </a:rPr>
              <a:t>Midterm 20% and Final Exam 20%. Tests concepts, analysis, and application of software engineering principles.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A4250"/>
                </a:solidFill>
                <a:latin typeface="Arimo"/>
                <a:ea typeface="Arimo"/>
                <a:cs typeface="Arimo"/>
                <a:sym typeface="Arimo"/>
              </a:rPr>
              <a:t>One-Pager + 3-min Video 10%; Self-report + AI usage log 10%. Reflect on your process and AI tool use honestly.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A4250"/>
                </a:solidFill>
                <a:latin typeface="Arimo"/>
                <a:ea typeface="Arimo"/>
                <a:cs typeface="Arimo"/>
                <a:sym typeface="Arimo"/>
              </a:rPr>
              <a:t>Attendance and on-time submission. Consistency and professionalism are engineering habits, not formalities.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3A4250"/>
              </a:solidFill>
              <a:latin typeface="Arimo"/>
              <a:ea typeface="Arimo"/>
              <a:cs typeface="Arimo"/>
              <a:sym typeface="Arimo"/>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3A4250"/>
              </a:solidFill>
              <a:latin typeface="Arimo"/>
              <a:ea typeface="Arimo"/>
              <a:cs typeface="Arimo"/>
              <a:sym typeface="Arimo"/>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3A4250"/>
              </a:solidFill>
              <a:latin typeface="Arimo"/>
              <a:ea typeface="Arimo"/>
              <a:cs typeface="Arimo"/>
              <a:sym typeface="Arimo"/>
            </a:endParaRP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9C17E2C4-5FA0-392E-B43B-A5256D065B84}"/>
              </a:ext>
            </a:extLst>
          </p:cNvPr>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val="30405146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H" dirty="0"/>
          </a:p>
        </p:txBody>
      </p:sp>
      <p:sp>
        <p:nvSpPr>
          <p:cNvPr id="4" name="Slide Number Placeholder 3"/>
          <p:cNvSpPr>
            <a:spLocks noGrp="1"/>
          </p:cNvSpPr>
          <p:nvPr>
            <p:ph type="sldNum" sz="quarter" idx="5"/>
          </p:nvPr>
        </p:nvSpPr>
        <p:spPr/>
        <p:txBody>
          <a:bodyPr/>
          <a:lstStyle/>
          <a:p>
            <a:fld id="{CE5E9CC1-C706-0F49-92D6-E571CC5EEA8F}" type="slidenum">
              <a:rPr lang="en-US" smtClean="0"/>
              <a:pPr/>
              <a:t>11</a:t>
            </a:fld>
            <a:endParaRPr lang="en-US"/>
          </a:p>
        </p:txBody>
      </p:sp>
    </p:spTree>
    <p:extLst>
      <p:ext uri="{BB962C8B-B14F-4D97-AF65-F5344CB8AC3E}">
        <p14:creationId xmlns:p14="http://schemas.microsoft.com/office/powerpoint/2010/main" val="4151398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BB98B-0A78-C173-7E77-04EC29C84C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4B5EB4-9681-C086-36E1-9215545909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65B782-5039-8FB4-7A54-0962E17D5E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54554F-D9DB-97F8-000B-E66D367A9AF2}"/>
              </a:ext>
            </a:extLst>
          </p:cNvPr>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p14="http://schemas.microsoft.com/office/powerpoint/2010/main" val="39684900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16</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17</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17607-64DD-C84B-E7A1-BB29695AD4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9E99F-1DF6-0B89-EBE4-DA57BBBF04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C8F5A7-7E53-F190-43E6-77B544F490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831C43-F75A-4066-E59E-37724EC257EC}"/>
              </a:ext>
            </a:extLst>
          </p:cNvPr>
          <p:cNvSpPr>
            <a:spLocks noGrp="1"/>
          </p:cNvSpPr>
          <p:nvPr>
            <p:ph type="sldNum" sz="quarter" idx="10"/>
          </p:nvPr>
        </p:nvSpPr>
        <p:spPr/>
        <p:txBody>
          <a:bodyPr/>
          <a:lstStyle/>
          <a:p>
            <a:fld id="{F7021451-1387-4CA6-816F-3879F97B5CBC}" type="slidenum">
              <a:rPr lang="en-US"/>
              <a:pPr/>
              <a:t>18</a:t>
            </a:fld>
            <a:endParaRPr lang="en-US"/>
          </a:p>
        </p:txBody>
      </p:sp>
    </p:spTree>
    <p:extLst>
      <p:ext uri="{BB962C8B-B14F-4D97-AF65-F5344CB8AC3E}">
        <p14:creationId xmlns:p14="http://schemas.microsoft.com/office/powerpoint/2010/main" val="22675011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19</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22</a:t>
            </a:fld>
            <a:endParaRPr lang="en-US"/>
          </a:p>
        </p:txBody>
      </p:sp>
    </p:spTree>
    <p:extLst>
      <p:ext uri="{BB962C8B-B14F-4D97-AF65-F5344CB8AC3E}">
        <p14:creationId xmlns:p14="http://schemas.microsoft.com/office/powerpoint/2010/main" val="29169899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23</a:t>
            </a:fld>
            <a:endParaRPr lang="en-US"/>
          </a:p>
        </p:txBody>
      </p:sp>
    </p:spTree>
    <p:extLst>
      <p:ext uri="{BB962C8B-B14F-4D97-AF65-F5344CB8AC3E}">
        <p14:creationId xmlns:p14="http://schemas.microsoft.com/office/powerpoint/2010/main" val="23464873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24</a:t>
            </a:fld>
            <a:endParaRPr lang="en-US"/>
          </a:p>
        </p:txBody>
      </p:sp>
    </p:spTree>
    <p:extLst>
      <p:ext uri="{BB962C8B-B14F-4D97-AF65-F5344CB8AC3E}">
        <p14:creationId xmlns:p14="http://schemas.microsoft.com/office/powerpoint/2010/main" val="11597028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27</a:t>
            </a:fld>
            <a:endParaRPr lang="en-US"/>
          </a:p>
        </p:txBody>
      </p:sp>
    </p:spTree>
    <p:extLst>
      <p:ext uri="{BB962C8B-B14F-4D97-AF65-F5344CB8AC3E}">
        <p14:creationId xmlns:p14="http://schemas.microsoft.com/office/powerpoint/2010/main" val="371092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8319118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8"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Space Grotesk"/>
          <a:ea typeface="Space Grotesk"/>
          <a:cs typeface="+mj-cs"/>
        </a:defRPr>
      </a:lvl1pPr>
    </p:titleStyle>
    <p:bodyStyle>
      <a:lvl1pPr marL="342900" indent="-342900" algn="l" defTabSz="914400" rtl="0" eaLnBrk="1" latinLnBrk="0" hangingPunct="1">
        <a:spcBef>
          <a:spcPct val="20000"/>
        </a:spcBef>
        <a:buFont typeface="Arial" pitchFamily="34" charset="0"/>
        <a:buChar char="•"/>
        <a:defRPr sz="1600" kern="1200">
          <a:solidFill>
            <a:schemeClr val="tx1"/>
          </a:solidFill>
          <a:latin typeface="Space Grotesk"/>
          <a:ea typeface="Space Grotesk"/>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rasara.jak@mfu.ac.th"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amp;w=3840&amp;q=75&amp;dpl=dpl_5iecw4kH6bzeKyVWGx3VNn5nxDtj"/><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sv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9.svg"/><Relationship Id="rId4" Type="http://schemas.openxmlformats.org/officeDocument/2006/relationships/image" Target="../media/image18.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F0F3"/>
        </a:solidFill>
        <a:effectLst/>
      </p:bgPr>
    </p:bg>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72001130" name="Shape 12"/>
          <p:cNvSpPr/>
          <p:nvPr/>
        </p:nvSpPr>
        <p:spPr>
          <a:xfrm>
            <a:off x="13260032" y="2213456"/>
            <a:ext cx="1851560" cy="1851560"/>
          </a:xfrm>
          <a:prstGeom prst="ellipse">
            <a:avLst/>
          </a:prstGeom>
          <a:solidFill>
            <a:schemeClr val="accent4"/>
          </a:solidFill>
          <a:ln w="9525"/>
        </p:spPr>
        <p:txBody>
          <a:bodyPr rtlCol="0" anchor="ctr"/>
          <a:lstStyle/>
          <a:p>
            <a:pPr algn="ctr"/>
            <a:endParaRPr/>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p:cNvSpPr/>
          <p:nvPr/>
        </p:nvSpPr>
        <p:spPr>
          <a:xfrm>
            <a:off x="728216" y="154781"/>
            <a:ext cx="3889732"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p:cNvSpPr/>
          <p:nvPr/>
        </p:nvSpPr>
        <p:spPr>
          <a:xfrm>
            <a:off x="4771355" y="154781"/>
            <a:ext cx="2537520"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Applied Digital Technology</a:t>
            </a:r>
            <a:endParaRPr lang="en-US" sz="1800" dirty="0"/>
          </a:p>
        </p:txBody>
      </p:sp>
      <p:sp>
        <p:nvSpPr>
          <p:cNvPr id="7" name="Text 5"/>
          <p:cNvSpPr/>
          <p:nvPr/>
        </p:nvSpPr>
        <p:spPr>
          <a:xfrm>
            <a:off x="7499375" y="154781"/>
            <a:ext cx="4371762"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Week 1 · Monday 3 August 2026</a:t>
            </a:r>
            <a:endParaRPr lang="en-US" sz="1800" dirty="0"/>
          </a:p>
        </p:txBody>
      </p:sp>
      <p:sp>
        <p:nvSpPr>
          <p:cNvPr id="8" name="Text 6"/>
          <p:cNvSpPr/>
          <p:nvPr/>
        </p:nvSpPr>
        <p:spPr>
          <a:xfrm>
            <a:off x="15241488" y="154781"/>
            <a:ext cx="2863206" cy="338138"/>
          </a:xfrm>
          <a:prstGeom prst="rect">
            <a:avLst/>
          </a:prstGeom>
          <a:noFill/>
          <a:ln w="9525"/>
        </p:spPr>
        <p:txBody>
          <a:bodyPr wrap="square" lIns="25400" tIns="25400" rIns="25400" bIns="25400" rtlCol="0" anchor="t">
            <a:normAutofit fontScale="85000" lnSpcReduction="10000"/>
          </a:bodyPr>
          <a:lstStyle/>
          <a:p>
            <a:pPr marL="0" indent="0" algn="l">
              <a:buNone/>
            </a:pPr>
            <a:r>
              <a:rPr lang="en-US" sz="1800" kern="0" spc="72" dirty="0">
                <a:solidFill>
                  <a:srgbClr val="7A8290"/>
                </a:solidFill>
                <a:latin typeface="JetBrains Mono" pitchFamily="34" charset="0"/>
                <a:ea typeface="JetBrains Mono" pitchFamily="34" charset="-122"/>
                <a:cs typeface="JetBrains Mono" pitchFamily="34" charset="-120"/>
              </a:rPr>
              <a:t>15031001 · SEMESTER 1 / 2026</a:t>
            </a:r>
            <a:endParaRPr lang="en-US" sz="1800" dirty="0"/>
          </a:p>
        </p:txBody>
      </p:sp>
      <p:sp>
        <p:nvSpPr>
          <p:cNvPr id="10" name="Text 8"/>
          <p:cNvSpPr/>
          <p:nvPr/>
        </p:nvSpPr>
        <p:spPr>
          <a:xfrm>
            <a:off x="914400" y="1524000"/>
            <a:ext cx="4090162" cy="352425"/>
          </a:xfrm>
          <a:prstGeom prst="rect">
            <a:avLst/>
          </a:prstGeom>
          <a:noFill/>
          <a:ln w="9525"/>
        </p:spPr>
        <p:txBody>
          <a:bodyPr wrap="none" lIns="25400" tIns="25400" rIns="25400" bIns="25400" rtlCol="0" anchor="t">
            <a:sp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MAE FAH LUANG UNIVERSITY · SOFTWARE ENGINEERING</a:t>
            </a:r>
            <a:endParaRPr lang="en-US" sz="1800" dirty="0"/>
          </a:p>
        </p:txBody>
      </p:sp>
      <p:sp>
        <p:nvSpPr>
          <p:cNvPr id="11" name="Text 9"/>
          <p:cNvSpPr/>
          <p:nvPr/>
        </p:nvSpPr>
        <p:spPr>
          <a:xfrm>
            <a:off x="914400" y="2406955"/>
            <a:ext cx="10401411" cy="4432299"/>
          </a:xfrm>
          <a:prstGeom prst="rect">
            <a:avLst/>
          </a:prstGeom>
          <a:noFill/>
          <a:ln w="9525"/>
        </p:spPr>
        <p:txBody>
          <a:bodyPr wrap="square" lIns="25400" tIns="25400" rIns="25400" bIns="25400" rtlCol="0" anchor="t">
            <a:spAutoFit/>
          </a:bodyPr>
          <a:lstStyle/>
          <a:p>
            <a:pPr marL="0" indent="0" algn="l">
              <a:lnSpc>
                <a:spcPct val="75000"/>
              </a:lnSpc>
              <a:buNone/>
            </a:pPr>
            <a:r>
              <a:rPr lang="en-US" sz="12000" b="1" kern="0" spc="-468" dirty="0">
                <a:solidFill>
                  <a:srgbClr val="0B0F19"/>
                </a:solidFill>
                <a:latin typeface="Space Grotesk" pitchFamily="34" charset="0"/>
                <a:ea typeface="Space Grotesk" pitchFamily="34" charset="-122"/>
                <a:cs typeface="Space Grotesk" pitchFamily="34" charset="-120"/>
              </a:rPr>
              <a:t>Introduction to Software Engineering</a:t>
            </a:r>
            <a:endParaRPr lang="en-US" sz="12000" dirty="0"/>
          </a:p>
        </p:txBody>
      </p:sp>
      <p:sp>
        <p:nvSpPr>
          <p:cNvPr id="12" name="Text 10"/>
          <p:cNvSpPr/>
          <p:nvPr/>
        </p:nvSpPr>
        <p:spPr>
          <a:xfrm>
            <a:off x="914400" y="7238926"/>
            <a:ext cx="8229600" cy="1261627"/>
          </a:xfrm>
          <a:prstGeom prst="rect">
            <a:avLst/>
          </a:prstGeom>
          <a:noFill/>
          <a:ln w="9525"/>
        </p:spPr>
        <p:txBody>
          <a:bodyPr wrap="square" lIns="25400" tIns="25400" rIns="25400" bIns="25400" rtlCol="0" anchor="t">
            <a:spAutoFit/>
          </a:bodyPr>
          <a:lstStyle/>
          <a:p>
            <a:pPr marL="0" indent="0" algn="l">
              <a:lnSpc>
                <a:spcPct val="135000"/>
              </a:lnSpc>
              <a:buNone/>
            </a:pPr>
            <a:r>
              <a:rPr lang="en-US" sz="2000" kern="0" spc="-11" dirty="0">
                <a:solidFill>
                  <a:srgbClr val="3A4250"/>
                </a:solidFill>
                <a:latin typeface="Space Grotesk" pitchFamily="34" charset="0"/>
                <a:ea typeface="Space Grotesk" pitchFamily="34" charset="-122"/>
                <a:cs typeface="Space Grotesk" pitchFamily="34" charset="-120"/>
              </a:rPr>
              <a:t>Prasara Jakkaew, Ph.D.</a:t>
            </a:r>
          </a:p>
          <a:p>
            <a:pPr marL="0" indent="0" algn="l">
              <a:lnSpc>
                <a:spcPct val="135000"/>
              </a:lnSpc>
              <a:buNone/>
            </a:pPr>
            <a:r>
              <a:rPr lang="en-US" sz="2000" kern="0" spc="-11" dirty="0">
                <a:solidFill>
                  <a:srgbClr val="3A4250"/>
                </a:solidFill>
                <a:latin typeface="Space Grotesk" pitchFamily="34" charset="0"/>
                <a:ea typeface="Space Grotesk" pitchFamily="34" charset="-122"/>
                <a:hlinkClick r:id="rId3"/>
              </a:rPr>
              <a:t>Prasara.jak@mfu.ac.th</a:t>
            </a:r>
            <a:endParaRPr lang="en-US" sz="2000" kern="0" spc="-11" dirty="0">
              <a:solidFill>
                <a:srgbClr val="3A4250"/>
              </a:solidFill>
              <a:latin typeface="Space Grotesk" pitchFamily="34" charset="0"/>
              <a:ea typeface="Space Grotesk" pitchFamily="34" charset="-122"/>
            </a:endParaRPr>
          </a:p>
          <a:p>
            <a:pPr marL="0" indent="0" algn="l">
              <a:lnSpc>
                <a:spcPct val="135000"/>
              </a:lnSpc>
              <a:buNone/>
            </a:pPr>
            <a:endParaRPr lang="en-US" sz="2000" dirty="0"/>
          </a:p>
        </p:txBody>
      </p:sp>
      <p:sp>
        <p:nvSpPr>
          <p:cNvPr id="14" name="Shape 12"/>
          <p:cNvSpPr/>
          <p:nvPr/>
        </p:nvSpPr>
        <p:spPr>
          <a:xfrm>
            <a:off x="11537780" y="4736835"/>
            <a:ext cx="1851560" cy="1851560"/>
          </a:xfrm>
          <a:prstGeom prst="ellipse">
            <a:avLst/>
          </a:prstGeom>
          <a:solidFill>
            <a:srgbClr val="16B670"/>
          </a:solidFill>
          <a:ln w="9525"/>
        </p:spPr>
        <p:txBody>
          <a:bodyPr/>
          <a:lstStyle/>
          <a:p>
            <a:endParaRPr lang="en-TH"/>
          </a:p>
        </p:txBody>
      </p:sp>
      <p:sp>
        <p:nvSpPr>
          <p:cNvPr id="30336383" name="Shape 12"/>
          <p:cNvSpPr/>
          <p:nvPr/>
        </p:nvSpPr>
        <p:spPr>
          <a:xfrm>
            <a:off x="16079251" y="4449745"/>
            <a:ext cx="1387511" cy="1387511"/>
          </a:xfrm>
          <a:prstGeom prst="ellipse">
            <a:avLst/>
          </a:prstGeom>
          <a:solidFill>
            <a:schemeClr val="accent1"/>
          </a:solidFill>
          <a:ln w="9525"/>
        </p:spPr>
        <p:txBody>
          <a:bodyPr rtlCol="0" anchor="ctr"/>
          <a:lstStyle/>
          <a:p>
            <a:pPr algn="ctr"/>
            <a:endParaRPr/>
          </a:p>
        </p:txBody>
      </p:sp>
      <p:sp>
        <p:nvSpPr>
          <p:cNvPr id="17" name="Shape 15"/>
          <p:cNvSpPr/>
          <p:nvPr/>
        </p:nvSpPr>
        <p:spPr>
          <a:xfrm>
            <a:off x="13611309" y="5991199"/>
            <a:ext cx="2863206" cy="2863206"/>
          </a:xfrm>
          <a:prstGeom prst="ellipse">
            <a:avLst/>
          </a:prstGeom>
          <a:solidFill>
            <a:srgbClr val="FF5A47"/>
          </a:solidFill>
          <a:ln w="9525"/>
        </p:spPr>
        <p:txBody>
          <a:bodyPr/>
          <a:lstStyle/>
          <a:p>
            <a:endParaRPr lang="en-TH"/>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0F3"/>
        </a:solidFill>
        <a:effectLst/>
      </p:bgPr>
    </p:bg>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p:cNvSpPr/>
          <p:nvPr/>
        </p:nvSpPr>
        <p:spPr>
          <a:xfrm>
            <a:off x="728216" y="154781"/>
            <a:ext cx="3889732"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p:cNvSpPr/>
          <p:nvPr/>
        </p:nvSpPr>
        <p:spPr>
          <a:xfrm>
            <a:off x="4771355" y="154781"/>
            <a:ext cx="2263229"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Page · Today</a:t>
            </a:r>
            <a:endParaRPr lang="en-US" sz="1800" dirty="0"/>
          </a:p>
        </p:txBody>
      </p:sp>
      <p:sp>
        <p:nvSpPr>
          <p:cNvPr id="7" name="Text 5"/>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sz="1800" kern="0" spc="72" dirty="0">
                <a:solidFill>
                  <a:srgbClr val="7A8290"/>
                </a:solidFill>
                <a:latin typeface="JetBrains Mono" pitchFamily="34" charset="0"/>
                <a:ea typeface="JetBrains Mono" pitchFamily="34" charset="-122"/>
                <a:cs typeface="JetBrains Mono" pitchFamily="34" charset="-120"/>
              </a:rPr>
              <a:t>02 /</a:t>
            </a:r>
            <a:r>
              <a:rPr lang="en-US" kern="0" spc="72" dirty="0">
                <a:solidFill>
                  <a:srgbClr val="7A8290"/>
                </a:solidFill>
                <a:latin typeface="JetBrains Mono" pitchFamily="34" charset="0"/>
                <a:ea typeface="JetBrains Mono" pitchFamily="34" charset="-122"/>
                <a:cs typeface="JetBrains Mono" pitchFamily="34" charset="-120"/>
              </a:rPr>
              <a:t>32</a:t>
            </a:r>
            <a:endParaRPr lang="en-US" sz="1800" dirty="0"/>
          </a:p>
        </p:txBody>
      </p:sp>
      <p:sp>
        <p:nvSpPr>
          <p:cNvPr id="9" name="Text 7"/>
          <p:cNvSpPr/>
          <p:nvPr/>
        </p:nvSpPr>
        <p:spPr>
          <a:xfrm>
            <a:off x="914400" y="1524000"/>
            <a:ext cx="2231008" cy="1115018"/>
          </a:xfrm>
          <a:prstGeom prst="rect">
            <a:avLst/>
          </a:prstGeom>
          <a:noFill/>
          <a:ln w="9525"/>
        </p:spPr>
        <p:txBody>
          <a:bodyPr wrap="square" lIns="25400" tIns="25400" rIns="25400" bIns="25400" rtlCol="0" anchor="t">
            <a:normAutofit/>
          </a:bodyPr>
          <a:lstStyle/>
          <a:p>
            <a:pPr marL="0" indent="0" algn="l">
              <a:lnSpc>
                <a:spcPct val="100000"/>
              </a:lnSpc>
              <a:buNone/>
            </a:pPr>
            <a:r>
              <a:rPr lang="en-US" sz="4800" b="1" kern="0" spc="-120" dirty="0">
                <a:solidFill>
                  <a:srgbClr val="0B0F19"/>
                </a:solidFill>
                <a:latin typeface="Space Grotesk" pitchFamily="34" charset="0"/>
                <a:ea typeface="Space Grotesk" pitchFamily="34" charset="-122"/>
                <a:cs typeface="Space Grotesk" pitchFamily="34" charset="-120"/>
              </a:rPr>
              <a:t>Today</a:t>
            </a:r>
            <a:endParaRPr lang="en-US" sz="4800" dirty="0"/>
          </a:p>
        </p:txBody>
      </p:sp>
      <p:grpSp>
        <p:nvGrpSpPr>
          <p:cNvPr id="7920254" name="Group 7920254"/>
          <p:cNvGrpSpPr/>
          <p:nvPr/>
        </p:nvGrpSpPr>
        <p:grpSpPr>
          <a:xfrm>
            <a:off x="1576388" y="3467100"/>
            <a:ext cx="2476500" cy="1905000"/>
            <a:chOff x="1576388" y="3086100"/>
            <a:chExt cx="2476500" cy="1905000"/>
          </a:xfrm>
        </p:grpSpPr>
        <p:sp>
          <p:nvSpPr>
            <p:cNvPr id="11" name="Shape 9"/>
            <p:cNvSpPr/>
            <p:nvPr/>
          </p:nvSpPr>
          <p:spPr>
            <a:xfrm>
              <a:off x="1747838" y="3086100"/>
              <a:ext cx="876300" cy="247650"/>
            </a:xfrm>
            <a:prstGeom prst="roundRect">
              <a:avLst>
                <a:gd name="adj" fmla="val 30769"/>
              </a:avLst>
            </a:prstGeom>
            <a:solidFill>
              <a:srgbClr val="E8961F"/>
            </a:solidFill>
            <a:ln w="9525"/>
          </p:spPr>
          <p:txBody>
            <a:bodyPr/>
            <a:lstStyle/>
            <a:p>
              <a:endParaRPr lang="en-TH"/>
            </a:p>
          </p:txBody>
        </p:sp>
        <p:sp>
          <p:nvSpPr>
            <p:cNvPr id="12" name="Shape 10"/>
            <p:cNvSpPr/>
            <p:nvPr/>
          </p:nvSpPr>
          <p:spPr>
            <a:xfrm>
              <a:off x="1576388" y="3295650"/>
              <a:ext cx="2476500" cy="1695450"/>
            </a:xfrm>
            <a:prstGeom prst="roundRect">
              <a:avLst>
                <a:gd name="adj" fmla="val 7865"/>
              </a:avLst>
            </a:prstGeom>
            <a:solidFill>
              <a:srgbClr val="FFC233"/>
            </a:solidFill>
            <a:ln w="9525"/>
          </p:spPr>
          <p:txBody>
            <a:bodyPr/>
            <a:lstStyle/>
            <a:p>
              <a:endParaRPr lang="en-TH"/>
            </a:p>
          </p:txBody>
        </p:sp>
      </p:grpSp>
      <p:sp>
        <p:nvSpPr>
          <p:cNvPr id="13" name="Text 11"/>
          <p:cNvSpPr/>
          <p:nvPr/>
        </p:nvSpPr>
        <p:spPr>
          <a:xfrm>
            <a:off x="857393" y="5638800"/>
            <a:ext cx="3914489" cy="338138"/>
          </a:xfrm>
          <a:prstGeom prst="rect">
            <a:avLst/>
          </a:prstGeom>
          <a:noFill/>
          <a:ln w="9525"/>
        </p:spPr>
        <p:txBody>
          <a:bodyPr wrap="square" lIns="25400" tIns="25400" rIns="25400" bIns="25400" rtlCol="0" anchor="t"/>
          <a:lstStyle/>
          <a:p>
            <a:pPr marL="0" indent="0" algn="ctr">
              <a:buNone/>
            </a:pPr>
            <a:r>
              <a:rPr lang="en-US" sz="1600" kern="0" spc="144" dirty="0">
                <a:solidFill>
                  <a:srgbClr val="7A8290"/>
                </a:solidFill>
                <a:ea typeface="+mn-lt"/>
                <a:cs typeface="+mn-lt"/>
              </a:rPr>
              <a:t>01 · WHY</a:t>
            </a:r>
            <a:endParaRPr lang="en-US" sz="1600" dirty="0">
              <a:ea typeface="+mn-lt"/>
              <a:cs typeface="+mn-lt"/>
            </a:endParaRPr>
          </a:p>
        </p:txBody>
      </p:sp>
      <p:sp>
        <p:nvSpPr>
          <p:cNvPr id="14" name="Text 12"/>
          <p:cNvSpPr/>
          <p:nvPr/>
        </p:nvSpPr>
        <p:spPr>
          <a:xfrm>
            <a:off x="857393" y="6055285"/>
            <a:ext cx="3914489" cy="476250"/>
          </a:xfrm>
          <a:prstGeom prst="rect">
            <a:avLst/>
          </a:prstGeom>
          <a:noFill/>
          <a:ln w="9525"/>
        </p:spPr>
        <p:txBody>
          <a:bodyPr wrap="square" lIns="25400" tIns="25400" rIns="25400" bIns="25400" rtlCol="0" anchor="t">
            <a:normAutofit/>
          </a:bodyPr>
          <a:lstStyle/>
          <a:p>
            <a:pPr marL="0" indent="0" algn="ctr">
              <a:buNone/>
            </a:pPr>
            <a:r>
              <a:rPr lang="en-US" sz="2700" kern="0" spc="-40" dirty="0">
                <a:solidFill>
                  <a:srgbClr val="0B0F19"/>
                </a:solidFill>
                <a:latin typeface="Space Grotesk" pitchFamily="34" charset="0"/>
                <a:ea typeface="Space Grotesk" pitchFamily="34" charset="-122"/>
                <a:cs typeface="Space Grotesk" pitchFamily="34" charset="-120"/>
              </a:rPr>
              <a:t>Why this course</a:t>
            </a:r>
            <a:endParaRPr lang="en-US" sz="2700" dirty="0"/>
          </a:p>
        </p:txBody>
      </p:sp>
      <p:sp>
        <p:nvSpPr>
          <p:cNvPr id="15" name="Text 13"/>
          <p:cNvSpPr/>
          <p:nvPr/>
        </p:nvSpPr>
        <p:spPr>
          <a:xfrm>
            <a:off x="1244918" y="6635282"/>
            <a:ext cx="3139440" cy="2045169"/>
          </a:xfrm>
          <a:prstGeom prst="rect">
            <a:avLst/>
          </a:prstGeom>
          <a:noFill/>
          <a:ln w="9525"/>
        </p:spPr>
        <p:txBody>
          <a:bodyPr wrap="square" lIns="25400" tIns="25400" rIns="25400" bIns="25400" rtlCol="0" anchor="t"/>
          <a:lstStyle/>
          <a:p>
            <a:pPr marL="0" indent="0" algn="ctr">
              <a:buNone/>
            </a:pPr>
            <a:r>
              <a:rPr lang="en-US" sz="2400" dirty="0">
                <a:solidFill>
                  <a:srgbClr val="3A4250"/>
                </a:solidFill>
                <a:latin typeface="Space Grotesk" pitchFamily="34" charset="0"/>
                <a:ea typeface="Space Grotesk" pitchFamily="34" charset="-122"/>
                <a:cs typeface="Space Grotesk" pitchFamily="34" charset="-120"/>
              </a:rPr>
              <a:t>What the engineer owns when a machine can write the code.</a:t>
            </a:r>
            <a:endParaRPr lang="en-US" sz="2400" dirty="0"/>
          </a:p>
        </p:txBody>
      </p:sp>
      <p:grpSp>
        <p:nvGrpSpPr>
          <p:cNvPr id="39236351" name="Group 39236351"/>
          <p:cNvGrpSpPr/>
          <p:nvPr/>
        </p:nvGrpSpPr>
        <p:grpSpPr>
          <a:xfrm>
            <a:off x="5795963" y="3467100"/>
            <a:ext cx="2476500" cy="1905000"/>
            <a:chOff x="5795963" y="3086100"/>
            <a:chExt cx="2476500" cy="1905000"/>
          </a:xfrm>
        </p:grpSpPr>
        <p:sp>
          <p:nvSpPr>
            <p:cNvPr id="16" name="Shape 14"/>
            <p:cNvSpPr/>
            <p:nvPr/>
          </p:nvSpPr>
          <p:spPr>
            <a:xfrm>
              <a:off x="5967413" y="3086100"/>
              <a:ext cx="876300" cy="247650"/>
            </a:xfrm>
            <a:prstGeom prst="roundRect">
              <a:avLst>
                <a:gd name="adj" fmla="val 30769"/>
              </a:avLst>
            </a:prstGeom>
            <a:solidFill>
              <a:srgbClr val="CC4334"/>
            </a:solidFill>
            <a:ln w="9525"/>
          </p:spPr>
          <p:txBody>
            <a:bodyPr/>
            <a:lstStyle/>
            <a:p>
              <a:endParaRPr lang="en-TH"/>
            </a:p>
          </p:txBody>
        </p:sp>
        <p:sp>
          <p:nvSpPr>
            <p:cNvPr id="17" name="Shape 15"/>
            <p:cNvSpPr/>
            <p:nvPr/>
          </p:nvSpPr>
          <p:spPr>
            <a:xfrm>
              <a:off x="5795963" y="3295650"/>
              <a:ext cx="2476500" cy="1695450"/>
            </a:xfrm>
            <a:prstGeom prst="roundRect">
              <a:avLst>
                <a:gd name="adj" fmla="val 7865"/>
              </a:avLst>
            </a:prstGeom>
            <a:solidFill>
              <a:srgbClr val="FF5A47"/>
            </a:solidFill>
            <a:ln w="9525"/>
          </p:spPr>
          <p:txBody>
            <a:bodyPr/>
            <a:lstStyle/>
            <a:p>
              <a:endParaRPr lang="en-TH"/>
            </a:p>
          </p:txBody>
        </p:sp>
      </p:grpSp>
      <p:sp>
        <p:nvSpPr>
          <p:cNvPr id="18" name="Text 16"/>
          <p:cNvSpPr/>
          <p:nvPr/>
        </p:nvSpPr>
        <p:spPr>
          <a:xfrm>
            <a:off x="5076968" y="5638800"/>
            <a:ext cx="3914489" cy="338138"/>
          </a:xfrm>
          <a:prstGeom prst="rect">
            <a:avLst/>
          </a:prstGeom>
          <a:noFill/>
          <a:ln w="9525"/>
        </p:spPr>
        <p:txBody>
          <a:bodyPr wrap="square" lIns="25400" tIns="25400" rIns="25400" bIns="25400" rtlCol="0" anchor="t"/>
          <a:lstStyle/>
          <a:p>
            <a:pPr marL="0" indent="0" algn="ctr">
              <a:buNone/>
            </a:pPr>
            <a:r>
              <a:rPr lang="en-US" sz="1600" kern="0" spc="144" dirty="0">
                <a:solidFill>
                  <a:srgbClr val="7A8290"/>
                </a:solidFill>
                <a:ea typeface="+mn-lt"/>
                <a:cs typeface="+mn-lt"/>
              </a:rPr>
              <a:t>02 · HOW IT RUNS</a:t>
            </a:r>
            <a:endParaRPr lang="en-US" sz="1600" dirty="0">
              <a:ea typeface="+mn-lt"/>
              <a:cs typeface="+mn-lt"/>
            </a:endParaRPr>
          </a:p>
        </p:txBody>
      </p:sp>
      <p:sp>
        <p:nvSpPr>
          <p:cNvPr id="19" name="Text 17"/>
          <p:cNvSpPr/>
          <p:nvPr/>
        </p:nvSpPr>
        <p:spPr>
          <a:xfrm>
            <a:off x="5076968" y="6055285"/>
            <a:ext cx="3914489" cy="476250"/>
          </a:xfrm>
          <a:prstGeom prst="rect">
            <a:avLst/>
          </a:prstGeom>
          <a:noFill/>
          <a:ln w="9525"/>
        </p:spPr>
        <p:txBody>
          <a:bodyPr wrap="square" lIns="25400" tIns="25400" rIns="25400" bIns="25400" rtlCol="0" anchor="t">
            <a:normAutofit/>
          </a:bodyPr>
          <a:lstStyle/>
          <a:p>
            <a:pPr marL="0" indent="0" algn="ctr">
              <a:buNone/>
            </a:pPr>
            <a:r>
              <a:rPr lang="en-US" sz="2700" kern="0" spc="-40" dirty="0">
                <a:solidFill>
                  <a:srgbClr val="0B0F19"/>
                </a:solidFill>
                <a:latin typeface="Space Grotesk" pitchFamily="34" charset="0"/>
                <a:ea typeface="Space Grotesk" pitchFamily="34" charset="-122"/>
                <a:cs typeface="Space Grotesk" pitchFamily="34" charset="-120"/>
              </a:rPr>
              <a:t>How the term runs</a:t>
            </a:r>
            <a:endParaRPr lang="en-US" sz="2700" dirty="0"/>
          </a:p>
        </p:txBody>
      </p:sp>
      <p:sp>
        <p:nvSpPr>
          <p:cNvPr id="20" name="Text 18"/>
          <p:cNvSpPr/>
          <p:nvPr/>
        </p:nvSpPr>
        <p:spPr>
          <a:xfrm>
            <a:off x="5464493" y="6635282"/>
            <a:ext cx="3139440" cy="2045169"/>
          </a:xfrm>
          <a:prstGeom prst="rect">
            <a:avLst/>
          </a:prstGeom>
          <a:noFill/>
          <a:ln w="9525"/>
        </p:spPr>
        <p:txBody>
          <a:bodyPr wrap="square" lIns="25400" tIns="25400" rIns="25400" bIns="25400" rtlCol="0" anchor="t"/>
          <a:lstStyle/>
          <a:p>
            <a:pPr marL="0" indent="0" algn="ctr">
              <a:buNone/>
            </a:pPr>
            <a:r>
              <a:rPr lang="en-US" sz="2400" dirty="0">
                <a:solidFill>
                  <a:srgbClr val="3A4250"/>
                </a:solidFill>
                <a:latin typeface="Space Grotesk" pitchFamily="34" charset="0"/>
                <a:ea typeface="Space Grotesk" pitchFamily="34" charset="-122"/>
                <a:cs typeface="Space Grotesk" pitchFamily="34" charset="-120"/>
              </a:rPr>
              <a:t>Fourteen Mondays, one team project, and what you hand in.</a:t>
            </a:r>
            <a:endParaRPr lang="en-US" sz="2400" dirty="0"/>
          </a:p>
        </p:txBody>
      </p:sp>
      <p:sp>
        <p:nvSpPr>
          <p:cNvPr id="21" name="Shape 19"/>
          <p:cNvSpPr/>
          <p:nvPr/>
        </p:nvSpPr>
        <p:spPr>
          <a:xfrm>
            <a:off x="10186988" y="3467100"/>
            <a:ext cx="876300" cy="247650"/>
          </a:xfrm>
          <a:prstGeom prst="roundRect">
            <a:avLst>
              <a:gd name="adj" fmla="val 30769"/>
            </a:avLst>
          </a:prstGeom>
          <a:solidFill>
            <a:srgbClr val="2347CC"/>
          </a:solidFill>
          <a:ln w="9525"/>
        </p:spPr>
        <p:txBody>
          <a:bodyPr/>
          <a:lstStyle/>
          <a:p>
            <a:endParaRPr lang="en-TH"/>
          </a:p>
        </p:txBody>
      </p:sp>
      <p:sp>
        <p:nvSpPr>
          <p:cNvPr id="22" name="Shape 20"/>
          <p:cNvSpPr/>
          <p:nvPr/>
        </p:nvSpPr>
        <p:spPr>
          <a:xfrm>
            <a:off x="10015538" y="3676650"/>
            <a:ext cx="2476500" cy="1695450"/>
          </a:xfrm>
          <a:prstGeom prst="roundRect">
            <a:avLst>
              <a:gd name="adj" fmla="val 7865"/>
            </a:avLst>
          </a:prstGeom>
          <a:solidFill>
            <a:srgbClr val="2D5BFF"/>
          </a:solidFill>
          <a:ln w="9525"/>
        </p:spPr>
        <p:txBody>
          <a:bodyPr/>
          <a:lstStyle/>
          <a:p>
            <a:endParaRPr lang="en-TH"/>
          </a:p>
        </p:txBody>
      </p:sp>
      <p:sp>
        <p:nvSpPr>
          <p:cNvPr id="23" name="Text 21"/>
          <p:cNvSpPr/>
          <p:nvPr/>
        </p:nvSpPr>
        <p:spPr>
          <a:xfrm>
            <a:off x="9296543" y="5638800"/>
            <a:ext cx="3914489" cy="338138"/>
          </a:xfrm>
          <a:prstGeom prst="rect">
            <a:avLst/>
          </a:prstGeom>
          <a:noFill/>
          <a:ln w="9525"/>
        </p:spPr>
        <p:txBody>
          <a:bodyPr wrap="square" lIns="25400" tIns="25400" rIns="25400" bIns="25400" rtlCol="0" anchor="t"/>
          <a:lstStyle/>
          <a:p>
            <a:pPr marL="0" indent="0" algn="ctr">
              <a:buNone/>
            </a:pPr>
            <a:r>
              <a:rPr lang="en-US" sz="1600" kern="0" spc="144" dirty="0">
                <a:solidFill>
                  <a:srgbClr val="7A8290"/>
                </a:solidFill>
                <a:ea typeface="+mn-lt"/>
                <a:cs typeface="+mn-lt"/>
              </a:rPr>
              <a:t>03 · THE RULES</a:t>
            </a:r>
            <a:endParaRPr lang="en-US" sz="1600" dirty="0">
              <a:ea typeface="+mn-lt"/>
              <a:cs typeface="+mn-lt"/>
            </a:endParaRPr>
          </a:p>
        </p:txBody>
      </p:sp>
      <p:sp>
        <p:nvSpPr>
          <p:cNvPr id="24" name="Text 22"/>
          <p:cNvSpPr/>
          <p:nvPr/>
        </p:nvSpPr>
        <p:spPr>
          <a:xfrm>
            <a:off x="9296543" y="6055285"/>
            <a:ext cx="3914489" cy="476250"/>
          </a:xfrm>
          <a:prstGeom prst="rect">
            <a:avLst/>
          </a:prstGeom>
          <a:noFill/>
          <a:ln w="9525"/>
        </p:spPr>
        <p:txBody>
          <a:bodyPr wrap="square" lIns="25400" tIns="25400" rIns="25400" bIns="25400" rtlCol="0" anchor="t">
            <a:normAutofit/>
          </a:bodyPr>
          <a:lstStyle/>
          <a:p>
            <a:pPr marL="0" indent="0" algn="ctr">
              <a:buNone/>
            </a:pPr>
            <a:r>
              <a:rPr lang="en-US" sz="2700" kern="0" spc="-40" dirty="0">
                <a:solidFill>
                  <a:srgbClr val="0B0F19"/>
                </a:solidFill>
                <a:latin typeface="Space Grotesk" pitchFamily="34" charset="0"/>
                <a:ea typeface="Space Grotesk" pitchFamily="34" charset="-122"/>
                <a:cs typeface="Space Grotesk" pitchFamily="34" charset="-120"/>
              </a:rPr>
              <a:t>Grading &amp; AI policy</a:t>
            </a:r>
            <a:endParaRPr lang="en-US" sz="2700" dirty="0"/>
          </a:p>
        </p:txBody>
      </p:sp>
      <p:sp>
        <p:nvSpPr>
          <p:cNvPr id="25" name="Text 23"/>
          <p:cNvSpPr/>
          <p:nvPr/>
        </p:nvSpPr>
        <p:spPr>
          <a:xfrm>
            <a:off x="9684068" y="6635282"/>
            <a:ext cx="3139440" cy="2045169"/>
          </a:xfrm>
          <a:prstGeom prst="rect">
            <a:avLst/>
          </a:prstGeom>
          <a:noFill/>
          <a:ln w="9525"/>
        </p:spPr>
        <p:txBody>
          <a:bodyPr wrap="square" lIns="25400" tIns="25400" rIns="25400" bIns="25400" rtlCol="0" anchor="t"/>
          <a:lstStyle/>
          <a:p>
            <a:pPr marL="0" indent="0" algn="ctr">
              <a:buNone/>
            </a:pPr>
            <a:r>
              <a:rPr lang="en-US" sz="2400" dirty="0">
                <a:solidFill>
                  <a:srgbClr val="3A4250"/>
                </a:solidFill>
                <a:latin typeface="Space Grotesk" pitchFamily="34" charset="0"/>
                <a:ea typeface="Space Grotesk" pitchFamily="34" charset="-122"/>
                <a:cs typeface="Space Grotesk" pitchFamily="34" charset="-120"/>
              </a:rPr>
              <a:t>The last-ten-minutes paper, and what honest AI use means here.</a:t>
            </a:r>
            <a:endParaRPr lang="en-US" sz="2400" dirty="0"/>
          </a:p>
        </p:txBody>
      </p:sp>
      <p:sp>
        <p:nvSpPr>
          <p:cNvPr id="26" name="Shape 24"/>
          <p:cNvSpPr/>
          <p:nvPr/>
        </p:nvSpPr>
        <p:spPr>
          <a:xfrm>
            <a:off x="14406563" y="3467100"/>
            <a:ext cx="876300" cy="247650"/>
          </a:xfrm>
          <a:prstGeom prst="roundRect">
            <a:avLst>
              <a:gd name="adj" fmla="val 30769"/>
            </a:avLst>
          </a:prstGeom>
          <a:solidFill>
            <a:srgbClr val="0E8E55"/>
          </a:solidFill>
          <a:ln w="9525"/>
        </p:spPr>
        <p:txBody>
          <a:bodyPr/>
          <a:lstStyle/>
          <a:p>
            <a:endParaRPr lang="en-TH"/>
          </a:p>
        </p:txBody>
      </p:sp>
      <p:sp>
        <p:nvSpPr>
          <p:cNvPr id="27" name="Shape 25"/>
          <p:cNvSpPr/>
          <p:nvPr/>
        </p:nvSpPr>
        <p:spPr>
          <a:xfrm>
            <a:off x="14235113" y="3676650"/>
            <a:ext cx="2476500" cy="1695450"/>
          </a:xfrm>
          <a:prstGeom prst="roundRect">
            <a:avLst>
              <a:gd name="adj" fmla="val 7865"/>
            </a:avLst>
          </a:prstGeom>
          <a:solidFill>
            <a:srgbClr val="16B670"/>
          </a:solidFill>
          <a:ln w="9525"/>
        </p:spPr>
        <p:txBody>
          <a:bodyPr/>
          <a:lstStyle/>
          <a:p>
            <a:endParaRPr lang="en-TH"/>
          </a:p>
        </p:txBody>
      </p:sp>
      <p:sp>
        <p:nvSpPr>
          <p:cNvPr id="28" name="Text 26"/>
          <p:cNvSpPr/>
          <p:nvPr/>
        </p:nvSpPr>
        <p:spPr>
          <a:xfrm>
            <a:off x="13516118" y="5638800"/>
            <a:ext cx="3914489" cy="338138"/>
          </a:xfrm>
          <a:prstGeom prst="rect">
            <a:avLst/>
          </a:prstGeom>
          <a:noFill/>
          <a:ln w="9525"/>
        </p:spPr>
        <p:txBody>
          <a:bodyPr wrap="square" lIns="25400" tIns="25400" rIns="25400" bIns="25400" rtlCol="0" anchor="t"/>
          <a:lstStyle/>
          <a:p>
            <a:pPr marL="0" indent="0" algn="ctr">
              <a:buNone/>
            </a:pPr>
            <a:r>
              <a:rPr lang="en-US" sz="1600" kern="0" spc="144" dirty="0">
                <a:solidFill>
                  <a:srgbClr val="7A8290"/>
                </a:solidFill>
                <a:ea typeface="+mn-lt"/>
                <a:cs typeface="+mn-lt"/>
              </a:rPr>
              <a:t>04 · CHAPTER 1</a:t>
            </a:r>
            <a:endParaRPr lang="en-US" sz="1600" dirty="0">
              <a:ea typeface="+mn-lt"/>
              <a:cs typeface="+mn-lt"/>
            </a:endParaRPr>
          </a:p>
        </p:txBody>
      </p:sp>
      <p:sp>
        <p:nvSpPr>
          <p:cNvPr id="29" name="Text 27"/>
          <p:cNvSpPr/>
          <p:nvPr/>
        </p:nvSpPr>
        <p:spPr>
          <a:xfrm>
            <a:off x="13516118" y="6055285"/>
            <a:ext cx="3914489" cy="476250"/>
          </a:xfrm>
          <a:prstGeom prst="rect">
            <a:avLst/>
          </a:prstGeom>
          <a:noFill/>
          <a:ln w="9525"/>
        </p:spPr>
        <p:txBody>
          <a:bodyPr wrap="square" lIns="25400" tIns="25400" rIns="25400" bIns="25400" rtlCol="0" anchor="t">
            <a:normAutofit fontScale="92500"/>
          </a:bodyPr>
          <a:lstStyle/>
          <a:p>
            <a:pPr marL="0" indent="0" algn="ctr">
              <a:buNone/>
            </a:pPr>
            <a:r>
              <a:rPr lang="en-US" sz="2700" kern="0" spc="-40" dirty="0">
                <a:solidFill>
                  <a:srgbClr val="0B0F19"/>
                </a:solidFill>
                <a:latin typeface="Space Grotesk" pitchFamily="34" charset="0"/>
                <a:ea typeface="Space Grotesk" pitchFamily="34" charset="-122"/>
                <a:cs typeface="Space Grotesk" pitchFamily="34" charset="-120"/>
              </a:rPr>
              <a:t>What software engineering is</a:t>
            </a:r>
            <a:endParaRPr lang="en-US" sz="2700" dirty="0"/>
          </a:p>
        </p:txBody>
      </p:sp>
      <p:sp>
        <p:nvSpPr>
          <p:cNvPr id="30" name="Text 28"/>
          <p:cNvSpPr/>
          <p:nvPr/>
        </p:nvSpPr>
        <p:spPr>
          <a:xfrm>
            <a:off x="13903643" y="6635282"/>
            <a:ext cx="3139440" cy="2045169"/>
          </a:xfrm>
          <a:prstGeom prst="rect">
            <a:avLst/>
          </a:prstGeom>
          <a:noFill/>
          <a:ln w="9525"/>
        </p:spPr>
        <p:txBody>
          <a:bodyPr wrap="square" lIns="25400" tIns="25400" rIns="25400" bIns="25400" rtlCol="0" anchor="t"/>
          <a:lstStyle/>
          <a:p>
            <a:pPr marL="0" indent="0" algn="ctr">
              <a:buNone/>
            </a:pPr>
            <a:r>
              <a:rPr lang="en-US" sz="2400" dirty="0">
                <a:solidFill>
                  <a:srgbClr val="3A4250"/>
                </a:solidFill>
                <a:latin typeface="Space Grotesk" pitchFamily="34" charset="0"/>
                <a:ea typeface="Space Grotesk" pitchFamily="34" charset="-122"/>
                <a:cs typeface="Space Grotesk" pitchFamily="34" charset="-120"/>
              </a:rPr>
              <a:t>Process, quality, and why projects actually fail.</a:t>
            </a:r>
            <a:endParaRPr lang="en-US" sz="2400" dirty="0"/>
          </a:p>
        </p:txBody>
      </p:sp>
      <p:sp>
        <p:nvSpPr>
          <p:cNvPr id="31" name="Shape 29"/>
          <p:cNvSpPr/>
          <p:nvPr/>
        </p:nvSpPr>
        <p:spPr>
          <a:xfrm>
            <a:off x="914400" y="9285288"/>
            <a:ext cx="16459200" cy="9525"/>
          </a:xfrm>
          <a:prstGeom prst="rect">
            <a:avLst/>
          </a:prstGeom>
          <a:solidFill>
            <a:srgbClr val="C8CCD3"/>
          </a:solidFill>
          <a:ln w="9525"/>
        </p:spPr>
        <p:txBody>
          <a:bodyPr/>
          <a:lstStyle/>
          <a:p>
            <a:endParaRPr lang="en-TH"/>
          </a:p>
        </p:txBody>
      </p:sp>
      <p:sp>
        <p:nvSpPr>
          <p:cNvPr id="32" name="Text 30"/>
          <p:cNvSpPr/>
          <p:nvPr/>
        </p:nvSpPr>
        <p:spPr>
          <a:xfrm>
            <a:off x="914400" y="9504363"/>
            <a:ext cx="3955725"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Dr. Prasara Jakkaew</a:t>
            </a:r>
            <a:endParaRPr lang="en-US" sz="1800" dirty="0"/>
          </a:p>
        </p:txBody>
      </p:sp>
      <p:sp>
        <p:nvSpPr>
          <p:cNvPr id="33" name="Text 31"/>
          <p:cNvSpPr/>
          <p:nvPr/>
        </p:nvSpPr>
        <p:spPr>
          <a:xfrm>
            <a:off x="14630400" y="9504363"/>
            <a:ext cx="2825496" cy="338138"/>
          </a:xfrm>
          <a:prstGeom prst="rect">
            <a:avLst/>
          </a:prstGeom>
          <a:noFill/>
          <a:ln w="9525"/>
        </p:spPr>
        <p:txBody>
          <a:bodyPr wrap="square" lIns="25400" tIns="25400" rIns="25400" bIns="25400" rtlCol="0" anchor="t">
            <a:normAutofit fontScale="77500" lnSpcReduction="20000"/>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Room E3 B 102 · Monday 12:00–14:50</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p:cNvSpPr/>
          <p:nvPr/>
        </p:nvSpPr>
        <p:spPr>
          <a:xfrm>
            <a:off x="728216" y="154781"/>
            <a:ext cx="3889732" cy="338138"/>
          </a:xfrm>
          <a:prstGeom prst="rect">
            <a:avLst/>
          </a:prstGeom>
          <a:noFill/>
          <a:ln w="9525"/>
        </p:spPr>
        <p:txBody>
          <a:bodyPr wrap="square" lIns="25400" tIns="25400" rIns="25400" bIns="25400" rtlCol="0" anchor="t">
            <a:normAutofit/>
          </a:bodyPr>
          <a:lstStyle/>
          <a:p>
            <a:pPr marL="0" indent="0" algn="l">
              <a:buNone/>
            </a:pPr>
            <a:r>
              <a:rPr lang="en-US" sz="1800" b="1" kern="0" spc="-18" dirty="0">
                <a:solidFill>
                  <a:srgbClr val="0B0F19"/>
                </a:solidFill>
                <a:latin typeface="JetBrains Mono" pitchFamily="34" charset="0"/>
                <a:ea typeface="JetBrains Mono" pitchFamily="34" charset="-122"/>
                <a:cs typeface="JetBrains Mono" pitchFamily="34" charset="-120"/>
              </a:rPr>
              <a:t>intro2se-week01.fig</a:t>
            </a:r>
            <a:endParaRPr lang="en-US" sz="1800" dirty="0"/>
          </a:p>
        </p:txBody>
      </p:sp>
      <p:sp>
        <p:nvSpPr>
          <p:cNvPr id="6" name="Text 4"/>
          <p:cNvSpPr/>
          <p:nvPr/>
        </p:nvSpPr>
        <p:spPr>
          <a:xfrm>
            <a:off x="4771355" y="154781"/>
            <a:ext cx="2959014"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Why · Philosophy</a:t>
            </a:r>
            <a:endParaRPr lang="en-US" sz="1800" dirty="0"/>
          </a:p>
        </p:txBody>
      </p:sp>
      <p:sp>
        <p:nvSpPr>
          <p:cNvPr id="7" name="Text 5"/>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sz="1800" kern="0" spc="72" dirty="0">
                <a:solidFill>
                  <a:srgbClr val="7A8290"/>
                </a:solidFill>
                <a:latin typeface="JetBrains Mono" pitchFamily="34" charset="0"/>
                <a:ea typeface="JetBrains Mono" pitchFamily="34" charset="-122"/>
                <a:cs typeface="JetBrains Mono" pitchFamily="34" charset="-120"/>
              </a:rPr>
              <a:t>03 / </a:t>
            </a:r>
            <a:r>
              <a:rPr lang="en-US" kern="0" spc="72" dirty="0">
                <a:solidFill>
                  <a:srgbClr val="7A8290"/>
                </a:solidFill>
                <a:latin typeface="JetBrains Mono" pitchFamily="34" charset="0"/>
                <a:ea typeface="JetBrains Mono" pitchFamily="34" charset="-122"/>
                <a:cs typeface="JetBrains Mono" pitchFamily="34" charset="-120"/>
              </a:rPr>
              <a:t>32</a:t>
            </a:r>
          </a:p>
          <a:p>
            <a:pPr marL="0" indent="0" algn="l">
              <a:buNone/>
            </a:pPr>
            <a:endParaRPr lang="en-US" sz="1800" dirty="0"/>
          </a:p>
        </p:txBody>
      </p:sp>
      <p:sp>
        <p:nvSpPr>
          <p:cNvPr id="9" name="Text 7"/>
          <p:cNvSpPr/>
          <p:nvPr/>
        </p:nvSpPr>
        <p:spPr>
          <a:xfrm>
            <a:off x="914400" y="1524000"/>
            <a:ext cx="16952976" cy="338138"/>
          </a:xfrm>
          <a:prstGeom prst="rect">
            <a:avLst/>
          </a:prstGeom>
          <a:noFill/>
          <a:ln w="9525"/>
        </p:spPr>
        <p:txBody>
          <a:bodyPr wrap="square" lIns="25400" tIns="25400" rIns="25400" bIns="25400" rtlCol="0" anchor="t">
            <a:normAutofit/>
          </a:bodyPr>
          <a:lstStyle/>
          <a:p>
            <a:pPr marL="0" indent="0" algn="l">
              <a:buNone/>
            </a:pPr>
            <a:r>
              <a:rPr lang="en-US" sz="1730" kern="0" spc="108" dirty="0">
                <a:solidFill>
                  <a:srgbClr val="7A8290"/>
                </a:solidFill>
                <a:latin typeface="JetBrains Mono" pitchFamily="34" charset="0"/>
                <a:ea typeface="JetBrains Mono" pitchFamily="34" charset="-122"/>
                <a:cs typeface="JetBrains Mono" pitchFamily="34" charset="-120"/>
              </a:rPr>
              <a:t>MFU · SE PROGRAMME</a:t>
            </a:r>
            <a:endParaRPr lang="en-US" sz="1730" dirty="0"/>
          </a:p>
        </p:txBody>
      </p:sp>
      <p:sp>
        <p:nvSpPr>
          <p:cNvPr id="10" name="Text 8"/>
          <p:cNvSpPr/>
          <p:nvPr/>
        </p:nvSpPr>
        <p:spPr>
          <a:xfrm>
            <a:off x="914400" y="1995487"/>
            <a:ext cx="16952976" cy="960853"/>
          </a:xfrm>
          <a:prstGeom prst="rect">
            <a:avLst/>
          </a:prstGeom>
          <a:noFill/>
          <a:ln w="9525"/>
        </p:spPr>
        <p:txBody>
          <a:bodyPr wrap="square" lIns="25400" tIns="25400" rIns="25400" bIns="25400" rtlCol="0" anchor="t">
            <a:normAutofit/>
          </a:bodyPr>
          <a:lstStyle/>
          <a:p>
            <a:pPr marL="0" indent="0" algn="l">
              <a:lnSpc>
                <a:spcPct val="100000"/>
              </a:lnSpc>
              <a:buNone/>
            </a:pPr>
            <a:r>
              <a:rPr lang="en-US" sz="4800" b="1" kern="0" spc="-120" dirty="0">
                <a:solidFill>
                  <a:srgbClr val="0B0F19"/>
                </a:solidFill>
                <a:latin typeface="Space Grotesk" pitchFamily="34" charset="0"/>
                <a:ea typeface="Space Grotesk" pitchFamily="34" charset="-122"/>
                <a:cs typeface="Space Grotesk" pitchFamily="34" charset="-120"/>
              </a:rPr>
              <a:t>Why the course is built this way</a:t>
            </a:r>
            <a:endParaRPr lang="en-US" sz="4800" dirty="0"/>
          </a:p>
        </p:txBody>
      </p:sp>
      <p:sp>
        <p:nvSpPr>
          <p:cNvPr id="11" name="Text 9"/>
          <p:cNvSpPr/>
          <p:nvPr/>
        </p:nvSpPr>
        <p:spPr>
          <a:xfrm>
            <a:off x="914400" y="2901258"/>
            <a:ext cx="14935562" cy="940450"/>
          </a:xfrm>
          <a:prstGeom prst="rect">
            <a:avLst/>
          </a:prstGeom>
          <a:noFill/>
          <a:ln w="9525"/>
          <a:effectLst/>
        </p:spPr>
        <p:txBody>
          <a:bodyPr wrap="square" lIns="25400" tIns="25400" rIns="25400" bIns="25400" rtlCol="0" anchor="t">
            <a:spAutoFit/>
          </a:bodyPr>
          <a:lstStyle/>
          <a:p>
            <a:pPr marL="0" indent="0" algn="l">
              <a:lnSpc>
                <a:spcPct val="125000"/>
              </a:lnSpc>
              <a:buNone/>
            </a:pPr>
            <a:r>
              <a:rPr lang="en-US" sz="2400" dirty="0">
                <a:solidFill>
                  <a:srgbClr val="3A4250"/>
                </a:solidFill>
                <a:latin typeface="Space Grotesk" pitchFamily="34" charset="0"/>
                <a:ea typeface="Space Grotesk" pitchFamily="34" charset="-122"/>
                <a:cs typeface="Space Grotesk" pitchFamily="34" charset="-120"/>
              </a:rPr>
              <a:t>This is not one lecturer's preference. The university's educational philosophy and the Software Engineering programme's philosophy both point the same way: you learn by doing, not by listening.</a:t>
            </a:r>
            <a:endParaRPr lang="en-US" sz="2400" kern="1200" dirty="0">
              <a:solidFill>
                <a:srgbClr val="3A4250"/>
              </a:solidFill>
              <a:latin typeface="Space Grotesk" pitchFamily="34" charset="0"/>
              <a:ea typeface="Space Grotesk" pitchFamily="34" charset="-122"/>
              <a:cs typeface="Space Grotesk" pitchFamily="34" charset="-120"/>
            </a:endParaRPr>
          </a:p>
        </p:txBody>
      </p:sp>
      <p:sp>
        <p:nvSpPr>
          <p:cNvPr id="12" name="Shape 10"/>
          <p:cNvSpPr/>
          <p:nvPr/>
        </p:nvSpPr>
        <p:spPr>
          <a:xfrm>
            <a:off x="914400" y="3958679"/>
            <a:ext cx="5257800" cy="5562600"/>
          </a:xfrm>
          <a:prstGeom prst="roundRect">
            <a:avLst>
              <a:gd name="adj" fmla="val 4348"/>
            </a:avLst>
          </a:prstGeom>
          <a:solidFill>
            <a:srgbClr val="FF5A47"/>
          </a:solidFill>
          <a:ln w="9525"/>
        </p:spPr>
        <p:txBody>
          <a:bodyPr/>
          <a:lstStyle/>
          <a:p>
            <a:endParaRPr lang="en-TH"/>
          </a:p>
        </p:txBody>
      </p:sp>
      <p:sp>
        <p:nvSpPr>
          <p:cNvPr id="13" name="Text 11"/>
          <p:cNvSpPr/>
          <p:nvPr/>
        </p:nvSpPr>
        <p:spPr>
          <a:xfrm>
            <a:off x="1295400" y="4377779"/>
            <a:ext cx="4630674"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FFFFFF">
                    <a:alpha val="55000"/>
                  </a:srgbClr>
                </a:solidFill>
                <a:latin typeface="JetBrains Mono" pitchFamily="34" charset="0"/>
                <a:ea typeface="JetBrains Mono" pitchFamily="34" charset="-122"/>
                <a:cs typeface="JetBrains Mono" pitchFamily="34" charset="-120"/>
              </a:rPr>
              <a:t>PRINCIPLE 01</a:t>
            </a:r>
            <a:endParaRPr lang="en-US" sz="1800" dirty="0"/>
          </a:p>
        </p:txBody>
      </p:sp>
      <p:sp>
        <p:nvSpPr>
          <p:cNvPr id="14" name="Text 12"/>
          <p:cNvSpPr/>
          <p:nvPr/>
        </p:nvSpPr>
        <p:spPr>
          <a:xfrm>
            <a:off x="1295400" y="4849267"/>
            <a:ext cx="4630674" cy="1028700"/>
          </a:xfrm>
          <a:prstGeom prst="rect">
            <a:avLst/>
          </a:prstGeom>
          <a:noFill/>
          <a:ln w="9525"/>
        </p:spPr>
        <p:txBody>
          <a:bodyPr wrap="square" lIns="25400" tIns="25400" rIns="25400" bIns="25400" rtlCol="0" anchor="t">
            <a:normAutofit/>
          </a:bodyPr>
          <a:lstStyle/>
          <a:p>
            <a:pPr marL="0" indent="0" algn="l">
              <a:lnSpc>
                <a:spcPct val="104000"/>
              </a:lnSpc>
              <a:buNone/>
            </a:pPr>
            <a:r>
              <a:rPr lang="en-US" sz="3750" b="1" kern="0" spc="-94" dirty="0">
                <a:solidFill>
                  <a:srgbClr val="FFFFFF"/>
                </a:solidFill>
                <a:latin typeface="Space Grotesk" pitchFamily="34" charset="0"/>
                <a:ea typeface="Space Grotesk" pitchFamily="34" charset="-122"/>
                <a:cs typeface="Space Grotesk" pitchFamily="34" charset="-120"/>
              </a:rPr>
              <a:t>Global citizenship</a:t>
            </a:r>
            <a:endParaRPr lang="en-US" sz="3750" dirty="0"/>
          </a:p>
        </p:txBody>
      </p:sp>
      <p:sp>
        <p:nvSpPr>
          <p:cNvPr id="15" name="Text 13"/>
          <p:cNvSpPr/>
          <p:nvPr/>
        </p:nvSpPr>
        <p:spPr>
          <a:xfrm>
            <a:off x="1295400" y="6049417"/>
            <a:ext cx="4630674" cy="1946430"/>
          </a:xfrm>
          <a:prstGeom prst="rect">
            <a:avLst/>
          </a:prstGeom>
          <a:noFill/>
          <a:ln w="9525"/>
        </p:spPr>
        <p:txBody>
          <a:bodyPr wrap="square" lIns="25400" tIns="25400" rIns="25400" bIns="25400" rtlCol="0" anchor="t">
            <a:spAutoFit/>
          </a:bodyPr>
          <a:lstStyle/>
          <a:p>
            <a:pPr marL="0" indent="0" algn="l">
              <a:lnSpc>
                <a:spcPct val="125000"/>
              </a:lnSpc>
              <a:buNone/>
            </a:pPr>
            <a:r>
              <a:rPr lang="en-US" sz="2000" dirty="0">
                <a:solidFill>
                  <a:srgbClr val="FFFFFF"/>
                </a:solidFill>
                <a:latin typeface="Space Grotesk" pitchFamily="34" charset="0"/>
                <a:ea typeface="Space Grotesk" pitchFamily="34" charset="-122"/>
                <a:cs typeface="Space Grotesk" pitchFamily="34" charset="-120"/>
              </a:rPr>
              <a:t>MFU aims to produce graduates with knowledge, moral grounding, skill and academic excellence. So ethics and clear communication are graded here — not optional extras.</a:t>
            </a:r>
            <a:endParaRPr lang="en-US" sz="2000" dirty="0"/>
          </a:p>
        </p:txBody>
      </p:sp>
      <p:sp>
        <p:nvSpPr>
          <p:cNvPr id="16" name="Shape 14"/>
          <p:cNvSpPr/>
          <p:nvPr/>
        </p:nvSpPr>
        <p:spPr>
          <a:xfrm>
            <a:off x="4462239" y="7806779"/>
            <a:ext cx="1333500" cy="1333500"/>
          </a:xfrm>
          <a:prstGeom prst="roundRect">
            <a:avLst>
              <a:gd name="adj" fmla="val 17143"/>
            </a:avLst>
          </a:prstGeom>
          <a:solidFill>
            <a:srgbClr val="FFFFFF">
              <a:alpha val="80000"/>
            </a:srgbClr>
          </a:solidFill>
          <a:ln w="9525"/>
        </p:spPr>
        <p:txBody>
          <a:bodyPr/>
          <a:lstStyle/>
          <a:p>
            <a:endParaRPr lang="en-TH"/>
          </a:p>
        </p:txBody>
      </p:sp>
      <p:sp>
        <p:nvSpPr>
          <p:cNvPr id="18" name="Shape 15"/>
          <p:cNvSpPr/>
          <p:nvPr/>
        </p:nvSpPr>
        <p:spPr>
          <a:xfrm>
            <a:off x="6515100" y="3958679"/>
            <a:ext cx="5257800" cy="5562600"/>
          </a:xfrm>
          <a:prstGeom prst="roundRect">
            <a:avLst>
              <a:gd name="adj" fmla="val 4348"/>
            </a:avLst>
          </a:prstGeom>
          <a:solidFill>
            <a:srgbClr val="FFC233"/>
          </a:solidFill>
          <a:ln w="9525"/>
        </p:spPr>
        <p:txBody>
          <a:bodyPr/>
          <a:lstStyle/>
          <a:p>
            <a:endParaRPr lang="en-TH"/>
          </a:p>
        </p:txBody>
      </p:sp>
      <p:sp>
        <p:nvSpPr>
          <p:cNvPr id="19" name="Text 16"/>
          <p:cNvSpPr/>
          <p:nvPr/>
        </p:nvSpPr>
        <p:spPr>
          <a:xfrm>
            <a:off x="6896100" y="4377779"/>
            <a:ext cx="4630674"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0B0F19">
                    <a:alpha val="70000"/>
                  </a:srgbClr>
                </a:solidFill>
                <a:latin typeface="JetBrains Mono" pitchFamily="34" charset="0"/>
                <a:ea typeface="JetBrains Mono" pitchFamily="34" charset="-122"/>
                <a:cs typeface="JetBrains Mono" pitchFamily="34" charset="-120"/>
              </a:rPr>
              <a:t>PRINCIPLE 02</a:t>
            </a:r>
            <a:endParaRPr lang="en-US" sz="1800" dirty="0"/>
          </a:p>
        </p:txBody>
      </p:sp>
      <p:sp>
        <p:nvSpPr>
          <p:cNvPr id="20" name="Text 17"/>
          <p:cNvSpPr/>
          <p:nvPr/>
        </p:nvSpPr>
        <p:spPr>
          <a:xfrm>
            <a:off x="6896100" y="4849267"/>
            <a:ext cx="4630674" cy="1028700"/>
          </a:xfrm>
          <a:prstGeom prst="rect">
            <a:avLst/>
          </a:prstGeom>
          <a:noFill/>
          <a:ln w="9525"/>
        </p:spPr>
        <p:txBody>
          <a:bodyPr wrap="square" lIns="25400" tIns="25400" rIns="25400" bIns="25400" rtlCol="0" anchor="t">
            <a:normAutofit/>
          </a:bodyPr>
          <a:lstStyle/>
          <a:p>
            <a:pPr marL="0" indent="0" algn="l">
              <a:lnSpc>
                <a:spcPct val="104000"/>
              </a:lnSpc>
              <a:buNone/>
            </a:pPr>
            <a:r>
              <a:rPr lang="en-US" sz="3750" b="1" kern="0" spc="-94" dirty="0">
                <a:solidFill>
                  <a:srgbClr val="0B0F19"/>
                </a:solidFill>
                <a:latin typeface="Space Grotesk" pitchFamily="34" charset="0"/>
                <a:ea typeface="Space Grotesk" pitchFamily="34" charset="-122"/>
                <a:cs typeface="Space Grotesk" pitchFamily="34" charset="-120"/>
              </a:rPr>
              <a:t>Outcome-based</a:t>
            </a:r>
            <a:endParaRPr lang="en-US" sz="3750" dirty="0"/>
          </a:p>
        </p:txBody>
      </p:sp>
      <p:sp>
        <p:nvSpPr>
          <p:cNvPr id="21" name="Text 18"/>
          <p:cNvSpPr/>
          <p:nvPr/>
        </p:nvSpPr>
        <p:spPr>
          <a:xfrm>
            <a:off x="6896100" y="6049417"/>
            <a:ext cx="4630674" cy="1561710"/>
          </a:xfrm>
          <a:prstGeom prst="rect">
            <a:avLst/>
          </a:prstGeom>
          <a:noFill/>
          <a:ln w="9525"/>
        </p:spPr>
        <p:txBody>
          <a:bodyPr wrap="square" lIns="25400" tIns="25400" rIns="25400" bIns="25400" rtlCol="0" anchor="t">
            <a:spAutoFit/>
          </a:bodyPr>
          <a:lstStyle/>
          <a:p>
            <a:pPr marL="0" indent="0" algn="l">
              <a:lnSpc>
                <a:spcPct val="125000"/>
              </a:lnSpc>
              <a:buNone/>
            </a:pPr>
            <a:r>
              <a:rPr lang="en-US" sz="2000" dirty="0">
                <a:solidFill>
                  <a:srgbClr val="0B0F19"/>
                </a:solidFill>
                <a:latin typeface="Space Grotesk" pitchFamily="34" charset="0"/>
                <a:ea typeface="Space Grotesk" pitchFamily="34" charset="-122"/>
                <a:cs typeface="Space Grotesk" pitchFamily="34" charset="-120"/>
              </a:rPr>
              <a:t>Every activity maps to a stated learning outcome, and every rubric is published before the work is due. You always know what you are being measured against.</a:t>
            </a:r>
            <a:endParaRPr lang="en-US" sz="2000" dirty="0"/>
          </a:p>
        </p:txBody>
      </p:sp>
      <p:sp>
        <p:nvSpPr>
          <p:cNvPr id="22" name="Shape 19"/>
          <p:cNvSpPr/>
          <p:nvPr/>
        </p:nvSpPr>
        <p:spPr>
          <a:xfrm>
            <a:off x="10062939" y="7806779"/>
            <a:ext cx="1333500" cy="1333500"/>
          </a:xfrm>
          <a:prstGeom prst="roundRect">
            <a:avLst>
              <a:gd name="adj" fmla="val 17143"/>
            </a:avLst>
          </a:prstGeom>
          <a:solidFill>
            <a:srgbClr val="FFFFFF">
              <a:alpha val="80000"/>
            </a:srgbClr>
          </a:solidFill>
          <a:ln w="9525"/>
        </p:spPr>
        <p:txBody>
          <a:bodyPr/>
          <a:lstStyle/>
          <a:p>
            <a:endParaRPr lang="en-TH"/>
          </a:p>
        </p:txBody>
      </p:sp>
      <p:sp>
        <p:nvSpPr>
          <p:cNvPr id="24" name="Shape 20"/>
          <p:cNvSpPr/>
          <p:nvPr/>
        </p:nvSpPr>
        <p:spPr>
          <a:xfrm>
            <a:off x="12115800" y="3958679"/>
            <a:ext cx="5257800" cy="5562600"/>
          </a:xfrm>
          <a:prstGeom prst="roundRect">
            <a:avLst>
              <a:gd name="adj" fmla="val 4348"/>
            </a:avLst>
          </a:prstGeom>
          <a:solidFill>
            <a:srgbClr val="16B670"/>
          </a:solidFill>
          <a:ln w="9525"/>
        </p:spPr>
        <p:txBody>
          <a:bodyPr/>
          <a:lstStyle/>
          <a:p>
            <a:endParaRPr lang="en-TH"/>
          </a:p>
        </p:txBody>
      </p:sp>
      <p:sp>
        <p:nvSpPr>
          <p:cNvPr id="25" name="Text 21"/>
          <p:cNvSpPr/>
          <p:nvPr/>
        </p:nvSpPr>
        <p:spPr>
          <a:xfrm>
            <a:off x="12496800" y="4377779"/>
            <a:ext cx="4630674"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FFFFFF">
                    <a:alpha val="55000"/>
                  </a:srgbClr>
                </a:solidFill>
                <a:latin typeface="JetBrains Mono" pitchFamily="34" charset="0"/>
                <a:ea typeface="JetBrains Mono" pitchFamily="34" charset="-122"/>
                <a:cs typeface="JetBrains Mono" pitchFamily="34" charset="-120"/>
              </a:rPr>
              <a:t>PRINCIPLE 03</a:t>
            </a:r>
            <a:endParaRPr lang="en-US" sz="1800" dirty="0"/>
          </a:p>
        </p:txBody>
      </p:sp>
      <p:sp>
        <p:nvSpPr>
          <p:cNvPr id="26" name="Text 22"/>
          <p:cNvSpPr/>
          <p:nvPr/>
        </p:nvSpPr>
        <p:spPr>
          <a:xfrm>
            <a:off x="12496800" y="4849267"/>
            <a:ext cx="4630674" cy="533400"/>
          </a:xfrm>
          <a:prstGeom prst="rect">
            <a:avLst/>
          </a:prstGeom>
          <a:noFill/>
          <a:ln w="9525"/>
        </p:spPr>
        <p:txBody>
          <a:bodyPr wrap="square" lIns="25400" tIns="25400" rIns="25400" bIns="25400" rtlCol="0" anchor="t">
            <a:normAutofit fontScale="92500" lnSpcReduction="20000"/>
          </a:bodyPr>
          <a:lstStyle/>
          <a:p>
            <a:pPr marL="0" indent="0" algn="l">
              <a:lnSpc>
                <a:spcPct val="104000"/>
              </a:lnSpc>
              <a:buNone/>
            </a:pPr>
            <a:r>
              <a:rPr lang="en-US" sz="3750" b="1" kern="0" spc="-94" dirty="0">
                <a:solidFill>
                  <a:srgbClr val="FFFFFF"/>
                </a:solidFill>
                <a:latin typeface="Space Grotesk" pitchFamily="34" charset="0"/>
                <a:ea typeface="Space Grotesk" pitchFamily="34" charset="-122"/>
                <a:cs typeface="Space Grotesk" pitchFamily="34" charset="-120"/>
              </a:rPr>
              <a:t>Constructivist</a:t>
            </a:r>
            <a:endParaRPr lang="en-US" sz="3750" dirty="0"/>
          </a:p>
        </p:txBody>
      </p:sp>
      <p:sp>
        <p:nvSpPr>
          <p:cNvPr id="27" name="Text 23"/>
          <p:cNvSpPr/>
          <p:nvPr/>
        </p:nvSpPr>
        <p:spPr>
          <a:xfrm>
            <a:off x="12496800" y="6049417"/>
            <a:ext cx="4630674" cy="1946430"/>
          </a:xfrm>
          <a:prstGeom prst="rect">
            <a:avLst/>
          </a:prstGeom>
          <a:noFill/>
          <a:ln w="9525"/>
        </p:spPr>
        <p:txBody>
          <a:bodyPr wrap="square" lIns="25400" tIns="25400" rIns="25400" bIns="25400" rtlCol="0" anchor="t">
            <a:spAutoFit/>
          </a:bodyPr>
          <a:lstStyle/>
          <a:p>
            <a:pPr marL="0" indent="0" algn="l">
              <a:lnSpc>
                <a:spcPct val="125000"/>
              </a:lnSpc>
              <a:buNone/>
            </a:pPr>
            <a:r>
              <a:rPr lang="en-US" sz="2000" dirty="0">
                <a:solidFill>
                  <a:srgbClr val="FFFFFF"/>
                </a:solidFill>
                <a:latin typeface="Space Grotesk" pitchFamily="34" charset="0"/>
                <a:ea typeface="Space Grotesk" pitchFamily="34" charset="-122"/>
                <a:cs typeface="Space Grotesk" pitchFamily="34" charset="-120"/>
              </a:rPr>
              <a:t>The programme's own philosophy: you build knowledge through real practice, problem solving and exchange with others. Hence one team project, plus a problem to solve by hand each week.</a:t>
            </a:r>
            <a:endParaRPr lang="en-US" sz="2000" dirty="0"/>
          </a:p>
        </p:txBody>
      </p:sp>
      <p:sp>
        <p:nvSpPr>
          <p:cNvPr id="28" name="Shape 24"/>
          <p:cNvSpPr/>
          <p:nvPr/>
        </p:nvSpPr>
        <p:spPr>
          <a:xfrm>
            <a:off x="15663639" y="7806779"/>
            <a:ext cx="1333500" cy="1333500"/>
          </a:xfrm>
          <a:prstGeom prst="roundRect">
            <a:avLst>
              <a:gd name="adj" fmla="val 17143"/>
            </a:avLst>
          </a:prstGeom>
          <a:solidFill>
            <a:srgbClr val="FFFFFF">
              <a:alpha val="80000"/>
            </a:srgbClr>
          </a:solidFill>
          <a:ln w="9525"/>
        </p:spPr>
        <p:txBody>
          <a:bodyPr/>
          <a:lstStyle/>
          <a:p>
            <a:endParaRPr lang="en-TH"/>
          </a:p>
        </p:txBody>
      </p:sp>
      <p:pic>
        <p:nvPicPr>
          <p:cNvPr id="77450564" name="77450564"/>
          <p:cNvPicPr/>
          <p:nvPr/>
        </p:nvPicPr>
        <p:blipFill rotWithShape="1">
          <a:blip>
            <a:extLst>
              <a:ext uri="{96DAC541-7B7A-43D3-8B79-37D633B846F1}">
                <asvg:svgBlip xmlns:asvg="http://schemas.microsoft.com/office/drawing/2016/SVG/main" r:embed="rId3"/>
              </a:ext>
            </a:extLst>
          </a:blip>
          <a:srcRect/>
          <a:stretch>
            <a:fillRect/>
          </a:stretch>
        </p:blipFill>
        <p:spPr>
          <a:xfrm>
            <a:off x="4648562" y="7993102"/>
            <a:ext cx="960853" cy="960853"/>
          </a:xfrm>
          <a:prstGeom prst="rect">
            <a:avLst/>
          </a:prstGeom>
        </p:spPr>
      </p:pic>
      <p:pic>
        <p:nvPicPr>
          <p:cNvPr id="68865761" name="77450564"/>
          <p:cNvPicPr/>
          <p:nvPr/>
        </p:nvPicPr>
        <p:blipFill rotWithShape="1">
          <a:blip>
            <a:extLst>
              <a:ext uri="{96DAC541-7B7A-43D3-8B79-37D633B846F1}">
                <asvg:svgBlip xmlns:asvg="http://schemas.microsoft.com/office/drawing/2016/SVG/main" r:embed="rId4"/>
              </a:ext>
            </a:extLst>
          </a:blip>
          <a:srcRect/>
          <a:stretch>
            <a:fillRect/>
          </a:stretch>
        </p:blipFill>
        <p:spPr>
          <a:xfrm>
            <a:off x="10249262" y="7993102"/>
            <a:ext cx="960853" cy="960853"/>
          </a:xfrm>
          <a:prstGeom prst="rect">
            <a:avLst/>
          </a:prstGeom>
        </p:spPr>
      </p:pic>
      <p:pic>
        <p:nvPicPr>
          <p:cNvPr id="53248808" name="77450564"/>
          <p:cNvPicPr/>
          <p:nvPr/>
        </p:nvPicPr>
        <p:blipFill rotWithShape="1">
          <a:blip>
            <a:extLst>
              <a:ext uri="{96DAC541-7B7A-43D3-8B79-37D633B846F1}">
                <asvg:svgBlip xmlns:asvg="http://schemas.microsoft.com/office/drawing/2016/SVG/main" r:embed="rId5"/>
              </a:ext>
            </a:extLst>
          </a:blip>
          <a:srcRect/>
          <a:stretch>
            <a:fillRect/>
          </a:stretch>
        </p:blipFill>
        <p:spPr>
          <a:xfrm>
            <a:off x="15849962" y="7993102"/>
            <a:ext cx="960853" cy="96085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p:cNvSpPr/>
          <p:nvPr/>
        </p:nvSpPr>
        <p:spPr>
          <a:xfrm>
            <a:off x="728216" y="154781"/>
            <a:ext cx="3889732"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p:cNvSpPr/>
          <p:nvPr/>
        </p:nvSpPr>
        <p:spPr>
          <a:xfrm>
            <a:off x="4771355" y="154781"/>
            <a:ext cx="3100274"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Page · Outcomes</a:t>
            </a:r>
            <a:endParaRPr lang="en-US" sz="1800" dirty="0"/>
          </a:p>
        </p:txBody>
      </p:sp>
      <p:sp>
        <p:nvSpPr>
          <p:cNvPr id="7" name="Text 5"/>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sz="1800" kern="0" spc="72" dirty="0">
                <a:solidFill>
                  <a:srgbClr val="7A8290"/>
                </a:solidFill>
                <a:latin typeface="JetBrains Mono" pitchFamily="34" charset="0"/>
                <a:ea typeface="JetBrains Mono" pitchFamily="34" charset="-122"/>
                <a:cs typeface="JetBrains Mono" pitchFamily="34" charset="-120"/>
              </a:rPr>
              <a:t>04 / </a:t>
            </a:r>
            <a:r>
              <a:rPr lang="en-US" kern="0" spc="72" dirty="0">
                <a:solidFill>
                  <a:srgbClr val="7A8290"/>
                </a:solidFill>
                <a:latin typeface="JetBrains Mono" pitchFamily="34" charset="0"/>
                <a:ea typeface="JetBrains Mono" pitchFamily="34" charset="-122"/>
                <a:cs typeface="JetBrains Mono" pitchFamily="34" charset="-120"/>
              </a:rPr>
              <a:t>32</a:t>
            </a:r>
            <a:endParaRPr lang="en-US" sz="1800" dirty="0"/>
          </a:p>
        </p:txBody>
      </p:sp>
      <p:sp>
        <p:nvSpPr>
          <p:cNvPr id="9" name="Shape 7"/>
          <p:cNvSpPr/>
          <p:nvPr/>
        </p:nvSpPr>
        <p:spPr>
          <a:xfrm>
            <a:off x="914400" y="1524000"/>
            <a:ext cx="1653555" cy="419100"/>
          </a:xfrm>
          <a:prstGeom prst="roundRect">
            <a:avLst>
              <a:gd name="adj" fmla="val 50000"/>
            </a:avLst>
          </a:prstGeom>
          <a:solidFill>
            <a:srgbClr val="FF5A47"/>
          </a:solidFill>
          <a:ln w="9525"/>
        </p:spPr>
        <p:txBody>
          <a:bodyPr/>
          <a:lstStyle/>
          <a:p>
            <a:endParaRPr lang="en-TH"/>
          </a:p>
        </p:txBody>
      </p:sp>
      <p:sp>
        <p:nvSpPr>
          <p:cNvPr id="10" name="Text 8"/>
          <p:cNvSpPr/>
          <p:nvPr/>
        </p:nvSpPr>
        <p:spPr>
          <a:xfrm>
            <a:off x="1085850" y="1619250"/>
            <a:ext cx="1310655" cy="266700"/>
          </a:xfrm>
          <a:prstGeom prst="rect">
            <a:avLst/>
          </a:prstGeom>
          <a:noFill/>
          <a:ln w="9525"/>
        </p:spPr>
        <p:txBody>
          <a:bodyPr wrap="square" lIns="25400" tIns="25400" rIns="25400" bIns="25400" rtlCol="0" anchor="ctr">
            <a:normAutofit fontScale="92500" lnSpcReduction="20000"/>
          </a:bodyPr>
          <a:lstStyle/>
          <a:p>
            <a:pPr marL="0" indent="0" algn="ctr">
              <a:lnSpc>
                <a:spcPct val="100000"/>
              </a:lnSpc>
              <a:buNone/>
            </a:pPr>
            <a:r>
              <a:rPr lang="en-US" sz="1800" dirty="0">
                <a:solidFill>
                  <a:srgbClr val="FFFFFF"/>
                </a:solidFill>
                <a:latin typeface="JetBrains Mono" pitchFamily="34" charset="0"/>
                <a:ea typeface="JetBrains Mono" pitchFamily="34" charset="-122"/>
                <a:cs typeface="JetBrains Mono" pitchFamily="34" charset="-120"/>
              </a:rPr>
              <a:t>OUTCOMES</a:t>
            </a:r>
            <a:endParaRPr lang="en-US" sz="1800" dirty="0"/>
          </a:p>
        </p:txBody>
      </p:sp>
      <p:sp>
        <p:nvSpPr>
          <p:cNvPr id="11" name="Text 9"/>
          <p:cNvSpPr/>
          <p:nvPr/>
        </p:nvSpPr>
        <p:spPr>
          <a:xfrm>
            <a:off x="2796555" y="1583531"/>
            <a:ext cx="2339355"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PLO → CLO</a:t>
            </a:r>
            <a:endParaRPr lang="en-US" sz="1800" dirty="0"/>
          </a:p>
        </p:txBody>
      </p:sp>
      <p:sp>
        <p:nvSpPr>
          <p:cNvPr id="12" name="Text 10"/>
          <p:cNvSpPr/>
          <p:nvPr/>
        </p:nvSpPr>
        <p:spPr>
          <a:xfrm>
            <a:off x="914400" y="2114550"/>
            <a:ext cx="16952976" cy="1022745"/>
          </a:xfrm>
          <a:prstGeom prst="rect">
            <a:avLst/>
          </a:prstGeom>
          <a:noFill/>
          <a:ln w="9525"/>
        </p:spPr>
        <p:txBody>
          <a:bodyPr wrap="square" lIns="25400" tIns="25400" rIns="25400" bIns="25400" rtlCol="0" anchor="t">
            <a:normAutofit/>
          </a:bodyPr>
          <a:lstStyle/>
          <a:p>
            <a:pPr marL="0" indent="0" algn="l">
              <a:lnSpc>
                <a:spcPct val="100000"/>
              </a:lnSpc>
              <a:buNone/>
            </a:pPr>
            <a:r>
              <a:rPr lang="en-US" sz="4800" b="1" kern="0" spc="-120" dirty="0">
                <a:solidFill>
                  <a:srgbClr val="0B0F19"/>
                </a:solidFill>
                <a:latin typeface="Space Grotesk" pitchFamily="34" charset="0"/>
                <a:ea typeface="Space Grotesk" pitchFamily="34" charset="-122"/>
                <a:cs typeface="Space Grotesk" pitchFamily="34" charset="-120"/>
              </a:rPr>
              <a:t>What you will be able to do</a:t>
            </a:r>
            <a:endParaRPr lang="en-US" sz="4800" dirty="0"/>
          </a:p>
        </p:txBody>
      </p:sp>
      <p:sp>
        <p:nvSpPr>
          <p:cNvPr id="13" name="Text 11"/>
          <p:cNvSpPr/>
          <p:nvPr/>
        </p:nvSpPr>
        <p:spPr>
          <a:xfrm>
            <a:off x="914400" y="3296842"/>
            <a:ext cx="6957229" cy="404813"/>
          </a:xfrm>
          <a:prstGeom prst="rect">
            <a:avLst/>
          </a:prstGeom>
          <a:noFill/>
          <a:ln w="9525"/>
        </p:spPr>
        <p:txBody>
          <a:bodyPr wrap="square" lIns="25400" tIns="25400" rIns="25400" bIns="25400" rtlCol="0" anchor="t"/>
          <a:lstStyle/>
          <a:p>
            <a:pPr marL="0" indent="0" algn="l">
              <a:buNone/>
            </a:pPr>
            <a:r>
              <a:rPr lang="en-US" sz="2400" kern="0" spc="-34" dirty="0">
                <a:solidFill>
                  <a:srgbClr val="0B0F19"/>
                </a:solidFill>
                <a:latin typeface="Space Grotesk" pitchFamily="34" charset="0"/>
                <a:ea typeface="Space Grotesk" pitchFamily="34" charset="-122"/>
                <a:cs typeface="Space Grotesk" pitchFamily="34" charset="-120"/>
              </a:rPr>
              <a:t>Five programme outcomes</a:t>
            </a:r>
            <a:endParaRPr lang="en-US" sz="2400" dirty="0"/>
          </a:p>
        </p:txBody>
      </p:sp>
      <p:sp>
        <p:nvSpPr>
          <p:cNvPr id="14" name="Text 12"/>
          <p:cNvSpPr/>
          <p:nvPr/>
        </p:nvSpPr>
        <p:spPr>
          <a:xfrm>
            <a:off x="914400" y="3768303"/>
            <a:ext cx="6957229" cy="985522"/>
          </a:xfrm>
          <a:prstGeom prst="rect">
            <a:avLst/>
          </a:prstGeom>
          <a:noFill/>
          <a:ln w="9525"/>
        </p:spPr>
        <p:txBody>
          <a:bodyPr wrap="square" lIns="25400" tIns="25400" rIns="25400" bIns="25400" rtlCol="0" anchor="t">
            <a:spAutoFit/>
          </a:bodyPr>
          <a:lstStyle/>
          <a:p>
            <a:pPr marL="0" indent="0" algn="l">
              <a:lnSpc>
                <a:spcPct val="120000"/>
              </a:lnSpc>
              <a:buNone/>
            </a:pPr>
            <a:r>
              <a:rPr lang="en-US" sz="1600" dirty="0">
                <a:solidFill>
                  <a:srgbClr val="3A4250"/>
                </a:solidFill>
                <a:latin typeface="Space Grotesk" pitchFamily="34" charset="0"/>
                <a:ea typeface="Space Grotesk" pitchFamily="34" charset="-122"/>
                <a:cs typeface="Space Grotesk" pitchFamily="34" charset="-120"/>
              </a:rPr>
              <a:t>This course carries all five Programme Learning Outcomes of the Software Engineering degree — every one of them, at the Year-1 introductory level.</a:t>
            </a:r>
            <a:endParaRPr lang="en-US" sz="1600" dirty="0"/>
          </a:p>
        </p:txBody>
      </p:sp>
      <p:sp>
        <p:nvSpPr>
          <p:cNvPr id="15" name="Text 13"/>
          <p:cNvSpPr/>
          <p:nvPr/>
        </p:nvSpPr>
        <p:spPr>
          <a:xfrm>
            <a:off x="914400" y="5378055"/>
            <a:ext cx="6957229" cy="404813"/>
          </a:xfrm>
          <a:prstGeom prst="rect">
            <a:avLst/>
          </a:prstGeom>
          <a:noFill/>
          <a:ln w="9525"/>
        </p:spPr>
        <p:txBody>
          <a:bodyPr wrap="square" lIns="25400" tIns="25400" rIns="25400" bIns="25400" rtlCol="0" anchor="t"/>
          <a:lstStyle/>
          <a:p>
            <a:pPr marL="0" indent="0" algn="l">
              <a:buNone/>
            </a:pPr>
            <a:r>
              <a:rPr lang="en-US" sz="2400" kern="0" spc="-34" dirty="0">
                <a:solidFill>
                  <a:srgbClr val="0B0F19"/>
                </a:solidFill>
                <a:latin typeface="Space Grotesk" pitchFamily="34" charset="0"/>
                <a:ea typeface="Space Grotesk" pitchFamily="34" charset="-122"/>
                <a:cs typeface="Space Grotesk" pitchFamily="34" charset="-120"/>
              </a:rPr>
              <a:t>Each becomes a course outcome</a:t>
            </a:r>
            <a:endParaRPr lang="en-US" sz="2400" dirty="0"/>
          </a:p>
        </p:txBody>
      </p:sp>
      <p:sp>
        <p:nvSpPr>
          <p:cNvPr id="16" name="Text 14"/>
          <p:cNvSpPr/>
          <p:nvPr/>
        </p:nvSpPr>
        <p:spPr>
          <a:xfrm>
            <a:off x="914400" y="5849515"/>
            <a:ext cx="6957229" cy="985522"/>
          </a:xfrm>
          <a:prstGeom prst="rect">
            <a:avLst/>
          </a:prstGeom>
          <a:noFill/>
          <a:ln w="9525"/>
        </p:spPr>
        <p:txBody>
          <a:bodyPr wrap="square" lIns="25400" tIns="25400" rIns="25400" bIns="25400" rtlCol="0" anchor="t">
            <a:spAutoFit/>
          </a:bodyPr>
          <a:lstStyle/>
          <a:p>
            <a:pPr marL="0" indent="0" algn="l">
              <a:lnSpc>
                <a:spcPct val="120000"/>
              </a:lnSpc>
              <a:buNone/>
            </a:pPr>
            <a:r>
              <a:rPr lang="en-US" sz="1600" dirty="0">
                <a:solidFill>
                  <a:srgbClr val="3A4250"/>
                </a:solidFill>
                <a:latin typeface="Space Grotesk" pitchFamily="34" charset="0"/>
                <a:ea typeface="Space Grotesk" pitchFamily="34" charset="-122"/>
                <a:cs typeface="Space Grotesk" pitchFamily="34" charset="-120"/>
              </a:rPr>
              <a:t>Every PLO turns into one Course Learning Outcome for this subject, listed on the right. Every piece of assessment maps to at least one of them.</a:t>
            </a:r>
            <a:endParaRPr lang="en-US" sz="1600" dirty="0"/>
          </a:p>
        </p:txBody>
      </p:sp>
      <p:sp>
        <p:nvSpPr>
          <p:cNvPr id="17" name="Text 15"/>
          <p:cNvSpPr/>
          <p:nvPr/>
        </p:nvSpPr>
        <p:spPr>
          <a:xfrm>
            <a:off x="914400" y="7442599"/>
            <a:ext cx="6957229" cy="404813"/>
          </a:xfrm>
          <a:prstGeom prst="rect">
            <a:avLst/>
          </a:prstGeom>
          <a:noFill/>
          <a:ln w="9525"/>
        </p:spPr>
        <p:txBody>
          <a:bodyPr wrap="square" lIns="25400" tIns="25400" rIns="25400" bIns="25400" rtlCol="0" anchor="t"/>
          <a:lstStyle/>
          <a:p>
            <a:pPr marL="0" indent="0" algn="l">
              <a:buNone/>
            </a:pPr>
            <a:r>
              <a:rPr lang="en-US" sz="2400" kern="0" spc="-34" dirty="0">
                <a:solidFill>
                  <a:srgbClr val="0B0F19"/>
                </a:solidFill>
                <a:latin typeface="Space Grotesk" pitchFamily="34" charset="0"/>
                <a:ea typeface="Space Grotesk" pitchFamily="34" charset="-122"/>
                <a:cs typeface="Space Grotesk" pitchFamily="34" charset="-120"/>
              </a:rPr>
              <a:t>Year 1 means understand, not master</a:t>
            </a:r>
            <a:endParaRPr lang="en-US" sz="2400" dirty="0"/>
          </a:p>
        </p:txBody>
      </p:sp>
      <p:sp>
        <p:nvSpPr>
          <p:cNvPr id="18" name="Text 16"/>
          <p:cNvSpPr/>
          <p:nvPr/>
        </p:nvSpPr>
        <p:spPr>
          <a:xfrm>
            <a:off x="914400" y="7914060"/>
            <a:ext cx="6957229" cy="673948"/>
          </a:xfrm>
          <a:prstGeom prst="rect">
            <a:avLst/>
          </a:prstGeom>
          <a:noFill/>
          <a:ln w="9525"/>
        </p:spPr>
        <p:txBody>
          <a:bodyPr wrap="square" lIns="25400" tIns="25400" rIns="25400" bIns="25400" rtlCol="0" anchor="t">
            <a:spAutoFit/>
          </a:bodyPr>
          <a:lstStyle/>
          <a:p>
            <a:pPr marL="0" indent="0" algn="l">
              <a:lnSpc>
                <a:spcPct val="120000"/>
              </a:lnSpc>
              <a:buNone/>
            </a:pPr>
            <a:r>
              <a:rPr lang="en-US" sz="1600" dirty="0">
                <a:solidFill>
                  <a:srgbClr val="3A4250"/>
                </a:solidFill>
                <a:latin typeface="Space Grotesk" pitchFamily="34" charset="0"/>
                <a:ea typeface="Space Grotesk" pitchFamily="34" charset="-122"/>
                <a:cs typeface="Space Grotesk" pitchFamily="34" charset="-120"/>
              </a:rPr>
              <a:t>The codes on the right are the ceiling the curriculum sets: understand, follow the model, respond, receive. You are not expected to design a whole system alone yet.</a:t>
            </a:r>
            <a:endParaRPr lang="en-US" sz="1600" dirty="0"/>
          </a:p>
        </p:txBody>
      </p:sp>
      <p:sp>
        <p:nvSpPr>
          <p:cNvPr id="19" name="Shape 17"/>
          <p:cNvSpPr/>
          <p:nvPr/>
        </p:nvSpPr>
        <p:spPr>
          <a:xfrm>
            <a:off x="9642053" y="3296842"/>
            <a:ext cx="7731547" cy="5667375"/>
          </a:xfrm>
          <a:prstGeom prst="roundRect">
            <a:avLst>
              <a:gd name="adj" fmla="val 3361"/>
            </a:avLst>
          </a:prstGeom>
          <a:solidFill>
            <a:srgbClr val="FFFFFF"/>
          </a:solidFill>
          <a:ln w="9525"/>
          <a:effectLst>
            <a:outerShdw blurRad="101600" dist="19050" dir="5400000" algn="bl" rotWithShape="0">
              <a:srgbClr val="0B0F19">
                <a:alpha val="4000"/>
              </a:srgbClr>
            </a:outerShdw>
          </a:effectLst>
        </p:spPr>
        <p:txBody>
          <a:bodyPr/>
          <a:lstStyle/>
          <a:p>
            <a:endParaRPr lang="en-TH" sz="2400"/>
          </a:p>
        </p:txBody>
      </p:sp>
      <p:sp>
        <p:nvSpPr>
          <p:cNvPr id="20" name="Shape 18"/>
          <p:cNvSpPr/>
          <p:nvPr/>
        </p:nvSpPr>
        <p:spPr>
          <a:xfrm>
            <a:off x="10023053" y="3996930"/>
            <a:ext cx="228600" cy="228600"/>
          </a:xfrm>
          <a:prstGeom prst="roundRect">
            <a:avLst>
              <a:gd name="adj" fmla="val 25000"/>
            </a:avLst>
          </a:prstGeom>
          <a:solidFill>
            <a:srgbClr val="2D5BFF"/>
          </a:solidFill>
          <a:ln w="9525"/>
        </p:spPr>
        <p:txBody>
          <a:bodyPr/>
          <a:lstStyle/>
          <a:p>
            <a:endParaRPr lang="en-TH" sz="2400"/>
          </a:p>
        </p:txBody>
      </p:sp>
      <p:sp>
        <p:nvSpPr>
          <p:cNvPr id="21" name="Text 19"/>
          <p:cNvSpPr/>
          <p:nvPr/>
        </p:nvSpPr>
        <p:spPr>
          <a:xfrm>
            <a:off x="10481519" y="3820717"/>
            <a:ext cx="2041084" cy="420628"/>
          </a:xfrm>
          <a:prstGeom prst="rect">
            <a:avLst/>
          </a:prstGeom>
          <a:noFill/>
          <a:ln w="9525"/>
        </p:spPr>
        <p:txBody>
          <a:bodyPr lIns="25400" tIns="25400" rIns="25400" bIns="25400" rtlCol="0" anchor="t">
            <a:spAutoFit/>
          </a:bodyPr>
          <a:lstStyle/>
          <a:p>
            <a:pPr marL="0" indent="0" algn="l">
              <a:buNone/>
            </a:pPr>
            <a:r>
              <a:rPr lang="en-US" sz="2400" dirty="0">
                <a:solidFill>
                  <a:srgbClr val="0B0F19"/>
                </a:solidFill>
                <a:latin typeface="Space Grotesk" pitchFamily="34" charset="0"/>
                <a:ea typeface="Space Grotesk" pitchFamily="34" charset="-122"/>
                <a:cs typeface="Space Grotesk" pitchFamily="34" charset="-120"/>
              </a:rPr>
              <a:t>1</a:t>
            </a:r>
            <a:endParaRPr lang="en-US" sz="2400" dirty="0"/>
          </a:p>
        </p:txBody>
      </p:sp>
      <p:sp>
        <p:nvSpPr>
          <p:cNvPr id="22" name="Text 20"/>
          <p:cNvSpPr/>
          <p:nvPr/>
        </p:nvSpPr>
        <p:spPr>
          <a:xfrm>
            <a:off x="10481519" y="4179219"/>
            <a:ext cx="2132828"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PLO1 · Explain process</a:t>
            </a:r>
            <a:endParaRPr lang="en-US" dirty="0"/>
          </a:p>
        </p:txBody>
      </p:sp>
      <p:sp>
        <p:nvSpPr>
          <p:cNvPr id="23" name="Text 21"/>
          <p:cNvSpPr/>
          <p:nvPr/>
        </p:nvSpPr>
        <p:spPr>
          <a:xfrm>
            <a:off x="16550171" y="3968531"/>
            <a:ext cx="442429"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Und</a:t>
            </a:r>
            <a:endParaRPr lang="en-US" dirty="0"/>
          </a:p>
        </p:txBody>
      </p:sp>
      <p:sp>
        <p:nvSpPr>
          <p:cNvPr id="24" name="Shape 22"/>
          <p:cNvSpPr/>
          <p:nvPr/>
        </p:nvSpPr>
        <p:spPr>
          <a:xfrm>
            <a:off x="9946853" y="4620817"/>
            <a:ext cx="7121947" cy="9525"/>
          </a:xfrm>
          <a:prstGeom prst="rect">
            <a:avLst/>
          </a:prstGeom>
          <a:solidFill>
            <a:srgbClr val="ECEEF1"/>
          </a:solidFill>
          <a:ln w="9525"/>
        </p:spPr>
        <p:txBody>
          <a:bodyPr/>
          <a:lstStyle/>
          <a:p>
            <a:endParaRPr lang="en-TH" sz="2400"/>
          </a:p>
        </p:txBody>
      </p:sp>
      <p:sp>
        <p:nvSpPr>
          <p:cNvPr id="25" name="Shape 23"/>
          <p:cNvSpPr/>
          <p:nvPr/>
        </p:nvSpPr>
        <p:spPr>
          <a:xfrm>
            <a:off x="10023053" y="5016105"/>
            <a:ext cx="228600" cy="228600"/>
          </a:xfrm>
          <a:prstGeom prst="roundRect">
            <a:avLst>
              <a:gd name="adj" fmla="val 25000"/>
            </a:avLst>
          </a:prstGeom>
          <a:solidFill>
            <a:srgbClr val="FF5A47"/>
          </a:solidFill>
          <a:ln w="9525"/>
        </p:spPr>
        <p:txBody>
          <a:bodyPr/>
          <a:lstStyle/>
          <a:p>
            <a:endParaRPr lang="en-TH" sz="2400"/>
          </a:p>
        </p:txBody>
      </p:sp>
      <p:sp>
        <p:nvSpPr>
          <p:cNvPr id="26" name="Text 24"/>
          <p:cNvSpPr/>
          <p:nvPr/>
        </p:nvSpPr>
        <p:spPr>
          <a:xfrm>
            <a:off x="10481519" y="4839892"/>
            <a:ext cx="1594364" cy="420628"/>
          </a:xfrm>
          <a:prstGeom prst="rect">
            <a:avLst/>
          </a:prstGeom>
          <a:noFill/>
          <a:ln w="9525"/>
        </p:spPr>
        <p:txBody>
          <a:bodyPr lIns="25400" tIns="25400" rIns="25400" bIns="25400" rtlCol="0" anchor="t">
            <a:spAutoFit/>
          </a:bodyPr>
          <a:lstStyle/>
          <a:p>
            <a:pPr marL="0" indent="0" algn="l">
              <a:buNone/>
            </a:pPr>
            <a:r>
              <a:rPr lang="en-US" sz="2400" dirty="0">
                <a:solidFill>
                  <a:srgbClr val="0B0F19"/>
                </a:solidFill>
                <a:latin typeface="Space Grotesk" pitchFamily="34" charset="0"/>
                <a:ea typeface="Space Grotesk" pitchFamily="34" charset="-122"/>
                <a:cs typeface="Space Grotesk" pitchFamily="34" charset="-120"/>
              </a:rPr>
              <a:t>2</a:t>
            </a:r>
            <a:endParaRPr lang="en-US" sz="2400" dirty="0"/>
          </a:p>
        </p:txBody>
      </p:sp>
      <p:sp>
        <p:nvSpPr>
          <p:cNvPr id="27" name="Text 25"/>
          <p:cNvSpPr/>
          <p:nvPr/>
        </p:nvSpPr>
        <p:spPr>
          <a:xfrm>
            <a:off x="10481519" y="5198394"/>
            <a:ext cx="2349746"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PLO2 · Build and check it</a:t>
            </a:r>
            <a:endParaRPr lang="en-US" dirty="0"/>
          </a:p>
        </p:txBody>
      </p:sp>
      <p:sp>
        <p:nvSpPr>
          <p:cNvPr id="28" name="Text 26"/>
          <p:cNvSpPr/>
          <p:nvPr/>
        </p:nvSpPr>
        <p:spPr>
          <a:xfrm>
            <a:off x="16511698" y="4997231"/>
            <a:ext cx="480902"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Man</a:t>
            </a:r>
            <a:endParaRPr lang="en-US" dirty="0"/>
          </a:p>
        </p:txBody>
      </p:sp>
      <p:sp>
        <p:nvSpPr>
          <p:cNvPr id="29" name="Shape 27"/>
          <p:cNvSpPr/>
          <p:nvPr/>
        </p:nvSpPr>
        <p:spPr>
          <a:xfrm>
            <a:off x="9946853" y="5630467"/>
            <a:ext cx="7121947" cy="9525"/>
          </a:xfrm>
          <a:prstGeom prst="rect">
            <a:avLst/>
          </a:prstGeom>
          <a:solidFill>
            <a:srgbClr val="ECEEF1"/>
          </a:solidFill>
          <a:ln w="9525"/>
        </p:spPr>
        <p:txBody>
          <a:bodyPr/>
          <a:lstStyle/>
          <a:p>
            <a:endParaRPr lang="en-TH" sz="2400"/>
          </a:p>
        </p:txBody>
      </p:sp>
      <p:sp>
        <p:nvSpPr>
          <p:cNvPr id="30" name="Shape 28"/>
          <p:cNvSpPr/>
          <p:nvPr/>
        </p:nvSpPr>
        <p:spPr>
          <a:xfrm>
            <a:off x="10023053" y="6025755"/>
            <a:ext cx="228600" cy="228600"/>
          </a:xfrm>
          <a:prstGeom prst="roundRect">
            <a:avLst>
              <a:gd name="adj" fmla="val 25000"/>
            </a:avLst>
          </a:prstGeom>
          <a:solidFill>
            <a:srgbClr val="FFC233"/>
          </a:solidFill>
          <a:ln w="9525"/>
        </p:spPr>
        <p:txBody>
          <a:bodyPr/>
          <a:lstStyle/>
          <a:p>
            <a:endParaRPr lang="en-TH" sz="2400"/>
          </a:p>
        </p:txBody>
      </p:sp>
      <p:sp>
        <p:nvSpPr>
          <p:cNvPr id="31" name="Text 29"/>
          <p:cNvSpPr/>
          <p:nvPr/>
        </p:nvSpPr>
        <p:spPr>
          <a:xfrm>
            <a:off x="10481519" y="5849542"/>
            <a:ext cx="1392118" cy="420628"/>
          </a:xfrm>
          <a:prstGeom prst="rect">
            <a:avLst/>
          </a:prstGeom>
          <a:noFill/>
          <a:ln w="9525"/>
        </p:spPr>
        <p:txBody>
          <a:bodyPr lIns="25400" tIns="25400" rIns="25400" bIns="25400" rtlCol="0" anchor="t">
            <a:spAutoFit/>
          </a:bodyPr>
          <a:lstStyle/>
          <a:p>
            <a:pPr marL="0" indent="0" algn="l">
              <a:buNone/>
            </a:pPr>
            <a:r>
              <a:rPr lang="en-US" sz="2400" dirty="0">
                <a:solidFill>
                  <a:srgbClr val="0B0F19"/>
                </a:solidFill>
                <a:latin typeface="Space Grotesk" pitchFamily="34" charset="0"/>
                <a:ea typeface="Space Grotesk" pitchFamily="34" charset="-122"/>
                <a:cs typeface="Space Grotesk" pitchFamily="34" charset="-120"/>
              </a:rPr>
              <a:t>3</a:t>
            </a:r>
            <a:endParaRPr lang="en-US" sz="2400" dirty="0"/>
          </a:p>
        </p:txBody>
      </p:sp>
      <p:sp>
        <p:nvSpPr>
          <p:cNvPr id="32" name="Text 30"/>
          <p:cNvSpPr/>
          <p:nvPr/>
        </p:nvSpPr>
        <p:spPr>
          <a:xfrm>
            <a:off x="10481519" y="6208044"/>
            <a:ext cx="2551211"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PLO3 · Team work; present</a:t>
            </a:r>
            <a:endParaRPr lang="en-US" dirty="0"/>
          </a:p>
        </p:txBody>
      </p:sp>
      <p:sp>
        <p:nvSpPr>
          <p:cNvPr id="33" name="Text 31"/>
          <p:cNvSpPr/>
          <p:nvPr/>
        </p:nvSpPr>
        <p:spPr>
          <a:xfrm>
            <a:off x="16612724" y="5990036"/>
            <a:ext cx="377476"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Res</a:t>
            </a:r>
            <a:endParaRPr lang="en-US" dirty="0"/>
          </a:p>
        </p:txBody>
      </p:sp>
      <p:sp>
        <p:nvSpPr>
          <p:cNvPr id="34" name="Shape 32"/>
          <p:cNvSpPr/>
          <p:nvPr/>
        </p:nvSpPr>
        <p:spPr>
          <a:xfrm>
            <a:off x="9946853" y="6640117"/>
            <a:ext cx="7121947" cy="9525"/>
          </a:xfrm>
          <a:prstGeom prst="rect">
            <a:avLst/>
          </a:prstGeom>
          <a:solidFill>
            <a:srgbClr val="ECEEF1"/>
          </a:solidFill>
          <a:ln w="9525"/>
        </p:spPr>
        <p:txBody>
          <a:bodyPr/>
          <a:lstStyle/>
          <a:p>
            <a:endParaRPr lang="en-TH" sz="2400"/>
          </a:p>
        </p:txBody>
      </p:sp>
      <p:sp>
        <p:nvSpPr>
          <p:cNvPr id="35" name="Shape 33"/>
          <p:cNvSpPr/>
          <p:nvPr/>
        </p:nvSpPr>
        <p:spPr>
          <a:xfrm>
            <a:off x="10023053" y="7035405"/>
            <a:ext cx="228600" cy="228600"/>
          </a:xfrm>
          <a:prstGeom prst="roundRect">
            <a:avLst>
              <a:gd name="adj" fmla="val 25000"/>
            </a:avLst>
          </a:prstGeom>
          <a:solidFill>
            <a:srgbClr val="16B670"/>
          </a:solidFill>
          <a:ln w="9525"/>
        </p:spPr>
        <p:txBody>
          <a:bodyPr/>
          <a:lstStyle/>
          <a:p>
            <a:endParaRPr lang="en-TH" sz="2400"/>
          </a:p>
        </p:txBody>
      </p:sp>
      <p:sp>
        <p:nvSpPr>
          <p:cNvPr id="36" name="Text 34"/>
          <p:cNvSpPr/>
          <p:nvPr/>
        </p:nvSpPr>
        <p:spPr>
          <a:xfrm>
            <a:off x="10481519" y="6859192"/>
            <a:ext cx="3335738" cy="420628"/>
          </a:xfrm>
          <a:prstGeom prst="rect">
            <a:avLst/>
          </a:prstGeom>
          <a:noFill/>
          <a:ln w="9525"/>
        </p:spPr>
        <p:txBody>
          <a:bodyPr lIns="25400" tIns="25400" rIns="25400" bIns="25400" rtlCol="0" anchor="t">
            <a:spAutoFit/>
          </a:bodyPr>
          <a:lstStyle/>
          <a:p>
            <a:pPr marL="0" indent="0" algn="l">
              <a:buNone/>
            </a:pPr>
            <a:r>
              <a:rPr lang="en-US" sz="2400" dirty="0">
                <a:solidFill>
                  <a:srgbClr val="0B0F19"/>
                </a:solidFill>
                <a:latin typeface="Space Grotesk" pitchFamily="34" charset="0"/>
                <a:ea typeface="Space Grotesk" pitchFamily="34" charset="-122"/>
                <a:cs typeface="Space Grotesk" pitchFamily="34" charset="-120"/>
              </a:rPr>
              <a:t>4</a:t>
            </a:r>
            <a:endParaRPr lang="en-US" sz="2400" dirty="0"/>
          </a:p>
        </p:txBody>
      </p:sp>
      <p:sp>
        <p:nvSpPr>
          <p:cNvPr id="37" name="Text 35"/>
          <p:cNvSpPr/>
          <p:nvPr/>
        </p:nvSpPr>
        <p:spPr>
          <a:xfrm>
            <a:off x="10481519" y="7217694"/>
            <a:ext cx="2248308"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PLO4 · Ethics; honest AI</a:t>
            </a:r>
            <a:endParaRPr lang="en-US" dirty="0"/>
          </a:p>
        </p:txBody>
      </p:sp>
      <p:sp>
        <p:nvSpPr>
          <p:cNvPr id="38" name="Text 36"/>
          <p:cNvSpPr/>
          <p:nvPr/>
        </p:nvSpPr>
        <p:spPr>
          <a:xfrm>
            <a:off x="16607109" y="6999686"/>
            <a:ext cx="385491"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Rec</a:t>
            </a:r>
            <a:endParaRPr lang="en-US" dirty="0"/>
          </a:p>
        </p:txBody>
      </p:sp>
      <p:sp>
        <p:nvSpPr>
          <p:cNvPr id="39" name="Shape 37"/>
          <p:cNvSpPr/>
          <p:nvPr/>
        </p:nvSpPr>
        <p:spPr>
          <a:xfrm>
            <a:off x="9946853" y="7649767"/>
            <a:ext cx="7121947" cy="9525"/>
          </a:xfrm>
          <a:prstGeom prst="rect">
            <a:avLst/>
          </a:prstGeom>
          <a:solidFill>
            <a:srgbClr val="ECEEF1"/>
          </a:solidFill>
          <a:ln w="9525"/>
        </p:spPr>
        <p:txBody>
          <a:bodyPr/>
          <a:lstStyle/>
          <a:p>
            <a:endParaRPr lang="en-TH" sz="2400"/>
          </a:p>
        </p:txBody>
      </p:sp>
      <p:sp>
        <p:nvSpPr>
          <p:cNvPr id="40" name="Shape 38"/>
          <p:cNvSpPr/>
          <p:nvPr/>
        </p:nvSpPr>
        <p:spPr>
          <a:xfrm>
            <a:off x="10023053" y="8045055"/>
            <a:ext cx="228600" cy="228600"/>
          </a:xfrm>
          <a:prstGeom prst="roundRect">
            <a:avLst>
              <a:gd name="adj" fmla="val 25000"/>
            </a:avLst>
          </a:prstGeom>
          <a:solidFill>
            <a:srgbClr val="7A4FFF"/>
          </a:solidFill>
          <a:ln w="9525"/>
        </p:spPr>
        <p:txBody>
          <a:bodyPr/>
          <a:lstStyle/>
          <a:p>
            <a:endParaRPr lang="en-TH" sz="2400"/>
          </a:p>
        </p:txBody>
      </p:sp>
      <p:sp>
        <p:nvSpPr>
          <p:cNvPr id="41" name="Text 39"/>
          <p:cNvSpPr/>
          <p:nvPr/>
        </p:nvSpPr>
        <p:spPr>
          <a:xfrm>
            <a:off x="10481519" y="7868842"/>
            <a:ext cx="634774" cy="420628"/>
          </a:xfrm>
          <a:prstGeom prst="rect">
            <a:avLst/>
          </a:prstGeom>
          <a:noFill/>
          <a:ln w="9525"/>
        </p:spPr>
        <p:txBody>
          <a:bodyPr lIns="25400" tIns="25400" rIns="25400" bIns="25400" rtlCol="0" anchor="t">
            <a:spAutoFit/>
          </a:bodyPr>
          <a:lstStyle/>
          <a:p>
            <a:pPr marL="0" indent="0" algn="l">
              <a:buNone/>
            </a:pPr>
            <a:r>
              <a:rPr lang="en-US" sz="2400" dirty="0">
                <a:solidFill>
                  <a:srgbClr val="0B0F19"/>
                </a:solidFill>
                <a:latin typeface="Space Grotesk" pitchFamily="34" charset="0"/>
                <a:ea typeface="Space Grotesk" pitchFamily="34" charset="-122"/>
                <a:cs typeface="Space Grotesk" pitchFamily="34" charset="-120"/>
              </a:rPr>
              <a:t>5</a:t>
            </a:r>
            <a:endParaRPr lang="en-US" sz="2400" dirty="0"/>
          </a:p>
        </p:txBody>
      </p:sp>
      <p:sp>
        <p:nvSpPr>
          <p:cNvPr id="42" name="Text 40"/>
          <p:cNvSpPr/>
          <p:nvPr/>
        </p:nvSpPr>
        <p:spPr>
          <a:xfrm>
            <a:off x="10481519" y="8164418"/>
            <a:ext cx="2476127"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PLO5 · Adapt to new tools</a:t>
            </a:r>
            <a:endParaRPr lang="en-US" dirty="0"/>
          </a:p>
        </p:txBody>
      </p:sp>
      <p:sp>
        <p:nvSpPr>
          <p:cNvPr id="43" name="Text 41"/>
          <p:cNvSpPr/>
          <p:nvPr/>
        </p:nvSpPr>
        <p:spPr>
          <a:xfrm>
            <a:off x="16511698" y="8018016"/>
            <a:ext cx="480902"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Man</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EEF0F3"/>
        </a:solidFill>
        <a:effectLst/>
      </p:bgPr>
    </p:bg>
    <p:spTree>
      <p:nvGrpSpPr>
        <p:cNvPr id="1" name=""/>
        <p:cNvGrpSpPr/>
        <p:nvPr/>
      </p:nvGrpSpPr>
      <p:grpSpPr>
        <a:xfrm>
          <a:off x="0" y="0"/>
          <a:ext cx="0" cy="0"/>
          <a:chOff x="0" y="0"/>
          <a:chExt cx="0" cy="0"/>
        </a:xfrm>
      </p:grpSpPr>
      <p:sp>
        <p:nvSpPr>
          <p:cNvPr id="33099305" name="Shape 12"/>
          <p:cNvSpPr/>
          <p:nvPr/>
        </p:nvSpPr>
        <p:spPr>
          <a:xfrm>
            <a:off x="15590126" y="2338479"/>
            <a:ext cx="3914387" cy="3914387"/>
          </a:xfrm>
          <a:prstGeom prst="ellipse">
            <a:avLst/>
          </a:prstGeom>
          <a:solidFill>
            <a:srgbClr val="16B670"/>
          </a:solidFill>
          <a:ln w="9525"/>
        </p:spPr>
        <p:txBody>
          <a:bodyPr/>
          <a:lstStyle/>
          <a:p>
            <a:endParaRPr lang="en-TH"/>
          </a:p>
        </p:txBody>
      </p:sp>
      <p:sp>
        <p:nvSpPr>
          <p:cNvPr id="13646681" name="Shape 15"/>
          <p:cNvSpPr/>
          <p:nvPr/>
        </p:nvSpPr>
        <p:spPr>
          <a:xfrm>
            <a:off x="13004473" y="8185958"/>
            <a:ext cx="3889732" cy="3889732"/>
          </a:xfrm>
          <a:prstGeom prst="ellipse">
            <a:avLst/>
          </a:prstGeom>
          <a:solidFill>
            <a:srgbClr val="FF5A47"/>
          </a:solidFill>
          <a:ln w="9525"/>
        </p:spPr>
        <p:txBody>
          <a:bodyPr/>
          <a:lstStyle/>
          <a:p>
            <a:endParaRPr lang="en-TH"/>
          </a:p>
        </p:txBody>
      </p:sp>
      <p:sp>
        <p:nvSpPr>
          <p:cNvPr id="61482237" name="Shape 12"/>
          <p:cNvSpPr/>
          <p:nvPr/>
        </p:nvSpPr>
        <p:spPr>
          <a:xfrm>
            <a:off x="16624440" y="7059389"/>
            <a:ext cx="2087699" cy="2087699"/>
          </a:xfrm>
          <a:prstGeom prst="ellipse">
            <a:avLst/>
          </a:prstGeom>
          <a:solidFill>
            <a:schemeClr val="accent1"/>
          </a:solidFill>
          <a:ln w="9525"/>
        </p:spPr>
        <p:txBody>
          <a:bodyPr rtlCol="0" anchor="ctr"/>
          <a:lstStyle/>
          <a:p>
            <a:pPr algn="ctr"/>
            <a:endParaRPr/>
          </a:p>
        </p:txBody>
      </p:sp>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p:cNvSpPr/>
          <p:nvPr/>
        </p:nvSpPr>
        <p:spPr>
          <a:xfrm>
            <a:off x="728216" y="154781"/>
            <a:ext cx="3889732"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p:cNvSpPr/>
          <p:nvPr/>
        </p:nvSpPr>
        <p:spPr>
          <a:xfrm>
            <a:off x="4771355" y="154781"/>
            <a:ext cx="4936877"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Why · The big question</a:t>
            </a:r>
            <a:endParaRPr lang="en-US" sz="1800" dirty="0"/>
          </a:p>
        </p:txBody>
      </p:sp>
      <p:sp>
        <p:nvSpPr>
          <p:cNvPr id="7" name="Text 5"/>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sz="1800" kern="0" spc="72" dirty="0">
                <a:solidFill>
                  <a:srgbClr val="7A8290"/>
                </a:solidFill>
                <a:latin typeface="JetBrains Mono" pitchFamily="34" charset="0"/>
                <a:ea typeface="JetBrains Mono" pitchFamily="34" charset="-122"/>
                <a:cs typeface="JetBrains Mono" pitchFamily="34" charset="-120"/>
              </a:rPr>
              <a:t>05 / </a:t>
            </a:r>
            <a:r>
              <a:rPr lang="en-US" kern="0" spc="72" dirty="0">
                <a:solidFill>
                  <a:srgbClr val="7A8290"/>
                </a:solidFill>
                <a:latin typeface="JetBrains Mono" pitchFamily="34" charset="0"/>
                <a:ea typeface="JetBrains Mono" pitchFamily="34" charset="-122"/>
                <a:cs typeface="JetBrains Mono" pitchFamily="34" charset="-120"/>
              </a:rPr>
              <a:t>32</a:t>
            </a:r>
            <a:endParaRPr lang="en-US" sz="1800" dirty="0"/>
          </a:p>
        </p:txBody>
      </p:sp>
      <p:sp>
        <p:nvSpPr>
          <p:cNvPr id="9" name="Text 7"/>
          <p:cNvSpPr/>
          <p:nvPr/>
        </p:nvSpPr>
        <p:spPr>
          <a:xfrm>
            <a:off x="914400" y="1524000"/>
            <a:ext cx="4538650" cy="814479"/>
          </a:xfrm>
          <a:prstGeom prst="rect">
            <a:avLst/>
          </a:prstGeom>
          <a:noFill/>
          <a:ln w="9525"/>
        </p:spPr>
        <p:txBody>
          <a:bodyPr wrap="none" lIns="25400" tIns="25400" rIns="25400" bIns="25400" rtlCol="0" anchor="t">
            <a:spAutoFit/>
          </a:bodyPr>
          <a:lstStyle/>
          <a:p>
            <a:pPr marL="0" indent="0" algn="l">
              <a:lnSpc>
                <a:spcPct val="100000"/>
              </a:lnSpc>
              <a:buNone/>
            </a:pPr>
            <a:r>
              <a:rPr lang="en-US" sz="4706" b="1" kern="0" spc="-120" dirty="0">
                <a:solidFill>
                  <a:srgbClr val="0B0F19"/>
                </a:solidFill>
                <a:latin typeface="Space Grotesk" pitchFamily="34" charset="0"/>
                <a:ea typeface="Space Grotesk" pitchFamily="34" charset="-122"/>
                <a:cs typeface="Space Grotesk" pitchFamily="34" charset="-120"/>
              </a:rPr>
              <a:t>What you own</a:t>
            </a:r>
            <a:endParaRPr lang="en-US" sz="4706" dirty="0"/>
          </a:p>
        </p:txBody>
      </p:sp>
      <p:sp>
        <p:nvSpPr>
          <p:cNvPr id="10" name="Text 8"/>
          <p:cNvSpPr/>
          <p:nvPr/>
        </p:nvSpPr>
        <p:spPr>
          <a:xfrm>
            <a:off x="914400" y="2539937"/>
            <a:ext cx="15148560" cy="940450"/>
          </a:xfrm>
          <a:prstGeom prst="rect">
            <a:avLst/>
          </a:prstGeom>
          <a:noFill/>
          <a:ln w="9525"/>
        </p:spPr>
        <p:txBody>
          <a:bodyPr wrap="square" lIns="25400" tIns="25400" rIns="25400" bIns="25400" rtlCol="0" anchor="t">
            <a:spAutoFit/>
          </a:bodyPr>
          <a:lstStyle/>
          <a:p>
            <a:pPr marL="0" indent="0" algn="l">
              <a:lnSpc>
                <a:spcPct val="125000"/>
              </a:lnSpc>
              <a:buNone/>
            </a:pPr>
            <a:r>
              <a:rPr lang="en-US" sz="2400" dirty="0">
                <a:solidFill>
                  <a:srgbClr val="3A4250"/>
                </a:solidFill>
                <a:latin typeface="Space Grotesk" pitchFamily="34" charset="0"/>
                <a:ea typeface="Space Grotesk" pitchFamily="34" charset="-122"/>
                <a:cs typeface="Space Grotesk" pitchFamily="34" charset="-120"/>
              </a:rPr>
              <a:t>If AI can write the code, what is the engineer for? That question is the whole course. AI drafts; you decide what is worth building, choose between trade-offs, verify that what shipped actually works — and answer for it when it does not.</a:t>
            </a:r>
            <a:endParaRPr lang="en-US" sz="2400" dirty="0"/>
          </a:p>
        </p:txBody>
      </p:sp>
      <p:sp>
        <p:nvSpPr>
          <p:cNvPr id="11" name="Shape 9"/>
          <p:cNvSpPr/>
          <p:nvPr/>
        </p:nvSpPr>
        <p:spPr>
          <a:xfrm>
            <a:off x="914400" y="3896271"/>
            <a:ext cx="8001000" cy="4058469"/>
          </a:xfrm>
          <a:prstGeom prst="roundRect">
            <a:avLst>
              <a:gd name="adj" fmla="val 4694"/>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12" name="Shape 10"/>
          <p:cNvSpPr/>
          <p:nvPr/>
        </p:nvSpPr>
        <p:spPr>
          <a:xfrm>
            <a:off x="914400" y="4239171"/>
            <a:ext cx="8001000" cy="9525"/>
          </a:xfrm>
          <a:prstGeom prst="rect">
            <a:avLst/>
          </a:prstGeom>
          <a:solidFill>
            <a:srgbClr val="EDEFF2"/>
          </a:solidFill>
          <a:ln w="9525"/>
        </p:spPr>
        <p:txBody>
          <a:bodyPr/>
          <a:lstStyle/>
          <a:p>
            <a:endParaRPr lang="en-TH"/>
          </a:p>
        </p:txBody>
      </p:sp>
      <p:sp>
        <p:nvSpPr>
          <p:cNvPr id="13" name="Shape 11"/>
          <p:cNvSpPr/>
          <p:nvPr/>
        </p:nvSpPr>
        <p:spPr>
          <a:xfrm>
            <a:off x="1047750" y="4010571"/>
            <a:ext cx="114300" cy="114300"/>
          </a:xfrm>
          <a:prstGeom prst="ellipse">
            <a:avLst/>
          </a:prstGeom>
          <a:solidFill>
            <a:srgbClr val="FF6058"/>
          </a:solidFill>
          <a:ln w="9525"/>
        </p:spPr>
        <p:txBody>
          <a:bodyPr/>
          <a:lstStyle/>
          <a:p>
            <a:endParaRPr lang="en-TH"/>
          </a:p>
        </p:txBody>
      </p:sp>
      <p:sp>
        <p:nvSpPr>
          <p:cNvPr id="14" name="Shape 12"/>
          <p:cNvSpPr/>
          <p:nvPr/>
        </p:nvSpPr>
        <p:spPr>
          <a:xfrm>
            <a:off x="1238250" y="4010571"/>
            <a:ext cx="114300" cy="114300"/>
          </a:xfrm>
          <a:prstGeom prst="ellipse">
            <a:avLst/>
          </a:prstGeom>
          <a:solidFill>
            <a:srgbClr val="FFBE2E"/>
          </a:solidFill>
          <a:ln w="9525"/>
        </p:spPr>
        <p:txBody>
          <a:bodyPr/>
          <a:lstStyle/>
          <a:p>
            <a:endParaRPr lang="en-TH"/>
          </a:p>
        </p:txBody>
      </p:sp>
      <p:sp>
        <p:nvSpPr>
          <p:cNvPr id="15" name="Shape 13"/>
          <p:cNvSpPr/>
          <p:nvPr/>
        </p:nvSpPr>
        <p:spPr>
          <a:xfrm>
            <a:off x="1428750" y="4010571"/>
            <a:ext cx="114300" cy="114300"/>
          </a:xfrm>
          <a:prstGeom prst="ellipse">
            <a:avLst/>
          </a:prstGeom>
          <a:solidFill>
            <a:srgbClr val="29CC42"/>
          </a:solidFill>
          <a:ln w="9525"/>
        </p:spPr>
        <p:txBody>
          <a:bodyPr/>
          <a:lstStyle/>
          <a:p>
            <a:endParaRPr lang="en-TH"/>
          </a:p>
        </p:txBody>
      </p:sp>
      <p:sp>
        <p:nvSpPr>
          <p:cNvPr id="16" name="Text 14"/>
          <p:cNvSpPr/>
          <p:nvPr/>
        </p:nvSpPr>
        <p:spPr>
          <a:xfrm>
            <a:off x="1295400" y="4472533"/>
            <a:ext cx="7456170" cy="338138"/>
          </a:xfrm>
          <a:prstGeom prst="rect">
            <a:avLst/>
          </a:prstGeom>
          <a:noFill/>
          <a:ln w="9525"/>
        </p:spPr>
        <p:txBody>
          <a:bodyPr wrap="square" lIns="25400" tIns="25400" rIns="25400" bIns="25400" rtlCol="0" anchor="t"/>
          <a:lstStyle/>
          <a:p>
            <a:pPr marL="0" indent="0" algn="l">
              <a:buNone/>
            </a:pPr>
            <a:r>
              <a:rPr lang="en-US" dirty="0">
                <a:solidFill>
                  <a:srgbClr val="7A8290"/>
                </a:solidFill>
                <a:latin typeface="JetBrains Mono" pitchFamily="34" charset="0"/>
                <a:ea typeface="JetBrains Mono" pitchFamily="34" charset="-122"/>
                <a:cs typeface="JetBrains Mono" pitchFamily="34" charset="-120"/>
              </a:rPr>
              <a:t>THE TOOL</a:t>
            </a:r>
            <a:endParaRPr lang="en-US" dirty="0"/>
          </a:p>
        </p:txBody>
      </p:sp>
      <p:sp>
        <p:nvSpPr>
          <p:cNvPr id="17" name="Text 15"/>
          <p:cNvSpPr/>
          <p:nvPr/>
        </p:nvSpPr>
        <p:spPr>
          <a:xfrm>
            <a:off x="1295400" y="4905920"/>
            <a:ext cx="7456170" cy="500063"/>
          </a:xfrm>
          <a:prstGeom prst="rect">
            <a:avLst/>
          </a:prstGeom>
          <a:noFill/>
          <a:ln w="9525"/>
        </p:spPr>
        <p:txBody>
          <a:bodyPr wrap="square" lIns="25400" tIns="25400" rIns="25400" bIns="25400" rtlCol="0" anchor="t"/>
          <a:lstStyle/>
          <a:p>
            <a:pPr marL="0" indent="0" algn="l">
              <a:buNone/>
            </a:pPr>
            <a:r>
              <a:rPr lang="en-US" sz="3000" b="1" kern="0" spc="-57" dirty="0">
                <a:solidFill>
                  <a:srgbClr val="0B0F19"/>
                </a:solidFill>
                <a:latin typeface="Space Grotesk" pitchFamily="34" charset="0"/>
                <a:ea typeface="Space Grotesk" pitchFamily="34" charset="-122"/>
                <a:cs typeface="Space Grotesk" pitchFamily="34" charset="-120"/>
              </a:rPr>
              <a:t>What AI is good at</a:t>
            </a:r>
            <a:endParaRPr lang="en-US" sz="3000" dirty="0"/>
          </a:p>
        </p:txBody>
      </p:sp>
      <p:sp>
        <p:nvSpPr>
          <p:cNvPr id="18" name="Text 16"/>
          <p:cNvSpPr/>
          <p:nvPr/>
        </p:nvSpPr>
        <p:spPr>
          <a:xfrm>
            <a:off x="1295400" y="5552033"/>
            <a:ext cx="7239000" cy="1115244"/>
          </a:xfrm>
          <a:prstGeom prst="rect">
            <a:avLst/>
          </a:prstGeom>
          <a:noFill/>
          <a:ln w="9525"/>
          <a:effectLst/>
        </p:spPr>
        <p:txBody>
          <a:bodyPr wrap="square" lIns="25400" tIns="25400" rIns="25400" bIns="25400" rtlCol="0" anchor="t"/>
          <a:lstStyle/>
          <a:p>
            <a:pPr marL="0" indent="0">
              <a:lnSpc>
                <a:spcPct val="125000"/>
              </a:lnSpc>
              <a:buNone/>
            </a:pPr>
            <a:r>
              <a:rPr lang="en-US" dirty="0">
                <a:solidFill>
                  <a:srgbClr val="3A4250"/>
                </a:solidFill>
                <a:latin typeface="Space Grotesk" pitchFamily="34" charset="0"/>
                <a:ea typeface="Space Grotesk" pitchFamily="34" charset="-122"/>
                <a:cs typeface="Space Grotesk" pitchFamily="34" charset="-120"/>
              </a:rPr>
              <a:t>Drafting code, tests and documentation quickly; explaining unfamiliar syntax; offering options you had not considered. A fast junior assistant that never tires — and is confidently wrong on a regular basis.</a:t>
            </a:r>
            <a:endParaRPr lang="en-US" dirty="0"/>
          </a:p>
        </p:txBody>
      </p:sp>
      <p:sp>
        <p:nvSpPr>
          <p:cNvPr id="19" name="Shape 17"/>
          <p:cNvSpPr/>
          <p:nvPr/>
        </p:nvSpPr>
        <p:spPr>
          <a:xfrm>
            <a:off x="1295400" y="7002239"/>
            <a:ext cx="533400" cy="533400"/>
          </a:xfrm>
          <a:prstGeom prst="roundRect">
            <a:avLst>
              <a:gd name="adj" fmla="val 17857"/>
            </a:avLst>
          </a:prstGeom>
          <a:solidFill>
            <a:schemeClr val="accent1"/>
          </a:solidFill>
          <a:ln w="9525"/>
        </p:spPr>
        <p:txBody>
          <a:bodyPr/>
          <a:lstStyle/>
          <a:p>
            <a:endParaRPr lang="en-TH"/>
          </a:p>
        </p:txBody>
      </p:sp>
      <p:sp>
        <p:nvSpPr>
          <p:cNvPr id="20" name="Shape 18"/>
          <p:cNvSpPr/>
          <p:nvPr/>
        </p:nvSpPr>
        <p:spPr>
          <a:xfrm>
            <a:off x="1924050" y="7002239"/>
            <a:ext cx="533400" cy="533400"/>
          </a:xfrm>
          <a:prstGeom prst="roundRect">
            <a:avLst>
              <a:gd name="adj" fmla="val 17857"/>
            </a:avLst>
          </a:prstGeom>
          <a:solidFill>
            <a:schemeClr val="accent2"/>
          </a:solidFill>
          <a:ln w="9525"/>
        </p:spPr>
        <p:txBody>
          <a:bodyPr/>
          <a:lstStyle/>
          <a:p>
            <a:endParaRPr lang="en-TH"/>
          </a:p>
        </p:txBody>
      </p:sp>
      <p:sp>
        <p:nvSpPr>
          <p:cNvPr id="21" name="Shape 19"/>
          <p:cNvSpPr/>
          <p:nvPr/>
        </p:nvSpPr>
        <p:spPr>
          <a:xfrm>
            <a:off x="2552700" y="7002239"/>
            <a:ext cx="533400" cy="533400"/>
          </a:xfrm>
          <a:prstGeom prst="roundRect">
            <a:avLst>
              <a:gd name="adj" fmla="val 17857"/>
            </a:avLst>
          </a:prstGeom>
          <a:solidFill>
            <a:schemeClr val="accent3"/>
          </a:solidFill>
          <a:ln w="9525"/>
        </p:spPr>
        <p:txBody>
          <a:bodyPr/>
          <a:lstStyle/>
          <a:p>
            <a:endParaRPr lang="en-TH"/>
          </a:p>
        </p:txBody>
      </p:sp>
      <p:sp>
        <p:nvSpPr>
          <p:cNvPr id="25" name="Shape 23"/>
          <p:cNvSpPr/>
          <p:nvPr/>
        </p:nvSpPr>
        <p:spPr>
          <a:xfrm>
            <a:off x="9372600" y="3896271"/>
            <a:ext cx="8001000" cy="4058469"/>
          </a:xfrm>
          <a:prstGeom prst="roundRect">
            <a:avLst>
              <a:gd name="adj" fmla="val 4694"/>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6" name="Shape 24"/>
          <p:cNvSpPr/>
          <p:nvPr/>
        </p:nvSpPr>
        <p:spPr>
          <a:xfrm>
            <a:off x="9372600" y="4239171"/>
            <a:ext cx="8001000" cy="9525"/>
          </a:xfrm>
          <a:prstGeom prst="rect">
            <a:avLst/>
          </a:prstGeom>
          <a:solidFill>
            <a:srgbClr val="EDEFF2"/>
          </a:solidFill>
          <a:ln w="9525"/>
        </p:spPr>
        <p:txBody>
          <a:bodyPr/>
          <a:lstStyle/>
          <a:p>
            <a:endParaRPr lang="en-TH"/>
          </a:p>
        </p:txBody>
      </p:sp>
      <p:sp>
        <p:nvSpPr>
          <p:cNvPr id="27" name="Shape 25"/>
          <p:cNvSpPr/>
          <p:nvPr/>
        </p:nvSpPr>
        <p:spPr>
          <a:xfrm>
            <a:off x="9505950" y="4010571"/>
            <a:ext cx="114300" cy="114300"/>
          </a:xfrm>
          <a:prstGeom prst="ellipse">
            <a:avLst/>
          </a:prstGeom>
          <a:solidFill>
            <a:srgbClr val="FF6058"/>
          </a:solidFill>
          <a:ln w="9525"/>
        </p:spPr>
        <p:txBody>
          <a:bodyPr/>
          <a:lstStyle/>
          <a:p>
            <a:endParaRPr lang="en-TH"/>
          </a:p>
        </p:txBody>
      </p:sp>
      <p:sp>
        <p:nvSpPr>
          <p:cNvPr id="28" name="Shape 26"/>
          <p:cNvSpPr/>
          <p:nvPr/>
        </p:nvSpPr>
        <p:spPr>
          <a:xfrm>
            <a:off x="9696450" y="4010571"/>
            <a:ext cx="114300" cy="114300"/>
          </a:xfrm>
          <a:prstGeom prst="ellipse">
            <a:avLst/>
          </a:prstGeom>
          <a:solidFill>
            <a:srgbClr val="FFBE2E"/>
          </a:solidFill>
          <a:ln w="9525"/>
        </p:spPr>
        <p:txBody>
          <a:bodyPr/>
          <a:lstStyle/>
          <a:p>
            <a:endParaRPr lang="en-TH"/>
          </a:p>
        </p:txBody>
      </p:sp>
      <p:sp>
        <p:nvSpPr>
          <p:cNvPr id="29" name="Shape 27"/>
          <p:cNvSpPr/>
          <p:nvPr/>
        </p:nvSpPr>
        <p:spPr>
          <a:xfrm>
            <a:off x="9886950" y="4010571"/>
            <a:ext cx="114300" cy="114300"/>
          </a:xfrm>
          <a:prstGeom prst="ellipse">
            <a:avLst/>
          </a:prstGeom>
          <a:solidFill>
            <a:srgbClr val="29CC42"/>
          </a:solidFill>
          <a:ln w="9525"/>
        </p:spPr>
        <p:txBody>
          <a:bodyPr/>
          <a:lstStyle/>
          <a:p>
            <a:endParaRPr lang="en-TH"/>
          </a:p>
        </p:txBody>
      </p:sp>
      <p:sp>
        <p:nvSpPr>
          <p:cNvPr id="30" name="Text 28"/>
          <p:cNvSpPr/>
          <p:nvPr/>
        </p:nvSpPr>
        <p:spPr>
          <a:xfrm>
            <a:off x="9753600" y="4472533"/>
            <a:ext cx="7456170" cy="338138"/>
          </a:xfrm>
          <a:prstGeom prst="rect">
            <a:avLst/>
          </a:prstGeom>
          <a:noFill/>
          <a:ln w="9525"/>
        </p:spPr>
        <p:txBody>
          <a:bodyPr wrap="square" lIns="25400" tIns="25400" rIns="25400" bIns="25400" rtlCol="0" anchor="t"/>
          <a:lstStyle/>
          <a:p>
            <a:pPr marL="0" indent="0" algn="l">
              <a:buNone/>
            </a:pPr>
            <a:r>
              <a:rPr lang="en-US" dirty="0">
                <a:solidFill>
                  <a:srgbClr val="7A8290"/>
                </a:solidFill>
                <a:latin typeface="JetBrains Mono" pitchFamily="34" charset="0"/>
                <a:ea typeface="JetBrains Mono" pitchFamily="34" charset="-122"/>
                <a:cs typeface="JetBrains Mono" pitchFamily="34" charset="-120"/>
              </a:rPr>
              <a:t>THE ENGINEER</a:t>
            </a:r>
            <a:endParaRPr lang="en-US" dirty="0"/>
          </a:p>
        </p:txBody>
      </p:sp>
      <p:sp>
        <p:nvSpPr>
          <p:cNvPr id="31" name="Text 29"/>
          <p:cNvSpPr/>
          <p:nvPr/>
        </p:nvSpPr>
        <p:spPr>
          <a:xfrm>
            <a:off x="9753600" y="4905920"/>
            <a:ext cx="7456170" cy="500063"/>
          </a:xfrm>
          <a:prstGeom prst="rect">
            <a:avLst/>
          </a:prstGeom>
          <a:noFill/>
          <a:ln w="9525"/>
        </p:spPr>
        <p:txBody>
          <a:bodyPr wrap="square" lIns="25400" tIns="25400" rIns="25400" bIns="25400" rtlCol="0" anchor="t"/>
          <a:lstStyle/>
          <a:p>
            <a:pPr marL="0" indent="0" algn="l">
              <a:buNone/>
            </a:pPr>
            <a:r>
              <a:rPr lang="en-US" sz="3000" b="1" kern="0" spc="-57" dirty="0">
                <a:solidFill>
                  <a:srgbClr val="0B0F19"/>
                </a:solidFill>
                <a:latin typeface="Space Grotesk" pitchFamily="34" charset="0"/>
                <a:ea typeface="Space Grotesk" pitchFamily="34" charset="-122"/>
                <a:cs typeface="Space Grotesk" pitchFamily="34" charset="-120"/>
              </a:rPr>
              <a:t>What only you can own</a:t>
            </a:r>
            <a:endParaRPr lang="en-US" sz="3000" dirty="0"/>
          </a:p>
        </p:txBody>
      </p:sp>
      <p:sp>
        <p:nvSpPr>
          <p:cNvPr id="32" name="Text 30"/>
          <p:cNvSpPr/>
          <p:nvPr/>
        </p:nvSpPr>
        <p:spPr>
          <a:xfrm>
            <a:off x="9753600" y="5552033"/>
            <a:ext cx="7456170" cy="1115244"/>
          </a:xfrm>
          <a:prstGeom prst="rect">
            <a:avLst/>
          </a:prstGeom>
          <a:noFill/>
          <a:ln w="9525"/>
        </p:spPr>
        <p:txBody>
          <a:bodyPr wrap="square" lIns="25400" tIns="25400" rIns="25400" bIns="25400" rtlCol="0" anchor="t"/>
          <a:lstStyle/>
          <a:p>
            <a:pPr marL="0" indent="0" algn="l">
              <a:lnSpc>
                <a:spcPct val="125000"/>
              </a:lnSpc>
              <a:buNone/>
            </a:pPr>
            <a:r>
              <a:rPr lang="en-US" dirty="0">
                <a:solidFill>
                  <a:srgbClr val="3A4250"/>
                </a:solidFill>
                <a:latin typeface="Space Grotesk" pitchFamily="34" charset="0"/>
                <a:ea typeface="Space Grotesk" pitchFamily="34" charset="-122"/>
                <a:cs typeface="Space Grotesk" pitchFamily="34" charset="-120"/>
              </a:rPr>
              <a:t>Deciding what is worth building. Choosing between trade-offs and defending the choice. Checking that what shipped actually works. And being accountable when it does not.</a:t>
            </a:r>
            <a:endParaRPr lang="en-US" dirty="0"/>
          </a:p>
        </p:txBody>
      </p:sp>
      <p:sp>
        <p:nvSpPr>
          <p:cNvPr id="33" name="Shape 31"/>
          <p:cNvSpPr/>
          <p:nvPr/>
        </p:nvSpPr>
        <p:spPr>
          <a:xfrm>
            <a:off x="9753600" y="7002239"/>
            <a:ext cx="1485156" cy="381000"/>
          </a:xfrm>
          <a:prstGeom prst="roundRect">
            <a:avLst>
              <a:gd name="adj" fmla="val 50000"/>
            </a:avLst>
          </a:prstGeom>
          <a:solidFill>
            <a:srgbClr val="E4E7EC"/>
          </a:solidFill>
          <a:ln w="9525"/>
        </p:spPr>
        <p:txBody>
          <a:bodyPr/>
          <a:lstStyle/>
          <a:p>
            <a:endParaRPr lang="en-TH"/>
          </a:p>
        </p:txBody>
      </p:sp>
      <p:sp>
        <p:nvSpPr>
          <p:cNvPr id="34" name="Text 32"/>
          <p:cNvSpPr/>
          <p:nvPr/>
        </p:nvSpPr>
        <p:spPr>
          <a:xfrm>
            <a:off x="9886950" y="7059389"/>
            <a:ext cx="1218456" cy="266700"/>
          </a:xfrm>
          <a:prstGeom prst="rect">
            <a:avLst/>
          </a:prstGeom>
          <a:noFill/>
          <a:ln w="9525"/>
        </p:spPr>
        <p:txBody>
          <a:bodyPr wrap="square" lIns="25400" tIns="25400" rIns="25400" bIns="25400" rtlCol="0" anchor="ctr">
            <a:normAutofit fontScale="92500" lnSpcReduction="20000"/>
          </a:bodyPr>
          <a:lstStyle/>
          <a:p>
            <a:pPr marL="0" indent="0" algn="ctr">
              <a:lnSpc>
                <a:spcPct val="100000"/>
              </a:lnSpc>
              <a:buNone/>
            </a:pPr>
            <a:r>
              <a:rPr lang="en-US" sz="1800" dirty="0">
                <a:solidFill>
                  <a:srgbClr val="0B0F19"/>
                </a:solidFill>
                <a:latin typeface="Space Grotesk" pitchFamily="34" charset="0"/>
                <a:ea typeface="Space Grotesk" pitchFamily="34" charset="-122"/>
                <a:cs typeface="Space Grotesk" pitchFamily="34" charset="-120"/>
              </a:rPr>
              <a:t>frame</a:t>
            </a:r>
            <a:endParaRPr lang="en-US" sz="1800" dirty="0"/>
          </a:p>
        </p:txBody>
      </p:sp>
      <p:sp>
        <p:nvSpPr>
          <p:cNvPr id="35" name="Text 33"/>
          <p:cNvSpPr/>
          <p:nvPr/>
        </p:nvSpPr>
        <p:spPr>
          <a:xfrm>
            <a:off x="11372106" y="7042721"/>
            <a:ext cx="213866"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a:t>
            </a:r>
            <a:endParaRPr lang="en-US" sz="1800" dirty="0"/>
          </a:p>
        </p:txBody>
      </p:sp>
      <p:sp>
        <p:nvSpPr>
          <p:cNvPr id="36" name="Shape 34"/>
          <p:cNvSpPr/>
          <p:nvPr/>
        </p:nvSpPr>
        <p:spPr>
          <a:xfrm>
            <a:off x="11643122" y="7002239"/>
            <a:ext cx="1248742" cy="381000"/>
          </a:xfrm>
          <a:prstGeom prst="roundRect">
            <a:avLst>
              <a:gd name="adj" fmla="val 50000"/>
            </a:avLst>
          </a:prstGeom>
          <a:solidFill>
            <a:srgbClr val="FFE0DC"/>
          </a:solidFill>
          <a:ln w="9525"/>
        </p:spPr>
        <p:txBody>
          <a:bodyPr/>
          <a:lstStyle/>
          <a:p>
            <a:endParaRPr lang="en-TH"/>
          </a:p>
        </p:txBody>
      </p:sp>
      <p:sp>
        <p:nvSpPr>
          <p:cNvPr id="37" name="Text 35"/>
          <p:cNvSpPr/>
          <p:nvPr/>
        </p:nvSpPr>
        <p:spPr>
          <a:xfrm>
            <a:off x="11776472" y="7059389"/>
            <a:ext cx="982042" cy="266700"/>
          </a:xfrm>
          <a:prstGeom prst="rect">
            <a:avLst/>
          </a:prstGeom>
          <a:noFill/>
          <a:ln w="9525"/>
        </p:spPr>
        <p:txBody>
          <a:bodyPr wrap="square" lIns="25400" tIns="25400" rIns="25400" bIns="25400" rtlCol="0" anchor="ctr">
            <a:normAutofit fontScale="92500" lnSpcReduction="20000"/>
          </a:bodyPr>
          <a:lstStyle/>
          <a:p>
            <a:pPr marL="0" indent="0" algn="ctr">
              <a:lnSpc>
                <a:spcPct val="100000"/>
              </a:lnSpc>
              <a:buNone/>
            </a:pPr>
            <a:r>
              <a:rPr lang="en-US" sz="1800" dirty="0">
                <a:solidFill>
                  <a:srgbClr val="B23A2D"/>
                </a:solidFill>
                <a:latin typeface="Space Grotesk" pitchFamily="34" charset="0"/>
                <a:ea typeface="Space Grotesk" pitchFamily="34" charset="-122"/>
                <a:cs typeface="Space Grotesk" pitchFamily="34" charset="-120"/>
              </a:rPr>
              <a:t>decide</a:t>
            </a:r>
            <a:endParaRPr lang="en-US" sz="1800" dirty="0"/>
          </a:p>
        </p:txBody>
      </p:sp>
      <p:sp>
        <p:nvSpPr>
          <p:cNvPr id="38" name="Text 36"/>
          <p:cNvSpPr/>
          <p:nvPr/>
        </p:nvSpPr>
        <p:spPr>
          <a:xfrm>
            <a:off x="13025214" y="7042721"/>
            <a:ext cx="213866"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a:t>
            </a:r>
            <a:endParaRPr lang="en-US" sz="1800" dirty="0"/>
          </a:p>
        </p:txBody>
      </p:sp>
      <p:sp>
        <p:nvSpPr>
          <p:cNvPr id="39" name="Shape 37"/>
          <p:cNvSpPr/>
          <p:nvPr/>
        </p:nvSpPr>
        <p:spPr>
          <a:xfrm>
            <a:off x="13296230" y="7002239"/>
            <a:ext cx="1248742" cy="381000"/>
          </a:xfrm>
          <a:prstGeom prst="roundRect">
            <a:avLst>
              <a:gd name="adj" fmla="val 50000"/>
            </a:avLst>
          </a:prstGeom>
          <a:solidFill>
            <a:srgbClr val="FFE0DC"/>
          </a:solidFill>
          <a:ln w="9525"/>
        </p:spPr>
        <p:txBody>
          <a:bodyPr/>
          <a:lstStyle/>
          <a:p>
            <a:endParaRPr lang="en-TH"/>
          </a:p>
        </p:txBody>
      </p:sp>
      <p:sp>
        <p:nvSpPr>
          <p:cNvPr id="40" name="Text 38"/>
          <p:cNvSpPr/>
          <p:nvPr/>
        </p:nvSpPr>
        <p:spPr>
          <a:xfrm>
            <a:off x="13429580" y="7059389"/>
            <a:ext cx="982042" cy="266700"/>
          </a:xfrm>
          <a:prstGeom prst="rect">
            <a:avLst/>
          </a:prstGeom>
          <a:noFill/>
          <a:ln w="9525"/>
        </p:spPr>
        <p:txBody>
          <a:bodyPr wrap="square" lIns="25400" tIns="25400" rIns="25400" bIns="25400" rtlCol="0" anchor="ctr">
            <a:normAutofit fontScale="92500" lnSpcReduction="20000"/>
          </a:bodyPr>
          <a:lstStyle/>
          <a:p>
            <a:pPr marL="0" indent="0" algn="ctr">
              <a:lnSpc>
                <a:spcPct val="100000"/>
              </a:lnSpc>
              <a:buNone/>
            </a:pPr>
            <a:r>
              <a:rPr lang="en-US" sz="1800" dirty="0">
                <a:solidFill>
                  <a:srgbClr val="B23A2D"/>
                </a:solidFill>
                <a:latin typeface="Space Grotesk" pitchFamily="34" charset="0"/>
                <a:ea typeface="Space Grotesk" pitchFamily="34" charset="-122"/>
                <a:cs typeface="Space Grotesk" pitchFamily="34" charset="-120"/>
              </a:rPr>
              <a:t>verify</a:t>
            </a:r>
            <a:endParaRPr lang="en-US" sz="1800" dirty="0"/>
          </a:p>
        </p:txBody>
      </p:sp>
      <p:sp>
        <p:nvSpPr>
          <p:cNvPr id="41" name="Text 39"/>
          <p:cNvSpPr/>
          <p:nvPr/>
        </p:nvSpPr>
        <p:spPr>
          <a:xfrm>
            <a:off x="14678323" y="7042721"/>
            <a:ext cx="213866"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a:t>
            </a:r>
            <a:endParaRPr lang="en-US" sz="1800" dirty="0"/>
          </a:p>
        </p:txBody>
      </p:sp>
      <p:sp>
        <p:nvSpPr>
          <p:cNvPr id="42" name="Shape 40"/>
          <p:cNvSpPr/>
          <p:nvPr/>
        </p:nvSpPr>
        <p:spPr>
          <a:xfrm>
            <a:off x="14949339" y="7002239"/>
            <a:ext cx="1513805" cy="381000"/>
          </a:xfrm>
          <a:prstGeom prst="roundRect">
            <a:avLst>
              <a:gd name="adj" fmla="val 50000"/>
            </a:avLst>
          </a:prstGeom>
          <a:solidFill>
            <a:srgbClr val="FFE0DC"/>
          </a:solidFill>
          <a:ln w="9525"/>
        </p:spPr>
        <p:txBody>
          <a:bodyPr/>
          <a:lstStyle/>
          <a:p>
            <a:endParaRPr lang="en-TH"/>
          </a:p>
        </p:txBody>
      </p:sp>
      <p:sp>
        <p:nvSpPr>
          <p:cNvPr id="43" name="Text 41"/>
          <p:cNvSpPr/>
          <p:nvPr/>
        </p:nvSpPr>
        <p:spPr>
          <a:xfrm>
            <a:off x="15082689" y="7059389"/>
            <a:ext cx="1247105" cy="266700"/>
          </a:xfrm>
          <a:prstGeom prst="rect">
            <a:avLst/>
          </a:prstGeom>
          <a:noFill/>
          <a:ln w="9525"/>
        </p:spPr>
        <p:txBody>
          <a:bodyPr wrap="square" lIns="25400" tIns="25400" rIns="25400" bIns="25400" rtlCol="0" anchor="ctr">
            <a:normAutofit fontScale="92500" lnSpcReduction="20000"/>
          </a:bodyPr>
          <a:lstStyle/>
          <a:p>
            <a:pPr marL="0" indent="0" algn="ctr">
              <a:lnSpc>
                <a:spcPct val="100000"/>
              </a:lnSpc>
              <a:buNone/>
            </a:pPr>
            <a:r>
              <a:rPr lang="en-US" sz="1800" dirty="0">
                <a:solidFill>
                  <a:srgbClr val="B23A2D"/>
                </a:solidFill>
                <a:latin typeface="Space Grotesk" pitchFamily="34" charset="0"/>
                <a:ea typeface="Space Grotesk" pitchFamily="34" charset="-122"/>
                <a:cs typeface="Space Grotesk" pitchFamily="34" charset="-120"/>
              </a:rPr>
              <a:t>own it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1" y="154783"/>
            <a:ext cx="213866" cy="338138"/>
          </a:xfrm>
          <a:prstGeom prst="rect">
            <a:avLst/>
          </a:prstGeom>
          <a:noFill/>
          <a:ln w="9525"/>
        </p:spPr>
        <p:txBody>
          <a:bodyPr wrap="square" lIns="25400" tIns="25400" rIns="25400" bIns="25400" rtlCol="0" anchor="t">
            <a:normAutofit/>
          </a:bodyPr>
          <a:lstStyle/>
          <a:p>
            <a:r>
              <a:rPr lang="en-US" b="1" dirty="0">
                <a:solidFill>
                  <a:srgbClr val="0B0F19"/>
                </a:solidFill>
                <a:latin typeface="JetBrains Mono" pitchFamily="34" charset="0"/>
                <a:ea typeface="JetBrains Mono" pitchFamily="34" charset="-122"/>
                <a:cs typeface="JetBrains Mono" pitchFamily="34" charset="-120"/>
              </a:rPr>
              <a:t>▶</a:t>
            </a:r>
            <a:endParaRPr lang="en-US" dirty="0"/>
          </a:p>
        </p:txBody>
      </p:sp>
      <p:sp>
        <p:nvSpPr>
          <p:cNvPr id="5" name="Text 3"/>
          <p:cNvSpPr/>
          <p:nvPr/>
        </p:nvSpPr>
        <p:spPr>
          <a:xfrm>
            <a:off x="728216" y="154783"/>
            <a:ext cx="3889733"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p:cNvSpPr/>
          <p:nvPr/>
        </p:nvSpPr>
        <p:spPr>
          <a:xfrm>
            <a:off x="4771357" y="154783"/>
            <a:ext cx="3524129" cy="338138"/>
          </a:xfrm>
          <a:prstGeom prst="rect">
            <a:avLst/>
          </a:prstGeom>
          <a:noFill/>
          <a:ln w="9525"/>
        </p:spPr>
        <p:txBody>
          <a:bodyPr wrap="square" lIns="25400" tIns="25400" rIns="25400" bIns="25400" rtlCol="0" anchor="t">
            <a:normAutofit/>
          </a:bodyPr>
          <a:lstStyle/>
          <a:p>
            <a:r>
              <a:rPr lang="en-US" dirty="0">
                <a:solidFill>
                  <a:srgbClr val="7A8290"/>
                </a:solidFill>
                <a:latin typeface="JetBrains Mono" pitchFamily="34" charset="0"/>
                <a:ea typeface="JetBrains Mono" pitchFamily="34" charset="-122"/>
                <a:cs typeface="JetBrains Mono" pitchFamily="34" charset="-120"/>
              </a:rPr>
              <a:t>Page · The Human Edge</a:t>
            </a:r>
          </a:p>
        </p:txBody>
      </p:sp>
      <p:sp>
        <p:nvSpPr>
          <p:cNvPr id="7" name="Text 5"/>
          <p:cNvSpPr/>
          <p:nvPr/>
        </p:nvSpPr>
        <p:spPr>
          <a:xfrm>
            <a:off x="16997139" y="154783"/>
            <a:ext cx="1100361" cy="338138"/>
          </a:xfrm>
          <a:prstGeom prst="rect">
            <a:avLst/>
          </a:prstGeom>
          <a:noFill/>
          <a:ln w="9525"/>
        </p:spPr>
        <p:txBody>
          <a:bodyPr wrap="square" lIns="25400" tIns="25400" rIns="25400" bIns="25400" rtlCol="0" anchor="t">
            <a:normAutofit/>
          </a:bodyPr>
          <a:lstStyle/>
          <a:p>
            <a:r>
              <a:rPr lang="en-US" kern="0" spc="72" dirty="0">
                <a:solidFill>
                  <a:srgbClr val="7A8290"/>
                </a:solidFill>
                <a:latin typeface="JetBrains Mono" pitchFamily="34" charset="0"/>
                <a:ea typeface="JetBrains Mono" pitchFamily="34" charset="-122"/>
                <a:cs typeface="JetBrains Mono" pitchFamily="34" charset="-120"/>
              </a:rPr>
              <a:t>06 / 32</a:t>
            </a:r>
            <a:endParaRPr lang="en-US" dirty="0"/>
          </a:p>
        </p:txBody>
      </p:sp>
      <p:sp>
        <p:nvSpPr>
          <p:cNvPr id="9" name="Shape 7"/>
          <p:cNvSpPr/>
          <p:nvPr/>
        </p:nvSpPr>
        <p:spPr>
          <a:xfrm>
            <a:off x="914400" y="1524000"/>
            <a:ext cx="1653555" cy="419100"/>
          </a:xfrm>
          <a:prstGeom prst="roundRect">
            <a:avLst>
              <a:gd name="adj" fmla="val 50000"/>
            </a:avLst>
          </a:prstGeom>
          <a:solidFill>
            <a:srgbClr val="FFC233"/>
          </a:solidFill>
          <a:ln w="9525"/>
        </p:spPr>
        <p:txBody>
          <a:bodyPr/>
          <a:lstStyle/>
          <a:p>
            <a:endParaRPr lang="en-TH"/>
          </a:p>
        </p:txBody>
      </p:sp>
      <p:sp>
        <p:nvSpPr>
          <p:cNvPr id="10" name="Text 8"/>
          <p:cNvSpPr/>
          <p:nvPr/>
        </p:nvSpPr>
        <p:spPr>
          <a:xfrm>
            <a:off x="1085850" y="1619250"/>
            <a:ext cx="1310655" cy="266700"/>
          </a:xfrm>
          <a:prstGeom prst="rect">
            <a:avLst/>
          </a:prstGeom>
          <a:noFill/>
          <a:ln w="9525"/>
        </p:spPr>
        <p:txBody>
          <a:bodyPr wrap="square" lIns="25400" tIns="25400" rIns="25400" bIns="25400" rtlCol="0" anchor="ctr">
            <a:normAutofit fontScale="92500" lnSpcReduction="20000"/>
          </a:bodyPr>
          <a:lstStyle/>
          <a:p>
            <a:pPr algn="ctr"/>
            <a:r>
              <a:rPr lang="en-US" dirty="0">
                <a:solidFill>
                  <a:srgbClr val="0B0F19"/>
                </a:solidFill>
                <a:latin typeface="JetBrains Mono" pitchFamily="34" charset="0"/>
                <a:ea typeface="JetBrains Mono" pitchFamily="34" charset="-122"/>
                <a:cs typeface="JetBrains Mono" pitchFamily="34" charset="-120"/>
              </a:rPr>
              <a:t>AI ERA</a:t>
            </a:r>
          </a:p>
        </p:txBody>
      </p:sp>
      <p:sp>
        <p:nvSpPr>
          <p:cNvPr id="11" name="Text 9"/>
          <p:cNvSpPr/>
          <p:nvPr/>
        </p:nvSpPr>
        <p:spPr>
          <a:xfrm>
            <a:off x="2796555" y="1583533"/>
            <a:ext cx="2641851" cy="338138"/>
          </a:xfrm>
          <a:prstGeom prst="rect">
            <a:avLst/>
          </a:prstGeom>
          <a:noFill/>
          <a:ln w="9525"/>
        </p:spPr>
        <p:txBody>
          <a:bodyPr wrap="square" lIns="25400" tIns="25400" rIns="25400" bIns="25400" rtlCol="0" anchor="t">
            <a:normAutofit/>
          </a:bodyPr>
          <a:lstStyle/>
          <a:p>
            <a:r>
              <a:rPr lang="en-US" kern="0" spc="108" dirty="0">
                <a:solidFill>
                  <a:srgbClr val="7A8290"/>
                </a:solidFill>
                <a:latin typeface="JetBrains Mono" pitchFamily="34" charset="0"/>
                <a:ea typeface="JetBrains Mono" pitchFamily="34" charset="-122"/>
                <a:cs typeface="JetBrains Mono" pitchFamily="34" charset="-120"/>
              </a:rPr>
              <a:t>THE HUMAN EDGE</a:t>
            </a:r>
          </a:p>
        </p:txBody>
      </p:sp>
      <p:sp>
        <p:nvSpPr>
          <p:cNvPr id="12" name="Text 10"/>
          <p:cNvSpPr/>
          <p:nvPr/>
        </p:nvSpPr>
        <p:spPr>
          <a:xfrm>
            <a:off x="914402" y="2114551"/>
            <a:ext cx="10859213" cy="1506329"/>
          </a:xfrm>
          <a:prstGeom prst="rect">
            <a:avLst/>
          </a:prstGeom>
          <a:noFill/>
          <a:ln w="9525"/>
        </p:spPr>
        <p:txBody>
          <a:bodyPr wrap="square" lIns="25400" tIns="25400" rIns="25400" bIns="25400" rtlCol="0" anchor="t">
            <a:normAutofit/>
          </a:bodyPr>
          <a:lstStyle/>
          <a:p>
            <a:r>
              <a:rPr lang="en-US" sz="4800" b="1" kern="0" spc="-120" dirty="0">
                <a:solidFill>
                  <a:srgbClr val="0B0F19"/>
                </a:solidFill>
                <a:latin typeface="Space Grotesk" pitchFamily="34" charset="0"/>
                <a:ea typeface="Space Grotesk" pitchFamily="34" charset="-122"/>
                <a:cs typeface="Space Grotesk" pitchFamily="34" charset="-120"/>
              </a:rPr>
              <a:t>Skills AI cannot replace</a:t>
            </a:r>
          </a:p>
        </p:txBody>
      </p:sp>
      <p:sp>
        <p:nvSpPr>
          <p:cNvPr id="13" name="Shape 11"/>
          <p:cNvSpPr/>
          <p:nvPr/>
        </p:nvSpPr>
        <p:spPr>
          <a:xfrm>
            <a:off x="914400" y="5834258"/>
            <a:ext cx="3124200" cy="3614589"/>
          </a:xfrm>
          <a:prstGeom prst="roundRect">
            <a:avLst>
              <a:gd name="adj" fmla="val 6098"/>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14" name="Text 12"/>
          <p:cNvSpPr/>
          <p:nvPr/>
        </p:nvSpPr>
        <p:spPr>
          <a:xfrm>
            <a:off x="1162050" y="6100958"/>
            <a:ext cx="2707767" cy="338138"/>
          </a:xfrm>
          <a:prstGeom prst="rect">
            <a:avLst/>
          </a:prstGeom>
          <a:noFill/>
          <a:ln w="9525"/>
        </p:spPr>
        <p:txBody>
          <a:bodyPr wrap="square" lIns="25400" tIns="25400" rIns="25400" bIns="25400" rtlCol="0" anchor="t">
            <a:normAutofit/>
          </a:bodyPr>
          <a:lstStyle/>
          <a:p>
            <a:r>
              <a:rPr lang="en-US" kern="0" spc="108" dirty="0">
                <a:solidFill>
                  <a:srgbClr val="7A8290"/>
                </a:solidFill>
                <a:latin typeface="JetBrains Mono" pitchFamily="34" charset="0"/>
                <a:ea typeface="JetBrains Mono" pitchFamily="34" charset="-122"/>
                <a:cs typeface="JetBrains Mono" pitchFamily="34" charset="-120"/>
              </a:rPr>
              <a:t>STEP 01</a:t>
            </a:r>
          </a:p>
        </p:txBody>
      </p:sp>
      <p:sp>
        <p:nvSpPr>
          <p:cNvPr id="15" name="Text 13"/>
          <p:cNvSpPr/>
          <p:nvPr/>
        </p:nvSpPr>
        <p:spPr>
          <a:xfrm>
            <a:off x="1162050" y="6515297"/>
            <a:ext cx="2707767" cy="404813"/>
          </a:xfrm>
          <a:prstGeom prst="rect">
            <a:avLst/>
          </a:prstGeom>
          <a:noFill/>
          <a:ln w="9525"/>
        </p:spPr>
        <p:txBody>
          <a:bodyPr wrap="square" lIns="25400" tIns="25400" rIns="25400" bIns="25400" rtlCol="0" anchor="t">
            <a:normAutofit/>
          </a:bodyPr>
          <a:lstStyle/>
          <a:p>
            <a:r>
              <a:rPr lang="en-US" sz="2250" b="1" kern="0" spc="-35" dirty="0">
                <a:solidFill>
                  <a:srgbClr val="0B0F19"/>
                </a:solidFill>
                <a:latin typeface="Space Grotesk" pitchFamily="34" charset="0"/>
                <a:ea typeface="Space Grotesk" pitchFamily="34" charset="-122"/>
                <a:cs typeface="Space Grotesk" pitchFamily="34" charset="-120"/>
              </a:rPr>
              <a:t>The shift</a:t>
            </a:r>
          </a:p>
        </p:txBody>
      </p:sp>
      <p:sp>
        <p:nvSpPr>
          <p:cNvPr id="16" name="Text 14"/>
          <p:cNvSpPr/>
          <p:nvPr/>
        </p:nvSpPr>
        <p:spPr>
          <a:xfrm>
            <a:off x="1162050" y="6977258"/>
            <a:ext cx="2707767" cy="1561710"/>
          </a:xfrm>
          <a:prstGeom prst="rect">
            <a:avLst/>
          </a:prstGeom>
          <a:noFill/>
          <a:ln w="9525"/>
        </p:spPr>
        <p:txBody>
          <a:bodyPr wrap="square" lIns="25400" tIns="25400" rIns="25400" bIns="25400" rtlCol="0" anchor="t">
            <a:spAutoFit/>
          </a:bodyPr>
          <a:lstStyle/>
          <a:p>
            <a:pPr>
              <a:lnSpc>
                <a:spcPct val="125000"/>
              </a:lnSpc>
            </a:pPr>
            <a:r>
              <a:rPr lang="en-US" sz="2000" dirty="0">
                <a:solidFill>
                  <a:srgbClr val="3A4250"/>
                </a:solidFill>
                <a:latin typeface="Space Grotesk" pitchFamily="34" charset="0"/>
                <a:ea typeface="Space Grotesk" pitchFamily="34" charset="-122"/>
                <a:cs typeface="Space Grotesk" pitchFamily="34" charset="-120"/>
              </a:rPr>
              <a:t>AI writes code fast. The real work becomes deciding what to build, and why.</a:t>
            </a:r>
          </a:p>
        </p:txBody>
      </p:sp>
      <p:grpSp>
        <p:nvGrpSpPr>
          <p:cNvPr id="60087382" name="Group 60087382"/>
          <p:cNvGrpSpPr/>
          <p:nvPr/>
        </p:nvGrpSpPr>
        <p:grpSpPr>
          <a:xfrm>
            <a:off x="1162050" y="8786860"/>
            <a:ext cx="1287810" cy="376238"/>
            <a:chOff x="1162050" y="6088261"/>
            <a:chExt cx="1287810" cy="376238"/>
          </a:xfrm>
        </p:grpSpPr>
        <p:sp>
          <p:nvSpPr>
            <p:cNvPr id="17" name="Shape 15"/>
            <p:cNvSpPr/>
            <p:nvPr/>
          </p:nvSpPr>
          <p:spPr>
            <a:xfrm>
              <a:off x="1162050" y="6088261"/>
              <a:ext cx="1287810" cy="376238"/>
            </a:xfrm>
            <a:prstGeom prst="roundRect">
              <a:avLst>
                <a:gd name="adj" fmla="val 15190"/>
              </a:avLst>
            </a:prstGeom>
            <a:solidFill>
              <a:srgbClr val="E4E7EC"/>
            </a:solidFill>
            <a:ln w="9525"/>
          </p:spPr>
          <p:txBody>
            <a:bodyPr/>
            <a:lstStyle/>
            <a:p>
              <a:endParaRPr lang="en-TH"/>
            </a:p>
          </p:txBody>
        </p:sp>
        <p:sp>
          <p:nvSpPr>
            <p:cNvPr id="18" name="Text 16"/>
            <p:cNvSpPr/>
            <p:nvPr/>
          </p:nvSpPr>
          <p:spPr>
            <a:xfrm>
              <a:off x="1219200" y="6107311"/>
              <a:ext cx="1173510" cy="338138"/>
            </a:xfrm>
            <a:prstGeom prst="rect">
              <a:avLst/>
            </a:prstGeom>
            <a:noFill/>
            <a:ln w="9525"/>
          </p:spPr>
          <p:txBody>
            <a:bodyPr wrap="square" lIns="25400" tIns="25400" rIns="25400" bIns="25400" rtlCol="0" anchor="t">
              <a:normAutofit/>
            </a:bodyPr>
            <a:lstStyle/>
            <a:p>
              <a:r>
                <a:rPr lang="en-US" dirty="0">
                  <a:solidFill>
                    <a:srgbClr val="3A4250"/>
                  </a:solidFill>
                  <a:latin typeface="JetBrains Mono" pitchFamily="34" charset="0"/>
                  <a:ea typeface="JetBrains Mono" pitchFamily="34" charset="-122"/>
                  <a:cs typeface="JetBrains Mono" pitchFamily="34" charset="-120"/>
                </a:rPr>
                <a:t>why &amp; what</a:t>
              </a:r>
            </a:p>
          </p:txBody>
        </p:sp>
      </p:grpSp>
      <p:sp>
        <p:nvSpPr>
          <p:cNvPr id="21" name="Shape 19"/>
          <p:cNvSpPr/>
          <p:nvPr/>
        </p:nvSpPr>
        <p:spPr>
          <a:xfrm>
            <a:off x="4248150" y="5834258"/>
            <a:ext cx="3124200" cy="3614589"/>
          </a:xfrm>
          <a:prstGeom prst="roundRect">
            <a:avLst>
              <a:gd name="adj" fmla="val 6098"/>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2" name="Text 20"/>
          <p:cNvSpPr/>
          <p:nvPr/>
        </p:nvSpPr>
        <p:spPr>
          <a:xfrm>
            <a:off x="4495800" y="6100958"/>
            <a:ext cx="2707767" cy="338138"/>
          </a:xfrm>
          <a:prstGeom prst="rect">
            <a:avLst/>
          </a:prstGeom>
          <a:noFill/>
          <a:ln w="9525"/>
        </p:spPr>
        <p:txBody>
          <a:bodyPr wrap="square" lIns="25400" tIns="25400" rIns="25400" bIns="25400" rtlCol="0" anchor="t">
            <a:normAutofit/>
          </a:bodyPr>
          <a:lstStyle/>
          <a:p>
            <a:r>
              <a:rPr lang="en-US" kern="0" spc="108" dirty="0">
                <a:solidFill>
                  <a:srgbClr val="7A8290"/>
                </a:solidFill>
                <a:latin typeface="JetBrains Mono" pitchFamily="34" charset="0"/>
                <a:ea typeface="JetBrains Mono" pitchFamily="34" charset="-122"/>
                <a:cs typeface="JetBrains Mono" pitchFamily="34" charset="-120"/>
              </a:rPr>
              <a:t>STEP 02</a:t>
            </a:r>
          </a:p>
        </p:txBody>
      </p:sp>
      <p:sp>
        <p:nvSpPr>
          <p:cNvPr id="23" name="Text 21"/>
          <p:cNvSpPr/>
          <p:nvPr/>
        </p:nvSpPr>
        <p:spPr>
          <a:xfrm>
            <a:off x="4495800" y="6515297"/>
            <a:ext cx="2707767" cy="404813"/>
          </a:xfrm>
          <a:prstGeom prst="rect">
            <a:avLst/>
          </a:prstGeom>
          <a:noFill/>
          <a:ln w="9525"/>
        </p:spPr>
        <p:txBody>
          <a:bodyPr wrap="square" lIns="25400" tIns="25400" rIns="25400" bIns="25400" rtlCol="0" anchor="t">
            <a:normAutofit/>
          </a:bodyPr>
          <a:lstStyle/>
          <a:p>
            <a:r>
              <a:rPr lang="en-US" sz="2250" b="1" kern="0" spc="-35" dirty="0">
                <a:solidFill>
                  <a:srgbClr val="0B0F19"/>
                </a:solidFill>
                <a:latin typeface="Space Grotesk" pitchFamily="34" charset="0"/>
                <a:ea typeface="Space Grotesk" pitchFamily="34" charset="-122"/>
                <a:cs typeface="Space Grotesk" pitchFamily="34" charset="-120"/>
              </a:rPr>
              <a:t>Empathy (UX)</a:t>
            </a:r>
          </a:p>
        </p:txBody>
      </p:sp>
      <p:sp>
        <p:nvSpPr>
          <p:cNvPr id="24" name="Text 22"/>
          <p:cNvSpPr/>
          <p:nvPr/>
        </p:nvSpPr>
        <p:spPr>
          <a:xfrm>
            <a:off x="4495800" y="6977258"/>
            <a:ext cx="2707767" cy="1561710"/>
          </a:xfrm>
          <a:prstGeom prst="rect">
            <a:avLst/>
          </a:prstGeom>
          <a:noFill/>
          <a:ln w="9525"/>
        </p:spPr>
        <p:txBody>
          <a:bodyPr wrap="square" lIns="25400" tIns="25400" rIns="25400" bIns="25400" rtlCol="0" anchor="t">
            <a:spAutoFit/>
          </a:bodyPr>
          <a:lstStyle/>
          <a:p>
            <a:pPr>
              <a:lnSpc>
                <a:spcPct val="125000"/>
              </a:lnSpc>
            </a:pPr>
            <a:r>
              <a:rPr lang="en-US" sz="2000" dirty="0">
                <a:solidFill>
                  <a:srgbClr val="3A4250"/>
                </a:solidFill>
                <a:latin typeface="Space Grotesk" pitchFamily="34" charset="0"/>
                <a:ea typeface="Space Grotesk" pitchFamily="34" charset="-122"/>
                <a:cs typeface="Space Grotesk" pitchFamily="34" charset="-120"/>
              </a:rPr>
              <a:t>AI never feels a clumsy interface. Humans judge how software actually feels to use.</a:t>
            </a:r>
          </a:p>
        </p:txBody>
      </p:sp>
      <p:grpSp>
        <p:nvGrpSpPr>
          <p:cNvPr id="91112432" name="Group 91112432"/>
          <p:cNvGrpSpPr/>
          <p:nvPr/>
        </p:nvGrpSpPr>
        <p:grpSpPr>
          <a:xfrm>
            <a:off x="4495800" y="8786860"/>
            <a:ext cx="1699320" cy="376238"/>
            <a:chOff x="4495800" y="6088261"/>
            <a:chExt cx="1699320" cy="376238"/>
          </a:xfrm>
        </p:grpSpPr>
        <p:sp>
          <p:nvSpPr>
            <p:cNvPr id="25" name="Shape 23"/>
            <p:cNvSpPr/>
            <p:nvPr/>
          </p:nvSpPr>
          <p:spPr>
            <a:xfrm>
              <a:off x="4495800" y="6088261"/>
              <a:ext cx="1699320" cy="376238"/>
            </a:xfrm>
            <a:prstGeom prst="roundRect">
              <a:avLst>
                <a:gd name="adj" fmla="val 15190"/>
              </a:avLst>
            </a:prstGeom>
            <a:solidFill>
              <a:srgbClr val="E4E7EC"/>
            </a:solidFill>
            <a:ln w="9525"/>
          </p:spPr>
          <p:txBody>
            <a:bodyPr/>
            <a:lstStyle/>
            <a:p>
              <a:endParaRPr lang="en-TH"/>
            </a:p>
          </p:txBody>
        </p:sp>
        <p:sp>
          <p:nvSpPr>
            <p:cNvPr id="26" name="Text 24"/>
            <p:cNvSpPr/>
            <p:nvPr/>
          </p:nvSpPr>
          <p:spPr>
            <a:xfrm>
              <a:off x="4552950" y="6107311"/>
              <a:ext cx="1585020" cy="338138"/>
            </a:xfrm>
            <a:prstGeom prst="rect">
              <a:avLst/>
            </a:prstGeom>
            <a:noFill/>
            <a:ln w="9525"/>
          </p:spPr>
          <p:txBody>
            <a:bodyPr wrap="square" lIns="25400" tIns="25400" rIns="25400" bIns="25400" rtlCol="0" anchor="t">
              <a:normAutofit/>
            </a:bodyPr>
            <a:lstStyle/>
            <a:p>
              <a:r>
                <a:rPr lang="en-US" dirty="0">
                  <a:solidFill>
                    <a:srgbClr val="3A4250"/>
                  </a:solidFill>
                  <a:latin typeface="JetBrains Mono" pitchFamily="34" charset="0"/>
                  <a:ea typeface="JetBrains Mono" pitchFamily="34" charset="-122"/>
                  <a:cs typeface="JetBrains Mono" pitchFamily="34" charset="-120"/>
                </a:rPr>
                <a:t>UX</a:t>
              </a:r>
            </a:p>
          </p:txBody>
        </p:sp>
      </p:grpSp>
      <p:sp>
        <p:nvSpPr>
          <p:cNvPr id="29" name="Shape 27"/>
          <p:cNvSpPr/>
          <p:nvPr/>
        </p:nvSpPr>
        <p:spPr>
          <a:xfrm>
            <a:off x="7581900" y="5834258"/>
            <a:ext cx="3124200" cy="3614589"/>
          </a:xfrm>
          <a:prstGeom prst="roundRect">
            <a:avLst>
              <a:gd name="adj" fmla="val 6098"/>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30" name="Text 28"/>
          <p:cNvSpPr/>
          <p:nvPr/>
        </p:nvSpPr>
        <p:spPr>
          <a:xfrm>
            <a:off x="7829550" y="6100958"/>
            <a:ext cx="2707767" cy="338138"/>
          </a:xfrm>
          <a:prstGeom prst="rect">
            <a:avLst/>
          </a:prstGeom>
          <a:noFill/>
          <a:ln w="9525"/>
        </p:spPr>
        <p:txBody>
          <a:bodyPr wrap="square" lIns="25400" tIns="25400" rIns="25400" bIns="25400" rtlCol="0" anchor="t">
            <a:normAutofit/>
          </a:bodyPr>
          <a:lstStyle/>
          <a:p>
            <a:r>
              <a:rPr lang="en-US" kern="0" spc="108" dirty="0">
                <a:solidFill>
                  <a:srgbClr val="7A8290"/>
                </a:solidFill>
                <a:latin typeface="JetBrains Mono" pitchFamily="34" charset="0"/>
                <a:ea typeface="JetBrains Mono" pitchFamily="34" charset="-122"/>
                <a:cs typeface="JetBrains Mono" pitchFamily="34" charset="-120"/>
              </a:rPr>
              <a:t>STEP 03</a:t>
            </a:r>
          </a:p>
        </p:txBody>
      </p:sp>
      <p:sp>
        <p:nvSpPr>
          <p:cNvPr id="31" name="Text 29"/>
          <p:cNvSpPr/>
          <p:nvPr/>
        </p:nvSpPr>
        <p:spPr>
          <a:xfrm>
            <a:off x="7829550" y="6515297"/>
            <a:ext cx="2707767" cy="404813"/>
          </a:xfrm>
          <a:prstGeom prst="rect">
            <a:avLst/>
          </a:prstGeom>
          <a:noFill/>
          <a:ln w="9525"/>
        </p:spPr>
        <p:txBody>
          <a:bodyPr wrap="square" lIns="25400" tIns="25400" rIns="25400" bIns="25400" rtlCol="0" anchor="t">
            <a:normAutofit/>
          </a:bodyPr>
          <a:lstStyle/>
          <a:p>
            <a:r>
              <a:rPr lang="en-US" sz="2250" b="1" kern="0" spc="-35" dirty="0">
                <a:solidFill>
                  <a:srgbClr val="0B0F19"/>
                </a:solidFill>
                <a:latin typeface="Space Grotesk" pitchFamily="34" charset="0"/>
                <a:ea typeface="Space Grotesk" pitchFamily="34" charset="-122"/>
                <a:cs typeface="Space Grotesk" pitchFamily="34" charset="-120"/>
              </a:rPr>
              <a:t>Requirements</a:t>
            </a:r>
          </a:p>
        </p:txBody>
      </p:sp>
      <p:sp>
        <p:nvSpPr>
          <p:cNvPr id="32" name="Text 30"/>
          <p:cNvSpPr/>
          <p:nvPr/>
        </p:nvSpPr>
        <p:spPr>
          <a:xfrm>
            <a:off x="7829550" y="6977258"/>
            <a:ext cx="2707767" cy="1561710"/>
          </a:xfrm>
          <a:prstGeom prst="rect">
            <a:avLst/>
          </a:prstGeom>
          <a:noFill/>
          <a:ln w="9525"/>
        </p:spPr>
        <p:txBody>
          <a:bodyPr wrap="square" lIns="25400" tIns="25400" rIns="25400" bIns="25400" rtlCol="0" anchor="t">
            <a:spAutoFit/>
          </a:bodyPr>
          <a:lstStyle/>
          <a:p>
            <a:pPr>
              <a:lnSpc>
                <a:spcPct val="125000"/>
              </a:lnSpc>
            </a:pPr>
            <a:r>
              <a:rPr lang="en-US" sz="2000" dirty="0">
                <a:solidFill>
                  <a:srgbClr val="3A4250"/>
                </a:solidFill>
                <a:latin typeface="Space Grotesk" pitchFamily="34" charset="0"/>
                <a:ea typeface="Space Grotesk" pitchFamily="34" charset="-122"/>
                <a:cs typeface="Space Grotesk" pitchFamily="34" charset="-120"/>
              </a:rPr>
              <a:t>Clients ask vaguely or for the wrong thing. Humans interview to find the true need.</a:t>
            </a:r>
          </a:p>
        </p:txBody>
      </p:sp>
      <p:grpSp>
        <p:nvGrpSpPr>
          <p:cNvPr id="5611275" name="Group 5611275"/>
          <p:cNvGrpSpPr/>
          <p:nvPr/>
        </p:nvGrpSpPr>
        <p:grpSpPr>
          <a:xfrm>
            <a:off x="7829550" y="8786860"/>
            <a:ext cx="1424955" cy="376238"/>
            <a:chOff x="7829550" y="6419701"/>
            <a:chExt cx="1424955" cy="376238"/>
          </a:xfrm>
        </p:grpSpPr>
        <p:sp>
          <p:nvSpPr>
            <p:cNvPr id="33" name="Shape 31"/>
            <p:cNvSpPr/>
            <p:nvPr/>
          </p:nvSpPr>
          <p:spPr>
            <a:xfrm>
              <a:off x="7829550" y="6419701"/>
              <a:ext cx="1424955" cy="376238"/>
            </a:xfrm>
            <a:prstGeom prst="roundRect">
              <a:avLst>
                <a:gd name="adj" fmla="val 15190"/>
              </a:avLst>
            </a:prstGeom>
            <a:solidFill>
              <a:srgbClr val="E4E7EC"/>
            </a:solidFill>
            <a:ln w="9525"/>
          </p:spPr>
          <p:txBody>
            <a:bodyPr/>
            <a:lstStyle/>
            <a:p>
              <a:endParaRPr lang="en-TH"/>
            </a:p>
          </p:txBody>
        </p:sp>
        <p:sp>
          <p:nvSpPr>
            <p:cNvPr id="34" name="Text 32"/>
            <p:cNvSpPr/>
            <p:nvPr/>
          </p:nvSpPr>
          <p:spPr>
            <a:xfrm>
              <a:off x="7886700" y="6438751"/>
              <a:ext cx="1310655" cy="338138"/>
            </a:xfrm>
            <a:prstGeom prst="rect">
              <a:avLst/>
            </a:prstGeom>
            <a:noFill/>
            <a:ln w="9525"/>
          </p:spPr>
          <p:txBody>
            <a:bodyPr wrap="square" lIns="25400" tIns="25400" rIns="25400" bIns="25400" rtlCol="0" anchor="t">
              <a:normAutofit/>
            </a:bodyPr>
            <a:lstStyle/>
            <a:p>
              <a:r>
                <a:rPr lang="en-US" dirty="0">
                  <a:solidFill>
                    <a:srgbClr val="3A4250"/>
                  </a:solidFill>
                  <a:latin typeface="JetBrains Mono" pitchFamily="34" charset="0"/>
                  <a:ea typeface="JetBrains Mono" pitchFamily="34" charset="-122"/>
                  <a:cs typeface="JetBrains Mono" pitchFamily="34" charset="-120"/>
                </a:rPr>
                <a:t>true need</a:t>
              </a:r>
            </a:p>
          </p:txBody>
        </p:sp>
      </p:grpSp>
      <p:sp>
        <p:nvSpPr>
          <p:cNvPr id="37" name="Shape 35"/>
          <p:cNvSpPr/>
          <p:nvPr/>
        </p:nvSpPr>
        <p:spPr>
          <a:xfrm>
            <a:off x="10915650" y="5834258"/>
            <a:ext cx="3124200" cy="3614589"/>
          </a:xfrm>
          <a:prstGeom prst="roundRect">
            <a:avLst>
              <a:gd name="adj" fmla="val 6098"/>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38" name="Text 36"/>
          <p:cNvSpPr/>
          <p:nvPr/>
        </p:nvSpPr>
        <p:spPr>
          <a:xfrm>
            <a:off x="11163300" y="6100958"/>
            <a:ext cx="2707767" cy="338138"/>
          </a:xfrm>
          <a:prstGeom prst="rect">
            <a:avLst/>
          </a:prstGeom>
          <a:noFill/>
          <a:ln w="9525"/>
        </p:spPr>
        <p:txBody>
          <a:bodyPr wrap="square" lIns="25400" tIns="25400" rIns="25400" bIns="25400" rtlCol="0" anchor="t">
            <a:normAutofit/>
          </a:bodyPr>
          <a:lstStyle/>
          <a:p>
            <a:r>
              <a:rPr lang="en-US" kern="0" spc="108" dirty="0">
                <a:solidFill>
                  <a:srgbClr val="7A8290"/>
                </a:solidFill>
                <a:latin typeface="JetBrains Mono" pitchFamily="34" charset="0"/>
                <a:ea typeface="JetBrains Mono" pitchFamily="34" charset="-122"/>
                <a:cs typeface="JetBrains Mono" pitchFamily="34" charset="-120"/>
              </a:rPr>
              <a:t>STEP 04</a:t>
            </a:r>
          </a:p>
        </p:txBody>
      </p:sp>
      <p:sp>
        <p:nvSpPr>
          <p:cNvPr id="39" name="Text 37"/>
          <p:cNvSpPr/>
          <p:nvPr/>
        </p:nvSpPr>
        <p:spPr>
          <a:xfrm>
            <a:off x="11163300" y="6515297"/>
            <a:ext cx="2707767" cy="404813"/>
          </a:xfrm>
          <a:prstGeom prst="rect">
            <a:avLst/>
          </a:prstGeom>
          <a:noFill/>
          <a:ln w="9525"/>
        </p:spPr>
        <p:txBody>
          <a:bodyPr wrap="square" lIns="25400" tIns="25400" rIns="25400" bIns="25400" rtlCol="0" anchor="t">
            <a:normAutofit/>
          </a:bodyPr>
          <a:lstStyle/>
          <a:p>
            <a:r>
              <a:rPr lang="en-US" sz="2250" b="1" kern="0" spc="-35" dirty="0">
                <a:solidFill>
                  <a:srgbClr val="0B0F19"/>
                </a:solidFill>
                <a:latin typeface="Space Grotesk" pitchFamily="34" charset="0"/>
                <a:ea typeface="Space Grotesk" pitchFamily="34" charset="-122"/>
                <a:cs typeface="Space Grotesk" pitchFamily="34" charset="-120"/>
              </a:rPr>
              <a:t>Architecture</a:t>
            </a:r>
          </a:p>
        </p:txBody>
      </p:sp>
      <p:sp>
        <p:nvSpPr>
          <p:cNvPr id="40" name="Text 38"/>
          <p:cNvSpPr/>
          <p:nvPr/>
        </p:nvSpPr>
        <p:spPr>
          <a:xfrm>
            <a:off x="11163300" y="6977258"/>
            <a:ext cx="2707767" cy="1561710"/>
          </a:xfrm>
          <a:prstGeom prst="rect">
            <a:avLst/>
          </a:prstGeom>
          <a:noFill/>
          <a:ln w="9525"/>
        </p:spPr>
        <p:txBody>
          <a:bodyPr wrap="square" lIns="25400" tIns="25400" rIns="25400" bIns="25400" rtlCol="0" anchor="t">
            <a:spAutoFit/>
          </a:bodyPr>
          <a:lstStyle/>
          <a:p>
            <a:pPr>
              <a:lnSpc>
                <a:spcPct val="125000"/>
              </a:lnSpc>
            </a:pPr>
            <a:r>
              <a:rPr lang="en-US" sz="2000" dirty="0">
                <a:solidFill>
                  <a:srgbClr val="3A4250"/>
                </a:solidFill>
                <a:latin typeface="Space Grotesk" pitchFamily="34" charset="0"/>
                <a:ea typeface="Space Grotesk" pitchFamily="34" charset="-122"/>
                <a:cs typeface="Space Grotesk" pitchFamily="34" charset="-120"/>
              </a:rPr>
              <a:t>Choosing a stack for budget, team, and business goals takes human context.</a:t>
            </a:r>
          </a:p>
        </p:txBody>
      </p:sp>
      <p:grpSp>
        <p:nvGrpSpPr>
          <p:cNvPr id="55245507" name="Group 55245507"/>
          <p:cNvGrpSpPr/>
          <p:nvPr/>
        </p:nvGrpSpPr>
        <p:grpSpPr>
          <a:xfrm>
            <a:off x="11163300" y="8786860"/>
            <a:ext cx="1287810" cy="376238"/>
            <a:chOff x="11163300" y="5756821"/>
            <a:chExt cx="1287810" cy="376238"/>
          </a:xfrm>
        </p:grpSpPr>
        <p:sp>
          <p:nvSpPr>
            <p:cNvPr id="41" name="Shape 39"/>
            <p:cNvSpPr/>
            <p:nvPr/>
          </p:nvSpPr>
          <p:spPr>
            <a:xfrm>
              <a:off x="11163300" y="5756821"/>
              <a:ext cx="1287810" cy="376238"/>
            </a:xfrm>
            <a:prstGeom prst="roundRect">
              <a:avLst>
                <a:gd name="adj" fmla="val 15190"/>
              </a:avLst>
            </a:prstGeom>
            <a:solidFill>
              <a:srgbClr val="E4E7EC"/>
            </a:solidFill>
            <a:ln w="9525"/>
          </p:spPr>
          <p:txBody>
            <a:bodyPr/>
            <a:lstStyle/>
            <a:p>
              <a:endParaRPr lang="en-TH"/>
            </a:p>
          </p:txBody>
        </p:sp>
        <p:sp>
          <p:nvSpPr>
            <p:cNvPr id="42" name="Text 40"/>
            <p:cNvSpPr/>
            <p:nvPr/>
          </p:nvSpPr>
          <p:spPr>
            <a:xfrm>
              <a:off x="11220450" y="5775871"/>
              <a:ext cx="1173510" cy="338138"/>
            </a:xfrm>
            <a:prstGeom prst="rect">
              <a:avLst/>
            </a:prstGeom>
            <a:noFill/>
            <a:ln w="9525"/>
          </p:spPr>
          <p:txBody>
            <a:bodyPr wrap="square" lIns="25400" tIns="25400" rIns="25400" bIns="25400" rtlCol="0" anchor="t">
              <a:normAutofit/>
            </a:bodyPr>
            <a:lstStyle/>
            <a:p>
              <a:r>
                <a:rPr lang="en-US" dirty="0">
                  <a:solidFill>
                    <a:srgbClr val="3A4250"/>
                  </a:solidFill>
                  <a:latin typeface="JetBrains Mono" pitchFamily="34" charset="0"/>
                  <a:ea typeface="JetBrains Mono" pitchFamily="34" charset="-122"/>
                  <a:cs typeface="JetBrains Mono" pitchFamily="34" charset="-120"/>
                </a:rPr>
                <a:t>trade-offs</a:t>
              </a:r>
            </a:p>
          </p:txBody>
        </p:sp>
      </p:grpSp>
      <p:sp>
        <p:nvSpPr>
          <p:cNvPr id="45" name="Shape 43"/>
          <p:cNvSpPr/>
          <p:nvPr/>
        </p:nvSpPr>
        <p:spPr>
          <a:xfrm>
            <a:off x="14249400" y="5834258"/>
            <a:ext cx="3124200" cy="3614589"/>
          </a:xfrm>
          <a:prstGeom prst="roundRect">
            <a:avLst>
              <a:gd name="adj" fmla="val 6098"/>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46" name="Text 44"/>
          <p:cNvSpPr/>
          <p:nvPr/>
        </p:nvSpPr>
        <p:spPr>
          <a:xfrm>
            <a:off x="14497050" y="6100958"/>
            <a:ext cx="2707767" cy="338138"/>
          </a:xfrm>
          <a:prstGeom prst="rect">
            <a:avLst/>
          </a:prstGeom>
          <a:noFill/>
          <a:ln w="9525"/>
        </p:spPr>
        <p:txBody>
          <a:bodyPr wrap="square" lIns="25400" tIns="25400" rIns="25400" bIns="25400" rtlCol="0" anchor="t">
            <a:normAutofit/>
          </a:bodyPr>
          <a:lstStyle/>
          <a:p>
            <a:r>
              <a:rPr lang="en-US" kern="0" spc="108" dirty="0">
                <a:solidFill>
                  <a:srgbClr val="7A8290"/>
                </a:solidFill>
                <a:latin typeface="JetBrains Mono" pitchFamily="34" charset="0"/>
                <a:ea typeface="JetBrains Mono" pitchFamily="34" charset="-122"/>
                <a:cs typeface="JetBrains Mono" pitchFamily="34" charset="-120"/>
              </a:rPr>
              <a:t>STEP 05</a:t>
            </a:r>
          </a:p>
        </p:txBody>
      </p:sp>
      <p:sp>
        <p:nvSpPr>
          <p:cNvPr id="47" name="Text 45"/>
          <p:cNvSpPr/>
          <p:nvPr/>
        </p:nvSpPr>
        <p:spPr>
          <a:xfrm>
            <a:off x="14497050" y="6515297"/>
            <a:ext cx="2707767" cy="404813"/>
          </a:xfrm>
          <a:prstGeom prst="rect">
            <a:avLst/>
          </a:prstGeom>
          <a:noFill/>
          <a:ln w="9525"/>
        </p:spPr>
        <p:txBody>
          <a:bodyPr wrap="square" lIns="25400" tIns="25400" rIns="25400" bIns="25400" rtlCol="0" anchor="t">
            <a:normAutofit/>
          </a:bodyPr>
          <a:lstStyle/>
          <a:p>
            <a:r>
              <a:rPr lang="en-US" sz="2250" b="1" kern="0" spc="-35" dirty="0">
                <a:solidFill>
                  <a:srgbClr val="0B0F19"/>
                </a:solidFill>
                <a:latin typeface="Space Grotesk" pitchFamily="34" charset="0"/>
                <a:ea typeface="Space Grotesk" pitchFamily="34" charset="-122"/>
                <a:cs typeface="Space Grotesk" pitchFamily="34" charset="-120"/>
              </a:rPr>
              <a:t>Your edge</a:t>
            </a:r>
          </a:p>
        </p:txBody>
      </p:sp>
      <p:sp>
        <p:nvSpPr>
          <p:cNvPr id="48" name="Text 46"/>
          <p:cNvSpPr/>
          <p:nvPr/>
        </p:nvSpPr>
        <p:spPr>
          <a:xfrm>
            <a:off x="14497050" y="6977258"/>
            <a:ext cx="2707767" cy="1561710"/>
          </a:xfrm>
          <a:prstGeom prst="rect">
            <a:avLst/>
          </a:prstGeom>
          <a:noFill/>
          <a:ln w="9525"/>
        </p:spPr>
        <p:txBody>
          <a:bodyPr wrap="square" lIns="25400" tIns="25400" rIns="25400" bIns="25400" rtlCol="0" anchor="t">
            <a:spAutoFit/>
          </a:bodyPr>
          <a:lstStyle/>
          <a:p>
            <a:pPr>
              <a:lnSpc>
                <a:spcPct val="125000"/>
              </a:lnSpc>
            </a:pPr>
            <a:r>
              <a:rPr lang="en-US" sz="2000" dirty="0">
                <a:solidFill>
                  <a:srgbClr val="3A4250"/>
                </a:solidFill>
                <a:latin typeface="Space Grotesk" pitchFamily="34" charset="0"/>
                <a:ea typeface="Space Grotesk" pitchFamily="34" charset="-122"/>
                <a:cs typeface="Space Grotesk" pitchFamily="34" charset="-120"/>
              </a:rPr>
              <a:t>Judgment, context, and responsibility stay human. AI is the tool, not the engineer.</a:t>
            </a:r>
          </a:p>
        </p:txBody>
      </p:sp>
      <p:grpSp>
        <p:nvGrpSpPr>
          <p:cNvPr id="38010581" name="Group 38010581"/>
          <p:cNvGrpSpPr/>
          <p:nvPr/>
        </p:nvGrpSpPr>
        <p:grpSpPr>
          <a:xfrm>
            <a:off x="14497050" y="8786860"/>
            <a:ext cx="1973610" cy="376238"/>
            <a:chOff x="14497050" y="6088261"/>
            <a:chExt cx="1973610" cy="376238"/>
          </a:xfrm>
        </p:grpSpPr>
        <p:sp>
          <p:nvSpPr>
            <p:cNvPr id="49" name="Shape 47"/>
            <p:cNvSpPr/>
            <p:nvPr/>
          </p:nvSpPr>
          <p:spPr>
            <a:xfrm>
              <a:off x="14497050" y="6088261"/>
              <a:ext cx="1973610" cy="376238"/>
            </a:xfrm>
            <a:prstGeom prst="roundRect">
              <a:avLst>
                <a:gd name="adj" fmla="val 15190"/>
              </a:avLst>
            </a:prstGeom>
            <a:solidFill>
              <a:srgbClr val="E4E7EC"/>
            </a:solidFill>
            <a:ln w="9525"/>
          </p:spPr>
          <p:txBody>
            <a:bodyPr/>
            <a:lstStyle/>
            <a:p>
              <a:endParaRPr lang="en-TH"/>
            </a:p>
          </p:txBody>
        </p:sp>
        <p:sp>
          <p:nvSpPr>
            <p:cNvPr id="50" name="Text 48"/>
            <p:cNvSpPr/>
            <p:nvPr/>
          </p:nvSpPr>
          <p:spPr>
            <a:xfrm>
              <a:off x="14554200" y="6107311"/>
              <a:ext cx="1859310" cy="338138"/>
            </a:xfrm>
            <a:prstGeom prst="rect">
              <a:avLst/>
            </a:prstGeom>
            <a:noFill/>
            <a:ln w="9525"/>
          </p:spPr>
          <p:txBody>
            <a:bodyPr wrap="square" lIns="25400" tIns="25400" rIns="25400" bIns="25400" rtlCol="0" anchor="t">
              <a:normAutofit/>
            </a:bodyPr>
            <a:lstStyle/>
            <a:p>
              <a:r>
                <a:rPr lang="en-US" dirty="0">
                  <a:solidFill>
                    <a:srgbClr val="3A4250"/>
                  </a:solidFill>
                  <a:latin typeface="JetBrains Mono" pitchFamily="34" charset="0"/>
                  <a:ea typeface="JetBrains Mono" pitchFamily="34" charset="-122"/>
                  <a:cs typeface="JetBrains Mono" pitchFamily="34" charset="-120"/>
                </a:rPr>
                <a:t>judgment</a:t>
              </a:r>
            </a:p>
          </p:txBody>
        </p:sp>
      </p:grpSp>
      <p:grpSp>
        <p:nvGrpSpPr>
          <p:cNvPr id="7920254" name="Group 7920254"/>
          <p:cNvGrpSpPr/>
          <p:nvPr/>
        </p:nvGrpSpPr>
        <p:grpSpPr>
          <a:xfrm rot="180000">
            <a:off x="13298578" y="1813336"/>
            <a:ext cx="3111584" cy="2393525"/>
            <a:chOff x="1576388" y="3086100"/>
            <a:chExt cx="2476500" cy="1905000"/>
          </a:xfrm>
        </p:grpSpPr>
        <p:sp>
          <p:nvSpPr>
            <p:cNvPr id="2385485" name="Shape 9"/>
            <p:cNvSpPr/>
            <p:nvPr/>
          </p:nvSpPr>
          <p:spPr>
            <a:xfrm>
              <a:off x="1747838" y="3086100"/>
              <a:ext cx="876300" cy="247650"/>
            </a:xfrm>
            <a:prstGeom prst="roundRect">
              <a:avLst>
                <a:gd name="adj" fmla="val 30769"/>
              </a:avLst>
            </a:prstGeom>
            <a:solidFill>
              <a:srgbClr val="E8961F"/>
            </a:solidFill>
            <a:ln w="9525"/>
          </p:spPr>
          <p:txBody>
            <a:bodyPr/>
            <a:lstStyle/>
            <a:p>
              <a:endParaRPr lang="en-TH"/>
            </a:p>
          </p:txBody>
        </p:sp>
        <p:sp>
          <p:nvSpPr>
            <p:cNvPr id="40008253" name="Shape 10"/>
            <p:cNvSpPr/>
            <p:nvPr/>
          </p:nvSpPr>
          <p:spPr>
            <a:xfrm>
              <a:off x="1576388" y="3295650"/>
              <a:ext cx="2476500" cy="1695450"/>
            </a:xfrm>
            <a:prstGeom prst="roundRect">
              <a:avLst>
                <a:gd name="adj" fmla="val 7865"/>
              </a:avLst>
            </a:prstGeom>
            <a:solidFill>
              <a:srgbClr val="FFC233"/>
            </a:solidFill>
            <a:ln w="9525"/>
          </p:spPr>
          <p:txBody>
            <a:bodyPr/>
            <a:lstStyle/>
            <a:p>
              <a:endParaRPr lang="en-TH"/>
            </a:p>
          </p:txBody>
        </p:sp>
      </p:grpSp>
      <p:grpSp>
        <p:nvGrpSpPr>
          <p:cNvPr id="39236351" name="Group 39236351"/>
          <p:cNvGrpSpPr/>
          <p:nvPr/>
        </p:nvGrpSpPr>
        <p:grpSpPr>
          <a:xfrm>
            <a:off x="12451176" y="2438400"/>
            <a:ext cx="3270033" cy="2461353"/>
            <a:chOff x="5795963" y="3086100"/>
            <a:chExt cx="2476500" cy="1905000"/>
          </a:xfrm>
        </p:grpSpPr>
        <p:sp>
          <p:nvSpPr>
            <p:cNvPr id="86887337" name="Shape 14"/>
            <p:cNvSpPr/>
            <p:nvPr/>
          </p:nvSpPr>
          <p:spPr>
            <a:xfrm>
              <a:off x="5967413" y="3086100"/>
              <a:ext cx="876300" cy="247650"/>
            </a:xfrm>
            <a:prstGeom prst="roundRect">
              <a:avLst>
                <a:gd name="adj" fmla="val 30769"/>
              </a:avLst>
            </a:prstGeom>
            <a:solidFill>
              <a:srgbClr val="CC4334"/>
            </a:solidFill>
            <a:ln w="9525"/>
          </p:spPr>
          <p:txBody>
            <a:bodyPr/>
            <a:lstStyle/>
            <a:p>
              <a:endParaRPr lang="en-TH"/>
            </a:p>
          </p:txBody>
        </p:sp>
        <p:sp>
          <p:nvSpPr>
            <p:cNvPr id="30867353" name="Shape 15"/>
            <p:cNvSpPr/>
            <p:nvPr/>
          </p:nvSpPr>
          <p:spPr>
            <a:xfrm>
              <a:off x="5795963" y="3295650"/>
              <a:ext cx="2476500" cy="1695450"/>
            </a:xfrm>
            <a:prstGeom prst="roundRect">
              <a:avLst>
                <a:gd name="adj" fmla="val 7865"/>
              </a:avLst>
            </a:prstGeom>
            <a:solidFill>
              <a:srgbClr val="FF5A47"/>
            </a:solidFill>
            <a:ln w="9525"/>
          </p:spPr>
          <p:txBody>
            <a:bodyPr/>
            <a:lstStyle/>
            <a:p>
              <a:endParaRPr lang="en-TH"/>
            </a:p>
          </p:txBody>
        </p:sp>
      </p:grpSp>
    </p:spTree>
    <p:extLst>
      <p:ext uri="{BB962C8B-B14F-4D97-AF65-F5344CB8AC3E}">
        <p14:creationId xmlns:p14="http://schemas.microsoft.com/office/powerpoint/2010/main" val="703871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1" y="154783"/>
            <a:ext cx="213866" cy="338138"/>
          </a:xfrm>
          <a:prstGeom prst="rect">
            <a:avLst/>
          </a:prstGeom>
          <a:noFill/>
          <a:ln w="9525"/>
        </p:spPr>
        <p:txBody>
          <a:bodyPr wrap="square" lIns="25400" tIns="25400" rIns="25400" bIns="25400" rtlCol="0" anchor="t">
            <a:normAutofit/>
          </a:bodyPr>
          <a:lstStyle/>
          <a:p>
            <a:r>
              <a:rPr lang="en-US" b="1" dirty="0">
                <a:solidFill>
                  <a:srgbClr val="0B0F19"/>
                </a:solidFill>
                <a:latin typeface="JetBrains Mono" pitchFamily="34" charset="0"/>
                <a:ea typeface="JetBrains Mono" pitchFamily="34" charset="-122"/>
                <a:cs typeface="JetBrains Mono" pitchFamily="34" charset="-120"/>
              </a:rPr>
              <a:t>▶</a:t>
            </a:r>
            <a:endParaRPr lang="en-US" dirty="0"/>
          </a:p>
        </p:txBody>
      </p:sp>
      <p:sp>
        <p:nvSpPr>
          <p:cNvPr id="5" name="Text 3"/>
          <p:cNvSpPr/>
          <p:nvPr/>
        </p:nvSpPr>
        <p:spPr>
          <a:xfrm>
            <a:off x="728216" y="154783"/>
            <a:ext cx="3889733"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p:cNvSpPr/>
          <p:nvPr/>
        </p:nvSpPr>
        <p:spPr>
          <a:xfrm>
            <a:off x="4771356" y="154783"/>
            <a:ext cx="3382869" cy="338138"/>
          </a:xfrm>
          <a:prstGeom prst="rect">
            <a:avLst/>
          </a:prstGeom>
          <a:noFill/>
          <a:ln w="9525"/>
        </p:spPr>
        <p:txBody>
          <a:bodyPr wrap="square" lIns="25400" tIns="25400" rIns="25400" bIns="25400" rtlCol="0" anchor="t">
            <a:normAutofit/>
          </a:bodyPr>
          <a:lstStyle/>
          <a:p>
            <a:r>
              <a:rPr lang="en-US" dirty="0">
                <a:solidFill>
                  <a:srgbClr val="7A8290"/>
                </a:solidFill>
                <a:latin typeface="JetBrains Mono" pitchFamily="34" charset="0"/>
                <a:ea typeface="JetBrains Mono" pitchFamily="34" charset="-122"/>
                <a:cs typeface="JetBrains Mono" pitchFamily="34" charset="-120"/>
              </a:rPr>
              <a:t>Page · The AI Toolkit</a:t>
            </a:r>
          </a:p>
        </p:txBody>
      </p:sp>
      <p:sp>
        <p:nvSpPr>
          <p:cNvPr id="7" name="Text 5"/>
          <p:cNvSpPr/>
          <p:nvPr/>
        </p:nvSpPr>
        <p:spPr>
          <a:xfrm>
            <a:off x="16997139" y="154783"/>
            <a:ext cx="1100361" cy="338138"/>
          </a:xfrm>
          <a:prstGeom prst="rect">
            <a:avLst/>
          </a:prstGeom>
          <a:noFill/>
          <a:ln w="9525"/>
        </p:spPr>
        <p:txBody>
          <a:bodyPr wrap="square" lIns="25400" tIns="25400" rIns="25400" bIns="25400" rtlCol="0" anchor="t">
            <a:normAutofit/>
          </a:bodyPr>
          <a:lstStyle/>
          <a:p>
            <a:r>
              <a:rPr lang="en-US" kern="0" spc="72" dirty="0">
                <a:solidFill>
                  <a:srgbClr val="7A8290"/>
                </a:solidFill>
                <a:latin typeface="JetBrains Mono" pitchFamily="34" charset="0"/>
                <a:ea typeface="JetBrains Mono" pitchFamily="34" charset="-122"/>
                <a:cs typeface="JetBrains Mono" pitchFamily="34" charset="-120"/>
              </a:rPr>
              <a:t>07 / 32</a:t>
            </a:r>
            <a:endParaRPr lang="en-US" dirty="0"/>
          </a:p>
        </p:txBody>
      </p:sp>
      <p:sp>
        <p:nvSpPr>
          <p:cNvPr id="9" name="Text 7"/>
          <p:cNvSpPr/>
          <p:nvPr/>
        </p:nvSpPr>
        <p:spPr>
          <a:xfrm>
            <a:off x="914400" y="1524001"/>
            <a:ext cx="16952976" cy="338138"/>
          </a:xfrm>
          <a:prstGeom prst="rect">
            <a:avLst/>
          </a:prstGeom>
          <a:noFill/>
          <a:ln w="9525"/>
        </p:spPr>
        <p:txBody>
          <a:bodyPr wrap="square" lIns="25400" tIns="25400" rIns="25400" bIns="25400" rtlCol="0" anchor="t">
            <a:normAutofit/>
          </a:bodyPr>
          <a:lstStyle/>
          <a:p>
            <a:r>
              <a:rPr lang="en-US" kern="0" spc="108" dirty="0">
                <a:solidFill>
                  <a:srgbClr val="7A8290"/>
                </a:solidFill>
                <a:latin typeface="JetBrains Mono" pitchFamily="34" charset="0"/>
                <a:ea typeface="JetBrains Mono" pitchFamily="34" charset="-122"/>
                <a:cs typeface="JetBrains Mono" pitchFamily="34" charset="-120"/>
              </a:rPr>
              <a:t>AI ERA · TOOLING</a:t>
            </a:r>
          </a:p>
        </p:txBody>
      </p:sp>
      <p:sp>
        <p:nvSpPr>
          <p:cNvPr id="10" name="Text 8"/>
          <p:cNvSpPr/>
          <p:nvPr/>
        </p:nvSpPr>
        <p:spPr>
          <a:xfrm>
            <a:off x="914400" y="1995488"/>
            <a:ext cx="16952976" cy="908051"/>
          </a:xfrm>
          <a:prstGeom prst="rect">
            <a:avLst/>
          </a:prstGeom>
          <a:noFill/>
          <a:ln w="9525"/>
        </p:spPr>
        <p:txBody>
          <a:bodyPr wrap="square" lIns="25400" tIns="25400" rIns="25400" bIns="25400" rtlCol="0" anchor="t">
            <a:normAutofit/>
          </a:bodyPr>
          <a:lstStyle/>
          <a:p>
            <a:r>
              <a:rPr lang="en-US" sz="4800" b="1" kern="0" spc="-120" dirty="0">
                <a:solidFill>
                  <a:srgbClr val="0B0F19"/>
                </a:solidFill>
                <a:latin typeface="Space Grotesk" pitchFamily="34" charset="0"/>
                <a:ea typeface="Space Grotesk" pitchFamily="34" charset="-122"/>
                <a:cs typeface="Space Grotesk" pitchFamily="34" charset="-120"/>
              </a:rPr>
              <a:t>The engineer's new toolkit</a:t>
            </a:r>
          </a:p>
        </p:txBody>
      </p:sp>
      <p:sp>
        <p:nvSpPr>
          <p:cNvPr id="11" name="Text 9"/>
          <p:cNvSpPr/>
          <p:nvPr/>
        </p:nvSpPr>
        <p:spPr>
          <a:xfrm>
            <a:off x="914400" y="2903540"/>
            <a:ext cx="16459200" cy="908051"/>
          </a:xfrm>
          <a:prstGeom prst="rect">
            <a:avLst/>
          </a:prstGeom>
          <a:noFill/>
          <a:ln w="9525"/>
        </p:spPr>
        <p:txBody>
          <a:bodyPr wrap="square" lIns="25400" tIns="25400" rIns="25400" bIns="25400" rtlCol="0" anchor="t">
            <a:normAutofit fontScale="92500"/>
          </a:bodyPr>
          <a:lstStyle/>
          <a:p>
            <a:pPr>
              <a:lnSpc>
                <a:spcPct val="125000"/>
              </a:lnSpc>
            </a:pPr>
            <a:r>
              <a:rPr lang="en-US" sz="2800" dirty="0">
                <a:solidFill>
                  <a:srgbClr val="3A4250"/>
                </a:solidFill>
                <a:latin typeface="Space Grotesk" pitchFamily="34" charset="0"/>
                <a:ea typeface="Space Grotesk" pitchFamily="34" charset="-122"/>
                <a:cs typeface="Space Grotesk" pitchFamily="34" charset="-120"/>
              </a:rPr>
              <a:t>The role is shifting from coder to system orchestrator. Generating code is no longer the bottleneck — directing it well is.</a:t>
            </a:r>
          </a:p>
        </p:txBody>
      </p:sp>
      <p:sp>
        <p:nvSpPr>
          <p:cNvPr id="12" name="Shape 10"/>
          <p:cNvSpPr/>
          <p:nvPr/>
        </p:nvSpPr>
        <p:spPr>
          <a:xfrm>
            <a:off x="914400" y="4026098"/>
            <a:ext cx="3943350" cy="5427924"/>
          </a:xfrm>
          <a:prstGeom prst="roundRect">
            <a:avLst>
              <a:gd name="adj" fmla="val 5083"/>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13" name="Text 11"/>
          <p:cNvSpPr/>
          <p:nvPr/>
        </p:nvSpPr>
        <p:spPr>
          <a:xfrm>
            <a:off x="1181102" y="4311850"/>
            <a:ext cx="3512249" cy="338138"/>
          </a:xfrm>
          <a:prstGeom prst="rect">
            <a:avLst/>
          </a:prstGeom>
          <a:noFill/>
          <a:ln w="9525"/>
        </p:spPr>
        <p:txBody>
          <a:bodyPr wrap="square" lIns="25400" tIns="25400" rIns="25400" bIns="25400" rtlCol="0" anchor="t">
            <a:normAutofit/>
          </a:bodyPr>
          <a:lstStyle/>
          <a:p>
            <a:r>
              <a:rPr lang="en-US" kern="0" spc="108" dirty="0">
                <a:solidFill>
                  <a:srgbClr val="7A8290"/>
                </a:solidFill>
                <a:latin typeface="JetBrains Mono" pitchFamily="34" charset="0"/>
                <a:ea typeface="JetBrains Mono" pitchFamily="34" charset="-122"/>
                <a:cs typeface="JetBrains Mono" pitchFamily="34" charset="-120"/>
              </a:rPr>
              <a:t>TOOL 01</a:t>
            </a:r>
          </a:p>
        </p:txBody>
      </p:sp>
      <p:sp>
        <p:nvSpPr>
          <p:cNvPr id="14" name="Text 12"/>
          <p:cNvSpPr/>
          <p:nvPr/>
        </p:nvSpPr>
        <p:spPr>
          <a:xfrm>
            <a:off x="1181102" y="4707137"/>
            <a:ext cx="3512249" cy="373335"/>
          </a:xfrm>
          <a:prstGeom prst="rect">
            <a:avLst/>
          </a:prstGeom>
          <a:noFill/>
          <a:ln w="9525"/>
        </p:spPr>
        <p:txBody>
          <a:bodyPr wrap="square" lIns="25400" tIns="25400" rIns="25400" bIns="25400" rtlCol="0" anchor="t">
            <a:normAutofit fontScale="92500" lnSpcReduction="20000"/>
          </a:bodyPr>
          <a:lstStyle/>
          <a:p>
            <a:pPr>
              <a:lnSpc>
                <a:spcPct val="110000"/>
              </a:lnSpc>
            </a:pPr>
            <a:r>
              <a:rPr lang="en-US" sz="2400" b="1" kern="0" spc="-36" dirty="0">
                <a:solidFill>
                  <a:srgbClr val="0B0F19"/>
                </a:solidFill>
                <a:latin typeface="Space Grotesk" pitchFamily="34" charset="0"/>
                <a:ea typeface="Space Grotesk" pitchFamily="34" charset="-122"/>
                <a:cs typeface="Space Grotesk" pitchFamily="34" charset="-120"/>
              </a:rPr>
              <a:t>GitHub Copilot</a:t>
            </a:r>
          </a:p>
        </p:txBody>
      </p:sp>
      <p:sp>
        <p:nvSpPr>
          <p:cNvPr id="15" name="Text 13"/>
          <p:cNvSpPr/>
          <p:nvPr/>
        </p:nvSpPr>
        <p:spPr>
          <a:xfrm>
            <a:off x="1181102" y="5175722"/>
            <a:ext cx="3512249" cy="1605248"/>
          </a:xfrm>
          <a:prstGeom prst="rect">
            <a:avLst/>
          </a:prstGeom>
          <a:noFill/>
          <a:ln w="9525"/>
        </p:spPr>
        <p:txBody>
          <a:bodyPr wrap="square" lIns="25400" tIns="25400" rIns="25400" bIns="25400" rtlCol="0" anchor="t">
            <a:spAutoFit/>
          </a:bodyPr>
          <a:lstStyle/>
          <a:p>
            <a:pPr>
              <a:lnSpc>
                <a:spcPct val="145000"/>
              </a:lnSpc>
            </a:pPr>
            <a:r>
              <a:rPr lang="en-US" sz="2400" dirty="0">
                <a:solidFill>
                  <a:srgbClr val="3A4250"/>
                </a:solidFill>
                <a:latin typeface="Space Grotesk" pitchFamily="34" charset="0"/>
                <a:ea typeface="Space Grotesk" pitchFamily="34" charset="-122"/>
                <a:cs typeface="Space Grotesk" pitchFamily="34" charset="-120"/>
              </a:rPr>
              <a:t>In-editor autocomplete that suggests whole lines and functions as you type.</a:t>
            </a:r>
          </a:p>
        </p:txBody>
      </p:sp>
      <p:grpSp>
        <p:nvGrpSpPr>
          <p:cNvPr id="92241334" name="Group 92241334"/>
          <p:cNvGrpSpPr/>
          <p:nvPr/>
        </p:nvGrpSpPr>
        <p:grpSpPr>
          <a:xfrm>
            <a:off x="1181100" y="9061994"/>
            <a:ext cx="3409950" cy="95250"/>
            <a:chOff x="1181100" y="7061522"/>
            <a:chExt cx="3409950" cy="95250"/>
          </a:xfrm>
        </p:grpSpPr>
        <p:sp>
          <p:nvSpPr>
            <p:cNvPr id="16" name="Shape 14"/>
            <p:cNvSpPr/>
            <p:nvPr/>
          </p:nvSpPr>
          <p:spPr>
            <a:xfrm>
              <a:off x="1181100" y="7061522"/>
              <a:ext cx="809625" cy="95250"/>
            </a:xfrm>
            <a:prstGeom prst="roundRect">
              <a:avLst>
                <a:gd name="adj" fmla="val 40000"/>
              </a:avLst>
            </a:prstGeom>
            <a:solidFill>
              <a:srgbClr val="FF5A47"/>
            </a:solidFill>
            <a:ln w="9525"/>
          </p:spPr>
          <p:txBody>
            <a:bodyPr/>
            <a:lstStyle/>
            <a:p>
              <a:endParaRPr lang="en-TH"/>
            </a:p>
          </p:txBody>
        </p:sp>
        <p:sp>
          <p:nvSpPr>
            <p:cNvPr id="17" name="Shape 15"/>
            <p:cNvSpPr/>
            <p:nvPr/>
          </p:nvSpPr>
          <p:spPr>
            <a:xfrm>
              <a:off x="2047875" y="7061522"/>
              <a:ext cx="809625" cy="95250"/>
            </a:xfrm>
            <a:prstGeom prst="roundRect">
              <a:avLst>
                <a:gd name="adj" fmla="val 40000"/>
              </a:avLst>
            </a:prstGeom>
            <a:solidFill>
              <a:srgbClr val="E4E7EC"/>
            </a:solidFill>
            <a:ln w="9525"/>
          </p:spPr>
          <p:txBody>
            <a:bodyPr/>
            <a:lstStyle/>
            <a:p>
              <a:endParaRPr lang="en-TH"/>
            </a:p>
          </p:txBody>
        </p:sp>
        <p:sp>
          <p:nvSpPr>
            <p:cNvPr id="18" name="Shape 16"/>
            <p:cNvSpPr/>
            <p:nvPr/>
          </p:nvSpPr>
          <p:spPr>
            <a:xfrm>
              <a:off x="2914650" y="7061522"/>
              <a:ext cx="809625" cy="95250"/>
            </a:xfrm>
            <a:prstGeom prst="roundRect">
              <a:avLst>
                <a:gd name="adj" fmla="val 40000"/>
              </a:avLst>
            </a:prstGeom>
            <a:solidFill>
              <a:srgbClr val="E4E7EC"/>
            </a:solidFill>
            <a:ln w="9525"/>
          </p:spPr>
          <p:txBody>
            <a:bodyPr/>
            <a:lstStyle/>
            <a:p>
              <a:endParaRPr lang="en-TH"/>
            </a:p>
          </p:txBody>
        </p:sp>
        <p:sp>
          <p:nvSpPr>
            <p:cNvPr id="19" name="Shape 17"/>
            <p:cNvSpPr/>
            <p:nvPr/>
          </p:nvSpPr>
          <p:spPr>
            <a:xfrm>
              <a:off x="3781425" y="7061522"/>
              <a:ext cx="809625" cy="95250"/>
            </a:xfrm>
            <a:prstGeom prst="roundRect">
              <a:avLst>
                <a:gd name="adj" fmla="val 40000"/>
              </a:avLst>
            </a:prstGeom>
            <a:solidFill>
              <a:srgbClr val="E4E7EC"/>
            </a:solidFill>
            <a:ln w="9525"/>
          </p:spPr>
          <p:txBody>
            <a:bodyPr/>
            <a:lstStyle/>
            <a:p>
              <a:endParaRPr lang="en-TH"/>
            </a:p>
          </p:txBody>
        </p:sp>
      </p:grpSp>
      <p:sp>
        <p:nvSpPr>
          <p:cNvPr id="20" name="Shape 18"/>
          <p:cNvSpPr/>
          <p:nvPr/>
        </p:nvSpPr>
        <p:spPr>
          <a:xfrm>
            <a:off x="5086350" y="4026098"/>
            <a:ext cx="3943350" cy="5427924"/>
          </a:xfrm>
          <a:prstGeom prst="roundRect">
            <a:avLst>
              <a:gd name="adj" fmla="val 5083"/>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1" name="Text 19"/>
          <p:cNvSpPr/>
          <p:nvPr/>
        </p:nvSpPr>
        <p:spPr>
          <a:xfrm>
            <a:off x="5353052" y="4311850"/>
            <a:ext cx="3512249" cy="338138"/>
          </a:xfrm>
          <a:prstGeom prst="rect">
            <a:avLst/>
          </a:prstGeom>
          <a:noFill/>
          <a:ln w="9525"/>
        </p:spPr>
        <p:txBody>
          <a:bodyPr wrap="square" lIns="25400" tIns="25400" rIns="25400" bIns="25400" rtlCol="0" anchor="t">
            <a:normAutofit/>
          </a:bodyPr>
          <a:lstStyle/>
          <a:p>
            <a:r>
              <a:rPr lang="en-US" kern="0" spc="108" dirty="0">
                <a:solidFill>
                  <a:srgbClr val="7A8290"/>
                </a:solidFill>
                <a:latin typeface="JetBrains Mono" pitchFamily="34" charset="0"/>
                <a:ea typeface="JetBrains Mono" pitchFamily="34" charset="-122"/>
                <a:cs typeface="JetBrains Mono" pitchFamily="34" charset="-120"/>
              </a:rPr>
              <a:t>TOOL 02</a:t>
            </a:r>
          </a:p>
        </p:txBody>
      </p:sp>
      <p:sp>
        <p:nvSpPr>
          <p:cNvPr id="22" name="Text 20"/>
          <p:cNvSpPr/>
          <p:nvPr/>
        </p:nvSpPr>
        <p:spPr>
          <a:xfrm>
            <a:off x="5353052" y="4707137"/>
            <a:ext cx="3512249" cy="373335"/>
          </a:xfrm>
          <a:prstGeom prst="rect">
            <a:avLst/>
          </a:prstGeom>
          <a:noFill/>
          <a:ln w="9525"/>
        </p:spPr>
        <p:txBody>
          <a:bodyPr wrap="square" lIns="25400" tIns="25400" rIns="25400" bIns="25400" rtlCol="0" anchor="t">
            <a:normAutofit fontScale="92500" lnSpcReduction="20000"/>
          </a:bodyPr>
          <a:lstStyle/>
          <a:p>
            <a:pPr>
              <a:lnSpc>
                <a:spcPct val="110000"/>
              </a:lnSpc>
            </a:pPr>
            <a:r>
              <a:rPr lang="en-US" sz="2400" b="1" kern="0" spc="-36" dirty="0">
                <a:solidFill>
                  <a:srgbClr val="0B0F19"/>
                </a:solidFill>
                <a:latin typeface="Space Grotesk" pitchFamily="34" charset="0"/>
                <a:ea typeface="Space Grotesk" pitchFamily="34" charset="-122"/>
                <a:cs typeface="Space Grotesk" pitchFamily="34" charset="-120"/>
              </a:rPr>
              <a:t>Cursor</a:t>
            </a:r>
          </a:p>
        </p:txBody>
      </p:sp>
      <p:sp>
        <p:nvSpPr>
          <p:cNvPr id="23" name="Text 21"/>
          <p:cNvSpPr/>
          <p:nvPr/>
        </p:nvSpPr>
        <p:spPr>
          <a:xfrm>
            <a:off x="5353052" y="5175722"/>
            <a:ext cx="3512249" cy="2140779"/>
          </a:xfrm>
          <a:prstGeom prst="rect">
            <a:avLst/>
          </a:prstGeom>
          <a:noFill/>
          <a:ln w="9525"/>
        </p:spPr>
        <p:txBody>
          <a:bodyPr wrap="square" lIns="25400" tIns="25400" rIns="25400" bIns="25400" rtlCol="0" anchor="t">
            <a:spAutoFit/>
          </a:bodyPr>
          <a:lstStyle/>
          <a:p>
            <a:pPr>
              <a:lnSpc>
                <a:spcPct val="145000"/>
              </a:lnSpc>
            </a:pPr>
            <a:r>
              <a:rPr lang="en-US" sz="2400" dirty="0">
                <a:solidFill>
                  <a:srgbClr val="3A4250"/>
                </a:solidFill>
                <a:latin typeface="Space Grotesk" pitchFamily="34" charset="0"/>
                <a:ea typeface="Space Grotesk" pitchFamily="34" charset="-122"/>
                <a:cs typeface="Space Grotesk" pitchFamily="34" charset="-120"/>
              </a:rPr>
              <a:t>An AI-native editor that can change code across your whole project from a prompt.</a:t>
            </a:r>
          </a:p>
        </p:txBody>
      </p:sp>
      <p:grpSp>
        <p:nvGrpSpPr>
          <p:cNvPr id="37399629" name="Group 37399629"/>
          <p:cNvGrpSpPr/>
          <p:nvPr/>
        </p:nvGrpSpPr>
        <p:grpSpPr>
          <a:xfrm>
            <a:off x="5353050" y="9061994"/>
            <a:ext cx="3409950" cy="95250"/>
            <a:chOff x="5353050" y="7392963"/>
            <a:chExt cx="3409950" cy="95250"/>
          </a:xfrm>
        </p:grpSpPr>
        <p:sp>
          <p:nvSpPr>
            <p:cNvPr id="24" name="Shape 22"/>
            <p:cNvSpPr/>
            <p:nvPr/>
          </p:nvSpPr>
          <p:spPr>
            <a:xfrm>
              <a:off x="5353050" y="7392963"/>
              <a:ext cx="809625" cy="95250"/>
            </a:xfrm>
            <a:prstGeom prst="roundRect">
              <a:avLst>
                <a:gd name="adj" fmla="val 40000"/>
              </a:avLst>
            </a:prstGeom>
            <a:solidFill>
              <a:srgbClr val="FFC233"/>
            </a:solidFill>
            <a:ln w="9525"/>
          </p:spPr>
          <p:txBody>
            <a:bodyPr/>
            <a:lstStyle/>
            <a:p>
              <a:endParaRPr lang="en-TH"/>
            </a:p>
          </p:txBody>
        </p:sp>
        <p:sp>
          <p:nvSpPr>
            <p:cNvPr id="25" name="Shape 23"/>
            <p:cNvSpPr/>
            <p:nvPr/>
          </p:nvSpPr>
          <p:spPr>
            <a:xfrm>
              <a:off x="6219825" y="7392963"/>
              <a:ext cx="809625" cy="95250"/>
            </a:xfrm>
            <a:prstGeom prst="roundRect">
              <a:avLst>
                <a:gd name="adj" fmla="val 40000"/>
              </a:avLst>
            </a:prstGeom>
            <a:solidFill>
              <a:srgbClr val="FFC233"/>
            </a:solidFill>
            <a:ln w="9525"/>
          </p:spPr>
          <p:txBody>
            <a:bodyPr/>
            <a:lstStyle/>
            <a:p>
              <a:endParaRPr lang="en-TH"/>
            </a:p>
          </p:txBody>
        </p:sp>
        <p:sp>
          <p:nvSpPr>
            <p:cNvPr id="26" name="Shape 24"/>
            <p:cNvSpPr/>
            <p:nvPr/>
          </p:nvSpPr>
          <p:spPr>
            <a:xfrm>
              <a:off x="7086600" y="7392963"/>
              <a:ext cx="809625" cy="95250"/>
            </a:xfrm>
            <a:prstGeom prst="roundRect">
              <a:avLst>
                <a:gd name="adj" fmla="val 40000"/>
              </a:avLst>
            </a:prstGeom>
            <a:solidFill>
              <a:srgbClr val="E4E7EC"/>
            </a:solidFill>
            <a:ln w="9525"/>
          </p:spPr>
          <p:txBody>
            <a:bodyPr/>
            <a:lstStyle/>
            <a:p>
              <a:endParaRPr lang="en-TH"/>
            </a:p>
          </p:txBody>
        </p:sp>
        <p:sp>
          <p:nvSpPr>
            <p:cNvPr id="27" name="Shape 25"/>
            <p:cNvSpPr/>
            <p:nvPr/>
          </p:nvSpPr>
          <p:spPr>
            <a:xfrm>
              <a:off x="7953375" y="7392963"/>
              <a:ext cx="809625" cy="95250"/>
            </a:xfrm>
            <a:prstGeom prst="roundRect">
              <a:avLst>
                <a:gd name="adj" fmla="val 40000"/>
              </a:avLst>
            </a:prstGeom>
            <a:solidFill>
              <a:srgbClr val="E4E7EC"/>
            </a:solidFill>
            <a:ln w="9525"/>
          </p:spPr>
          <p:txBody>
            <a:bodyPr/>
            <a:lstStyle/>
            <a:p>
              <a:endParaRPr lang="en-TH"/>
            </a:p>
          </p:txBody>
        </p:sp>
      </p:grpSp>
      <p:sp>
        <p:nvSpPr>
          <p:cNvPr id="28" name="Shape 26"/>
          <p:cNvSpPr/>
          <p:nvPr/>
        </p:nvSpPr>
        <p:spPr>
          <a:xfrm>
            <a:off x="9258300" y="4026098"/>
            <a:ext cx="3943350" cy="5427924"/>
          </a:xfrm>
          <a:prstGeom prst="roundRect">
            <a:avLst>
              <a:gd name="adj" fmla="val 5083"/>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9" name="Text 27"/>
          <p:cNvSpPr/>
          <p:nvPr/>
        </p:nvSpPr>
        <p:spPr>
          <a:xfrm>
            <a:off x="9525002" y="4311850"/>
            <a:ext cx="3512249" cy="338138"/>
          </a:xfrm>
          <a:prstGeom prst="rect">
            <a:avLst/>
          </a:prstGeom>
          <a:noFill/>
          <a:ln w="9525"/>
        </p:spPr>
        <p:txBody>
          <a:bodyPr wrap="square" lIns="25400" tIns="25400" rIns="25400" bIns="25400" rtlCol="0" anchor="t">
            <a:normAutofit/>
          </a:bodyPr>
          <a:lstStyle/>
          <a:p>
            <a:r>
              <a:rPr lang="en-US" kern="0" spc="108" dirty="0">
                <a:solidFill>
                  <a:srgbClr val="7A8290"/>
                </a:solidFill>
                <a:latin typeface="JetBrains Mono" pitchFamily="34" charset="0"/>
                <a:ea typeface="JetBrains Mono" pitchFamily="34" charset="-122"/>
                <a:cs typeface="JetBrains Mono" pitchFamily="34" charset="-120"/>
              </a:rPr>
              <a:t>TOOL 03</a:t>
            </a:r>
          </a:p>
        </p:txBody>
      </p:sp>
      <p:sp>
        <p:nvSpPr>
          <p:cNvPr id="30" name="Text 28"/>
          <p:cNvSpPr/>
          <p:nvPr/>
        </p:nvSpPr>
        <p:spPr>
          <a:xfrm>
            <a:off x="9525002" y="4707137"/>
            <a:ext cx="3512249" cy="373335"/>
          </a:xfrm>
          <a:prstGeom prst="rect">
            <a:avLst/>
          </a:prstGeom>
          <a:noFill/>
          <a:ln w="9525"/>
        </p:spPr>
        <p:txBody>
          <a:bodyPr wrap="square" lIns="25400" tIns="25400" rIns="25400" bIns="25400" rtlCol="0" anchor="t">
            <a:normAutofit fontScale="92500" lnSpcReduction="20000"/>
          </a:bodyPr>
          <a:lstStyle/>
          <a:p>
            <a:pPr>
              <a:lnSpc>
                <a:spcPct val="110000"/>
              </a:lnSpc>
            </a:pPr>
            <a:r>
              <a:rPr lang="en-US" sz="2400" b="1" kern="0" spc="-36" dirty="0">
                <a:solidFill>
                  <a:srgbClr val="0B0F19"/>
                </a:solidFill>
                <a:latin typeface="Space Grotesk" pitchFamily="34" charset="0"/>
                <a:ea typeface="Space Grotesk" pitchFamily="34" charset="-122"/>
                <a:cs typeface="Space Grotesk" pitchFamily="34" charset="-120"/>
              </a:rPr>
              <a:t>Claude Code</a:t>
            </a:r>
          </a:p>
        </p:txBody>
      </p:sp>
      <p:sp>
        <p:nvSpPr>
          <p:cNvPr id="31" name="Text 29"/>
          <p:cNvSpPr/>
          <p:nvPr/>
        </p:nvSpPr>
        <p:spPr>
          <a:xfrm>
            <a:off x="9525002" y="5175722"/>
            <a:ext cx="3512249" cy="1605248"/>
          </a:xfrm>
          <a:prstGeom prst="rect">
            <a:avLst/>
          </a:prstGeom>
          <a:noFill/>
          <a:ln w="9525"/>
        </p:spPr>
        <p:txBody>
          <a:bodyPr wrap="square" lIns="25400" tIns="25400" rIns="25400" bIns="25400" rtlCol="0" anchor="t">
            <a:spAutoFit/>
          </a:bodyPr>
          <a:lstStyle/>
          <a:p>
            <a:pPr>
              <a:lnSpc>
                <a:spcPct val="145000"/>
              </a:lnSpc>
            </a:pPr>
            <a:r>
              <a:rPr lang="en-US" sz="2400" dirty="0">
                <a:solidFill>
                  <a:srgbClr val="3A4250"/>
                </a:solidFill>
                <a:latin typeface="Space Grotesk" pitchFamily="34" charset="0"/>
                <a:ea typeface="Space Grotesk" pitchFamily="34" charset="-122"/>
                <a:cs typeface="Space Grotesk" pitchFamily="34" charset="-120"/>
              </a:rPr>
              <a:t>A terminal agent that reads, writes, and runs code across an entire codebase.</a:t>
            </a:r>
          </a:p>
        </p:txBody>
      </p:sp>
      <p:grpSp>
        <p:nvGrpSpPr>
          <p:cNvPr id="41997815" name="Group 41997815"/>
          <p:cNvGrpSpPr/>
          <p:nvPr/>
        </p:nvGrpSpPr>
        <p:grpSpPr>
          <a:xfrm>
            <a:off x="9525000" y="9061994"/>
            <a:ext cx="3409950" cy="95250"/>
            <a:chOff x="9525000" y="7061522"/>
            <a:chExt cx="3409950" cy="95250"/>
          </a:xfrm>
        </p:grpSpPr>
        <p:sp>
          <p:nvSpPr>
            <p:cNvPr id="32" name="Shape 30"/>
            <p:cNvSpPr/>
            <p:nvPr/>
          </p:nvSpPr>
          <p:spPr>
            <a:xfrm>
              <a:off x="9525000" y="7061522"/>
              <a:ext cx="809625" cy="95250"/>
            </a:xfrm>
            <a:prstGeom prst="roundRect">
              <a:avLst>
                <a:gd name="adj" fmla="val 40000"/>
              </a:avLst>
            </a:prstGeom>
            <a:solidFill>
              <a:srgbClr val="2D5BFF"/>
            </a:solidFill>
            <a:ln w="9525"/>
          </p:spPr>
          <p:txBody>
            <a:bodyPr/>
            <a:lstStyle/>
            <a:p>
              <a:endParaRPr lang="en-TH"/>
            </a:p>
          </p:txBody>
        </p:sp>
        <p:sp>
          <p:nvSpPr>
            <p:cNvPr id="33" name="Shape 31"/>
            <p:cNvSpPr/>
            <p:nvPr/>
          </p:nvSpPr>
          <p:spPr>
            <a:xfrm>
              <a:off x="10391775" y="7061522"/>
              <a:ext cx="809625" cy="95250"/>
            </a:xfrm>
            <a:prstGeom prst="roundRect">
              <a:avLst>
                <a:gd name="adj" fmla="val 40000"/>
              </a:avLst>
            </a:prstGeom>
            <a:solidFill>
              <a:srgbClr val="2D5BFF"/>
            </a:solidFill>
            <a:ln w="9525"/>
          </p:spPr>
          <p:txBody>
            <a:bodyPr/>
            <a:lstStyle/>
            <a:p>
              <a:endParaRPr lang="en-TH"/>
            </a:p>
          </p:txBody>
        </p:sp>
        <p:sp>
          <p:nvSpPr>
            <p:cNvPr id="34" name="Shape 32"/>
            <p:cNvSpPr/>
            <p:nvPr/>
          </p:nvSpPr>
          <p:spPr>
            <a:xfrm>
              <a:off x="11258550" y="7061522"/>
              <a:ext cx="809625" cy="95250"/>
            </a:xfrm>
            <a:prstGeom prst="roundRect">
              <a:avLst>
                <a:gd name="adj" fmla="val 40000"/>
              </a:avLst>
            </a:prstGeom>
            <a:solidFill>
              <a:srgbClr val="2D5BFF"/>
            </a:solidFill>
            <a:ln w="9525"/>
          </p:spPr>
          <p:txBody>
            <a:bodyPr/>
            <a:lstStyle/>
            <a:p>
              <a:endParaRPr lang="en-TH"/>
            </a:p>
          </p:txBody>
        </p:sp>
        <p:sp>
          <p:nvSpPr>
            <p:cNvPr id="35" name="Shape 33"/>
            <p:cNvSpPr/>
            <p:nvPr/>
          </p:nvSpPr>
          <p:spPr>
            <a:xfrm>
              <a:off x="12125325" y="7061522"/>
              <a:ext cx="809625" cy="95250"/>
            </a:xfrm>
            <a:prstGeom prst="roundRect">
              <a:avLst>
                <a:gd name="adj" fmla="val 40000"/>
              </a:avLst>
            </a:prstGeom>
            <a:solidFill>
              <a:srgbClr val="E4E7EC"/>
            </a:solidFill>
            <a:ln w="9525"/>
          </p:spPr>
          <p:txBody>
            <a:bodyPr/>
            <a:lstStyle/>
            <a:p>
              <a:endParaRPr lang="en-TH"/>
            </a:p>
          </p:txBody>
        </p:sp>
      </p:grpSp>
      <p:sp>
        <p:nvSpPr>
          <p:cNvPr id="36" name="Shape 34"/>
          <p:cNvSpPr/>
          <p:nvPr/>
        </p:nvSpPr>
        <p:spPr>
          <a:xfrm>
            <a:off x="13430250" y="4026098"/>
            <a:ext cx="3943350" cy="5427924"/>
          </a:xfrm>
          <a:prstGeom prst="roundRect">
            <a:avLst>
              <a:gd name="adj" fmla="val 5083"/>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37" name="Text 35"/>
          <p:cNvSpPr/>
          <p:nvPr/>
        </p:nvSpPr>
        <p:spPr>
          <a:xfrm>
            <a:off x="13696952" y="4311850"/>
            <a:ext cx="3512249" cy="338138"/>
          </a:xfrm>
          <a:prstGeom prst="rect">
            <a:avLst/>
          </a:prstGeom>
          <a:noFill/>
          <a:ln w="9525"/>
        </p:spPr>
        <p:txBody>
          <a:bodyPr wrap="square" lIns="25400" tIns="25400" rIns="25400" bIns="25400" rtlCol="0" anchor="t">
            <a:normAutofit/>
          </a:bodyPr>
          <a:lstStyle/>
          <a:p>
            <a:r>
              <a:rPr lang="en-US" kern="0" spc="108" dirty="0">
                <a:solidFill>
                  <a:srgbClr val="7A8290"/>
                </a:solidFill>
                <a:latin typeface="JetBrains Mono" pitchFamily="34" charset="0"/>
                <a:ea typeface="JetBrains Mono" pitchFamily="34" charset="-122"/>
                <a:cs typeface="JetBrains Mono" pitchFamily="34" charset="-120"/>
              </a:rPr>
              <a:t>TOOL 04</a:t>
            </a:r>
          </a:p>
        </p:txBody>
      </p:sp>
      <p:sp>
        <p:nvSpPr>
          <p:cNvPr id="38" name="Text 36"/>
          <p:cNvSpPr/>
          <p:nvPr/>
        </p:nvSpPr>
        <p:spPr>
          <a:xfrm>
            <a:off x="13696952" y="4707137"/>
            <a:ext cx="3512249" cy="373335"/>
          </a:xfrm>
          <a:prstGeom prst="rect">
            <a:avLst/>
          </a:prstGeom>
          <a:noFill/>
          <a:ln w="9525"/>
        </p:spPr>
        <p:txBody>
          <a:bodyPr wrap="square" lIns="25400" tIns="25400" rIns="25400" bIns="25400" rtlCol="0" anchor="t">
            <a:normAutofit fontScale="92500" lnSpcReduction="20000"/>
          </a:bodyPr>
          <a:lstStyle/>
          <a:p>
            <a:pPr>
              <a:lnSpc>
                <a:spcPct val="110000"/>
              </a:lnSpc>
            </a:pPr>
            <a:r>
              <a:rPr lang="en-US" sz="2400" b="1" kern="0" spc="-36" dirty="0">
                <a:solidFill>
                  <a:srgbClr val="0B0F19"/>
                </a:solidFill>
                <a:latin typeface="Space Grotesk" pitchFamily="34" charset="0"/>
                <a:ea typeface="Space Grotesk" pitchFamily="34" charset="-122"/>
                <a:cs typeface="Space Grotesk" pitchFamily="34" charset="-120"/>
              </a:rPr>
              <a:t>Gemini API</a:t>
            </a:r>
          </a:p>
        </p:txBody>
      </p:sp>
      <p:sp>
        <p:nvSpPr>
          <p:cNvPr id="39" name="Text 37"/>
          <p:cNvSpPr/>
          <p:nvPr/>
        </p:nvSpPr>
        <p:spPr>
          <a:xfrm>
            <a:off x="13696952" y="5175722"/>
            <a:ext cx="3512249" cy="1605248"/>
          </a:xfrm>
          <a:prstGeom prst="rect">
            <a:avLst/>
          </a:prstGeom>
          <a:noFill/>
          <a:ln w="9525"/>
        </p:spPr>
        <p:txBody>
          <a:bodyPr wrap="square" lIns="25400" tIns="25400" rIns="25400" bIns="25400" rtlCol="0" anchor="t">
            <a:spAutoFit/>
          </a:bodyPr>
          <a:lstStyle/>
          <a:p>
            <a:pPr>
              <a:lnSpc>
                <a:spcPct val="145000"/>
              </a:lnSpc>
            </a:pPr>
            <a:r>
              <a:rPr lang="en-US" sz="2400" dirty="0">
                <a:solidFill>
                  <a:srgbClr val="3A4250"/>
                </a:solidFill>
                <a:latin typeface="Space Grotesk" pitchFamily="34" charset="0"/>
                <a:ea typeface="Space Grotesk" pitchFamily="34" charset="-122"/>
                <a:cs typeface="Space Grotesk" pitchFamily="34" charset="-120"/>
              </a:rPr>
              <a:t>Google's models for building AI features directly into the apps you ship.</a:t>
            </a:r>
          </a:p>
        </p:txBody>
      </p:sp>
      <p:grpSp>
        <p:nvGrpSpPr>
          <p:cNvPr id="58338088" name="Group 58338088"/>
          <p:cNvGrpSpPr/>
          <p:nvPr/>
        </p:nvGrpSpPr>
        <p:grpSpPr>
          <a:xfrm>
            <a:off x="13696950" y="9061994"/>
            <a:ext cx="3409950" cy="95250"/>
            <a:chOff x="13696950" y="7061522"/>
            <a:chExt cx="3409950" cy="95250"/>
          </a:xfrm>
        </p:grpSpPr>
        <p:sp>
          <p:nvSpPr>
            <p:cNvPr id="40" name="Shape 38"/>
            <p:cNvSpPr/>
            <p:nvPr/>
          </p:nvSpPr>
          <p:spPr>
            <a:xfrm>
              <a:off x="13696950" y="7061522"/>
              <a:ext cx="809625" cy="95250"/>
            </a:xfrm>
            <a:prstGeom prst="roundRect">
              <a:avLst>
                <a:gd name="adj" fmla="val 40000"/>
              </a:avLst>
            </a:prstGeom>
            <a:solidFill>
              <a:srgbClr val="16B670"/>
            </a:solidFill>
            <a:ln w="9525"/>
          </p:spPr>
          <p:txBody>
            <a:bodyPr/>
            <a:lstStyle/>
            <a:p>
              <a:endParaRPr lang="en-TH"/>
            </a:p>
          </p:txBody>
        </p:sp>
        <p:sp>
          <p:nvSpPr>
            <p:cNvPr id="41" name="Shape 39"/>
            <p:cNvSpPr/>
            <p:nvPr/>
          </p:nvSpPr>
          <p:spPr>
            <a:xfrm>
              <a:off x="14563725" y="7061522"/>
              <a:ext cx="809625" cy="95250"/>
            </a:xfrm>
            <a:prstGeom prst="roundRect">
              <a:avLst>
                <a:gd name="adj" fmla="val 40000"/>
              </a:avLst>
            </a:prstGeom>
            <a:solidFill>
              <a:srgbClr val="16B670"/>
            </a:solidFill>
            <a:ln w="9525"/>
          </p:spPr>
          <p:txBody>
            <a:bodyPr/>
            <a:lstStyle/>
            <a:p>
              <a:endParaRPr lang="en-TH"/>
            </a:p>
          </p:txBody>
        </p:sp>
        <p:sp>
          <p:nvSpPr>
            <p:cNvPr id="42" name="Shape 40"/>
            <p:cNvSpPr/>
            <p:nvPr/>
          </p:nvSpPr>
          <p:spPr>
            <a:xfrm>
              <a:off x="15430500" y="7061522"/>
              <a:ext cx="809625" cy="95250"/>
            </a:xfrm>
            <a:prstGeom prst="roundRect">
              <a:avLst>
                <a:gd name="adj" fmla="val 40000"/>
              </a:avLst>
            </a:prstGeom>
            <a:solidFill>
              <a:srgbClr val="16B670"/>
            </a:solidFill>
            <a:ln w="9525"/>
          </p:spPr>
          <p:txBody>
            <a:bodyPr/>
            <a:lstStyle/>
            <a:p>
              <a:endParaRPr lang="en-TH"/>
            </a:p>
          </p:txBody>
        </p:sp>
        <p:sp>
          <p:nvSpPr>
            <p:cNvPr id="43" name="Shape 41"/>
            <p:cNvSpPr/>
            <p:nvPr/>
          </p:nvSpPr>
          <p:spPr>
            <a:xfrm>
              <a:off x="16297275" y="7061522"/>
              <a:ext cx="809625" cy="95250"/>
            </a:xfrm>
            <a:prstGeom prst="roundRect">
              <a:avLst>
                <a:gd name="adj" fmla="val 40000"/>
              </a:avLst>
            </a:prstGeom>
            <a:solidFill>
              <a:srgbClr val="16B670"/>
            </a:solidFill>
            <a:ln w="9525"/>
          </p:spPr>
          <p:txBody>
            <a:bodyPr/>
            <a:lstStyle/>
            <a:p>
              <a:endParaRPr lang="en-TH"/>
            </a:p>
          </p:txBody>
        </p:sp>
      </p:grpSp>
      <p:pic>
        <p:nvPicPr>
          <p:cNvPr id="45" name="Picture 44" descr="Github Copilot Icon &amp; Logo | Dashboard Icons &amp; Logos">
            <a:extLst>
              <a:ext uri="{FF2B5EF4-FFF2-40B4-BE49-F238E27FC236}">
                <a16:creationId xmlns:a16="http://schemas.microsoft.com/office/drawing/2014/main" id="{49F8814E-75D3-1062-CD48-6D9E3983D47C}"/>
              </a:ext>
            </a:extLst>
          </p:cNvPr>
          <p:cNvPicPr>
            <a:picLocks noChangeAspect="1"/>
          </p:cNvPicPr>
          <p:nvPr/>
        </p:nvPicPr>
        <p:blipFill>
          <a:blip r:embed="rId3"/>
          <a:stretch>
            <a:fillRect/>
          </a:stretch>
        </p:blipFill>
        <p:spPr>
          <a:xfrm>
            <a:off x="1967129" y="7279640"/>
            <a:ext cx="1780742" cy="1408561"/>
          </a:xfrm>
          <a:prstGeom prst="rect">
            <a:avLst/>
          </a:prstGeom>
        </p:spPr>
      </p:pic>
      <p:pic>
        <p:nvPicPr>
          <p:cNvPr id="46" name="Picture 45" descr="File:Cursor logo.svg - Wikimedia Commons">
            <a:extLst>
              <a:ext uri="{FF2B5EF4-FFF2-40B4-BE49-F238E27FC236}">
                <a16:creationId xmlns:a16="http://schemas.microsoft.com/office/drawing/2014/main" id="{58D685BA-B2FD-812C-7A78-8A8906EDEAA7}"/>
              </a:ext>
            </a:extLst>
          </p:cNvPr>
          <p:cNvPicPr>
            <a:picLocks noChangeAspect="1"/>
          </p:cNvPicPr>
          <p:nvPr/>
        </p:nvPicPr>
        <p:blipFill>
          <a:blip r:embed="rId4"/>
          <a:stretch>
            <a:fillRect/>
          </a:stretch>
        </p:blipFill>
        <p:spPr>
          <a:xfrm>
            <a:off x="5353050" y="7642311"/>
            <a:ext cx="3048000" cy="742950"/>
          </a:xfrm>
          <a:prstGeom prst="rect">
            <a:avLst/>
          </a:prstGeom>
        </p:spPr>
      </p:pic>
      <p:pic>
        <p:nvPicPr>
          <p:cNvPr id="47" name="Picture 46" descr="Claude Code - Terminal AI Coding Agent - Terminal Trove">
            <a:extLst>
              <a:ext uri="{FF2B5EF4-FFF2-40B4-BE49-F238E27FC236}">
                <a16:creationId xmlns:a16="http://schemas.microsoft.com/office/drawing/2014/main" id="{D785565F-BD26-E68A-0CBA-383A16A46090}"/>
              </a:ext>
            </a:extLst>
          </p:cNvPr>
          <p:cNvPicPr>
            <a:picLocks noChangeAspect="1"/>
          </p:cNvPicPr>
          <p:nvPr/>
        </p:nvPicPr>
        <p:blipFill>
          <a:blip r:embed="rId5"/>
          <a:stretch>
            <a:fillRect/>
          </a:stretch>
        </p:blipFill>
        <p:spPr>
          <a:xfrm>
            <a:off x="10007600" y="6832951"/>
            <a:ext cx="2060575" cy="2060575"/>
          </a:xfrm>
          <a:prstGeom prst="rect">
            <a:avLst/>
          </a:prstGeom>
        </p:spPr>
      </p:pic>
      <p:pic>
        <p:nvPicPr>
          <p:cNvPr id="48" name="Picture 47" descr="Google LLC (Gemini API) gemini-2.5-flash API Pricing &amp; Cost: Context Window  &amp; Benchmarks | Requesty">
            <a:extLst>
              <a:ext uri="{FF2B5EF4-FFF2-40B4-BE49-F238E27FC236}">
                <a16:creationId xmlns:a16="http://schemas.microsoft.com/office/drawing/2014/main" id="{272A32A4-368E-21E8-CD55-F0666650D58C}"/>
              </a:ext>
            </a:extLst>
          </p:cNvPr>
          <p:cNvPicPr>
            <a:picLocks noChangeAspect="1"/>
          </p:cNvPicPr>
          <p:nvPr/>
        </p:nvPicPr>
        <p:blipFill>
          <a:blip r:embed="rId6"/>
          <a:stretch>
            <a:fillRect/>
          </a:stretch>
        </p:blipFill>
        <p:spPr>
          <a:xfrm>
            <a:off x="14030325" y="7125616"/>
            <a:ext cx="2686050" cy="991880"/>
          </a:xfrm>
          <a:prstGeom prst="rect">
            <a:avLst/>
          </a:prstGeom>
        </p:spPr>
      </p:pic>
    </p:spTree>
    <p:extLst>
      <p:ext uri="{BB962C8B-B14F-4D97-AF65-F5344CB8AC3E}">
        <p14:creationId xmlns:p14="http://schemas.microsoft.com/office/powerpoint/2010/main" val="3911275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EEF0F3"/>
        </a:solidFill>
        <a:effectLst/>
      </p:bgPr>
    </p:bg>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p:cNvSpPr/>
          <p:nvPr/>
        </p:nvSpPr>
        <p:spPr>
          <a:xfrm>
            <a:off x="728216" y="154781"/>
            <a:ext cx="3889732"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p:cNvSpPr/>
          <p:nvPr/>
        </p:nvSpPr>
        <p:spPr>
          <a:xfrm>
            <a:off x="4771355" y="154781"/>
            <a:ext cx="3100274"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Page · The course</a:t>
            </a:r>
            <a:endParaRPr lang="en-US" sz="1800" dirty="0"/>
          </a:p>
        </p:txBody>
      </p:sp>
      <p:sp>
        <p:nvSpPr>
          <p:cNvPr id="7" name="Text 5"/>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sz="1800" kern="0" spc="72" dirty="0">
                <a:solidFill>
                  <a:srgbClr val="7A8290"/>
                </a:solidFill>
                <a:latin typeface="JetBrains Mono" pitchFamily="34" charset="0"/>
                <a:ea typeface="JetBrains Mono" pitchFamily="34" charset="-122"/>
                <a:cs typeface="JetBrains Mono" pitchFamily="34" charset="-120"/>
              </a:rPr>
              <a:t>08 / </a:t>
            </a:r>
            <a:r>
              <a:rPr lang="en-US" kern="0" spc="72" dirty="0">
                <a:solidFill>
                  <a:srgbClr val="7A8290"/>
                </a:solidFill>
                <a:latin typeface="JetBrains Mono" pitchFamily="34" charset="0"/>
                <a:ea typeface="JetBrains Mono" pitchFamily="34" charset="-122"/>
                <a:cs typeface="JetBrains Mono" pitchFamily="34" charset="-120"/>
              </a:rPr>
              <a:t>32</a:t>
            </a:r>
            <a:endParaRPr lang="en-US" sz="1800" dirty="0"/>
          </a:p>
        </p:txBody>
      </p:sp>
      <p:sp>
        <p:nvSpPr>
          <p:cNvPr id="9" name="Shape 7"/>
          <p:cNvSpPr/>
          <p:nvPr/>
        </p:nvSpPr>
        <p:spPr>
          <a:xfrm>
            <a:off x="914400" y="1524000"/>
            <a:ext cx="1653555" cy="419100"/>
          </a:xfrm>
          <a:prstGeom prst="roundRect">
            <a:avLst>
              <a:gd name="adj" fmla="val 50000"/>
            </a:avLst>
          </a:prstGeom>
          <a:solidFill>
            <a:srgbClr val="FF5A47"/>
          </a:solidFill>
          <a:ln w="9525"/>
        </p:spPr>
        <p:txBody>
          <a:bodyPr/>
          <a:lstStyle/>
          <a:p>
            <a:endParaRPr lang="en-TH"/>
          </a:p>
        </p:txBody>
      </p:sp>
      <p:sp>
        <p:nvSpPr>
          <p:cNvPr id="10" name="Text 8"/>
          <p:cNvSpPr/>
          <p:nvPr/>
        </p:nvSpPr>
        <p:spPr>
          <a:xfrm>
            <a:off x="1085850" y="1619250"/>
            <a:ext cx="1310655" cy="266700"/>
          </a:xfrm>
          <a:prstGeom prst="rect">
            <a:avLst/>
          </a:prstGeom>
          <a:noFill/>
          <a:ln w="9525"/>
        </p:spPr>
        <p:txBody>
          <a:bodyPr wrap="square" lIns="25400" tIns="25400" rIns="25400" bIns="25400" rtlCol="0" anchor="ctr">
            <a:normAutofit fontScale="92500" lnSpcReduction="20000"/>
          </a:bodyPr>
          <a:lstStyle/>
          <a:p>
            <a:pPr marL="0" indent="0" algn="ctr">
              <a:lnSpc>
                <a:spcPct val="100000"/>
              </a:lnSpc>
              <a:buNone/>
            </a:pPr>
            <a:r>
              <a:rPr lang="en-US" sz="1800" dirty="0">
                <a:solidFill>
                  <a:srgbClr val="FFFFFF"/>
                </a:solidFill>
                <a:latin typeface="JetBrains Mono" pitchFamily="34" charset="0"/>
                <a:ea typeface="JetBrains Mono" pitchFamily="34" charset="-122"/>
                <a:cs typeface="JetBrains Mono" pitchFamily="34" charset="-120"/>
              </a:rPr>
              <a:t>WEEK 1</a:t>
            </a:r>
            <a:endParaRPr lang="en-US" sz="1800" dirty="0"/>
          </a:p>
        </p:txBody>
      </p:sp>
      <p:sp>
        <p:nvSpPr>
          <p:cNvPr id="11" name="Text 9"/>
          <p:cNvSpPr/>
          <p:nvPr/>
        </p:nvSpPr>
        <p:spPr>
          <a:xfrm>
            <a:off x="2796555" y="1583531"/>
            <a:ext cx="2339355"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PRACTICAL DETAILS</a:t>
            </a:r>
            <a:endParaRPr lang="en-US" sz="1800" dirty="0"/>
          </a:p>
        </p:txBody>
      </p:sp>
      <p:sp>
        <p:nvSpPr>
          <p:cNvPr id="12" name="Text 10"/>
          <p:cNvSpPr/>
          <p:nvPr/>
        </p:nvSpPr>
        <p:spPr>
          <a:xfrm>
            <a:off x="914400" y="2114550"/>
            <a:ext cx="16952976" cy="1022745"/>
          </a:xfrm>
          <a:prstGeom prst="rect">
            <a:avLst/>
          </a:prstGeom>
          <a:noFill/>
          <a:ln w="9525"/>
        </p:spPr>
        <p:txBody>
          <a:bodyPr wrap="square" lIns="25400" tIns="25400" rIns="25400" bIns="25400" rtlCol="0" anchor="t">
            <a:normAutofit/>
          </a:bodyPr>
          <a:lstStyle/>
          <a:p>
            <a:pPr marL="0" indent="0" algn="l">
              <a:lnSpc>
                <a:spcPct val="100000"/>
              </a:lnSpc>
              <a:buNone/>
            </a:pPr>
            <a:r>
              <a:rPr lang="en-US" sz="4800" b="1" kern="0" spc="-120" dirty="0">
                <a:solidFill>
                  <a:srgbClr val="0B0F19"/>
                </a:solidFill>
                <a:latin typeface="Space Grotesk" pitchFamily="34" charset="0"/>
                <a:ea typeface="Space Grotesk" pitchFamily="34" charset="-122"/>
                <a:cs typeface="Space Grotesk" pitchFamily="34" charset="-120"/>
              </a:rPr>
              <a:t>How to find everything</a:t>
            </a:r>
            <a:endParaRPr lang="en-US" sz="4800" dirty="0"/>
          </a:p>
        </p:txBody>
      </p:sp>
      <p:sp>
        <p:nvSpPr>
          <p:cNvPr id="13" name="Text 11"/>
          <p:cNvSpPr/>
          <p:nvPr/>
        </p:nvSpPr>
        <p:spPr>
          <a:xfrm>
            <a:off x="914400" y="3296842"/>
            <a:ext cx="6957229" cy="404813"/>
          </a:xfrm>
          <a:prstGeom prst="rect">
            <a:avLst/>
          </a:prstGeom>
          <a:noFill/>
          <a:ln w="9525"/>
        </p:spPr>
        <p:txBody>
          <a:bodyPr wrap="square" lIns="25400" tIns="25400" rIns="25400" bIns="25400" rtlCol="0" anchor="t"/>
          <a:lstStyle/>
          <a:p>
            <a:pPr marL="0" indent="0" algn="l">
              <a:buNone/>
            </a:pPr>
            <a:r>
              <a:rPr lang="en-US" sz="2400" kern="0" spc="-34" dirty="0">
                <a:solidFill>
                  <a:srgbClr val="0B0F19"/>
                </a:solidFill>
                <a:latin typeface="Space Grotesk" pitchFamily="34" charset="0"/>
                <a:ea typeface="Space Grotesk" pitchFamily="34" charset="-122"/>
                <a:cs typeface="Space Grotesk" pitchFamily="34" charset="-120"/>
              </a:rPr>
              <a:t>Class, every Monday</a:t>
            </a:r>
            <a:endParaRPr lang="en-US" sz="2400" dirty="0"/>
          </a:p>
        </p:txBody>
      </p:sp>
      <p:sp>
        <p:nvSpPr>
          <p:cNvPr id="14" name="Text 12"/>
          <p:cNvSpPr/>
          <p:nvPr/>
        </p:nvSpPr>
        <p:spPr>
          <a:xfrm>
            <a:off x="914400" y="3768303"/>
            <a:ext cx="6957229" cy="1134670"/>
          </a:xfrm>
          <a:prstGeom prst="rect">
            <a:avLst/>
          </a:prstGeom>
          <a:noFill/>
          <a:ln w="9525"/>
        </p:spPr>
        <p:txBody>
          <a:bodyPr wrap="square" lIns="25400" tIns="25400" rIns="25400" bIns="25400" rtlCol="0" anchor="t">
            <a:spAutoFit/>
          </a:bodyPr>
          <a:lstStyle/>
          <a:p>
            <a:pPr marL="0" indent="0" algn="l">
              <a:lnSpc>
                <a:spcPct val="120000"/>
              </a:lnSpc>
              <a:buNone/>
            </a:pPr>
            <a:r>
              <a:rPr lang="en-US" sz="2000" dirty="0">
                <a:solidFill>
                  <a:srgbClr val="3A4250"/>
                </a:solidFill>
                <a:latin typeface="Space Grotesk" pitchFamily="34" charset="0"/>
                <a:ea typeface="Space Grotesk" pitchFamily="34" charset="-122"/>
                <a:cs typeface="Space Grotesk" pitchFamily="34" charset="-120"/>
              </a:rPr>
              <a:t>12:00–14:50 in Room E3 B 102, Section 1. Fourteen Monday classes: ten chapters, two clinic weeks, and two oral-exam weeks. No public holiday falls on our slot this term.</a:t>
            </a:r>
            <a:endParaRPr lang="en-US" sz="2000" dirty="0"/>
          </a:p>
        </p:txBody>
      </p:sp>
      <p:sp>
        <p:nvSpPr>
          <p:cNvPr id="15" name="Text 13"/>
          <p:cNvSpPr/>
          <p:nvPr/>
        </p:nvSpPr>
        <p:spPr>
          <a:xfrm>
            <a:off x="914400" y="5378055"/>
            <a:ext cx="6957229" cy="404813"/>
          </a:xfrm>
          <a:prstGeom prst="rect">
            <a:avLst/>
          </a:prstGeom>
          <a:noFill/>
          <a:ln w="9525"/>
        </p:spPr>
        <p:txBody>
          <a:bodyPr wrap="square" lIns="25400" tIns="25400" rIns="25400" bIns="25400" rtlCol="0" anchor="t"/>
          <a:lstStyle/>
          <a:p>
            <a:pPr marL="0" indent="0" algn="l">
              <a:buNone/>
            </a:pPr>
            <a:r>
              <a:rPr lang="en-US" sz="2400" b="1" kern="0" spc="-34" dirty="0">
                <a:solidFill>
                  <a:srgbClr val="0B0F19"/>
                </a:solidFill>
                <a:latin typeface="Space Grotesk" pitchFamily="34" charset="0"/>
                <a:ea typeface="Space Grotesk" pitchFamily="34" charset="-122"/>
                <a:cs typeface="Space Grotesk" pitchFamily="34" charset="-120"/>
              </a:rPr>
              <a:t>Bring paper and a pen</a:t>
            </a:r>
            <a:endParaRPr lang="en-US" sz="2400" b="1" dirty="0"/>
          </a:p>
        </p:txBody>
      </p:sp>
      <p:sp>
        <p:nvSpPr>
          <p:cNvPr id="16" name="Text 14"/>
          <p:cNvSpPr/>
          <p:nvPr/>
        </p:nvSpPr>
        <p:spPr>
          <a:xfrm>
            <a:off x="914400" y="5849515"/>
            <a:ext cx="6957229" cy="1134670"/>
          </a:xfrm>
          <a:prstGeom prst="rect">
            <a:avLst/>
          </a:prstGeom>
          <a:noFill/>
          <a:ln w="9525"/>
        </p:spPr>
        <p:txBody>
          <a:bodyPr wrap="square" lIns="25400" tIns="25400" rIns="25400" bIns="25400" rtlCol="0" anchor="t">
            <a:spAutoFit/>
          </a:bodyPr>
          <a:lstStyle/>
          <a:p>
            <a:pPr marL="0" indent="0" algn="l">
              <a:lnSpc>
                <a:spcPct val="120000"/>
              </a:lnSpc>
              <a:buNone/>
            </a:pPr>
            <a:r>
              <a:rPr lang="en-US" sz="2000" dirty="0">
                <a:solidFill>
                  <a:srgbClr val="3A4250"/>
                </a:solidFill>
                <a:highlight>
                  <a:srgbClr val="FFFF00"/>
                </a:highlight>
                <a:latin typeface="Space Grotesk" pitchFamily="34" charset="0"/>
                <a:ea typeface="Space Grotesk" pitchFamily="34" charset="-122"/>
                <a:cs typeface="Space Grotesk" pitchFamily="34" charset="-120"/>
              </a:rPr>
              <a:t>Every chapter class ends with a handwritten A4 exercise that doubles as attendance. No paper handed in means no attendance mark for that day.</a:t>
            </a:r>
            <a:endParaRPr lang="en-US" sz="2000" dirty="0">
              <a:highlight>
                <a:srgbClr val="FFFF00"/>
              </a:highlight>
            </a:endParaRPr>
          </a:p>
        </p:txBody>
      </p:sp>
      <p:sp>
        <p:nvSpPr>
          <p:cNvPr id="17" name="Text 15"/>
          <p:cNvSpPr/>
          <p:nvPr/>
        </p:nvSpPr>
        <p:spPr>
          <a:xfrm>
            <a:off x="914400" y="7442599"/>
            <a:ext cx="6957229" cy="404813"/>
          </a:xfrm>
          <a:prstGeom prst="rect">
            <a:avLst/>
          </a:prstGeom>
          <a:noFill/>
          <a:ln w="9525"/>
        </p:spPr>
        <p:txBody>
          <a:bodyPr wrap="square" lIns="25400" tIns="25400" rIns="25400" bIns="25400" rtlCol="0" anchor="t"/>
          <a:lstStyle/>
          <a:p>
            <a:pPr marL="0" indent="0" algn="l">
              <a:buNone/>
            </a:pPr>
            <a:r>
              <a:rPr lang="en-US" sz="2400" kern="0" spc="-34" dirty="0">
                <a:solidFill>
                  <a:srgbClr val="0B0F19"/>
                </a:solidFill>
                <a:latin typeface="Space Grotesk" pitchFamily="34" charset="0"/>
                <a:ea typeface="Space Grotesk" pitchFamily="34" charset="-122"/>
                <a:cs typeface="Space Grotesk" pitchFamily="34" charset="-120"/>
              </a:rPr>
              <a:t>Everything is on the course site</a:t>
            </a:r>
            <a:endParaRPr lang="en-US" sz="2400" dirty="0"/>
          </a:p>
        </p:txBody>
      </p:sp>
      <p:sp>
        <p:nvSpPr>
          <p:cNvPr id="18" name="Text 16"/>
          <p:cNvSpPr/>
          <p:nvPr/>
        </p:nvSpPr>
        <p:spPr>
          <a:xfrm>
            <a:off x="914400" y="7914060"/>
            <a:ext cx="6957229" cy="1134670"/>
          </a:xfrm>
          <a:prstGeom prst="rect">
            <a:avLst/>
          </a:prstGeom>
          <a:noFill/>
          <a:ln w="9525"/>
        </p:spPr>
        <p:txBody>
          <a:bodyPr wrap="square" lIns="25400" tIns="25400" rIns="25400" bIns="25400" rtlCol="0" anchor="t">
            <a:spAutoFit/>
          </a:bodyPr>
          <a:lstStyle/>
          <a:p>
            <a:pPr marL="0" indent="0" algn="l">
              <a:lnSpc>
                <a:spcPct val="120000"/>
              </a:lnSpc>
              <a:buNone/>
            </a:pPr>
            <a:r>
              <a:rPr lang="en-US" sz="2000" dirty="0">
                <a:solidFill>
                  <a:srgbClr val="3A4250"/>
                </a:solidFill>
                <a:latin typeface="Space Grotesk" pitchFamily="34" charset="0"/>
                <a:ea typeface="Space Grotesk" pitchFamily="34" charset="-122"/>
                <a:cs typeface="Space Grotesk" pitchFamily="34" charset="-120"/>
              </a:rPr>
              <a:t>Handbook, schedule, slides, rubrics and templates all live in one place. Read the handbook before next week — it answers most questions faster than I can.</a:t>
            </a:r>
            <a:endParaRPr lang="en-US" sz="2000" dirty="0"/>
          </a:p>
        </p:txBody>
      </p:sp>
      <p:sp>
        <p:nvSpPr>
          <p:cNvPr id="19" name="Shape 17"/>
          <p:cNvSpPr/>
          <p:nvPr/>
        </p:nvSpPr>
        <p:spPr>
          <a:xfrm>
            <a:off x="9642053" y="3296842"/>
            <a:ext cx="7731547" cy="5667375"/>
          </a:xfrm>
          <a:prstGeom prst="roundRect">
            <a:avLst>
              <a:gd name="adj" fmla="val 3361"/>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0" name="Shape 18"/>
          <p:cNvSpPr/>
          <p:nvPr/>
        </p:nvSpPr>
        <p:spPr>
          <a:xfrm>
            <a:off x="10023053" y="3996930"/>
            <a:ext cx="228600" cy="228600"/>
          </a:xfrm>
          <a:prstGeom prst="roundRect">
            <a:avLst>
              <a:gd name="adj" fmla="val 25000"/>
            </a:avLst>
          </a:prstGeom>
          <a:solidFill>
            <a:srgbClr val="2D5BFF"/>
          </a:solidFill>
          <a:ln w="9525"/>
        </p:spPr>
        <p:txBody>
          <a:bodyPr/>
          <a:lstStyle/>
          <a:p>
            <a:endParaRPr lang="en-TH"/>
          </a:p>
        </p:txBody>
      </p:sp>
      <p:sp>
        <p:nvSpPr>
          <p:cNvPr id="21" name="Text 19"/>
          <p:cNvSpPr/>
          <p:nvPr/>
        </p:nvSpPr>
        <p:spPr>
          <a:xfrm>
            <a:off x="10481519" y="3820717"/>
            <a:ext cx="2041084" cy="342900"/>
          </a:xfrm>
          <a:prstGeom prst="rect">
            <a:avLst/>
          </a:prstGeom>
          <a:noFill/>
          <a:ln w="9525"/>
        </p:spPr>
        <p:txBody>
          <a:bodyPr lIns="25400" tIns="25400" rIns="25400" bIns="25400" rtlCol="0" anchor="t">
            <a:spAutoFit/>
          </a:bodyPr>
          <a:lstStyle/>
          <a:p>
            <a:pPr marL="0" indent="0" algn="l">
              <a:buNone/>
            </a:pPr>
            <a:r>
              <a:rPr lang="en-US" sz="1800" dirty="0">
                <a:solidFill>
                  <a:srgbClr val="0B0F19"/>
                </a:solidFill>
                <a:latin typeface="Space Grotesk" pitchFamily="34" charset="0"/>
                <a:ea typeface="Space Grotesk" pitchFamily="34" charset="-122"/>
                <a:cs typeface="Space Grotesk" pitchFamily="34" charset="-120"/>
              </a:rPr>
              <a:t>Handbook</a:t>
            </a:r>
            <a:endParaRPr lang="en-US" sz="1800" dirty="0"/>
          </a:p>
        </p:txBody>
      </p:sp>
      <p:sp>
        <p:nvSpPr>
          <p:cNvPr id="22" name="Text 20"/>
          <p:cNvSpPr/>
          <p:nvPr/>
        </p:nvSpPr>
        <p:spPr>
          <a:xfrm>
            <a:off x="10481519" y="4179219"/>
            <a:ext cx="2375715"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rules · schedule · grading</a:t>
            </a:r>
            <a:endParaRPr lang="en-US" dirty="0"/>
          </a:p>
        </p:txBody>
      </p:sp>
      <p:sp>
        <p:nvSpPr>
          <p:cNvPr id="23" name="Text 21"/>
          <p:cNvSpPr/>
          <p:nvPr/>
        </p:nvSpPr>
        <p:spPr>
          <a:xfrm>
            <a:off x="16608777" y="3968531"/>
            <a:ext cx="383823"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site</a:t>
            </a:r>
            <a:endParaRPr lang="en-US" dirty="0"/>
          </a:p>
        </p:txBody>
      </p:sp>
      <p:sp>
        <p:nvSpPr>
          <p:cNvPr id="24" name="Shape 22"/>
          <p:cNvSpPr/>
          <p:nvPr/>
        </p:nvSpPr>
        <p:spPr>
          <a:xfrm>
            <a:off x="9946853" y="4620817"/>
            <a:ext cx="7121947" cy="9525"/>
          </a:xfrm>
          <a:prstGeom prst="rect">
            <a:avLst/>
          </a:prstGeom>
          <a:solidFill>
            <a:srgbClr val="ECEEF1"/>
          </a:solidFill>
          <a:ln w="9525"/>
        </p:spPr>
        <p:txBody>
          <a:bodyPr/>
          <a:lstStyle/>
          <a:p>
            <a:endParaRPr lang="en-TH"/>
          </a:p>
        </p:txBody>
      </p:sp>
      <p:sp>
        <p:nvSpPr>
          <p:cNvPr id="25" name="Shape 23"/>
          <p:cNvSpPr/>
          <p:nvPr/>
        </p:nvSpPr>
        <p:spPr>
          <a:xfrm>
            <a:off x="10023053" y="5016105"/>
            <a:ext cx="228600" cy="228600"/>
          </a:xfrm>
          <a:prstGeom prst="roundRect">
            <a:avLst>
              <a:gd name="adj" fmla="val 25000"/>
            </a:avLst>
          </a:prstGeom>
          <a:solidFill>
            <a:srgbClr val="FF5A47"/>
          </a:solidFill>
          <a:ln w="9525"/>
        </p:spPr>
        <p:txBody>
          <a:bodyPr/>
          <a:lstStyle/>
          <a:p>
            <a:endParaRPr lang="en-TH"/>
          </a:p>
        </p:txBody>
      </p:sp>
      <p:sp>
        <p:nvSpPr>
          <p:cNvPr id="26" name="Text 24"/>
          <p:cNvSpPr/>
          <p:nvPr/>
        </p:nvSpPr>
        <p:spPr>
          <a:xfrm>
            <a:off x="10481519" y="4839892"/>
            <a:ext cx="1594364" cy="342900"/>
          </a:xfrm>
          <a:prstGeom prst="rect">
            <a:avLst/>
          </a:prstGeom>
          <a:noFill/>
          <a:ln w="9525"/>
        </p:spPr>
        <p:txBody>
          <a:bodyPr lIns="25400" tIns="25400" rIns="25400" bIns="25400" rtlCol="0" anchor="t">
            <a:spAutoFit/>
          </a:bodyPr>
          <a:lstStyle/>
          <a:p>
            <a:pPr marL="0" indent="0" algn="l">
              <a:buNone/>
            </a:pPr>
            <a:r>
              <a:rPr lang="en-US" sz="1800" dirty="0">
                <a:solidFill>
                  <a:srgbClr val="0B0F19"/>
                </a:solidFill>
                <a:latin typeface="Space Grotesk" pitchFamily="34" charset="0"/>
                <a:ea typeface="Space Grotesk" pitchFamily="34" charset="-122"/>
                <a:cs typeface="Space Grotesk" pitchFamily="34" charset="-120"/>
              </a:rPr>
              <a:t>Slides</a:t>
            </a:r>
            <a:endParaRPr lang="en-US" sz="1800" dirty="0"/>
          </a:p>
        </p:txBody>
      </p:sp>
      <p:sp>
        <p:nvSpPr>
          <p:cNvPr id="27" name="Text 25"/>
          <p:cNvSpPr/>
          <p:nvPr/>
        </p:nvSpPr>
        <p:spPr>
          <a:xfrm>
            <a:off x="10481519" y="5198394"/>
            <a:ext cx="2109552"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every chapter · offline</a:t>
            </a:r>
            <a:endParaRPr lang="en-US" dirty="0"/>
          </a:p>
        </p:txBody>
      </p:sp>
      <p:sp>
        <p:nvSpPr>
          <p:cNvPr id="28" name="Text 26"/>
          <p:cNvSpPr/>
          <p:nvPr/>
        </p:nvSpPr>
        <p:spPr>
          <a:xfrm>
            <a:off x="16608777" y="4997231"/>
            <a:ext cx="383823"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site</a:t>
            </a:r>
            <a:endParaRPr lang="en-US" dirty="0"/>
          </a:p>
        </p:txBody>
      </p:sp>
      <p:sp>
        <p:nvSpPr>
          <p:cNvPr id="29" name="Shape 27"/>
          <p:cNvSpPr/>
          <p:nvPr/>
        </p:nvSpPr>
        <p:spPr>
          <a:xfrm>
            <a:off x="9946853" y="5630467"/>
            <a:ext cx="7121947" cy="9525"/>
          </a:xfrm>
          <a:prstGeom prst="rect">
            <a:avLst/>
          </a:prstGeom>
          <a:solidFill>
            <a:srgbClr val="ECEEF1"/>
          </a:solidFill>
          <a:ln w="9525"/>
        </p:spPr>
        <p:txBody>
          <a:bodyPr/>
          <a:lstStyle/>
          <a:p>
            <a:endParaRPr lang="en-TH"/>
          </a:p>
        </p:txBody>
      </p:sp>
      <p:sp>
        <p:nvSpPr>
          <p:cNvPr id="30" name="Shape 28"/>
          <p:cNvSpPr/>
          <p:nvPr/>
        </p:nvSpPr>
        <p:spPr>
          <a:xfrm>
            <a:off x="10023053" y="6025755"/>
            <a:ext cx="228600" cy="228600"/>
          </a:xfrm>
          <a:prstGeom prst="roundRect">
            <a:avLst>
              <a:gd name="adj" fmla="val 25000"/>
            </a:avLst>
          </a:prstGeom>
          <a:solidFill>
            <a:srgbClr val="FFC233"/>
          </a:solidFill>
          <a:ln w="9525"/>
        </p:spPr>
        <p:txBody>
          <a:bodyPr/>
          <a:lstStyle/>
          <a:p>
            <a:endParaRPr lang="en-TH"/>
          </a:p>
        </p:txBody>
      </p:sp>
      <p:sp>
        <p:nvSpPr>
          <p:cNvPr id="31" name="Text 29"/>
          <p:cNvSpPr/>
          <p:nvPr/>
        </p:nvSpPr>
        <p:spPr>
          <a:xfrm>
            <a:off x="10481519" y="5849542"/>
            <a:ext cx="1392118" cy="342900"/>
          </a:xfrm>
          <a:prstGeom prst="rect">
            <a:avLst/>
          </a:prstGeom>
          <a:noFill/>
          <a:ln w="9525"/>
        </p:spPr>
        <p:txBody>
          <a:bodyPr lIns="25400" tIns="25400" rIns="25400" bIns="25400" rtlCol="0" anchor="t">
            <a:spAutoFit/>
          </a:bodyPr>
          <a:lstStyle/>
          <a:p>
            <a:pPr marL="0" indent="0" algn="l">
              <a:buNone/>
            </a:pPr>
            <a:r>
              <a:rPr lang="en-US" sz="1800" dirty="0">
                <a:solidFill>
                  <a:srgbClr val="0B0F19"/>
                </a:solidFill>
                <a:latin typeface="Space Grotesk" pitchFamily="34" charset="0"/>
                <a:ea typeface="Space Grotesk" pitchFamily="34" charset="-122"/>
                <a:cs typeface="Space Grotesk" pitchFamily="34" charset="-120"/>
              </a:rPr>
              <a:t>Textbook</a:t>
            </a:r>
            <a:endParaRPr lang="en-US" sz="1800" dirty="0"/>
          </a:p>
        </p:txBody>
      </p:sp>
      <p:sp>
        <p:nvSpPr>
          <p:cNvPr id="32" name="Text 30"/>
          <p:cNvSpPr/>
          <p:nvPr/>
        </p:nvSpPr>
        <p:spPr>
          <a:xfrm>
            <a:off x="10481519" y="6208044"/>
            <a:ext cx="1508939"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Sommerville 9e</a:t>
            </a:r>
            <a:endParaRPr lang="en-US" dirty="0"/>
          </a:p>
        </p:txBody>
      </p:sp>
      <p:sp>
        <p:nvSpPr>
          <p:cNvPr id="33" name="Text 31"/>
          <p:cNvSpPr/>
          <p:nvPr/>
        </p:nvSpPr>
        <p:spPr>
          <a:xfrm>
            <a:off x="16339765" y="5990036"/>
            <a:ext cx="650435"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library</a:t>
            </a:r>
            <a:endParaRPr lang="en-US" dirty="0"/>
          </a:p>
        </p:txBody>
      </p:sp>
      <p:sp>
        <p:nvSpPr>
          <p:cNvPr id="34" name="Shape 32"/>
          <p:cNvSpPr/>
          <p:nvPr/>
        </p:nvSpPr>
        <p:spPr>
          <a:xfrm>
            <a:off x="9946853" y="6640117"/>
            <a:ext cx="7121947" cy="9525"/>
          </a:xfrm>
          <a:prstGeom prst="rect">
            <a:avLst/>
          </a:prstGeom>
          <a:solidFill>
            <a:srgbClr val="ECEEF1"/>
          </a:solidFill>
          <a:ln w="9525"/>
        </p:spPr>
        <p:txBody>
          <a:bodyPr/>
          <a:lstStyle/>
          <a:p>
            <a:endParaRPr lang="en-TH"/>
          </a:p>
        </p:txBody>
      </p:sp>
      <p:sp>
        <p:nvSpPr>
          <p:cNvPr id="35" name="Shape 33"/>
          <p:cNvSpPr/>
          <p:nvPr/>
        </p:nvSpPr>
        <p:spPr>
          <a:xfrm>
            <a:off x="10023053" y="7035405"/>
            <a:ext cx="228600" cy="228600"/>
          </a:xfrm>
          <a:prstGeom prst="roundRect">
            <a:avLst>
              <a:gd name="adj" fmla="val 25000"/>
            </a:avLst>
          </a:prstGeom>
          <a:solidFill>
            <a:srgbClr val="16B670"/>
          </a:solidFill>
          <a:ln w="9525"/>
        </p:spPr>
        <p:txBody>
          <a:bodyPr/>
          <a:lstStyle/>
          <a:p>
            <a:endParaRPr lang="en-TH"/>
          </a:p>
        </p:txBody>
      </p:sp>
      <p:sp>
        <p:nvSpPr>
          <p:cNvPr id="36" name="Text 34"/>
          <p:cNvSpPr/>
          <p:nvPr/>
        </p:nvSpPr>
        <p:spPr>
          <a:xfrm>
            <a:off x="10481519" y="6859192"/>
            <a:ext cx="3335738" cy="342900"/>
          </a:xfrm>
          <a:prstGeom prst="rect">
            <a:avLst/>
          </a:prstGeom>
          <a:noFill/>
          <a:ln w="9525"/>
        </p:spPr>
        <p:txBody>
          <a:bodyPr lIns="25400" tIns="25400" rIns="25400" bIns="25400" rtlCol="0" anchor="t">
            <a:spAutoFit/>
          </a:bodyPr>
          <a:lstStyle/>
          <a:p>
            <a:pPr marL="0" indent="0" algn="l">
              <a:buNone/>
            </a:pPr>
            <a:r>
              <a:rPr lang="en-US" sz="1800" dirty="0">
                <a:solidFill>
                  <a:srgbClr val="0B0F19"/>
                </a:solidFill>
                <a:latin typeface="Space Grotesk" pitchFamily="34" charset="0"/>
                <a:ea typeface="Space Grotesk" pitchFamily="34" charset="-122"/>
                <a:cs typeface="Space Grotesk" pitchFamily="34" charset="-120"/>
              </a:rPr>
              <a:t>Extra</a:t>
            </a:r>
            <a:endParaRPr lang="en-US" sz="1800" dirty="0"/>
          </a:p>
        </p:txBody>
      </p:sp>
      <p:sp>
        <p:nvSpPr>
          <p:cNvPr id="37" name="Text 35"/>
          <p:cNvSpPr/>
          <p:nvPr/>
        </p:nvSpPr>
        <p:spPr>
          <a:xfrm>
            <a:off x="10481519" y="7217694"/>
            <a:ext cx="1755032"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Agile · Git · testing</a:t>
            </a:r>
            <a:endParaRPr lang="en-US" dirty="0"/>
          </a:p>
        </p:txBody>
      </p:sp>
      <p:sp>
        <p:nvSpPr>
          <p:cNvPr id="38" name="Text 36"/>
          <p:cNvSpPr/>
          <p:nvPr/>
        </p:nvSpPr>
        <p:spPr>
          <a:xfrm>
            <a:off x="16562802" y="6999686"/>
            <a:ext cx="429798"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free</a:t>
            </a:r>
            <a:endParaRPr lang="en-US" dirty="0"/>
          </a:p>
        </p:txBody>
      </p:sp>
      <p:sp>
        <p:nvSpPr>
          <p:cNvPr id="39" name="Shape 37"/>
          <p:cNvSpPr/>
          <p:nvPr/>
        </p:nvSpPr>
        <p:spPr>
          <a:xfrm>
            <a:off x="9946853" y="7649767"/>
            <a:ext cx="7121947" cy="9525"/>
          </a:xfrm>
          <a:prstGeom prst="rect">
            <a:avLst/>
          </a:prstGeom>
          <a:solidFill>
            <a:srgbClr val="ECEEF1"/>
          </a:solidFill>
          <a:ln w="9525"/>
        </p:spPr>
        <p:txBody>
          <a:bodyPr/>
          <a:lstStyle/>
          <a:p>
            <a:endParaRPr lang="en-TH"/>
          </a:p>
        </p:txBody>
      </p:sp>
      <p:sp>
        <p:nvSpPr>
          <p:cNvPr id="40" name="Shape 38"/>
          <p:cNvSpPr/>
          <p:nvPr/>
        </p:nvSpPr>
        <p:spPr>
          <a:xfrm>
            <a:off x="10023053" y="8045055"/>
            <a:ext cx="228600" cy="228600"/>
          </a:xfrm>
          <a:prstGeom prst="roundRect">
            <a:avLst>
              <a:gd name="adj" fmla="val 25000"/>
            </a:avLst>
          </a:prstGeom>
          <a:solidFill>
            <a:srgbClr val="7A4FFF"/>
          </a:solidFill>
          <a:ln w="9525"/>
        </p:spPr>
        <p:txBody>
          <a:bodyPr/>
          <a:lstStyle/>
          <a:p>
            <a:endParaRPr lang="en-TH"/>
          </a:p>
        </p:txBody>
      </p:sp>
      <p:sp>
        <p:nvSpPr>
          <p:cNvPr id="41" name="Text 39"/>
          <p:cNvSpPr/>
          <p:nvPr/>
        </p:nvSpPr>
        <p:spPr>
          <a:xfrm>
            <a:off x="10481519" y="7868842"/>
            <a:ext cx="634774" cy="342900"/>
          </a:xfrm>
          <a:prstGeom prst="rect">
            <a:avLst/>
          </a:prstGeom>
          <a:noFill/>
          <a:ln w="9525"/>
        </p:spPr>
        <p:txBody>
          <a:bodyPr lIns="25400" tIns="25400" rIns="25400" bIns="25400" rtlCol="0" anchor="t">
            <a:spAutoFit/>
          </a:bodyPr>
          <a:lstStyle/>
          <a:p>
            <a:pPr marL="0" indent="0" algn="l">
              <a:buNone/>
            </a:pPr>
            <a:r>
              <a:rPr lang="en-US" sz="1800" dirty="0">
                <a:solidFill>
                  <a:srgbClr val="0B0F19"/>
                </a:solidFill>
                <a:latin typeface="Space Grotesk" pitchFamily="34" charset="0"/>
                <a:ea typeface="Space Grotesk" pitchFamily="34" charset="-122"/>
                <a:cs typeface="Space Grotesk" pitchFamily="34" charset="-120"/>
              </a:rPr>
              <a:t>Help</a:t>
            </a:r>
            <a:endParaRPr lang="en-US" sz="1800" dirty="0"/>
          </a:p>
        </p:txBody>
      </p:sp>
      <p:sp>
        <p:nvSpPr>
          <p:cNvPr id="42" name="Text 40"/>
          <p:cNvSpPr/>
          <p:nvPr/>
        </p:nvSpPr>
        <p:spPr>
          <a:xfrm>
            <a:off x="10481519" y="8164418"/>
            <a:ext cx="2024978"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2 hrs weekly + online</a:t>
            </a:r>
            <a:endParaRPr lang="en-US" dirty="0"/>
          </a:p>
        </p:txBody>
      </p:sp>
      <p:sp>
        <p:nvSpPr>
          <p:cNvPr id="43" name="Text 41"/>
          <p:cNvSpPr/>
          <p:nvPr/>
        </p:nvSpPr>
        <p:spPr>
          <a:xfrm>
            <a:off x="16425137" y="8018016"/>
            <a:ext cx="567463"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email</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2ADB2A6-DDA5-E3CF-730B-3AAECAC8A6F9}"/>
              </a:ext>
            </a:extLst>
          </p:cNvPr>
          <p:cNvSpPr/>
          <p:nvPr/>
        </p:nvSpPr>
        <p:spPr>
          <a:xfrm>
            <a:off x="0" y="0"/>
            <a:ext cx="18288000" cy="619125"/>
          </a:xfrm>
          <a:prstGeom prst="rect">
            <a:avLst/>
          </a:prstGeom>
          <a:solidFill>
            <a:srgbClr val="E4E7EC"/>
          </a:solidFill>
          <a:ln w="9525"/>
        </p:spPr>
        <p:txBody>
          <a:bodyPr/>
          <a:lstStyle/>
          <a:p>
            <a:endParaRPr lang="en-TH"/>
          </a:p>
        </p:txBody>
      </p:sp>
      <p:sp>
        <p:nvSpPr>
          <p:cNvPr id="3" name="Shape 1">
            <a:extLst>
              <a:ext uri="{FF2B5EF4-FFF2-40B4-BE49-F238E27FC236}">
                <a16:creationId xmlns:a16="http://schemas.microsoft.com/office/drawing/2014/main" id="{BFC3BF52-E608-CB3E-14A6-55E27E5D6109}"/>
              </a:ext>
            </a:extLst>
          </p:cNvPr>
          <p:cNvSpPr/>
          <p:nvPr/>
        </p:nvSpPr>
        <p:spPr>
          <a:xfrm>
            <a:off x="0" y="609600"/>
            <a:ext cx="18288000" cy="9525"/>
          </a:xfrm>
          <a:prstGeom prst="rect">
            <a:avLst/>
          </a:prstGeom>
          <a:solidFill>
            <a:srgbClr val="C8CCD3"/>
          </a:solidFill>
          <a:ln w="9525"/>
        </p:spPr>
        <p:txBody>
          <a:bodyPr/>
          <a:lstStyle/>
          <a:p>
            <a:endParaRPr lang="en-TH"/>
          </a:p>
        </p:txBody>
      </p:sp>
      <p:sp>
        <p:nvSpPr>
          <p:cNvPr id="4" name="Text 2">
            <a:extLst>
              <a:ext uri="{FF2B5EF4-FFF2-40B4-BE49-F238E27FC236}">
                <a16:creationId xmlns:a16="http://schemas.microsoft.com/office/drawing/2014/main" id="{3DA6BE28-7372-7A92-4BDF-3EA2DD751632}"/>
              </a:ext>
            </a:extLst>
          </p:cNvPr>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a:extLst>
              <a:ext uri="{FF2B5EF4-FFF2-40B4-BE49-F238E27FC236}">
                <a16:creationId xmlns:a16="http://schemas.microsoft.com/office/drawing/2014/main" id="{47A4AF0E-08E9-31BC-85F9-7ED00F295D7A}"/>
              </a:ext>
            </a:extLst>
          </p:cNvPr>
          <p:cNvSpPr/>
          <p:nvPr/>
        </p:nvSpPr>
        <p:spPr>
          <a:xfrm>
            <a:off x="728216" y="154781"/>
            <a:ext cx="3889732"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a:extLst>
              <a:ext uri="{FF2B5EF4-FFF2-40B4-BE49-F238E27FC236}">
                <a16:creationId xmlns:a16="http://schemas.microsoft.com/office/drawing/2014/main" id="{B4EDF185-5942-82A4-66BA-6E8D7D3D8788}"/>
              </a:ext>
            </a:extLst>
          </p:cNvPr>
          <p:cNvSpPr/>
          <p:nvPr/>
        </p:nvSpPr>
        <p:spPr>
          <a:xfrm>
            <a:off x="4771355" y="154781"/>
            <a:ext cx="3524129"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Page · The term</a:t>
            </a:r>
            <a:endParaRPr lang="en-US" sz="1800" dirty="0"/>
          </a:p>
        </p:txBody>
      </p:sp>
      <p:sp>
        <p:nvSpPr>
          <p:cNvPr id="7" name="Text 5">
            <a:extLst>
              <a:ext uri="{FF2B5EF4-FFF2-40B4-BE49-F238E27FC236}">
                <a16:creationId xmlns:a16="http://schemas.microsoft.com/office/drawing/2014/main" id="{D7CC52C6-097C-207F-24C7-E49E2FA0C855}"/>
              </a:ext>
            </a:extLst>
          </p:cNvPr>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sz="1800" kern="0" spc="72" dirty="0">
                <a:solidFill>
                  <a:srgbClr val="7A8290"/>
                </a:solidFill>
                <a:latin typeface="JetBrains Mono" pitchFamily="34" charset="0"/>
                <a:ea typeface="JetBrains Mono" pitchFamily="34" charset="-122"/>
                <a:cs typeface="JetBrains Mono" pitchFamily="34" charset="-120"/>
              </a:rPr>
              <a:t>09 / </a:t>
            </a:r>
            <a:r>
              <a:rPr lang="en-US" kern="0" spc="72" dirty="0">
                <a:solidFill>
                  <a:srgbClr val="7A8290"/>
                </a:solidFill>
                <a:latin typeface="JetBrains Mono" pitchFamily="34" charset="0"/>
                <a:ea typeface="JetBrains Mono" pitchFamily="34" charset="-122"/>
                <a:cs typeface="JetBrains Mono" pitchFamily="34" charset="-120"/>
              </a:rPr>
              <a:t>32</a:t>
            </a:r>
            <a:endParaRPr lang="en-US" sz="1800" dirty="0"/>
          </a:p>
        </p:txBody>
      </p:sp>
      <p:sp>
        <p:nvSpPr>
          <p:cNvPr id="8" name="Text 7">
            <a:extLst>
              <a:ext uri="{FF2B5EF4-FFF2-40B4-BE49-F238E27FC236}">
                <a16:creationId xmlns:a16="http://schemas.microsoft.com/office/drawing/2014/main" id="{C91A98E0-F616-1970-B1DD-3F8148DB6056}"/>
              </a:ext>
            </a:extLst>
          </p:cNvPr>
          <p:cNvSpPr/>
          <p:nvPr/>
        </p:nvSpPr>
        <p:spPr>
          <a:xfrm>
            <a:off x="914400" y="1524000"/>
            <a:ext cx="16952976" cy="910069"/>
          </a:xfrm>
          <a:prstGeom prst="rect">
            <a:avLst/>
          </a:prstGeom>
          <a:noFill/>
          <a:ln w="9525"/>
        </p:spPr>
        <p:txBody>
          <a:bodyPr wrap="square" lIns="25400" tIns="25400" rIns="25400" bIns="25400" rtlCol="0" anchor="t">
            <a:normAutofit/>
          </a:bodyPr>
          <a:lstStyle/>
          <a:p>
            <a:pPr marL="0" indent="0" algn="l">
              <a:lnSpc>
                <a:spcPct val="100000"/>
              </a:lnSpc>
              <a:buNone/>
            </a:pPr>
            <a:endParaRPr lang="en-US" sz="4706" dirty="0"/>
          </a:p>
        </p:txBody>
      </p:sp>
      <p:pic>
        <p:nvPicPr>
          <p:cNvPr id="51" name="Picture 50">
            <a:extLst>
              <a:ext uri="{FF2B5EF4-FFF2-40B4-BE49-F238E27FC236}">
                <a16:creationId xmlns:a16="http://schemas.microsoft.com/office/drawing/2014/main" id="{75A9ECC1-942C-CC05-581A-F1F9E51440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781178"/>
            <a:ext cx="16632919" cy="9351042"/>
          </a:xfrm>
          <a:prstGeom prst="rect">
            <a:avLst/>
          </a:prstGeom>
        </p:spPr>
      </p:pic>
      <p:pic>
        <p:nvPicPr>
          <p:cNvPr id="52" name="Picture 51" descr="สัญลักษณ์ประจำมหาวิทยาลัย | มหาวิทยาลัยแม่ฟ้าหลวง Mae Fah ...">
            <a:extLst>
              <a:ext uri="{FF2B5EF4-FFF2-40B4-BE49-F238E27FC236}">
                <a16:creationId xmlns:a16="http://schemas.microsoft.com/office/drawing/2014/main" id="{B351F379-86E7-9901-7F56-6906EDE9B4FF}"/>
              </a:ext>
            </a:extLst>
          </p:cNvPr>
          <p:cNvPicPr>
            <a:picLocks noChangeAspect="1"/>
          </p:cNvPicPr>
          <p:nvPr/>
        </p:nvPicPr>
        <p:blipFill>
          <a:blip r:embed="rId4"/>
          <a:stretch>
            <a:fillRect/>
          </a:stretch>
        </p:blipFill>
        <p:spPr>
          <a:xfrm>
            <a:off x="947451" y="641378"/>
            <a:ext cx="981842" cy="1385396"/>
          </a:xfrm>
          <a:prstGeom prst="rect">
            <a:avLst/>
          </a:prstGeom>
        </p:spPr>
      </p:pic>
    </p:spTree>
    <p:extLst>
      <p:ext uri="{BB962C8B-B14F-4D97-AF65-F5344CB8AC3E}">
        <p14:creationId xmlns:p14="http://schemas.microsoft.com/office/powerpoint/2010/main" val="781427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0F3"/>
        </a:solidFill>
        <a:effectLst/>
      </p:bgPr>
    </p:bg>
    <p:spTree>
      <p:nvGrpSpPr>
        <p:cNvPr id="1" name="">
          <a:extLst>
            <a:ext uri="{FF2B5EF4-FFF2-40B4-BE49-F238E27FC236}">
              <a16:creationId xmlns:a16="http://schemas.microsoft.com/office/drawing/2014/main" id="{E58E269D-1A4D-4F7B-5001-0868DFD3BE0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8D5EE6B-4095-67C8-05A5-2C12A77B1E38}"/>
              </a:ext>
            </a:extLst>
          </p:cNvPr>
          <p:cNvSpPr/>
          <p:nvPr/>
        </p:nvSpPr>
        <p:spPr>
          <a:xfrm>
            <a:off x="0" y="0"/>
            <a:ext cx="18288000" cy="619125"/>
          </a:xfrm>
          <a:prstGeom prst="rect">
            <a:avLst/>
          </a:prstGeom>
          <a:solidFill>
            <a:srgbClr val="E4E7EC"/>
          </a:solidFill>
          <a:ln w="9525"/>
        </p:spPr>
        <p:txBody>
          <a:bodyPr/>
          <a:lstStyle/>
          <a:p>
            <a:endParaRPr lang="en-TH"/>
          </a:p>
        </p:txBody>
      </p:sp>
      <p:sp>
        <p:nvSpPr>
          <p:cNvPr id="3" name="Shape 1">
            <a:extLst>
              <a:ext uri="{FF2B5EF4-FFF2-40B4-BE49-F238E27FC236}">
                <a16:creationId xmlns:a16="http://schemas.microsoft.com/office/drawing/2014/main" id="{DB3D4A5F-9E0A-E617-9648-A054D56E9C68}"/>
              </a:ext>
            </a:extLst>
          </p:cNvPr>
          <p:cNvSpPr/>
          <p:nvPr/>
        </p:nvSpPr>
        <p:spPr>
          <a:xfrm>
            <a:off x="0" y="609600"/>
            <a:ext cx="18288000" cy="9525"/>
          </a:xfrm>
          <a:prstGeom prst="rect">
            <a:avLst/>
          </a:prstGeom>
          <a:solidFill>
            <a:srgbClr val="C8CCD3"/>
          </a:solidFill>
          <a:ln w="9525"/>
        </p:spPr>
        <p:txBody>
          <a:bodyPr/>
          <a:lstStyle/>
          <a:p>
            <a:endParaRPr lang="en-TH"/>
          </a:p>
        </p:txBody>
      </p:sp>
      <p:sp>
        <p:nvSpPr>
          <p:cNvPr id="4" name="Text 2">
            <a:extLst>
              <a:ext uri="{FF2B5EF4-FFF2-40B4-BE49-F238E27FC236}">
                <a16:creationId xmlns:a16="http://schemas.microsoft.com/office/drawing/2014/main" id="{B7959F27-7CCC-BF5B-080F-15E2976A47C3}"/>
              </a:ext>
            </a:extLst>
          </p:cNvPr>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a:extLst>
              <a:ext uri="{FF2B5EF4-FFF2-40B4-BE49-F238E27FC236}">
                <a16:creationId xmlns:a16="http://schemas.microsoft.com/office/drawing/2014/main" id="{42363A10-DEA5-95F7-5A70-27DA0B512074}"/>
              </a:ext>
            </a:extLst>
          </p:cNvPr>
          <p:cNvSpPr/>
          <p:nvPr/>
        </p:nvSpPr>
        <p:spPr>
          <a:xfrm>
            <a:off x="728216" y="154781"/>
            <a:ext cx="3889732"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a:extLst>
              <a:ext uri="{FF2B5EF4-FFF2-40B4-BE49-F238E27FC236}">
                <a16:creationId xmlns:a16="http://schemas.microsoft.com/office/drawing/2014/main" id="{CBB69AD9-07D3-7FAC-0B63-927AF5E5AB3D}"/>
              </a:ext>
            </a:extLst>
          </p:cNvPr>
          <p:cNvSpPr/>
          <p:nvPr/>
        </p:nvSpPr>
        <p:spPr>
          <a:xfrm>
            <a:off x="4771355" y="154781"/>
            <a:ext cx="3524129" cy="338138"/>
          </a:xfrm>
          <a:prstGeom prst="rect">
            <a:avLst/>
          </a:prstGeom>
          <a:noFill/>
          <a:ln w="9525"/>
        </p:spPr>
        <p:txBody>
          <a:bodyPr wrap="square" lIns="25400" tIns="25400" rIns="25400" bIns="25400" rtlCol="0" anchor="t">
            <a:normAutofit/>
          </a:bodyPr>
          <a:lstStyle/>
          <a:p>
            <a:r>
              <a:rPr lang="en-US" dirty="0">
                <a:solidFill>
                  <a:srgbClr val="7A8290"/>
                </a:solidFill>
                <a:latin typeface="JetBrains Mono" pitchFamily="34" charset="0"/>
                <a:ea typeface="JetBrains Mono" pitchFamily="34" charset="-122"/>
                <a:cs typeface="JetBrains Mono" pitchFamily="34" charset="-120"/>
              </a:rPr>
              <a:t>Page · Grading</a:t>
            </a:r>
          </a:p>
        </p:txBody>
      </p:sp>
      <p:sp>
        <p:nvSpPr>
          <p:cNvPr id="7" name="Text 5">
            <a:extLst>
              <a:ext uri="{FF2B5EF4-FFF2-40B4-BE49-F238E27FC236}">
                <a16:creationId xmlns:a16="http://schemas.microsoft.com/office/drawing/2014/main" id="{7F6F2121-B8BA-CB1A-F520-7892680A58D7}"/>
              </a:ext>
            </a:extLst>
          </p:cNvPr>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kern="0" spc="72" dirty="0">
                <a:solidFill>
                  <a:srgbClr val="7A8290"/>
                </a:solidFill>
                <a:latin typeface="JetBrains Mono" pitchFamily="34" charset="0"/>
                <a:ea typeface="JetBrains Mono" pitchFamily="34" charset="-122"/>
                <a:cs typeface="JetBrains Mono" pitchFamily="34" charset="-120"/>
              </a:rPr>
              <a:t>10</a:t>
            </a:r>
            <a:r>
              <a:rPr lang="en-US" sz="1800" kern="0" spc="72" dirty="0">
                <a:solidFill>
                  <a:srgbClr val="7A8290"/>
                </a:solidFill>
                <a:latin typeface="JetBrains Mono" pitchFamily="34" charset="0"/>
                <a:ea typeface="JetBrains Mono" pitchFamily="34" charset="-122"/>
                <a:cs typeface="JetBrains Mono" pitchFamily="34" charset="-120"/>
              </a:rPr>
              <a:t> / </a:t>
            </a:r>
            <a:r>
              <a:rPr lang="en-US" kern="0" spc="72" dirty="0">
                <a:solidFill>
                  <a:srgbClr val="7A8290"/>
                </a:solidFill>
                <a:latin typeface="JetBrains Mono" pitchFamily="34" charset="0"/>
                <a:ea typeface="JetBrains Mono" pitchFamily="34" charset="-122"/>
                <a:cs typeface="JetBrains Mono" pitchFamily="34" charset="-120"/>
              </a:rPr>
              <a:t>32</a:t>
            </a:r>
            <a:endParaRPr lang="en-US" sz="1800" dirty="0"/>
          </a:p>
        </p:txBody>
      </p:sp>
      <p:sp>
        <p:nvSpPr>
          <p:cNvPr id="8" name="Text 7">
            <a:extLst>
              <a:ext uri="{FF2B5EF4-FFF2-40B4-BE49-F238E27FC236}">
                <a16:creationId xmlns:a16="http://schemas.microsoft.com/office/drawing/2014/main" id="{E3F77A01-CAB9-BF9E-2F0B-8CFF6EDCC772}"/>
              </a:ext>
            </a:extLst>
          </p:cNvPr>
          <p:cNvSpPr/>
          <p:nvPr/>
        </p:nvSpPr>
        <p:spPr>
          <a:xfrm>
            <a:off x="914400" y="1524001"/>
            <a:ext cx="16952976" cy="338138"/>
          </a:xfrm>
          <a:prstGeom prst="rect">
            <a:avLst/>
          </a:prstGeom>
          <a:noFill/>
          <a:ln w="9525"/>
        </p:spPr>
        <p:txBody>
          <a:bodyPr wrap="square" lIns="25400" tIns="25400" rIns="25400" bIns="25400" rtlCol="0" anchor="t">
            <a:normAutofit/>
          </a:bodyPr>
          <a:lstStyle/>
          <a:p>
            <a:r>
              <a:rPr lang="en-US" kern="0" spc="108" dirty="0">
                <a:solidFill>
                  <a:srgbClr val="7A8290"/>
                </a:solidFill>
                <a:latin typeface="JetBrains Mono" pitchFamily="34" charset="0"/>
                <a:ea typeface="JetBrains Mono" pitchFamily="34" charset="-122"/>
                <a:cs typeface="JetBrains Mono" pitchFamily="34" charset="-120"/>
              </a:rPr>
              <a:t>ASSESSMENT · TOTAL 100%</a:t>
            </a:r>
          </a:p>
        </p:txBody>
      </p:sp>
      <p:sp>
        <p:nvSpPr>
          <p:cNvPr id="11" name="Text 8">
            <a:extLst>
              <a:ext uri="{FF2B5EF4-FFF2-40B4-BE49-F238E27FC236}">
                <a16:creationId xmlns:a16="http://schemas.microsoft.com/office/drawing/2014/main" id="{ECB809FA-79F4-0489-0631-2FE581820789}"/>
              </a:ext>
            </a:extLst>
          </p:cNvPr>
          <p:cNvSpPr/>
          <p:nvPr/>
        </p:nvSpPr>
        <p:spPr>
          <a:xfrm>
            <a:off x="914400" y="1982787"/>
            <a:ext cx="16952976" cy="1017588"/>
          </a:xfrm>
          <a:prstGeom prst="rect">
            <a:avLst/>
          </a:prstGeom>
          <a:noFill/>
          <a:ln w="9525"/>
        </p:spPr>
        <p:txBody>
          <a:bodyPr wrap="square" lIns="25400" tIns="25400" rIns="25400" bIns="25400" rtlCol="0" anchor="t">
            <a:normAutofit/>
          </a:bodyPr>
          <a:lstStyle/>
          <a:p>
            <a:r>
              <a:rPr lang="en-US" sz="4800" b="1" kern="0" spc="-120" dirty="0">
                <a:solidFill>
                  <a:srgbClr val="0B0F19"/>
                </a:solidFill>
                <a:latin typeface="Space Grotesk" pitchFamily="34" charset="0"/>
                <a:ea typeface="Space Grotesk" pitchFamily="34" charset="-122"/>
                <a:cs typeface="Space Grotesk" pitchFamily="34" charset="-120"/>
              </a:rPr>
              <a:t>How you'll be graded</a:t>
            </a:r>
          </a:p>
        </p:txBody>
      </p:sp>
      <p:pic>
        <p:nvPicPr>
          <p:cNvPr id="12" name="Professional team collaborating on a project in a well-lit office space." descr="preencoded.png">
            <a:extLst>
              <a:ext uri="{FF2B5EF4-FFF2-40B4-BE49-F238E27FC236}">
                <a16:creationId xmlns:a16="http://schemas.microsoft.com/office/drawing/2014/main" id="{505837EE-279B-9493-7E2D-264615BC0D0D}"/>
              </a:ext>
            </a:extLst>
          </p:cNvPr>
          <p:cNvPicPr>
            <a:picLocks noChangeAspect="1"/>
          </p:cNvPicPr>
          <p:nvPr/>
        </p:nvPicPr>
        <p:blipFill>
          <a:blip r:embed="rId3"/>
          <a:srcRect t="20565" b="19354"/>
          <a:stretch/>
        </p:blipFill>
        <p:spPr>
          <a:xfrm>
            <a:off x="914400" y="3117321"/>
            <a:ext cx="7162800" cy="6454775"/>
          </a:xfrm>
          <a:prstGeom prst="roundRect">
            <a:avLst>
              <a:gd name="adj" fmla="val 2732"/>
            </a:avLst>
          </a:prstGeom>
        </p:spPr>
      </p:pic>
      <p:sp>
        <p:nvSpPr>
          <p:cNvPr id="13" name="Shape 10">
            <a:extLst>
              <a:ext uri="{FF2B5EF4-FFF2-40B4-BE49-F238E27FC236}">
                <a16:creationId xmlns:a16="http://schemas.microsoft.com/office/drawing/2014/main" id="{1E378CF3-8248-75FD-461C-45127CB461E0}"/>
              </a:ext>
            </a:extLst>
          </p:cNvPr>
          <p:cNvSpPr/>
          <p:nvPr/>
        </p:nvSpPr>
        <p:spPr>
          <a:xfrm>
            <a:off x="8610600" y="3121025"/>
            <a:ext cx="8763000" cy="6434138"/>
          </a:xfrm>
          <a:prstGeom prst="roundRect">
            <a:avLst>
              <a:gd name="adj" fmla="val 2961"/>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14" name="Text 11">
            <a:extLst>
              <a:ext uri="{FF2B5EF4-FFF2-40B4-BE49-F238E27FC236}">
                <a16:creationId xmlns:a16="http://schemas.microsoft.com/office/drawing/2014/main" id="{E6AAC1E6-BE7B-3A05-444B-FD7A455EF75B}"/>
              </a:ext>
            </a:extLst>
          </p:cNvPr>
          <p:cNvSpPr/>
          <p:nvPr/>
        </p:nvSpPr>
        <p:spPr>
          <a:xfrm>
            <a:off x="8877301" y="3387725"/>
            <a:ext cx="4866056" cy="338138"/>
          </a:xfrm>
          <a:prstGeom prst="rect">
            <a:avLst/>
          </a:prstGeom>
          <a:noFill/>
          <a:ln w="9525"/>
        </p:spPr>
        <p:txBody>
          <a:bodyPr wrap="square" lIns="25400" tIns="25400" rIns="25400" bIns="25400" rtlCol="0" anchor="t">
            <a:normAutofit/>
          </a:bodyPr>
          <a:lstStyle/>
          <a:p>
            <a:r>
              <a:rPr lang="en-US" kern="0" spc="108" dirty="0">
                <a:solidFill>
                  <a:srgbClr val="7A8290"/>
                </a:solidFill>
                <a:latin typeface="JetBrains Mono" pitchFamily="34" charset="0"/>
                <a:ea typeface="JetBrains Mono" pitchFamily="34" charset="-122"/>
                <a:cs typeface="JetBrains Mono" pitchFamily="34" charset="-120"/>
              </a:rPr>
              <a:t>COMPONENT</a:t>
            </a:r>
          </a:p>
        </p:txBody>
      </p:sp>
      <p:sp>
        <p:nvSpPr>
          <p:cNvPr id="18" name="Text 12">
            <a:extLst>
              <a:ext uri="{FF2B5EF4-FFF2-40B4-BE49-F238E27FC236}">
                <a16:creationId xmlns:a16="http://schemas.microsoft.com/office/drawing/2014/main" id="{25E22425-FBC8-BD67-D331-9A9A0827F003}"/>
              </a:ext>
            </a:extLst>
          </p:cNvPr>
          <p:cNvSpPr/>
          <p:nvPr/>
        </p:nvSpPr>
        <p:spPr>
          <a:xfrm>
            <a:off x="13715927" y="3387725"/>
            <a:ext cx="838200" cy="338138"/>
          </a:xfrm>
          <a:prstGeom prst="rect">
            <a:avLst/>
          </a:prstGeom>
          <a:noFill/>
          <a:ln w="9525"/>
        </p:spPr>
        <p:txBody>
          <a:bodyPr wrap="square" lIns="25400" tIns="25400" rIns="25400" bIns="25400" rtlCol="0" anchor="t">
            <a:normAutofit lnSpcReduction="10000"/>
          </a:bodyPr>
          <a:lstStyle/>
          <a:p>
            <a:pPr algn="ctr"/>
            <a:r>
              <a:rPr lang="en-US" sz="1920" kern="0" spc="108" dirty="0">
                <a:solidFill>
                  <a:srgbClr val="7A8290"/>
                </a:solidFill>
                <a:latin typeface="JetBrains Mono" pitchFamily="34" charset="0"/>
                <a:ea typeface="JetBrains Mono" pitchFamily="34" charset="-122"/>
                <a:cs typeface="JetBrains Mono" pitchFamily="34" charset="-120"/>
              </a:rPr>
              <a:t>IND</a:t>
            </a:r>
          </a:p>
        </p:txBody>
      </p:sp>
      <p:sp>
        <p:nvSpPr>
          <p:cNvPr id="24" name="Text 13">
            <a:extLst>
              <a:ext uri="{FF2B5EF4-FFF2-40B4-BE49-F238E27FC236}">
                <a16:creationId xmlns:a16="http://schemas.microsoft.com/office/drawing/2014/main" id="{B7BA2B22-5F7F-2F0A-96F0-59C1CDAC23D0}"/>
              </a:ext>
            </a:extLst>
          </p:cNvPr>
          <p:cNvSpPr/>
          <p:nvPr/>
        </p:nvSpPr>
        <p:spPr>
          <a:xfrm>
            <a:off x="14592227" y="3387725"/>
            <a:ext cx="838200" cy="338138"/>
          </a:xfrm>
          <a:prstGeom prst="rect">
            <a:avLst/>
          </a:prstGeom>
          <a:noFill/>
          <a:ln w="9525"/>
        </p:spPr>
        <p:txBody>
          <a:bodyPr wrap="square" lIns="25400" tIns="25400" rIns="25400" bIns="25400" rtlCol="0" anchor="t"/>
          <a:lstStyle/>
          <a:p>
            <a:pPr algn="ctr"/>
            <a:r>
              <a:rPr lang="en-US" sz="1920" kern="0" spc="108" dirty="0">
                <a:solidFill>
                  <a:srgbClr val="7A8290"/>
                </a:solidFill>
                <a:latin typeface="JetBrains Mono" pitchFamily="34" charset="0"/>
                <a:ea typeface="JetBrains Mono" pitchFamily="34" charset="-122"/>
                <a:cs typeface="JetBrains Mono" pitchFamily="34" charset="-120"/>
              </a:rPr>
              <a:t>TEAM</a:t>
            </a:r>
          </a:p>
        </p:txBody>
      </p:sp>
      <p:sp>
        <p:nvSpPr>
          <p:cNvPr id="29" name="Text 14">
            <a:extLst>
              <a:ext uri="{FF2B5EF4-FFF2-40B4-BE49-F238E27FC236}">
                <a16:creationId xmlns:a16="http://schemas.microsoft.com/office/drawing/2014/main" id="{71389736-2D42-0CDE-85A0-B3EE2BC6DEE6}"/>
              </a:ext>
            </a:extLst>
          </p:cNvPr>
          <p:cNvSpPr/>
          <p:nvPr/>
        </p:nvSpPr>
        <p:spPr>
          <a:xfrm>
            <a:off x="15468527" y="3387725"/>
            <a:ext cx="838200" cy="338138"/>
          </a:xfrm>
          <a:prstGeom prst="rect">
            <a:avLst/>
          </a:prstGeom>
          <a:noFill/>
          <a:ln w="9525"/>
        </p:spPr>
        <p:txBody>
          <a:bodyPr wrap="square" lIns="25400" tIns="25400" rIns="25400" bIns="25400" rtlCol="0" anchor="t">
            <a:normAutofit lnSpcReduction="10000"/>
          </a:bodyPr>
          <a:lstStyle/>
          <a:p>
            <a:pPr algn="ctr"/>
            <a:r>
              <a:rPr lang="en-US" sz="1920" kern="0" spc="108" dirty="0">
                <a:solidFill>
                  <a:srgbClr val="7A8290"/>
                </a:solidFill>
                <a:latin typeface="JetBrains Mono" pitchFamily="34" charset="0"/>
                <a:ea typeface="JetBrains Mono" pitchFamily="34" charset="-122"/>
                <a:cs typeface="JetBrains Mono" pitchFamily="34" charset="-120"/>
              </a:rPr>
              <a:t>EXAM</a:t>
            </a:r>
          </a:p>
        </p:txBody>
      </p:sp>
      <p:sp>
        <p:nvSpPr>
          <p:cNvPr id="35" name="Text 15">
            <a:extLst>
              <a:ext uri="{FF2B5EF4-FFF2-40B4-BE49-F238E27FC236}">
                <a16:creationId xmlns:a16="http://schemas.microsoft.com/office/drawing/2014/main" id="{1FFAE96C-42DF-A2B2-9749-78A2FA5F753E}"/>
              </a:ext>
            </a:extLst>
          </p:cNvPr>
          <p:cNvSpPr/>
          <p:nvPr/>
        </p:nvSpPr>
        <p:spPr>
          <a:xfrm>
            <a:off x="16344827" y="3387725"/>
            <a:ext cx="838200" cy="338138"/>
          </a:xfrm>
          <a:prstGeom prst="rect">
            <a:avLst/>
          </a:prstGeom>
          <a:noFill/>
          <a:ln w="9525"/>
        </p:spPr>
        <p:txBody>
          <a:bodyPr wrap="square" lIns="25400" tIns="25400" rIns="25400" bIns="25400" rtlCol="0" anchor="t"/>
          <a:lstStyle/>
          <a:p>
            <a:pPr algn="ctr"/>
            <a:r>
              <a:rPr lang="en-US" sz="1920" kern="0" spc="108" dirty="0">
                <a:solidFill>
                  <a:srgbClr val="7A8290"/>
                </a:solidFill>
                <a:latin typeface="JetBrains Mono" pitchFamily="34" charset="0"/>
                <a:ea typeface="JetBrains Mono" pitchFamily="34" charset="-122"/>
                <a:cs typeface="JetBrains Mono" pitchFamily="34" charset="-120"/>
              </a:rPr>
              <a:t>AI</a:t>
            </a:r>
          </a:p>
        </p:txBody>
      </p:sp>
      <p:sp>
        <p:nvSpPr>
          <p:cNvPr id="40" name="Shape 16">
            <a:extLst>
              <a:ext uri="{FF2B5EF4-FFF2-40B4-BE49-F238E27FC236}">
                <a16:creationId xmlns:a16="http://schemas.microsoft.com/office/drawing/2014/main" id="{323F0B5E-F3A1-B3C4-15DF-E77CE82F69D6}"/>
              </a:ext>
            </a:extLst>
          </p:cNvPr>
          <p:cNvSpPr/>
          <p:nvPr/>
        </p:nvSpPr>
        <p:spPr>
          <a:xfrm>
            <a:off x="8610600" y="3840162"/>
            <a:ext cx="8763000" cy="9525"/>
          </a:xfrm>
          <a:prstGeom prst="rect">
            <a:avLst/>
          </a:prstGeom>
          <a:solidFill>
            <a:srgbClr val="ECEEF1"/>
          </a:solidFill>
          <a:ln w="9525"/>
        </p:spPr>
        <p:txBody>
          <a:bodyPr/>
          <a:lstStyle/>
          <a:p>
            <a:endParaRPr lang="en-TH"/>
          </a:p>
        </p:txBody>
      </p:sp>
      <p:sp>
        <p:nvSpPr>
          <p:cNvPr id="46" name="Text 17">
            <a:extLst>
              <a:ext uri="{FF2B5EF4-FFF2-40B4-BE49-F238E27FC236}">
                <a16:creationId xmlns:a16="http://schemas.microsoft.com/office/drawing/2014/main" id="{2F9D11DB-E7D0-90F6-8259-4C011A9725A2}"/>
              </a:ext>
            </a:extLst>
          </p:cNvPr>
          <p:cNvSpPr/>
          <p:nvPr/>
        </p:nvSpPr>
        <p:spPr>
          <a:xfrm>
            <a:off x="8877300" y="4002088"/>
            <a:ext cx="1368996" cy="328613"/>
          </a:xfrm>
          <a:prstGeom prst="rect">
            <a:avLst/>
          </a:prstGeom>
          <a:noFill/>
          <a:ln w="9525"/>
        </p:spPr>
        <p:txBody>
          <a:bodyPr wrap="square" lIns="0" tIns="0" rIns="0" bIns="0" rtlCol="0" anchor="t">
            <a:normAutofit/>
          </a:bodyPr>
          <a:lstStyle/>
          <a:p>
            <a:r>
              <a:rPr lang="en-US" b="1" dirty="0">
                <a:solidFill>
                  <a:srgbClr val="0B0F19"/>
                </a:solidFill>
                <a:latin typeface="Space Grotesk" pitchFamily="34" charset="0"/>
                <a:ea typeface="Space Grotesk" pitchFamily="34" charset="-122"/>
                <a:cs typeface="Space Grotesk" pitchFamily="34" charset="-120"/>
              </a:rPr>
              <a:t>Group Project</a:t>
            </a:r>
          </a:p>
        </p:txBody>
      </p:sp>
      <p:sp>
        <p:nvSpPr>
          <p:cNvPr id="51" name="Text 18">
            <a:extLst>
              <a:ext uri="{FF2B5EF4-FFF2-40B4-BE49-F238E27FC236}">
                <a16:creationId xmlns:a16="http://schemas.microsoft.com/office/drawing/2014/main" id="{B7CFD06E-7976-A08C-6E42-1198419C6086}"/>
              </a:ext>
            </a:extLst>
          </p:cNvPr>
          <p:cNvSpPr/>
          <p:nvPr/>
        </p:nvSpPr>
        <p:spPr>
          <a:xfrm>
            <a:off x="8877301" y="4330700"/>
            <a:ext cx="4866056" cy="328613"/>
          </a:xfrm>
          <a:prstGeom prst="rect">
            <a:avLst/>
          </a:prstGeom>
          <a:noFill/>
          <a:ln w="9525"/>
        </p:spPr>
        <p:txBody>
          <a:bodyPr wrap="square" lIns="25400" tIns="25400" rIns="25400" bIns="25400" rtlCol="0" anchor="t">
            <a:normAutofit/>
          </a:bodyPr>
          <a:lstStyle/>
          <a:p>
            <a:r>
              <a:rPr lang="en-US" b="1" dirty="0">
                <a:solidFill>
                  <a:srgbClr val="0E7C55"/>
                </a:solidFill>
                <a:latin typeface="Space Grotesk" pitchFamily="34" charset="0"/>
                <a:ea typeface="Space Grotesk" pitchFamily="34" charset="-122"/>
                <a:cs typeface="Space Grotesk" pitchFamily="34" charset="-120"/>
              </a:rPr>
              <a:t>30%</a:t>
            </a:r>
            <a:r>
              <a:rPr lang="en-US" dirty="0">
                <a:solidFill>
                  <a:srgbClr val="7A8290"/>
                </a:solidFill>
                <a:latin typeface="Space Grotesk" pitchFamily="34" charset="0"/>
                <a:ea typeface="Space Grotesk" pitchFamily="34" charset="-122"/>
                <a:cs typeface="Space Grotesk" pitchFamily="34" charset="-120"/>
              </a:rPr>
              <a:t>  ·  team-based, 5 milestones</a:t>
            </a:r>
          </a:p>
        </p:txBody>
      </p:sp>
      <p:sp>
        <p:nvSpPr>
          <p:cNvPr id="57" name="Shape 19">
            <a:extLst>
              <a:ext uri="{FF2B5EF4-FFF2-40B4-BE49-F238E27FC236}">
                <a16:creationId xmlns:a16="http://schemas.microsoft.com/office/drawing/2014/main" id="{558B5D6E-DD3C-A596-AFF0-AB936CAEFD0B}"/>
              </a:ext>
            </a:extLst>
          </p:cNvPr>
          <p:cNvSpPr/>
          <p:nvPr/>
        </p:nvSpPr>
        <p:spPr>
          <a:xfrm>
            <a:off x="13715927" y="4102100"/>
            <a:ext cx="419100" cy="419100"/>
          </a:xfrm>
          <a:prstGeom prst="ellipse">
            <a:avLst/>
          </a:prstGeom>
          <a:solidFill>
            <a:srgbClr val="E6E8EC"/>
          </a:solidFill>
          <a:ln w="9525"/>
        </p:spPr>
        <p:txBody>
          <a:bodyPr/>
          <a:lstStyle/>
          <a:p>
            <a:endParaRPr lang="en-TH"/>
          </a:p>
        </p:txBody>
      </p:sp>
      <p:sp>
        <p:nvSpPr>
          <p:cNvPr id="59" name="Text 20">
            <a:extLst>
              <a:ext uri="{FF2B5EF4-FFF2-40B4-BE49-F238E27FC236}">
                <a16:creationId xmlns:a16="http://schemas.microsoft.com/office/drawing/2014/main" id="{131D6E6B-1852-1610-D734-98485C2A6C6F}"/>
              </a:ext>
            </a:extLst>
          </p:cNvPr>
          <p:cNvSpPr/>
          <p:nvPr/>
        </p:nvSpPr>
        <p:spPr>
          <a:xfrm>
            <a:off x="13677827" y="4102100"/>
            <a:ext cx="495300" cy="457200"/>
          </a:xfrm>
          <a:prstGeom prst="rect">
            <a:avLst/>
          </a:prstGeom>
          <a:noFill/>
          <a:ln w="9525"/>
        </p:spPr>
        <p:txBody>
          <a:bodyPr wrap="square" lIns="25400" tIns="25400" rIns="25400" bIns="25400" rtlCol="0" anchor="ctr">
            <a:normAutofit/>
          </a:bodyPr>
          <a:lstStyle/>
          <a:p>
            <a:pPr algn="ctr"/>
            <a:endParaRPr b="1">
              <a:solidFill>
                <a:srgbClr val="FFFFFF"/>
              </a:solidFill>
              <a:latin typeface="JetBrains Mono" pitchFamily="34" charset="0"/>
              <a:ea typeface="JetBrains Mono" pitchFamily="34" charset="-122"/>
              <a:cs typeface="JetBrains Mono" pitchFamily="34" charset="-120"/>
            </a:endParaRPr>
          </a:p>
        </p:txBody>
      </p:sp>
      <p:sp>
        <p:nvSpPr>
          <p:cNvPr id="60" name="Shape 21">
            <a:extLst>
              <a:ext uri="{FF2B5EF4-FFF2-40B4-BE49-F238E27FC236}">
                <a16:creationId xmlns:a16="http://schemas.microsoft.com/office/drawing/2014/main" id="{3069B535-BB8A-2B2C-65FA-C1E64903BB25}"/>
              </a:ext>
            </a:extLst>
          </p:cNvPr>
          <p:cNvSpPr/>
          <p:nvPr/>
        </p:nvSpPr>
        <p:spPr>
          <a:xfrm>
            <a:off x="14592227" y="4102100"/>
            <a:ext cx="419100" cy="419100"/>
          </a:xfrm>
          <a:prstGeom prst="ellipse">
            <a:avLst/>
          </a:prstGeom>
          <a:solidFill>
            <a:srgbClr val="0E7C55"/>
          </a:solidFill>
          <a:ln w="9525"/>
        </p:spPr>
        <p:txBody>
          <a:bodyPr/>
          <a:lstStyle/>
          <a:p>
            <a:endParaRPr lang="en-TH"/>
          </a:p>
        </p:txBody>
      </p:sp>
      <p:sp>
        <p:nvSpPr>
          <p:cNvPr id="61" name="Text 22">
            <a:extLst>
              <a:ext uri="{FF2B5EF4-FFF2-40B4-BE49-F238E27FC236}">
                <a16:creationId xmlns:a16="http://schemas.microsoft.com/office/drawing/2014/main" id="{A0822DF3-10B5-270C-E0A1-B69438E7E48C}"/>
              </a:ext>
            </a:extLst>
          </p:cNvPr>
          <p:cNvSpPr/>
          <p:nvPr/>
        </p:nvSpPr>
        <p:spPr>
          <a:xfrm>
            <a:off x="14554127" y="4102100"/>
            <a:ext cx="495300" cy="457200"/>
          </a:xfrm>
          <a:prstGeom prst="rect">
            <a:avLst/>
          </a:prstGeom>
          <a:noFill/>
          <a:ln w="9525"/>
        </p:spPr>
        <p:txBody>
          <a:bodyPr wrap="square" lIns="25400" tIns="25400" rIns="25400" bIns="25400" rtlCol="0" anchor="ctr">
            <a:normAutofit/>
          </a:bodyPr>
          <a:lstStyle/>
          <a:p>
            <a:pPr algn="ctr"/>
            <a:endParaRPr b="1">
              <a:solidFill>
                <a:srgbClr val="7A8290"/>
              </a:solidFill>
              <a:latin typeface="JetBrains Mono" pitchFamily="34" charset="0"/>
              <a:ea typeface="JetBrains Mono" pitchFamily="34" charset="-122"/>
              <a:cs typeface="JetBrains Mono" pitchFamily="34" charset="-120"/>
            </a:endParaRPr>
          </a:p>
        </p:txBody>
      </p:sp>
      <p:sp>
        <p:nvSpPr>
          <p:cNvPr id="62" name="Shape 23">
            <a:extLst>
              <a:ext uri="{FF2B5EF4-FFF2-40B4-BE49-F238E27FC236}">
                <a16:creationId xmlns:a16="http://schemas.microsoft.com/office/drawing/2014/main" id="{51DA1AF5-DD07-A09F-402C-D39449F95221}"/>
              </a:ext>
            </a:extLst>
          </p:cNvPr>
          <p:cNvSpPr/>
          <p:nvPr/>
        </p:nvSpPr>
        <p:spPr>
          <a:xfrm>
            <a:off x="15468527" y="4102100"/>
            <a:ext cx="419100" cy="419100"/>
          </a:xfrm>
          <a:prstGeom prst="ellipse">
            <a:avLst/>
          </a:prstGeom>
          <a:solidFill>
            <a:srgbClr val="E6E8EC"/>
          </a:solidFill>
          <a:ln w="9525"/>
        </p:spPr>
        <p:txBody>
          <a:bodyPr/>
          <a:lstStyle/>
          <a:p>
            <a:endParaRPr lang="en-TH"/>
          </a:p>
        </p:txBody>
      </p:sp>
      <p:sp>
        <p:nvSpPr>
          <p:cNvPr id="63" name="Text 24">
            <a:extLst>
              <a:ext uri="{FF2B5EF4-FFF2-40B4-BE49-F238E27FC236}">
                <a16:creationId xmlns:a16="http://schemas.microsoft.com/office/drawing/2014/main" id="{C7736CF1-E565-EDE0-1AFA-BEF9A2853132}"/>
              </a:ext>
            </a:extLst>
          </p:cNvPr>
          <p:cNvSpPr/>
          <p:nvPr/>
        </p:nvSpPr>
        <p:spPr>
          <a:xfrm>
            <a:off x="15430427" y="4102100"/>
            <a:ext cx="495300" cy="457200"/>
          </a:xfrm>
          <a:prstGeom prst="rect">
            <a:avLst/>
          </a:prstGeom>
          <a:noFill/>
          <a:ln w="9525"/>
        </p:spPr>
        <p:txBody>
          <a:bodyPr wrap="square" lIns="25400" tIns="25400" rIns="25400" bIns="25400" rtlCol="0" anchor="ctr">
            <a:normAutofit/>
          </a:bodyPr>
          <a:lstStyle/>
          <a:p>
            <a:pPr algn="ctr"/>
            <a:endParaRPr b="1">
              <a:solidFill>
                <a:srgbClr val="7A8290"/>
              </a:solidFill>
              <a:latin typeface="JetBrains Mono" pitchFamily="34" charset="0"/>
              <a:ea typeface="JetBrains Mono" pitchFamily="34" charset="-122"/>
              <a:cs typeface="JetBrains Mono" pitchFamily="34" charset="-120"/>
            </a:endParaRPr>
          </a:p>
        </p:txBody>
      </p:sp>
      <p:sp>
        <p:nvSpPr>
          <p:cNvPr id="7665792" name="Shape 25">
            <a:extLst>
              <a:ext uri="{FF2B5EF4-FFF2-40B4-BE49-F238E27FC236}">
                <a16:creationId xmlns:a16="http://schemas.microsoft.com/office/drawing/2014/main" id="{2475433C-D93F-8D9F-3239-A486CD53A6FD}"/>
              </a:ext>
            </a:extLst>
          </p:cNvPr>
          <p:cNvSpPr/>
          <p:nvPr/>
        </p:nvSpPr>
        <p:spPr>
          <a:xfrm>
            <a:off x="16344827" y="4102100"/>
            <a:ext cx="419100" cy="419100"/>
          </a:xfrm>
          <a:prstGeom prst="ellipse">
            <a:avLst/>
          </a:prstGeom>
          <a:solidFill>
            <a:srgbClr val="0E7C55"/>
          </a:solidFill>
          <a:ln w="9525"/>
        </p:spPr>
        <p:txBody>
          <a:bodyPr/>
          <a:lstStyle/>
          <a:p>
            <a:endParaRPr lang="en-TH"/>
          </a:p>
        </p:txBody>
      </p:sp>
      <p:sp>
        <p:nvSpPr>
          <p:cNvPr id="7665793" name="Text 26">
            <a:extLst>
              <a:ext uri="{FF2B5EF4-FFF2-40B4-BE49-F238E27FC236}">
                <a16:creationId xmlns:a16="http://schemas.microsoft.com/office/drawing/2014/main" id="{FC044DE1-3C1B-A382-63E0-8265AD41BBE8}"/>
              </a:ext>
            </a:extLst>
          </p:cNvPr>
          <p:cNvSpPr/>
          <p:nvPr/>
        </p:nvSpPr>
        <p:spPr>
          <a:xfrm>
            <a:off x="16306727" y="4102100"/>
            <a:ext cx="495300" cy="457200"/>
          </a:xfrm>
          <a:prstGeom prst="rect">
            <a:avLst/>
          </a:prstGeom>
          <a:noFill/>
          <a:ln w="9525"/>
        </p:spPr>
        <p:txBody>
          <a:bodyPr wrap="square" lIns="25400" tIns="25400" rIns="25400" bIns="25400" rtlCol="0" anchor="ctr">
            <a:normAutofit/>
          </a:bodyPr>
          <a:lstStyle/>
          <a:p>
            <a:pPr algn="ctr"/>
            <a:endParaRPr b="1">
              <a:solidFill>
                <a:srgbClr val="FFFFFF"/>
              </a:solidFill>
              <a:latin typeface="JetBrains Mono" pitchFamily="34" charset="0"/>
              <a:ea typeface="JetBrains Mono" pitchFamily="34" charset="-122"/>
              <a:cs typeface="JetBrains Mono" pitchFamily="34" charset="-120"/>
            </a:endParaRPr>
          </a:p>
        </p:txBody>
      </p:sp>
      <p:sp>
        <p:nvSpPr>
          <p:cNvPr id="7665794" name="Shape 27">
            <a:extLst>
              <a:ext uri="{FF2B5EF4-FFF2-40B4-BE49-F238E27FC236}">
                <a16:creationId xmlns:a16="http://schemas.microsoft.com/office/drawing/2014/main" id="{42B3669F-221B-F55B-0331-30FE5306B371}"/>
              </a:ext>
            </a:extLst>
          </p:cNvPr>
          <p:cNvSpPr/>
          <p:nvPr/>
        </p:nvSpPr>
        <p:spPr>
          <a:xfrm>
            <a:off x="8610600" y="4773612"/>
            <a:ext cx="8763000" cy="9525"/>
          </a:xfrm>
          <a:prstGeom prst="rect">
            <a:avLst/>
          </a:prstGeom>
          <a:solidFill>
            <a:srgbClr val="ECEEF1"/>
          </a:solidFill>
          <a:ln w="9525"/>
        </p:spPr>
        <p:txBody>
          <a:bodyPr/>
          <a:lstStyle/>
          <a:p>
            <a:endParaRPr lang="en-TH"/>
          </a:p>
        </p:txBody>
      </p:sp>
      <p:sp>
        <p:nvSpPr>
          <p:cNvPr id="7665795" name="Text 28">
            <a:extLst>
              <a:ext uri="{FF2B5EF4-FFF2-40B4-BE49-F238E27FC236}">
                <a16:creationId xmlns:a16="http://schemas.microsoft.com/office/drawing/2014/main" id="{B6BE6060-23A7-A7F4-6DD6-53DA9C933B61}"/>
              </a:ext>
            </a:extLst>
          </p:cNvPr>
          <p:cNvSpPr/>
          <p:nvPr/>
        </p:nvSpPr>
        <p:spPr>
          <a:xfrm>
            <a:off x="8877300" y="4935538"/>
            <a:ext cx="2103909" cy="328613"/>
          </a:xfrm>
          <a:prstGeom prst="rect">
            <a:avLst/>
          </a:prstGeom>
          <a:noFill/>
          <a:ln w="9525"/>
        </p:spPr>
        <p:txBody>
          <a:bodyPr wrap="square" lIns="0" tIns="0" rIns="0" bIns="0" rtlCol="0" anchor="t">
            <a:normAutofit/>
          </a:bodyPr>
          <a:lstStyle/>
          <a:p>
            <a:r>
              <a:rPr lang="en-US" b="1" dirty="0">
                <a:solidFill>
                  <a:srgbClr val="0B0F19"/>
                </a:solidFill>
                <a:latin typeface="Space Grotesk" pitchFamily="34" charset="0"/>
                <a:ea typeface="Space Grotesk" pitchFamily="34" charset="-122"/>
                <a:cs typeface="Space Grotesk" pitchFamily="34" charset="-120"/>
              </a:rPr>
              <a:t>Midterm Exam</a:t>
            </a:r>
          </a:p>
        </p:txBody>
      </p:sp>
      <p:sp>
        <p:nvSpPr>
          <p:cNvPr id="7665796" name="Text 29">
            <a:extLst>
              <a:ext uri="{FF2B5EF4-FFF2-40B4-BE49-F238E27FC236}">
                <a16:creationId xmlns:a16="http://schemas.microsoft.com/office/drawing/2014/main" id="{E11CB8E3-30B1-3097-F47B-A761A388C8D1}"/>
              </a:ext>
            </a:extLst>
          </p:cNvPr>
          <p:cNvSpPr/>
          <p:nvPr/>
        </p:nvSpPr>
        <p:spPr>
          <a:xfrm>
            <a:off x="8877301" y="5264150"/>
            <a:ext cx="4866056" cy="328613"/>
          </a:xfrm>
          <a:prstGeom prst="rect">
            <a:avLst/>
          </a:prstGeom>
          <a:noFill/>
          <a:ln w="9525"/>
        </p:spPr>
        <p:txBody>
          <a:bodyPr wrap="square" lIns="25400" tIns="25400" rIns="25400" bIns="25400" rtlCol="0" anchor="t">
            <a:normAutofit/>
          </a:bodyPr>
          <a:lstStyle/>
          <a:p>
            <a:r>
              <a:rPr lang="en-US" b="1" dirty="0">
                <a:solidFill>
                  <a:srgbClr val="0E7C55"/>
                </a:solidFill>
                <a:latin typeface="Space Grotesk" pitchFamily="34" charset="0"/>
                <a:ea typeface="Space Grotesk" pitchFamily="34" charset="-122"/>
                <a:cs typeface="Space Grotesk" pitchFamily="34" charset="-120"/>
              </a:rPr>
              <a:t>20%</a:t>
            </a:r>
            <a:r>
              <a:rPr lang="en-US" dirty="0">
                <a:solidFill>
                  <a:srgbClr val="7A8290"/>
                </a:solidFill>
                <a:latin typeface="Space Grotesk" pitchFamily="34" charset="0"/>
                <a:ea typeface="Space Grotesk" pitchFamily="34" charset="-122"/>
                <a:cs typeface="Space Grotesk" pitchFamily="34" charset="-120"/>
              </a:rPr>
              <a:t>  ·  individual written exam</a:t>
            </a:r>
          </a:p>
        </p:txBody>
      </p:sp>
      <p:sp>
        <p:nvSpPr>
          <p:cNvPr id="7665797" name="Shape 30">
            <a:extLst>
              <a:ext uri="{FF2B5EF4-FFF2-40B4-BE49-F238E27FC236}">
                <a16:creationId xmlns:a16="http://schemas.microsoft.com/office/drawing/2014/main" id="{4D375050-CDB5-0B91-A82A-CB8793E5F21B}"/>
              </a:ext>
            </a:extLst>
          </p:cNvPr>
          <p:cNvSpPr/>
          <p:nvPr/>
        </p:nvSpPr>
        <p:spPr>
          <a:xfrm>
            <a:off x="13715927" y="5035550"/>
            <a:ext cx="419100" cy="419100"/>
          </a:xfrm>
          <a:prstGeom prst="ellipse">
            <a:avLst/>
          </a:prstGeom>
          <a:solidFill>
            <a:srgbClr val="0E7C55"/>
          </a:solidFill>
          <a:ln w="9525"/>
        </p:spPr>
        <p:txBody>
          <a:bodyPr/>
          <a:lstStyle/>
          <a:p>
            <a:endParaRPr lang="en-TH"/>
          </a:p>
        </p:txBody>
      </p:sp>
      <p:sp>
        <p:nvSpPr>
          <p:cNvPr id="7665798" name="Text 31">
            <a:extLst>
              <a:ext uri="{FF2B5EF4-FFF2-40B4-BE49-F238E27FC236}">
                <a16:creationId xmlns:a16="http://schemas.microsoft.com/office/drawing/2014/main" id="{4609C098-D62A-3197-A0BF-10AF676EDDF3}"/>
              </a:ext>
            </a:extLst>
          </p:cNvPr>
          <p:cNvSpPr/>
          <p:nvPr/>
        </p:nvSpPr>
        <p:spPr>
          <a:xfrm>
            <a:off x="13677827" y="5035550"/>
            <a:ext cx="495300" cy="457200"/>
          </a:xfrm>
          <a:prstGeom prst="rect">
            <a:avLst/>
          </a:prstGeom>
          <a:noFill/>
          <a:ln w="9525"/>
        </p:spPr>
        <p:txBody>
          <a:bodyPr wrap="square" lIns="25400" tIns="25400" rIns="25400" bIns="25400" rtlCol="0" anchor="ctr">
            <a:normAutofit/>
          </a:bodyPr>
          <a:lstStyle/>
          <a:p>
            <a:pPr algn="ctr"/>
            <a:endParaRPr b="1">
              <a:solidFill>
                <a:srgbClr val="7A8290"/>
              </a:solidFill>
              <a:latin typeface="JetBrains Mono" pitchFamily="34" charset="0"/>
              <a:ea typeface="JetBrains Mono" pitchFamily="34" charset="-122"/>
              <a:cs typeface="JetBrains Mono" pitchFamily="34" charset="-120"/>
            </a:endParaRPr>
          </a:p>
        </p:txBody>
      </p:sp>
      <p:sp>
        <p:nvSpPr>
          <p:cNvPr id="7665799" name="Shape 32">
            <a:extLst>
              <a:ext uri="{FF2B5EF4-FFF2-40B4-BE49-F238E27FC236}">
                <a16:creationId xmlns:a16="http://schemas.microsoft.com/office/drawing/2014/main" id="{A10836EF-4D84-5C1E-38D8-99F446284BAA}"/>
              </a:ext>
            </a:extLst>
          </p:cNvPr>
          <p:cNvSpPr/>
          <p:nvPr/>
        </p:nvSpPr>
        <p:spPr>
          <a:xfrm>
            <a:off x="14592227" y="5035550"/>
            <a:ext cx="419100" cy="419100"/>
          </a:xfrm>
          <a:prstGeom prst="ellipse">
            <a:avLst/>
          </a:prstGeom>
          <a:solidFill>
            <a:srgbClr val="E6E8EC"/>
          </a:solidFill>
          <a:ln w="9525"/>
        </p:spPr>
        <p:txBody>
          <a:bodyPr/>
          <a:lstStyle/>
          <a:p>
            <a:endParaRPr lang="en-TH"/>
          </a:p>
        </p:txBody>
      </p:sp>
      <p:sp>
        <p:nvSpPr>
          <p:cNvPr id="7665800" name="Text 33">
            <a:extLst>
              <a:ext uri="{FF2B5EF4-FFF2-40B4-BE49-F238E27FC236}">
                <a16:creationId xmlns:a16="http://schemas.microsoft.com/office/drawing/2014/main" id="{B913E8E3-B487-CC4F-D897-94EF86D6413C}"/>
              </a:ext>
            </a:extLst>
          </p:cNvPr>
          <p:cNvSpPr/>
          <p:nvPr/>
        </p:nvSpPr>
        <p:spPr>
          <a:xfrm>
            <a:off x="14554127" y="5035550"/>
            <a:ext cx="495300" cy="457200"/>
          </a:xfrm>
          <a:prstGeom prst="rect">
            <a:avLst/>
          </a:prstGeom>
          <a:noFill/>
          <a:ln w="9525"/>
        </p:spPr>
        <p:txBody>
          <a:bodyPr wrap="square" lIns="25400" tIns="25400" rIns="25400" bIns="25400" rtlCol="0" anchor="ctr">
            <a:normAutofit/>
          </a:bodyPr>
          <a:lstStyle/>
          <a:p>
            <a:pPr algn="ctr"/>
            <a:endParaRPr b="1">
              <a:solidFill>
                <a:srgbClr val="FFFFFF"/>
              </a:solidFill>
              <a:latin typeface="JetBrains Mono" pitchFamily="34" charset="0"/>
              <a:ea typeface="JetBrains Mono" pitchFamily="34" charset="-122"/>
              <a:cs typeface="JetBrains Mono" pitchFamily="34" charset="-120"/>
            </a:endParaRPr>
          </a:p>
        </p:txBody>
      </p:sp>
      <p:sp>
        <p:nvSpPr>
          <p:cNvPr id="7665801" name="Shape 34">
            <a:extLst>
              <a:ext uri="{FF2B5EF4-FFF2-40B4-BE49-F238E27FC236}">
                <a16:creationId xmlns:a16="http://schemas.microsoft.com/office/drawing/2014/main" id="{1EEEDBA8-19FC-05FB-C979-049FA956999F}"/>
              </a:ext>
            </a:extLst>
          </p:cNvPr>
          <p:cNvSpPr/>
          <p:nvPr/>
        </p:nvSpPr>
        <p:spPr>
          <a:xfrm>
            <a:off x="15468527" y="5035550"/>
            <a:ext cx="419100" cy="419100"/>
          </a:xfrm>
          <a:prstGeom prst="ellipse">
            <a:avLst/>
          </a:prstGeom>
          <a:solidFill>
            <a:srgbClr val="0E7C55"/>
          </a:solidFill>
          <a:ln w="9525"/>
        </p:spPr>
        <p:txBody>
          <a:bodyPr/>
          <a:lstStyle/>
          <a:p>
            <a:endParaRPr lang="en-TH"/>
          </a:p>
        </p:txBody>
      </p:sp>
      <p:sp>
        <p:nvSpPr>
          <p:cNvPr id="7665802" name="Text 35">
            <a:extLst>
              <a:ext uri="{FF2B5EF4-FFF2-40B4-BE49-F238E27FC236}">
                <a16:creationId xmlns:a16="http://schemas.microsoft.com/office/drawing/2014/main" id="{BD105D1A-8391-C71D-C5D0-6C2FCF1AE9F1}"/>
              </a:ext>
            </a:extLst>
          </p:cNvPr>
          <p:cNvSpPr/>
          <p:nvPr/>
        </p:nvSpPr>
        <p:spPr>
          <a:xfrm>
            <a:off x="15430427" y="5035550"/>
            <a:ext cx="495300" cy="457200"/>
          </a:xfrm>
          <a:prstGeom prst="rect">
            <a:avLst/>
          </a:prstGeom>
          <a:noFill/>
          <a:ln w="9525"/>
        </p:spPr>
        <p:txBody>
          <a:bodyPr wrap="square" lIns="25400" tIns="25400" rIns="25400" bIns="25400" rtlCol="0" anchor="ctr">
            <a:normAutofit/>
          </a:bodyPr>
          <a:lstStyle/>
          <a:p>
            <a:pPr algn="ctr"/>
            <a:endParaRPr b="1">
              <a:solidFill>
                <a:srgbClr val="FFFFFF"/>
              </a:solidFill>
              <a:latin typeface="JetBrains Mono" pitchFamily="34" charset="0"/>
              <a:ea typeface="JetBrains Mono" pitchFamily="34" charset="-122"/>
              <a:cs typeface="JetBrains Mono" pitchFamily="34" charset="-120"/>
            </a:endParaRPr>
          </a:p>
        </p:txBody>
      </p:sp>
      <p:sp>
        <p:nvSpPr>
          <p:cNvPr id="7665804" name="Shape 36">
            <a:extLst>
              <a:ext uri="{FF2B5EF4-FFF2-40B4-BE49-F238E27FC236}">
                <a16:creationId xmlns:a16="http://schemas.microsoft.com/office/drawing/2014/main" id="{8A20101D-3AD7-44A9-7487-DF440E4BC8BA}"/>
              </a:ext>
            </a:extLst>
          </p:cNvPr>
          <p:cNvSpPr/>
          <p:nvPr/>
        </p:nvSpPr>
        <p:spPr>
          <a:xfrm>
            <a:off x="16344827" y="5035550"/>
            <a:ext cx="419100" cy="419100"/>
          </a:xfrm>
          <a:prstGeom prst="ellipse">
            <a:avLst/>
          </a:prstGeom>
          <a:solidFill>
            <a:srgbClr val="E6E8EC"/>
          </a:solidFill>
          <a:ln w="9525"/>
        </p:spPr>
        <p:txBody>
          <a:bodyPr/>
          <a:lstStyle/>
          <a:p>
            <a:endParaRPr lang="en-TH"/>
          </a:p>
        </p:txBody>
      </p:sp>
      <p:sp>
        <p:nvSpPr>
          <p:cNvPr id="7665805" name="Text 37">
            <a:extLst>
              <a:ext uri="{FF2B5EF4-FFF2-40B4-BE49-F238E27FC236}">
                <a16:creationId xmlns:a16="http://schemas.microsoft.com/office/drawing/2014/main" id="{061B988F-821E-F132-3CBF-598D7EF2AECC}"/>
              </a:ext>
            </a:extLst>
          </p:cNvPr>
          <p:cNvSpPr/>
          <p:nvPr/>
        </p:nvSpPr>
        <p:spPr>
          <a:xfrm>
            <a:off x="16306727" y="5035550"/>
            <a:ext cx="495300" cy="457200"/>
          </a:xfrm>
          <a:prstGeom prst="rect">
            <a:avLst/>
          </a:prstGeom>
          <a:noFill/>
          <a:ln w="9525"/>
        </p:spPr>
        <p:txBody>
          <a:bodyPr wrap="square" lIns="25400" tIns="25400" rIns="25400" bIns="25400" rtlCol="0" anchor="ctr">
            <a:normAutofit/>
          </a:bodyPr>
          <a:lstStyle/>
          <a:p>
            <a:pPr algn="ctr"/>
            <a:endParaRPr b="1">
              <a:solidFill>
                <a:srgbClr val="7A8290"/>
              </a:solidFill>
              <a:latin typeface="JetBrains Mono" pitchFamily="34" charset="0"/>
              <a:ea typeface="JetBrains Mono" pitchFamily="34" charset="-122"/>
              <a:cs typeface="JetBrains Mono" pitchFamily="34" charset="-120"/>
            </a:endParaRPr>
          </a:p>
        </p:txBody>
      </p:sp>
      <p:sp>
        <p:nvSpPr>
          <p:cNvPr id="7665806" name="Shape 38">
            <a:extLst>
              <a:ext uri="{FF2B5EF4-FFF2-40B4-BE49-F238E27FC236}">
                <a16:creationId xmlns:a16="http://schemas.microsoft.com/office/drawing/2014/main" id="{E1178D6F-8F2A-5A55-E79E-DE5967AC0827}"/>
              </a:ext>
            </a:extLst>
          </p:cNvPr>
          <p:cNvSpPr/>
          <p:nvPr/>
        </p:nvSpPr>
        <p:spPr>
          <a:xfrm>
            <a:off x="8610600" y="5707062"/>
            <a:ext cx="8763000" cy="9525"/>
          </a:xfrm>
          <a:prstGeom prst="rect">
            <a:avLst/>
          </a:prstGeom>
          <a:solidFill>
            <a:srgbClr val="ECEEF1"/>
          </a:solidFill>
          <a:ln w="9525"/>
        </p:spPr>
        <p:txBody>
          <a:bodyPr/>
          <a:lstStyle/>
          <a:p>
            <a:endParaRPr lang="en-TH"/>
          </a:p>
        </p:txBody>
      </p:sp>
      <p:sp>
        <p:nvSpPr>
          <p:cNvPr id="7665807" name="Text 39">
            <a:extLst>
              <a:ext uri="{FF2B5EF4-FFF2-40B4-BE49-F238E27FC236}">
                <a16:creationId xmlns:a16="http://schemas.microsoft.com/office/drawing/2014/main" id="{6517D7A4-0B36-2AB8-0B5D-6C86F36D3DD4}"/>
              </a:ext>
            </a:extLst>
          </p:cNvPr>
          <p:cNvSpPr/>
          <p:nvPr/>
        </p:nvSpPr>
        <p:spPr>
          <a:xfrm>
            <a:off x="8877300" y="5868988"/>
            <a:ext cx="1693218" cy="328613"/>
          </a:xfrm>
          <a:prstGeom prst="rect">
            <a:avLst/>
          </a:prstGeom>
          <a:noFill/>
          <a:ln w="9525"/>
        </p:spPr>
        <p:txBody>
          <a:bodyPr wrap="square" lIns="0" tIns="0" rIns="0" bIns="0" rtlCol="0" anchor="t">
            <a:normAutofit/>
          </a:bodyPr>
          <a:lstStyle/>
          <a:p>
            <a:r>
              <a:rPr lang="en-US" b="1" dirty="0">
                <a:solidFill>
                  <a:srgbClr val="0B0F19"/>
                </a:solidFill>
                <a:latin typeface="Space Grotesk" pitchFamily="34" charset="0"/>
                <a:ea typeface="Space Grotesk" pitchFamily="34" charset="-122"/>
                <a:cs typeface="Space Grotesk" pitchFamily="34" charset="-120"/>
              </a:rPr>
              <a:t>Final Exam</a:t>
            </a:r>
          </a:p>
        </p:txBody>
      </p:sp>
      <p:sp>
        <p:nvSpPr>
          <p:cNvPr id="7665808" name="Text 40">
            <a:extLst>
              <a:ext uri="{FF2B5EF4-FFF2-40B4-BE49-F238E27FC236}">
                <a16:creationId xmlns:a16="http://schemas.microsoft.com/office/drawing/2014/main" id="{BF12B451-883E-7D6A-23C1-76FC23C69CD7}"/>
              </a:ext>
            </a:extLst>
          </p:cNvPr>
          <p:cNvSpPr/>
          <p:nvPr/>
        </p:nvSpPr>
        <p:spPr>
          <a:xfrm>
            <a:off x="8877301" y="6197600"/>
            <a:ext cx="4866056" cy="328613"/>
          </a:xfrm>
          <a:prstGeom prst="rect">
            <a:avLst/>
          </a:prstGeom>
          <a:noFill/>
          <a:ln w="9525"/>
        </p:spPr>
        <p:txBody>
          <a:bodyPr wrap="square" lIns="25400" tIns="25400" rIns="25400" bIns="25400" rtlCol="0" anchor="t">
            <a:normAutofit/>
          </a:bodyPr>
          <a:lstStyle/>
          <a:p>
            <a:r>
              <a:rPr lang="en-US" b="1" dirty="0">
                <a:solidFill>
                  <a:srgbClr val="0E7C55"/>
                </a:solidFill>
                <a:latin typeface="Space Grotesk" pitchFamily="34" charset="0"/>
                <a:ea typeface="Space Grotesk" pitchFamily="34" charset="-122"/>
                <a:cs typeface="Space Grotesk" pitchFamily="34" charset="-120"/>
              </a:rPr>
              <a:t>20%</a:t>
            </a:r>
            <a:r>
              <a:rPr lang="en-US" dirty="0">
                <a:solidFill>
                  <a:srgbClr val="7A8290"/>
                </a:solidFill>
                <a:latin typeface="Space Grotesk" pitchFamily="34" charset="0"/>
                <a:ea typeface="Space Grotesk" pitchFamily="34" charset="-122"/>
                <a:cs typeface="Space Grotesk" pitchFamily="34" charset="-120"/>
              </a:rPr>
              <a:t>  ·  individual written exam</a:t>
            </a:r>
          </a:p>
        </p:txBody>
      </p:sp>
      <p:sp>
        <p:nvSpPr>
          <p:cNvPr id="7665809" name="Shape 41">
            <a:extLst>
              <a:ext uri="{FF2B5EF4-FFF2-40B4-BE49-F238E27FC236}">
                <a16:creationId xmlns:a16="http://schemas.microsoft.com/office/drawing/2014/main" id="{D427C56A-AAC8-15CB-29DC-55FC73C7AF24}"/>
              </a:ext>
            </a:extLst>
          </p:cNvPr>
          <p:cNvSpPr/>
          <p:nvPr/>
        </p:nvSpPr>
        <p:spPr>
          <a:xfrm>
            <a:off x="13715927" y="5969000"/>
            <a:ext cx="419100" cy="419100"/>
          </a:xfrm>
          <a:prstGeom prst="ellipse">
            <a:avLst/>
          </a:prstGeom>
          <a:solidFill>
            <a:srgbClr val="0E7C55"/>
          </a:solidFill>
          <a:ln w="9525"/>
        </p:spPr>
        <p:txBody>
          <a:bodyPr/>
          <a:lstStyle/>
          <a:p>
            <a:endParaRPr lang="en-TH"/>
          </a:p>
        </p:txBody>
      </p:sp>
      <p:sp>
        <p:nvSpPr>
          <p:cNvPr id="7665810" name="Text 42">
            <a:extLst>
              <a:ext uri="{FF2B5EF4-FFF2-40B4-BE49-F238E27FC236}">
                <a16:creationId xmlns:a16="http://schemas.microsoft.com/office/drawing/2014/main" id="{BE12B7EE-A1D2-732E-A5E5-023BFFEE6EA3}"/>
              </a:ext>
            </a:extLst>
          </p:cNvPr>
          <p:cNvSpPr/>
          <p:nvPr/>
        </p:nvSpPr>
        <p:spPr>
          <a:xfrm>
            <a:off x="13677827" y="5969000"/>
            <a:ext cx="495300" cy="457200"/>
          </a:xfrm>
          <a:prstGeom prst="rect">
            <a:avLst/>
          </a:prstGeom>
          <a:noFill/>
          <a:ln w="9525"/>
        </p:spPr>
        <p:txBody>
          <a:bodyPr wrap="square" lIns="25400" tIns="25400" rIns="25400" bIns="25400" rtlCol="0" anchor="ctr">
            <a:normAutofit/>
          </a:bodyPr>
          <a:lstStyle/>
          <a:p>
            <a:pPr algn="ctr"/>
            <a:endParaRPr b="1">
              <a:solidFill>
                <a:srgbClr val="7A8290"/>
              </a:solidFill>
              <a:latin typeface="JetBrains Mono" pitchFamily="34" charset="0"/>
              <a:ea typeface="JetBrains Mono" pitchFamily="34" charset="-122"/>
              <a:cs typeface="JetBrains Mono" pitchFamily="34" charset="-120"/>
            </a:endParaRPr>
          </a:p>
        </p:txBody>
      </p:sp>
      <p:sp>
        <p:nvSpPr>
          <p:cNvPr id="7665811" name="Shape 43">
            <a:extLst>
              <a:ext uri="{FF2B5EF4-FFF2-40B4-BE49-F238E27FC236}">
                <a16:creationId xmlns:a16="http://schemas.microsoft.com/office/drawing/2014/main" id="{70CEEA99-A919-9D96-D684-87A54E38BC0B}"/>
              </a:ext>
            </a:extLst>
          </p:cNvPr>
          <p:cNvSpPr/>
          <p:nvPr/>
        </p:nvSpPr>
        <p:spPr>
          <a:xfrm>
            <a:off x="14592227" y="5969000"/>
            <a:ext cx="419100" cy="419100"/>
          </a:xfrm>
          <a:prstGeom prst="ellipse">
            <a:avLst/>
          </a:prstGeom>
          <a:solidFill>
            <a:srgbClr val="E6E8EC"/>
          </a:solidFill>
          <a:ln w="9525"/>
        </p:spPr>
        <p:txBody>
          <a:bodyPr/>
          <a:lstStyle/>
          <a:p>
            <a:endParaRPr lang="en-TH"/>
          </a:p>
        </p:txBody>
      </p:sp>
      <p:sp>
        <p:nvSpPr>
          <p:cNvPr id="7665812" name="Text 44">
            <a:extLst>
              <a:ext uri="{FF2B5EF4-FFF2-40B4-BE49-F238E27FC236}">
                <a16:creationId xmlns:a16="http://schemas.microsoft.com/office/drawing/2014/main" id="{201574D2-6F1B-87A6-8922-D9D471481664}"/>
              </a:ext>
            </a:extLst>
          </p:cNvPr>
          <p:cNvSpPr/>
          <p:nvPr/>
        </p:nvSpPr>
        <p:spPr>
          <a:xfrm>
            <a:off x="14554127" y="5969000"/>
            <a:ext cx="495300" cy="457200"/>
          </a:xfrm>
          <a:prstGeom prst="rect">
            <a:avLst/>
          </a:prstGeom>
          <a:noFill/>
          <a:ln w="9525"/>
        </p:spPr>
        <p:txBody>
          <a:bodyPr wrap="square" lIns="25400" tIns="25400" rIns="25400" bIns="25400" rtlCol="0" anchor="ctr">
            <a:normAutofit/>
          </a:bodyPr>
          <a:lstStyle/>
          <a:p>
            <a:pPr algn="ctr"/>
            <a:endParaRPr b="1">
              <a:solidFill>
                <a:srgbClr val="0B0F19"/>
              </a:solidFill>
              <a:latin typeface="JetBrains Mono" pitchFamily="34" charset="0"/>
              <a:ea typeface="JetBrains Mono" pitchFamily="34" charset="-122"/>
              <a:cs typeface="JetBrains Mono" pitchFamily="34" charset="-120"/>
            </a:endParaRPr>
          </a:p>
        </p:txBody>
      </p:sp>
      <p:sp>
        <p:nvSpPr>
          <p:cNvPr id="7665813" name="Shape 45">
            <a:extLst>
              <a:ext uri="{FF2B5EF4-FFF2-40B4-BE49-F238E27FC236}">
                <a16:creationId xmlns:a16="http://schemas.microsoft.com/office/drawing/2014/main" id="{6C61CC77-140B-88A8-9B53-3C1EEC143435}"/>
              </a:ext>
            </a:extLst>
          </p:cNvPr>
          <p:cNvSpPr/>
          <p:nvPr/>
        </p:nvSpPr>
        <p:spPr>
          <a:xfrm>
            <a:off x="15468527" y="5969000"/>
            <a:ext cx="419100" cy="419100"/>
          </a:xfrm>
          <a:prstGeom prst="ellipse">
            <a:avLst/>
          </a:prstGeom>
          <a:solidFill>
            <a:srgbClr val="0E7C55"/>
          </a:solidFill>
          <a:ln w="9525"/>
        </p:spPr>
        <p:txBody>
          <a:bodyPr/>
          <a:lstStyle/>
          <a:p>
            <a:endParaRPr lang="en-TH"/>
          </a:p>
        </p:txBody>
      </p:sp>
      <p:sp>
        <p:nvSpPr>
          <p:cNvPr id="7665814" name="Text 46">
            <a:extLst>
              <a:ext uri="{FF2B5EF4-FFF2-40B4-BE49-F238E27FC236}">
                <a16:creationId xmlns:a16="http://schemas.microsoft.com/office/drawing/2014/main" id="{6FD07C20-64BB-D1AD-D8C4-D47C4DAE6DEC}"/>
              </a:ext>
            </a:extLst>
          </p:cNvPr>
          <p:cNvSpPr/>
          <p:nvPr/>
        </p:nvSpPr>
        <p:spPr>
          <a:xfrm>
            <a:off x="15430427" y="5969000"/>
            <a:ext cx="495300" cy="457200"/>
          </a:xfrm>
          <a:prstGeom prst="rect">
            <a:avLst/>
          </a:prstGeom>
          <a:noFill/>
          <a:ln w="9525"/>
        </p:spPr>
        <p:txBody>
          <a:bodyPr wrap="square" lIns="25400" tIns="25400" rIns="25400" bIns="25400" rtlCol="0" anchor="ctr">
            <a:normAutofit/>
          </a:bodyPr>
          <a:lstStyle/>
          <a:p>
            <a:pPr algn="ctr"/>
            <a:endParaRPr b="1">
              <a:solidFill>
                <a:srgbClr val="7A8290"/>
              </a:solidFill>
              <a:latin typeface="JetBrains Mono" pitchFamily="34" charset="0"/>
              <a:ea typeface="JetBrains Mono" pitchFamily="34" charset="-122"/>
              <a:cs typeface="JetBrains Mono" pitchFamily="34" charset="-120"/>
            </a:endParaRPr>
          </a:p>
        </p:txBody>
      </p:sp>
      <p:sp>
        <p:nvSpPr>
          <p:cNvPr id="7665815" name="Shape 47">
            <a:extLst>
              <a:ext uri="{FF2B5EF4-FFF2-40B4-BE49-F238E27FC236}">
                <a16:creationId xmlns:a16="http://schemas.microsoft.com/office/drawing/2014/main" id="{CEDE8647-F300-FAFA-2A42-F90075185D23}"/>
              </a:ext>
            </a:extLst>
          </p:cNvPr>
          <p:cNvSpPr/>
          <p:nvPr/>
        </p:nvSpPr>
        <p:spPr>
          <a:xfrm>
            <a:off x="16344827" y="5969000"/>
            <a:ext cx="419100" cy="419100"/>
          </a:xfrm>
          <a:prstGeom prst="ellipse">
            <a:avLst/>
          </a:prstGeom>
          <a:solidFill>
            <a:srgbClr val="E6E8EC"/>
          </a:solidFill>
          <a:ln w="9525"/>
        </p:spPr>
        <p:txBody>
          <a:bodyPr/>
          <a:lstStyle/>
          <a:p>
            <a:endParaRPr lang="en-TH"/>
          </a:p>
        </p:txBody>
      </p:sp>
      <p:sp>
        <p:nvSpPr>
          <p:cNvPr id="7665816" name="Text 48">
            <a:extLst>
              <a:ext uri="{FF2B5EF4-FFF2-40B4-BE49-F238E27FC236}">
                <a16:creationId xmlns:a16="http://schemas.microsoft.com/office/drawing/2014/main" id="{648F9BB0-482F-4C4E-FE51-5F695132D255}"/>
              </a:ext>
            </a:extLst>
          </p:cNvPr>
          <p:cNvSpPr/>
          <p:nvPr/>
        </p:nvSpPr>
        <p:spPr>
          <a:xfrm>
            <a:off x="16306727" y="5969000"/>
            <a:ext cx="495300" cy="457200"/>
          </a:xfrm>
          <a:prstGeom prst="rect">
            <a:avLst/>
          </a:prstGeom>
          <a:noFill/>
          <a:ln w="9525"/>
        </p:spPr>
        <p:txBody>
          <a:bodyPr wrap="square" lIns="25400" tIns="25400" rIns="25400" bIns="25400" rtlCol="0" anchor="ctr">
            <a:normAutofit/>
          </a:bodyPr>
          <a:lstStyle/>
          <a:p>
            <a:pPr algn="ctr"/>
            <a:endParaRPr b="1">
              <a:solidFill>
                <a:srgbClr val="FFFFFF"/>
              </a:solidFill>
              <a:latin typeface="JetBrains Mono" pitchFamily="34" charset="0"/>
              <a:ea typeface="JetBrains Mono" pitchFamily="34" charset="-122"/>
              <a:cs typeface="JetBrains Mono" pitchFamily="34" charset="-120"/>
            </a:endParaRPr>
          </a:p>
        </p:txBody>
      </p:sp>
      <p:sp>
        <p:nvSpPr>
          <p:cNvPr id="7665817" name="Shape 49">
            <a:extLst>
              <a:ext uri="{FF2B5EF4-FFF2-40B4-BE49-F238E27FC236}">
                <a16:creationId xmlns:a16="http://schemas.microsoft.com/office/drawing/2014/main" id="{C231600D-4487-F465-67B9-D84EC1869843}"/>
              </a:ext>
            </a:extLst>
          </p:cNvPr>
          <p:cNvSpPr/>
          <p:nvPr/>
        </p:nvSpPr>
        <p:spPr>
          <a:xfrm>
            <a:off x="8610600" y="6640512"/>
            <a:ext cx="8763000" cy="9525"/>
          </a:xfrm>
          <a:prstGeom prst="rect">
            <a:avLst/>
          </a:prstGeom>
          <a:solidFill>
            <a:srgbClr val="ECEEF1"/>
          </a:solidFill>
          <a:ln w="9525"/>
        </p:spPr>
        <p:txBody>
          <a:bodyPr/>
          <a:lstStyle/>
          <a:p>
            <a:endParaRPr lang="en-TH"/>
          </a:p>
        </p:txBody>
      </p:sp>
      <p:sp>
        <p:nvSpPr>
          <p:cNvPr id="7665818" name="Text 50">
            <a:extLst>
              <a:ext uri="{FF2B5EF4-FFF2-40B4-BE49-F238E27FC236}">
                <a16:creationId xmlns:a16="http://schemas.microsoft.com/office/drawing/2014/main" id="{017D99BD-22AD-BD50-DB8B-CAD99F5CB53A}"/>
              </a:ext>
            </a:extLst>
          </p:cNvPr>
          <p:cNvSpPr/>
          <p:nvPr/>
        </p:nvSpPr>
        <p:spPr>
          <a:xfrm>
            <a:off x="8877301" y="6802438"/>
            <a:ext cx="2016398" cy="328613"/>
          </a:xfrm>
          <a:prstGeom prst="rect">
            <a:avLst/>
          </a:prstGeom>
          <a:noFill/>
          <a:ln w="9525"/>
        </p:spPr>
        <p:txBody>
          <a:bodyPr wrap="square" lIns="0" tIns="0" rIns="0" bIns="0" rtlCol="0" anchor="t">
            <a:normAutofit/>
          </a:bodyPr>
          <a:lstStyle/>
          <a:p>
            <a:r>
              <a:rPr lang="en-US" b="1" dirty="0">
                <a:solidFill>
                  <a:srgbClr val="0B0F19"/>
                </a:solidFill>
                <a:latin typeface="Space Grotesk" pitchFamily="34" charset="0"/>
                <a:ea typeface="Space Grotesk" pitchFamily="34" charset="-122"/>
                <a:cs typeface="Space Grotesk" pitchFamily="34" charset="-120"/>
              </a:rPr>
              <a:t>One-Pager + Video</a:t>
            </a:r>
          </a:p>
        </p:txBody>
      </p:sp>
      <p:sp>
        <p:nvSpPr>
          <p:cNvPr id="7665819" name="Text 51">
            <a:extLst>
              <a:ext uri="{FF2B5EF4-FFF2-40B4-BE49-F238E27FC236}">
                <a16:creationId xmlns:a16="http://schemas.microsoft.com/office/drawing/2014/main" id="{D86EFC6B-1605-E925-D090-225546BF0BD3}"/>
              </a:ext>
            </a:extLst>
          </p:cNvPr>
          <p:cNvSpPr/>
          <p:nvPr/>
        </p:nvSpPr>
        <p:spPr>
          <a:xfrm>
            <a:off x="8877301" y="7131050"/>
            <a:ext cx="4866056" cy="328613"/>
          </a:xfrm>
          <a:prstGeom prst="rect">
            <a:avLst/>
          </a:prstGeom>
          <a:noFill/>
          <a:ln w="9525"/>
        </p:spPr>
        <p:txBody>
          <a:bodyPr wrap="square" lIns="25400" tIns="25400" rIns="25400" bIns="25400" rtlCol="0" anchor="t">
            <a:normAutofit/>
          </a:bodyPr>
          <a:lstStyle/>
          <a:p>
            <a:r>
              <a:rPr lang="en-US" b="1" dirty="0">
                <a:solidFill>
                  <a:srgbClr val="0E7C55"/>
                </a:solidFill>
                <a:latin typeface="Space Grotesk" pitchFamily="34" charset="0"/>
                <a:ea typeface="Space Grotesk" pitchFamily="34" charset="-122"/>
                <a:cs typeface="Space Grotesk" pitchFamily="34" charset="-120"/>
              </a:rPr>
              <a:t>10%</a:t>
            </a:r>
            <a:r>
              <a:rPr lang="en-US" dirty="0">
                <a:solidFill>
                  <a:srgbClr val="7A8290"/>
                </a:solidFill>
                <a:latin typeface="Space Grotesk" pitchFamily="34" charset="0"/>
                <a:ea typeface="Space Grotesk" pitchFamily="34" charset="-122"/>
                <a:cs typeface="Space Grotesk" pitchFamily="34" charset="-120"/>
              </a:rPr>
              <a:t>  ·  article summary + 3-min video</a:t>
            </a:r>
          </a:p>
        </p:txBody>
      </p:sp>
      <p:sp>
        <p:nvSpPr>
          <p:cNvPr id="7665820" name="Shape 52">
            <a:extLst>
              <a:ext uri="{FF2B5EF4-FFF2-40B4-BE49-F238E27FC236}">
                <a16:creationId xmlns:a16="http://schemas.microsoft.com/office/drawing/2014/main" id="{F46A7649-2F98-3041-E39F-17F51ECC66C0}"/>
              </a:ext>
            </a:extLst>
          </p:cNvPr>
          <p:cNvSpPr/>
          <p:nvPr/>
        </p:nvSpPr>
        <p:spPr>
          <a:xfrm>
            <a:off x="13715927" y="6902450"/>
            <a:ext cx="419100" cy="419100"/>
          </a:xfrm>
          <a:prstGeom prst="ellipse">
            <a:avLst/>
          </a:prstGeom>
          <a:solidFill>
            <a:srgbClr val="0E7C55"/>
          </a:solidFill>
          <a:ln w="9525"/>
        </p:spPr>
        <p:txBody>
          <a:bodyPr/>
          <a:lstStyle/>
          <a:p>
            <a:endParaRPr lang="en-TH"/>
          </a:p>
        </p:txBody>
      </p:sp>
      <p:sp>
        <p:nvSpPr>
          <p:cNvPr id="7665821" name="Text 53">
            <a:extLst>
              <a:ext uri="{FF2B5EF4-FFF2-40B4-BE49-F238E27FC236}">
                <a16:creationId xmlns:a16="http://schemas.microsoft.com/office/drawing/2014/main" id="{69AC9044-B534-EF27-6569-24D2875F7992}"/>
              </a:ext>
            </a:extLst>
          </p:cNvPr>
          <p:cNvSpPr/>
          <p:nvPr/>
        </p:nvSpPr>
        <p:spPr>
          <a:xfrm>
            <a:off x="13677827" y="6902450"/>
            <a:ext cx="495300" cy="457200"/>
          </a:xfrm>
          <a:prstGeom prst="rect">
            <a:avLst/>
          </a:prstGeom>
          <a:noFill/>
          <a:ln w="9525"/>
        </p:spPr>
        <p:txBody>
          <a:bodyPr wrap="square" lIns="25400" tIns="25400" rIns="25400" bIns="25400" rtlCol="0" anchor="ctr">
            <a:normAutofit/>
          </a:bodyPr>
          <a:lstStyle/>
          <a:p>
            <a:pPr algn="ctr"/>
            <a:endParaRPr b="1">
              <a:solidFill>
                <a:srgbClr val="7A8290"/>
              </a:solidFill>
              <a:latin typeface="JetBrains Mono" pitchFamily="34" charset="0"/>
              <a:ea typeface="JetBrains Mono" pitchFamily="34" charset="-122"/>
              <a:cs typeface="JetBrains Mono" pitchFamily="34" charset="-120"/>
            </a:endParaRPr>
          </a:p>
        </p:txBody>
      </p:sp>
      <p:sp>
        <p:nvSpPr>
          <p:cNvPr id="7665822" name="Shape 54">
            <a:extLst>
              <a:ext uri="{FF2B5EF4-FFF2-40B4-BE49-F238E27FC236}">
                <a16:creationId xmlns:a16="http://schemas.microsoft.com/office/drawing/2014/main" id="{9D351F81-52E0-EEE8-49EB-BB3FB65E4F35}"/>
              </a:ext>
            </a:extLst>
          </p:cNvPr>
          <p:cNvSpPr/>
          <p:nvPr/>
        </p:nvSpPr>
        <p:spPr>
          <a:xfrm>
            <a:off x="14592227" y="6902450"/>
            <a:ext cx="419100" cy="419100"/>
          </a:xfrm>
          <a:prstGeom prst="ellipse">
            <a:avLst/>
          </a:prstGeom>
          <a:solidFill>
            <a:srgbClr val="E6E8EC"/>
          </a:solidFill>
          <a:ln w="9525"/>
        </p:spPr>
        <p:txBody>
          <a:bodyPr/>
          <a:lstStyle/>
          <a:p>
            <a:endParaRPr lang="en-TH"/>
          </a:p>
        </p:txBody>
      </p:sp>
      <p:sp>
        <p:nvSpPr>
          <p:cNvPr id="7665823" name="Text 55">
            <a:extLst>
              <a:ext uri="{FF2B5EF4-FFF2-40B4-BE49-F238E27FC236}">
                <a16:creationId xmlns:a16="http://schemas.microsoft.com/office/drawing/2014/main" id="{B934830B-B9DD-006E-483A-B91B9DDDEC19}"/>
              </a:ext>
            </a:extLst>
          </p:cNvPr>
          <p:cNvSpPr/>
          <p:nvPr/>
        </p:nvSpPr>
        <p:spPr>
          <a:xfrm>
            <a:off x="14554127" y="6902450"/>
            <a:ext cx="495300" cy="457200"/>
          </a:xfrm>
          <a:prstGeom prst="rect">
            <a:avLst/>
          </a:prstGeom>
          <a:noFill/>
          <a:ln w="9525"/>
        </p:spPr>
        <p:txBody>
          <a:bodyPr wrap="square" lIns="25400" tIns="25400" rIns="25400" bIns="25400" rtlCol="0" anchor="ctr">
            <a:normAutofit/>
          </a:bodyPr>
          <a:lstStyle/>
          <a:p>
            <a:pPr algn="ctr"/>
            <a:endParaRPr b="1">
              <a:solidFill>
                <a:srgbClr val="0B0F19"/>
              </a:solidFill>
              <a:latin typeface="JetBrains Mono" pitchFamily="34" charset="0"/>
              <a:ea typeface="JetBrains Mono" pitchFamily="34" charset="-122"/>
              <a:cs typeface="JetBrains Mono" pitchFamily="34" charset="-120"/>
            </a:endParaRPr>
          </a:p>
        </p:txBody>
      </p:sp>
      <p:sp>
        <p:nvSpPr>
          <p:cNvPr id="7665824" name="Shape 56">
            <a:extLst>
              <a:ext uri="{FF2B5EF4-FFF2-40B4-BE49-F238E27FC236}">
                <a16:creationId xmlns:a16="http://schemas.microsoft.com/office/drawing/2014/main" id="{C02A60CD-6381-F635-7B5A-E5FD7214F773}"/>
              </a:ext>
            </a:extLst>
          </p:cNvPr>
          <p:cNvSpPr/>
          <p:nvPr/>
        </p:nvSpPr>
        <p:spPr>
          <a:xfrm>
            <a:off x="15468527" y="6902450"/>
            <a:ext cx="419100" cy="419100"/>
          </a:xfrm>
          <a:prstGeom prst="ellipse">
            <a:avLst/>
          </a:prstGeom>
          <a:solidFill>
            <a:srgbClr val="E6E8EC"/>
          </a:solidFill>
          <a:ln w="9525"/>
        </p:spPr>
        <p:txBody>
          <a:bodyPr/>
          <a:lstStyle/>
          <a:p>
            <a:endParaRPr lang="en-TH"/>
          </a:p>
        </p:txBody>
      </p:sp>
      <p:sp>
        <p:nvSpPr>
          <p:cNvPr id="7665825" name="Text 57">
            <a:extLst>
              <a:ext uri="{FF2B5EF4-FFF2-40B4-BE49-F238E27FC236}">
                <a16:creationId xmlns:a16="http://schemas.microsoft.com/office/drawing/2014/main" id="{4D9EFE02-91BC-1447-98C6-BF140DFE312E}"/>
              </a:ext>
            </a:extLst>
          </p:cNvPr>
          <p:cNvSpPr/>
          <p:nvPr/>
        </p:nvSpPr>
        <p:spPr>
          <a:xfrm>
            <a:off x="15430427" y="6902450"/>
            <a:ext cx="495300" cy="457200"/>
          </a:xfrm>
          <a:prstGeom prst="rect">
            <a:avLst/>
          </a:prstGeom>
          <a:noFill/>
          <a:ln w="9525"/>
        </p:spPr>
        <p:txBody>
          <a:bodyPr wrap="square" lIns="25400" tIns="25400" rIns="25400" bIns="25400" rtlCol="0" anchor="ctr">
            <a:normAutofit/>
          </a:bodyPr>
          <a:lstStyle/>
          <a:p>
            <a:pPr algn="ctr"/>
            <a:endParaRPr b="1">
              <a:solidFill>
                <a:srgbClr val="FFFFFF"/>
              </a:solidFill>
              <a:latin typeface="JetBrains Mono" pitchFamily="34" charset="0"/>
              <a:ea typeface="JetBrains Mono" pitchFamily="34" charset="-122"/>
              <a:cs typeface="JetBrains Mono" pitchFamily="34" charset="-120"/>
            </a:endParaRPr>
          </a:p>
        </p:txBody>
      </p:sp>
      <p:sp>
        <p:nvSpPr>
          <p:cNvPr id="7665826" name="Shape 58">
            <a:extLst>
              <a:ext uri="{FF2B5EF4-FFF2-40B4-BE49-F238E27FC236}">
                <a16:creationId xmlns:a16="http://schemas.microsoft.com/office/drawing/2014/main" id="{0578793C-01DF-CF21-7A5A-746D31662AB1}"/>
              </a:ext>
            </a:extLst>
          </p:cNvPr>
          <p:cNvSpPr/>
          <p:nvPr/>
        </p:nvSpPr>
        <p:spPr>
          <a:xfrm>
            <a:off x="16344827" y="6902450"/>
            <a:ext cx="419100" cy="419100"/>
          </a:xfrm>
          <a:prstGeom prst="ellipse">
            <a:avLst/>
          </a:prstGeom>
          <a:solidFill>
            <a:srgbClr val="0E7C55"/>
          </a:solidFill>
          <a:ln w="9525"/>
        </p:spPr>
        <p:txBody>
          <a:bodyPr/>
          <a:lstStyle/>
          <a:p>
            <a:endParaRPr lang="en-TH"/>
          </a:p>
        </p:txBody>
      </p:sp>
      <p:sp>
        <p:nvSpPr>
          <p:cNvPr id="7665827" name="Text 59">
            <a:extLst>
              <a:ext uri="{FF2B5EF4-FFF2-40B4-BE49-F238E27FC236}">
                <a16:creationId xmlns:a16="http://schemas.microsoft.com/office/drawing/2014/main" id="{77EA1FA1-6383-B85A-1602-C2F2BC27F253}"/>
              </a:ext>
            </a:extLst>
          </p:cNvPr>
          <p:cNvSpPr/>
          <p:nvPr/>
        </p:nvSpPr>
        <p:spPr>
          <a:xfrm>
            <a:off x="16306727" y="6902450"/>
            <a:ext cx="495300" cy="457200"/>
          </a:xfrm>
          <a:prstGeom prst="rect">
            <a:avLst/>
          </a:prstGeom>
          <a:noFill/>
          <a:ln w="9525"/>
        </p:spPr>
        <p:txBody>
          <a:bodyPr wrap="square" lIns="25400" tIns="25400" rIns="25400" bIns="25400" rtlCol="0" anchor="ctr">
            <a:normAutofit/>
          </a:bodyPr>
          <a:lstStyle/>
          <a:p>
            <a:pPr algn="ctr"/>
            <a:endParaRPr b="1">
              <a:solidFill>
                <a:srgbClr val="7A8290"/>
              </a:solidFill>
              <a:latin typeface="JetBrains Mono" pitchFamily="34" charset="0"/>
              <a:ea typeface="JetBrains Mono" pitchFamily="34" charset="-122"/>
              <a:cs typeface="JetBrains Mono" pitchFamily="34" charset="-120"/>
            </a:endParaRPr>
          </a:p>
        </p:txBody>
      </p:sp>
      <p:sp>
        <p:nvSpPr>
          <p:cNvPr id="7665828" name="Shape 60">
            <a:extLst>
              <a:ext uri="{FF2B5EF4-FFF2-40B4-BE49-F238E27FC236}">
                <a16:creationId xmlns:a16="http://schemas.microsoft.com/office/drawing/2014/main" id="{1DBC2069-CAFD-8944-DC7E-E9EE2A7E0712}"/>
              </a:ext>
            </a:extLst>
          </p:cNvPr>
          <p:cNvSpPr/>
          <p:nvPr/>
        </p:nvSpPr>
        <p:spPr>
          <a:xfrm>
            <a:off x="8610600" y="7573962"/>
            <a:ext cx="8763000" cy="9525"/>
          </a:xfrm>
          <a:prstGeom prst="rect">
            <a:avLst/>
          </a:prstGeom>
          <a:solidFill>
            <a:srgbClr val="ECEEF1"/>
          </a:solidFill>
          <a:ln w="9525"/>
        </p:spPr>
        <p:txBody>
          <a:bodyPr/>
          <a:lstStyle/>
          <a:p>
            <a:endParaRPr lang="en-TH"/>
          </a:p>
        </p:txBody>
      </p:sp>
      <p:sp>
        <p:nvSpPr>
          <p:cNvPr id="7665829" name="Text 61">
            <a:extLst>
              <a:ext uri="{FF2B5EF4-FFF2-40B4-BE49-F238E27FC236}">
                <a16:creationId xmlns:a16="http://schemas.microsoft.com/office/drawing/2014/main" id="{12854C1B-BE80-13A2-C674-D79836AB9A56}"/>
              </a:ext>
            </a:extLst>
          </p:cNvPr>
          <p:cNvSpPr/>
          <p:nvPr/>
        </p:nvSpPr>
        <p:spPr>
          <a:xfrm>
            <a:off x="8877301" y="7735888"/>
            <a:ext cx="1833860" cy="328613"/>
          </a:xfrm>
          <a:prstGeom prst="rect">
            <a:avLst/>
          </a:prstGeom>
          <a:noFill/>
          <a:ln w="9525"/>
        </p:spPr>
        <p:txBody>
          <a:bodyPr wrap="square" lIns="0" tIns="0" rIns="0" bIns="0" rtlCol="0" anchor="t">
            <a:normAutofit/>
          </a:bodyPr>
          <a:lstStyle/>
          <a:p>
            <a:r>
              <a:rPr lang="en-US" b="1" dirty="0">
                <a:solidFill>
                  <a:srgbClr val="0B0F19"/>
                </a:solidFill>
                <a:latin typeface="Space Grotesk" pitchFamily="34" charset="0"/>
                <a:ea typeface="Space Grotesk" pitchFamily="34" charset="-122"/>
                <a:cs typeface="Space Grotesk" pitchFamily="34" charset="-120"/>
              </a:rPr>
              <a:t>Oral Exam</a:t>
            </a:r>
          </a:p>
        </p:txBody>
      </p:sp>
      <p:sp>
        <p:nvSpPr>
          <p:cNvPr id="7665830" name="Text 62">
            <a:extLst>
              <a:ext uri="{FF2B5EF4-FFF2-40B4-BE49-F238E27FC236}">
                <a16:creationId xmlns:a16="http://schemas.microsoft.com/office/drawing/2014/main" id="{D2F60D84-E4C5-27E4-127E-62B5EFAF69AF}"/>
              </a:ext>
            </a:extLst>
          </p:cNvPr>
          <p:cNvSpPr/>
          <p:nvPr/>
        </p:nvSpPr>
        <p:spPr>
          <a:xfrm>
            <a:off x="8877301" y="8064500"/>
            <a:ext cx="4866056" cy="328613"/>
          </a:xfrm>
          <a:prstGeom prst="rect">
            <a:avLst/>
          </a:prstGeom>
          <a:noFill/>
          <a:ln w="9525"/>
        </p:spPr>
        <p:txBody>
          <a:bodyPr wrap="square" lIns="25400" tIns="25400" rIns="25400" bIns="25400" rtlCol="0" anchor="t">
            <a:normAutofit/>
          </a:bodyPr>
          <a:lstStyle/>
          <a:p>
            <a:r>
              <a:rPr lang="en-US" b="1" dirty="0">
                <a:solidFill>
                  <a:srgbClr val="0E7C55"/>
                </a:solidFill>
                <a:latin typeface="Space Grotesk" pitchFamily="34" charset="0"/>
                <a:ea typeface="Space Grotesk" pitchFamily="34" charset="-122"/>
                <a:cs typeface="Space Grotesk" pitchFamily="34" charset="-120"/>
              </a:rPr>
              <a:t>10%</a:t>
            </a:r>
            <a:r>
              <a:rPr lang="en-US" dirty="0">
                <a:solidFill>
                  <a:srgbClr val="7A8290"/>
                </a:solidFill>
                <a:latin typeface="Space Grotesk" pitchFamily="34" charset="0"/>
                <a:ea typeface="Space Grotesk" pitchFamily="34" charset="-122"/>
                <a:cs typeface="Space Grotesk" pitchFamily="34" charset="-120"/>
              </a:rPr>
              <a:t>  ·   Reflect on your Contribution</a:t>
            </a:r>
          </a:p>
        </p:txBody>
      </p:sp>
      <p:sp>
        <p:nvSpPr>
          <p:cNvPr id="7665831" name="Shape 63">
            <a:extLst>
              <a:ext uri="{FF2B5EF4-FFF2-40B4-BE49-F238E27FC236}">
                <a16:creationId xmlns:a16="http://schemas.microsoft.com/office/drawing/2014/main" id="{A955C42D-C89C-03DA-4F55-8D4449D333CB}"/>
              </a:ext>
            </a:extLst>
          </p:cNvPr>
          <p:cNvSpPr/>
          <p:nvPr/>
        </p:nvSpPr>
        <p:spPr>
          <a:xfrm>
            <a:off x="13715927" y="7835900"/>
            <a:ext cx="419100" cy="419100"/>
          </a:xfrm>
          <a:prstGeom prst="ellipse">
            <a:avLst/>
          </a:prstGeom>
          <a:solidFill>
            <a:srgbClr val="0E7C55"/>
          </a:solidFill>
          <a:ln w="9525"/>
        </p:spPr>
        <p:txBody>
          <a:bodyPr/>
          <a:lstStyle/>
          <a:p>
            <a:endParaRPr lang="en-TH"/>
          </a:p>
        </p:txBody>
      </p:sp>
      <p:sp>
        <p:nvSpPr>
          <p:cNvPr id="7665832" name="Text 64">
            <a:extLst>
              <a:ext uri="{FF2B5EF4-FFF2-40B4-BE49-F238E27FC236}">
                <a16:creationId xmlns:a16="http://schemas.microsoft.com/office/drawing/2014/main" id="{B9096D6B-638F-0804-9B52-30B1A155980C}"/>
              </a:ext>
            </a:extLst>
          </p:cNvPr>
          <p:cNvSpPr/>
          <p:nvPr/>
        </p:nvSpPr>
        <p:spPr>
          <a:xfrm>
            <a:off x="13677827" y="7835900"/>
            <a:ext cx="495300" cy="457200"/>
          </a:xfrm>
          <a:prstGeom prst="rect">
            <a:avLst/>
          </a:prstGeom>
          <a:noFill/>
          <a:ln w="9525"/>
        </p:spPr>
        <p:txBody>
          <a:bodyPr wrap="square" lIns="25400" tIns="25400" rIns="25400" bIns="25400" rtlCol="0" anchor="ctr">
            <a:normAutofit/>
          </a:bodyPr>
          <a:lstStyle/>
          <a:p>
            <a:pPr algn="ctr"/>
            <a:endParaRPr b="1">
              <a:solidFill>
                <a:srgbClr val="7A8290"/>
              </a:solidFill>
              <a:latin typeface="JetBrains Mono" pitchFamily="34" charset="0"/>
              <a:ea typeface="JetBrains Mono" pitchFamily="34" charset="-122"/>
              <a:cs typeface="JetBrains Mono" pitchFamily="34" charset="-120"/>
            </a:endParaRPr>
          </a:p>
        </p:txBody>
      </p:sp>
      <p:sp>
        <p:nvSpPr>
          <p:cNvPr id="7665833" name="Shape 65">
            <a:extLst>
              <a:ext uri="{FF2B5EF4-FFF2-40B4-BE49-F238E27FC236}">
                <a16:creationId xmlns:a16="http://schemas.microsoft.com/office/drawing/2014/main" id="{3C1FB7D4-ACE1-CAB5-BD1D-0A468B98298F}"/>
              </a:ext>
            </a:extLst>
          </p:cNvPr>
          <p:cNvSpPr/>
          <p:nvPr/>
        </p:nvSpPr>
        <p:spPr>
          <a:xfrm>
            <a:off x="14592227" y="7835900"/>
            <a:ext cx="419100" cy="419100"/>
          </a:xfrm>
          <a:prstGeom prst="ellipse">
            <a:avLst/>
          </a:prstGeom>
          <a:solidFill>
            <a:srgbClr val="E6E8EC"/>
          </a:solidFill>
          <a:ln w="9525"/>
        </p:spPr>
        <p:txBody>
          <a:bodyPr/>
          <a:lstStyle/>
          <a:p>
            <a:endParaRPr lang="en-TH"/>
          </a:p>
        </p:txBody>
      </p:sp>
      <p:sp>
        <p:nvSpPr>
          <p:cNvPr id="7665834" name="Text 66">
            <a:extLst>
              <a:ext uri="{FF2B5EF4-FFF2-40B4-BE49-F238E27FC236}">
                <a16:creationId xmlns:a16="http://schemas.microsoft.com/office/drawing/2014/main" id="{C4495383-9684-C073-49DA-DB291603E16D}"/>
              </a:ext>
            </a:extLst>
          </p:cNvPr>
          <p:cNvSpPr/>
          <p:nvPr/>
        </p:nvSpPr>
        <p:spPr>
          <a:xfrm>
            <a:off x="14554127" y="7835900"/>
            <a:ext cx="495300" cy="457200"/>
          </a:xfrm>
          <a:prstGeom prst="rect">
            <a:avLst/>
          </a:prstGeom>
          <a:noFill/>
          <a:ln w="9525"/>
        </p:spPr>
        <p:txBody>
          <a:bodyPr wrap="square" lIns="25400" tIns="25400" rIns="25400" bIns="25400" rtlCol="0" anchor="ctr">
            <a:normAutofit/>
          </a:bodyPr>
          <a:lstStyle/>
          <a:p>
            <a:pPr algn="ctr"/>
            <a:endParaRPr b="1">
              <a:solidFill>
                <a:srgbClr val="7A8290"/>
              </a:solidFill>
              <a:latin typeface="JetBrains Mono" pitchFamily="34" charset="0"/>
              <a:ea typeface="JetBrains Mono" pitchFamily="34" charset="-122"/>
              <a:cs typeface="JetBrains Mono" pitchFamily="34" charset="-120"/>
            </a:endParaRPr>
          </a:p>
        </p:txBody>
      </p:sp>
      <p:sp>
        <p:nvSpPr>
          <p:cNvPr id="7665835" name="Shape 67">
            <a:extLst>
              <a:ext uri="{FF2B5EF4-FFF2-40B4-BE49-F238E27FC236}">
                <a16:creationId xmlns:a16="http://schemas.microsoft.com/office/drawing/2014/main" id="{CEF05CA4-8AD1-3400-BCC8-FEE418D98A44}"/>
              </a:ext>
            </a:extLst>
          </p:cNvPr>
          <p:cNvSpPr/>
          <p:nvPr/>
        </p:nvSpPr>
        <p:spPr>
          <a:xfrm>
            <a:off x="15468527" y="7835900"/>
            <a:ext cx="419100" cy="419100"/>
          </a:xfrm>
          <a:prstGeom prst="ellipse">
            <a:avLst/>
          </a:prstGeom>
          <a:solidFill>
            <a:srgbClr val="E6E8EC"/>
          </a:solidFill>
          <a:ln w="9525"/>
        </p:spPr>
        <p:txBody>
          <a:bodyPr/>
          <a:lstStyle/>
          <a:p>
            <a:endParaRPr lang="en-TH"/>
          </a:p>
        </p:txBody>
      </p:sp>
      <p:sp>
        <p:nvSpPr>
          <p:cNvPr id="7665836" name="Text 68">
            <a:extLst>
              <a:ext uri="{FF2B5EF4-FFF2-40B4-BE49-F238E27FC236}">
                <a16:creationId xmlns:a16="http://schemas.microsoft.com/office/drawing/2014/main" id="{394B3463-757A-BBE6-57AB-090EB0DD3D8F}"/>
              </a:ext>
            </a:extLst>
          </p:cNvPr>
          <p:cNvSpPr/>
          <p:nvPr/>
        </p:nvSpPr>
        <p:spPr>
          <a:xfrm>
            <a:off x="15430427" y="7835900"/>
            <a:ext cx="495300" cy="457200"/>
          </a:xfrm>
          <a:prstGeom prst="rect">
            <a:avLst/>
          </a:prstGeom>
          <a:noFill/>
          <a:ln w="9525"/>
        </p:spPr>
        <p:txBody>
          <a:bodyPr wrap="square" lIns="25400" tIns="25400" rIns="25400" bIns="25400" rtlCol="0" anchor="ctr">
            <a:normAutofit/>
          </a:bodyPr>
          <a:lstStyle/>
          <a:p>
            <a:pPr algn="ctr"/>
            <a:endParaRPr b="1">
              <a:solidFill>
                <a:srgbClr val="FFFFFF"/>
              </a:solidFill>
              <a:latin typeface="JetBrains Mono" pitchFamily="34" charset="0"/>
              <a:ea typeface="JetBrains Mono" pitchFamily="34" charset="-122"/>
              <a:cs typeface="JetBrains Mono" pitchFamily="34" charset="-120"/>
            </a:endParaRPr>
          </a:p>
        </p:txBody>
      </p:sp>
      <p:sp>
        <p:nvSpPr>
          <p:cNvPr id="7665837" name="Shape 69">
            <a:extLst>
              <a:ext uri="{FF2B5EF4-FFF2-40B4-BE49-F238E27FC236}">
                <a16:creationId xmlns:a16="http://schemas.microsoft.com/office/drawing/2014/main" id="{E86F791C-2984-840C-304C-FBAB088A1F1D}"/>
              </a:ext>
            </a:extLst>
          </p:cNvPr>
          <p:cNvSpPr/>
          <p:nvPr/>
        </p:nvSpPr>
        <p:spPr>
          <a:xfrm>
            <a:off x="16344827" y="7835900"/>
            <a:ext cx="419100" cy="419100"/>
          </a:xfrm>
          <a:prstGeom prst="ellipse">
            <a:avLst/>
          </a:prstGeom>
          <a:solidFill>
            <a:srgbClr val="0E7C55"/>
          </a:solidFill>
          <a:ln w="9525"/>
        </p:spPr>
        <p:txBody>
          <a:bodyPr/>
          <a:lstStyle/>
          <a:p>
            <a:endParaRPr lang="en-TH"/>
          </a:p>
        </p:txBody>
      </p:sp>
      <p:sp>
        <p:nvSpPr>
          <p:cNvPr id="7665838" name="Text 70">
            <a:extLst>
              <a:ext uri="{FF2B5EF4-FFF2-40B4-BE49-F238E27FC236}">
                <a16:creationId xmlns:a16="http://schemas.microsoft.com/office/drawing/2014/main" id="{C55E78DD-3D35-51AE-E960-5E19476E2223}"/>
              </a:ext>
            </a:extLst>
          </p:cNvPr>
          <p:cNvSpPr/>
          <p:nvPr/>
        </p:nvSpPr>
        <p:spPr>
          <a:xfrm>
            <a:off x="16306727" y="7835900"/>
            <a:ext cx="495300" cy="457200"/>
          </a:xfrm>
          <a:prstGeom prst="rect">
            <a:avLst/>
          </a:prstGeom>
          <a:noFill/>
          <a:ln w="9525"/>
        </p:spPr>
        <p:txBody>
          <a:bodyPr wrap="square" lIns="25400" tIns="25400" rIns="25400" bIns="25400" rtlCol="0" anchor="ctr">
            <a:normAutofit/>
          </a:bodyPr>
          <a:lstStyle/>
          <a:p>
            <a:pPr algn="ctr"/>
            <a:endParaRPr b="1">
              <a:solidFill>
                <a:srgbClr val="FFFFFF"/>
              </a:solidFill>
              <a:latin typeface="JetBrains Mono" pitchFamily="34" charset="0"/>
              <a:ea typeface="JetBrains Mono" pitchFamily="34" charset="-122"/>
              <a:cs typeface="JetBrains Mono" pitchFamily="34" charset="-120"/>
            </a:endParaRPr>
          </a:p>
        </p:txBody>
      </p:sp>
      <p:sp>
        <p:nvSpPr>
          <p:cNvPr id="7665839" name="Shape 71">
            <a:extLst>
              <a:ext uri="{FF2B5EF4-FFF2-40B4-BE49-F238E27FC236}">
                <a16:creationId xmlns:a16="http://schemas.microsoft.com/office/drawing/2014/main" id="{1DB668E8-EEC5-AB97-13B1-AB7F635BDF8C}"/>
              </a:ext>
            </a:extLst>
          </p:cNvPr>
          <p:cNvSpPr/>
          <p:nvPr/>
        </p:nvSpPr>
        <p:spPr>
          <a:xfrm>
            <a:off x="8610600" y="8507412"/>
            <a:ext cx="8763000" cy="9525"/>
          </a:xfrm>
          <a:prstGeom prst="rect">
            <a:avLst/>
          </a:prstGeom>
          <a:solidFill>
            <a:srgbClr val="ECEEF1"/>
          </a:solidFill>
          <a:ln w="9525"/>
        </p:spPr>
        <p:txBody>
          <a:bodyPr/>
          <a:lstStyle/>
          <a:p>
            <a:endParaRPr lang="en-TH"/>
          </a:p>
        </p:txBody>
      </p:sp>
      <p:sp>
        <p:nvSpPr>
          <p:cNvPr id="7665840" name="Text 72">
            <a:extLst>
              <a:ext uri="{FF2B5EF4-FFF2-40B4-BE49-F238E27FC236}">
                <a16:creationId xmlns:a16="http://schemas.microsoft.com/office/drawing/2014/main" id="{AC804E30-5877-FF1D-9DFF-7CF5DD8F1BEB}"/>
              </a:ext>
            </a:extLst>
          </p:cNvPr>
          <p:cNvSpPr/>
          <p:nvPr/>
        </p:nvSpPr>
        <p:spPr>
          <a:xfrm>
            <a:off x="8877300" y="8669338"/>
            <a:ext cx="1802829" cy="328613"/>
          </a:xfrm>
          <a:prstGeom prst="rect">
            <a:avLst/>
          </a:prstGeom>
          <a:noFill/>
          <a:ln w="9525"/>
        </p:spPr>
        <p:txBody>
          <a:bodyPr wrap="square" lIns="0" tIns="0" rIns="0" bIns="0" rtlCol="0" anchor="t">
            <a:normAutofit/>
          </a:bodyPr>
          <a:lstStyle/>
          <a:p>
            <a:r>
              <a:rPr lang="en-US" b="1" dirty="0">
                <a:solidFill>
                  <a:srgbClr val="0B0F19"/>
                </a:solidFill>
                <a:latin typeface="Space Grotesk" pitchFamily="34" charset="0"/>
                <a:ea typeface="Space Grotesk" pitchFamily="34" charset="-122"/>
                <a:cs typeface="Space Grotesk" pitchFamily="34" charset="-120"/>
              </a:rPr>
              <a:t>Attendance</a:t>
            </a:r>
          </a:p>
        </p:txBody>
      </p:sp>
      <p:sp>
        <p:nvSpPr>
          <p:cNvPr id="7665841" name="Text 73">
            <a:extLst>
              <a:ext uri="{FF2B5EF4-FFF2-40B4-BE49-F238E27FC236}">
                <a16:creationId xmlns:a16="http://schemas.microsoft.com/office/drawing/2014/main" id="{C33BEE4B-A131-830B-29C4-C26F969A4A65}"/>
              </a:ext>
            </a:extLst>
          </p:cNvPr>
          <p:cNvSpPr/>
          <p:nvPr/>
        </p:nvSpPr>
        <p:spPr>
          <a:xfrm>
            <a:off x="8877301" y="8997950"/>
            <a:ext cx="4866056" cy="328613"/>
          </a:xfrm>
          <a:prstGeom prst="rect">
            <a:avLst/>
          </a:prstGeom>
          <a:noFill/>
          <a:ln w="9525"/>
        </p:spPr>
        <p:txBody>
          <a:bodyPr wrap="square" lIns="25400" tIns="25400" rIns="25400" bIns="25400" rtlCol="0" anchor="t">
            <a:normAutofit/>
          </a:bodyPr>
          <a:lstStyle/>
          <a:p>
            <a:r>
              <a:rPr lang="en-US" b="1" dirty="0">
                <a:solidFill>
                  <a:srgbClr val="0E7C55"/>
                </a:solidFill>
                <a:latin typeface="Space Grotesk" pitchFamily="34" charset="0"/>
                <a:ea typeface="Space Grotesk" pitchFamily="34" charset="-122"/>
                <a:cs typeface="Space Grotesk" pitchFamily="34" charset="-120"/>
              </a:rPr>
              <a:t>10%</a:t>
            </a:r>
            <a:r>
              <a:rPr lang="en-US" dirty="0">
                <a:solidFill>
                  <a:srgbClr val="7A8290"/>
                </a:solidFill>
                <a:latin typeface="Space Grotesk" pitchFamily="34" charset="0"/>
                <a:ea typeface="Space Grotesk" pitchFamily="34" charset="-122"/>
                <a:cs typeface="Space Grotesk" pitchFamily="34" charset="-120"/>
              </a:rPr>
              <a:t>  ·  AI Critique sheet, on time</a:t>
            </a:r>
          </a:p>
        </p:txBody>
      </p:sp>
      <p:sp>
        <p:nvSpPr>
          <p:cNvPr id="7665842" name="Shape 74">
            <a:extLst>
              <a:ext uri="{FF2B5EF4-FFF2-40B4-BE49-F238E27FC236}">
                <a16:creationId xmlns:a16="http://schemas.microsoft.com/office/drawing/2014/main" id="{9B27702A-2329-C7B0-6711-59B6746D0812}"/>
              </a:ext>
            </a:extLst>
          </p:cNvPr>
          <p:cNvSpPr/>
          <p:nvPr/>
        </p:nvSpPr>
        <p:spPr>
          <a:xfrm>
            <a:off x="13715927" y="8769350"/>
            <a:ext cx="419100" cy="419100"/>
          </a:xfrm>
          <a:prstGeom prst="ellipse">
            <a:avLst/>
          </a:prstGeom>
          <a:solidFill>
            <a:srgbClr val="0E7C55"/>
          </a:solidFill>
          <a:ln w="9525"/>
        </p:spPr>
        <p:txBody>
          <a:bodyPr/>
          <a:lstStyle/>
          <a:p>
            <a:endParaRPr lang="en-TH"/>
          </a:p>
        </p:txBody>
      </p:sp>
      <p:sp>
        <p:nvSpPr>
          <p:cNvPr id="7665843" name="Text 75">
            <a:extLst>
              <a:ext uri="{FF2B5EF4-FFF2-40B4-BE49-F238E27FC236}">
                <a16:creationId xmlns:a16="http://schemas.microsoft.com/office/drawing/2014/main" id="{98D780D9-A102-8E57-B42D-72FCF4A165C5}"/>
              </a:ext>
            </a:extLst>
          </p:cNvPr>
          <p:cNvSpPr/>
          <p:nvPr/>
        </p:nvSpPr>
        <p:spPr>
          <a:xfrm>
            <a:off x="13677827" y="8769350"/>
            <a:ext cx="495300" cy="457200"/>
          </a:xfrm>
          <a:prstGeom prst="rect">
            <a:avLst/>
          </a:prstGeom>
          <a:noFill/>
          <a:ln w="9525"/>
        </p:spPr>
        <p:txBody>
          <a:bodyPr wrap="square" lIns="25400" tIns="25400" rIns="25400" bIns="25400" rtlCol="0" anchor="ctr">
            <a:normAutofit/>
          </a:bodyPr>
          <a:lstStyle/>
          <a:p>
            <a:pPr algn="ctr"/>
            <a:endParaRPr b="1">
              <a:solidFill>
                <a:srgbClr val="7A8290"/>
              </a:solidFill>
              <a:latin typeface="JetBrains Mono" pitchFamily="34" charset="0"/>
              <a:ea typeface="JetBrains Mono" pitchFamily="34" charset="-122"/>
              <a:cs typeface="JetBrains Mono" pitchFamily="34" charset="-120"/>
            </a:endParaRPr>
          </a:p>
        </p:txBody>
      </p:sp>
      <p:sp>
        <p:nvSpPr>
          <p:cNvPr id="7665844" name="Shape 76">
            <a:extLst>
              <a:ext uri="{FF2B5EF4-FFF2-40B4-BE49-F238E27FC236}">
                <a16:creationId xmlns:a16="http://schemas.microsoft.com/office/drawing/2014/main" id="{E53EC374-9B78-46D6-F681-548F976116BA}"/>
              </a:ext>
            </a:extLst>
          </p:cNvPr>
          <p:cNvSpPr/>
          <p:nvPr/>
        </p:nvSpPr>
        <p:spPr>
          <a:xfrm>
            <a:off x="14592227" y="8769350"/>
            <a:ext cx="419100" cy="419100"/>
          </a:xfrm>
          <a:prstGeom prst="ellipse">
            <a:avLst/>
          </a:prstGeom>
          <a:solidFill>
            <a:srgbClr val="E6E8EC"/>
          </a:solidFill>
          <a:ln w="9525"/>
        </p:spPr>
        <p:txBody>
          <a:bodyPr/>
          <a:lstStyle/>
          <a:p>
            <a:endParaRPr lang="en-TH"/>
          </a:p>
        </p:txBody>
      </p:sp>
      <p:sp>
        <p:nvSpPr>
          <p:cNvPr id="7665845" name="Text 77">
            <a:extLst>
              <a:ext uri="{FF2B5EF4-FFF2-40B4-BE49-F238E27FC236}">
                <a16:creationId xmlns:a16="http://schemas.microsoft.com/office/drawing/2014/main" id="{D4E6D739-5997-5C3D-807C-96B684AFFC5C}"/>
              </a:ext>
            </a:extLst>
          </p:cNvPr>
          <p:cNvSpPr/>
          <p:nvPr/>
        </p:nvSpPr>
        <p:spPr>
          <a:xfrm>
            <a:off x="14554127" y="8769350"/>
            <a:ext cx="495300" cy="457200"/>
          </a:xfrm>
          <a:prstGeom prst="rect">
            <a:avLst/>
          </a:prstGeom>
          <a:noFill/>
          <a:ln w="9525"/>
        </p:spPr>
        <p:txBody>
          <a:bodyPr wrap="square" lIns="25400" tIns="25400" rIns="25400" bIns="25400" rtlCol="0" anchor="ctr">
            <a:normAutofit/>
          </a:bodyPr>
          <a:lstStyle/>
          <a:p>
            <a:pPr algn="ctr"/>
            <a:endParaRPr b="1">
              <a:solidFill>
                <a:srgbClr val="7A8290"/>
              </a:solidFill>
              <a:latin typeface="JetBrains Mono" pitchFamily="34" charset="0"/>
              <a:ea typeface="JetBrains Mono" pitchFamily="34" charset="-122"/>
              <a:cs typeface="JetBrains Mono" pitchFamily="34" charset="-120"/>
            </a:endParaRPr>
          </a:p>
        </p:txBody>
      </p:sp>
      <p:sp>
        <p:nvSpPr>
          <p:cNvPr id="7665846" name="Shape 78">
            <a:extLst>
              <a:ext uri="{FF2B5EF4-FFF2-40B4-BE49-F238E27FC236}">
                <a16:creationId xmlns:a16="http://schemas.microsoft.com/office/drawing/2014/main" id="{F6FA1758-CD0C-779E-1C93-620ED6BD90B9}"/>
              </a:ext>
            </a:extLst>
          </p:cNvPr>
          <p:cNvSpPr/>
          <p:nvPr/>
        </p:nvSpPr>
        <p:spPr>
          <a:xfrm>
            <a:off x="15468527" y="8769350"/>
            <a:ext cx="419100" cy="419100"/>
          </a:xfrm>
          <a:prstGeom prst="ellipse">
            <a:avLst/>
          </a:prstGeom>
          <a:solidFill>
            <a:srgbClr val="E6E8EC"/>
          </a:solidFill>
          <a:ln w="9525"/>
        </p:spPr>
        <p:txBody>
          <a:bodyPr/>
          <a:lstStyle/>
          <a:p>
            <a:endParaRPr lang="en-TH"/>
          </a:p>
        </p:txBody>
      </p:sp>
      <p:sp>
        <p:nvSpPr>
          <p:cNvPr id="7665847" name="Text 79">
            <a:extLst>
              <a:ext uri="{FF2B5EF4-FFF2-40B4-BE49-F238E27FC236}">
                <a16:creationId xmlns:a16="http://schemas.microsoft.com/office/drawing/2014/main" id="{B1AB4ADB-3FE4-1C99-F11E-B51EB6CAFA7E}"/>
              </a:ext>
            </a:extLst>
          </p:cNvPr>
          <p:cNvSpPr/>
          <p:nvPr/>
        </p:nvSpPr>
        <p:spPr>
          <a:xfrm>
            <a:off x="15430427" y="8769350"/>
            <a:ext cx="495300" cy="457200"/>
          </a:xfrm>
          <a:prstGeom prst="rect">
            <a:avLst/>
          </a:prstGeom>
          <a:noFill/>
          <a:ln w="9525"/>
        </p:spPr>
        <p:txBody>
          <a:bodyPr wrap="square" lIns="25400" tIns="25400" rIns="25400" bIns="25400" rtlCol="0" anchor="ctr">
            <a:normAutofit/>
          </a:bodyPr>
          <a:lstStyle/>
          <a:p>
            <a:pPr algn="ctr"/>
            <a:endParaRPr b="1">
              <a:solidFill>
                <a:srgbClr val="7A8290"/>
              </a:solidFill>
              <a:latin typeface="JetBrains Mono" pitchFamily="34" charset="0"/>
              <a:ea typeface="JetBrains Mono" pitchFamily="34" charset="-122"/>
              <a:cs typeface="JetBrains Mono" pitchFamily="34" charset="-120"/>
            </a:endParaRPr>
          </a:p>
        </p:txBody>
      </p:sp>
      <p:sp>
        <p:nvSpPr>
          <p:cNvPr id="7665848" name="Shape 80">
            <a:extLst>
              <a:ext uri="{FF2B5EF4-FFF2-40B4-BE49-F238E27FC236}">
                <a16:creationId xmlns:a16="http://schemas.microsoft.com/office/drawing/2014/main" id="{5D362499-3FC8-85D5-045B-302A57C462AF}"/>
              </a:ext>
            </a:extLst>
          </p:cNvPr>
          <p:cNvSpPr/>
          <p:nvPr/>
        </p:nvSpPr>
        <p:spPr>
          <a:xfrm>
            <a:off x="16344827" y="8769350"/>
            <a:ext cx="419100" cy="419100"/>
          </a:xfrm>
          <a:prstGeom prst="ellipse">
            <a:avLst/>
          </a:prstGeom>
          <a:solidFill>
            <a:srgbClr val="E6E8EC"/>
          </a:solidFill>
          <a:ln w="9525"/>
        </p:spPr>
        <p:txBody>
          <a:bodyPr/>
          <a:lstStyle/>
          <a:p>
            <a:endParaRPr lang="en-TH"/>
          </a:p>
        </p:txBody>
      </p:sp>
      <p:sp>
        <p:nvSpPr>
          <p:cNvPr id="7665849" name="Text 81">
            <a:extLst>
              <a:ext uri="{FF2B5EF4-FFF2-40B4-BE49-F238E27FC236}">
                <a16:creationId xmlns:a16="http://schemas.microsoft.com/office/drawing/2014/main" id="{A1E221CC-AFEE-F40E-1C39-61A6973C4812}"/>
              </a:ext>
            </a:extLst>
          </p:cNvPr>
          <p:cNvSpPr/>
          <p:nvPr/>
        </p:nvSpPr>
        <p:spPr>
          <a:xfrm>
            <a:off x="16306727" y="8769350"/>
            <a:ext cx="495300" cy="457200"/>
          </a:xfrm>
          <a:prstGeom prst="rect">
            <a:avLst/>
          </a:prstGeom>
          <a:noFill/>
          <a:ln w="9525"/>
        </p:spPr>
        <p:txBody>
          <a:bodyPr wrap="square" lIns="25400" tIns="25400" rIns="25400" bIns="25400" rtlCol="0" anchor="ctr">
            <a:normAutofit/>
          </a:bodyPr>
          <a:lstStyle/>
          <a:p>
            <a:pPr algn="ctr"/>
            <a:endParaRPr b="1">
              <a:solidFill>
                <a:srgbClr val="FFFFFF"/>
              </a:solidFill>
              <a:latin typeface="JetBrains Mono" pitchFamily="34" charset="0"/>
              <a:ea typeface="JetBrains Mono" pitchFamily="34" charset="-122"/>
              <a:cs typeface="JetBrains Mono" pitchFamily="34" charset="-120"/>
            </a:endParaRPr>
          </a:p>
        </p:txBody>
      </p:sp>
    </p:spTree>
    <p:extLst>
      <p:ext uri="{BB962C8B-B14F-4D97-AF65-F5344CB8AC3E}">
        <p14:creationId xmlns:p14="http://schemas.microsoft.com/office/powerpoint/2010/main" val="849150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p:cNvSpPr/>
          <p:nvPr/>
        </p:nvSpPr>
        <p:spPr>
          <a:xfrm>
            <a:off x="728216" y="154781"/>
            <a:ext cx="3889732"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p:cNvSpPr/>
          <p:nvPr/>
        </p:nvSpPr>
        <p:spPr>
          <a:xfrm>
            <a:off x="4771355" y="154781"/>
            <a:ext cx="3100274"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Page · Grades</a:t>
            </a:r>
            <a:endParaRPr lang="en-US" sz="1800" dirty="0"/>
          </a:p>
        </p:txBody>
      </p:sp>
      <p:sp>
        <p:nvSpPr>
          <p:cNvPr id="7" name="Text 5"/>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sz="1800" kern="0" spc="72" dirty="0">
                <a:solidFill>
                  <a:srgbClr val="7A8290"/>
                </a:solidFill>
                <a:latin typeface="JetBrains Mono" pitchFamily="34" charset="0"/>
                <a:ea typeface="JetBrains Mono" pitchFamily="34" charset="-122"/>
                <a:cs typeface="JetBrains Mono" pitchFamily="34" charset="-120"/>
              </a:rPr>
              <a:t>11 / </a:t>
            </a:r>
            <a:r>
              <a:rPr lang="en-US" kern="0" spc="72" dirty="0">
                <a:solidFill>
                  <a:srgbClr val="7A8290"/>
                </a:solidFill>
                <a:latin typeface="JetBrains Mono" pitchFamily="34" charset="0"/>
                <a:ea typeface="JetBrains Mono" pitchFamily="34" charset="-122"/>
                <a:cs typeface="JetBrains Mono" pitchFamily="34" charset="-120"/>
              </a:rPr>
              <a:t>32</a:t>
            </a:r>
            <a:endParaRPr lang="en-US" sz="1800" dirty="0"/>
          </a:p>
        </p:txBody>
      </p:sp>
      <p:sp>
        <p:nvSpPr>
          <p:cNvPr id="9" name="Shape 7"/>
          <p:cNvSpPr/>
          <p:nvPr/>
        </p:nvSpPr>
        <p:spPr>
          <a:xfrm>
            <a:off x="914400" y="1524000"/>
            <a:ext cx="1653555" cy="419100"/>
          </a:xfrm>
          <a:prstGeom prst="roundRect">
            <a:avLst>
              <a:gd name="adj" fmla="val 50000"/>
            </a:avLst>
          </a:prstGeom>
          <a:solidFill>
            <a:srgbClr val="FF5A47"/>
          </a:solidFill>
          <a:ln w="9525"/>
        </p:spPr>
        <p:txBody>
          <a:bodyPr/>
          <a:lstStyle/>
          <a:p>
            <a:endParaRPr lang="en-TH"/>
          </a:p>
        </p:txBody>
      </p:sp>
      <p:sp>
        <p:nvSpPr>
          <p:cNvPr id="10" name="Text 8"/>
          <p:cNvSpPr/>
          <p:nvPr/>
        </p:nvSpPr>
        <p:spPr>
          <a:xfrm>
            <a:off x="1085850" y="1619250"/>
            <a:ext cx="1310655" cy="266700"/>
          </a:xfrm>
          <a:prstGeom prst="rect">
            <a:avLst/>
          </a:prstGeom>
          <a:noFill/>
          <a:ln w="9525"/>
        </p:spPr>
        <p:txBody>
          <a:bodyPr wrap="square" lIns="25400" tIns="25400" rIns="25400" bIns="25400" rtlCol="0" anchor="ctr">
            <a:normAutofit fontScale="92500" lnSpcReduction="20000"/>
          </a:bodyPr>
          <a:lstStyle/>
          <a:p>
            <a:pPr marL="0" indent="0" algn="ctr">
              <a:lnSpc>
                <a:spcPct val="100000"/>
              </a:lnSpc>
              <a:buNone/>
            </a:pPr>
            <a:r>
              <a:rPr lang="en-US" sz="1800" dirty="0">
                <a:solidFill>
                  <a:srgbClr val="FFFFFF"/>
                </a:solidFill>
                <a:latin typeface="JetBrains Mono" pitchFamily="34" charset="0"/>
                <a:ea typeface="JetBrains Mono" pitchFamily="34" charset="-122"/>
                <a:cs typeface="JetBrains Mono" pitchFamily="34" charset="-120"/>
              </a:rPr>
              <a:t>GRADING</a:t>
            </a:r>
            <a:endParaRPr lang="en-US" sz="1800" dirty="0"/>
          </a:p>
        </p:txBody>
      </p:sp>
      <p:sp>
        <p:nvSpPr>
          <p:cNvPr id="11" name="Text 9"/>
          <p:cNvSpPr/>
          <p:nvPr/>
        </p:nvSpPr>
        <p:spPr>
          <a:xfrm>
            <a:off x="2796555" y="1583531"/>
            <a:ext cx="2339355"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A – F</a:t>
            </a:r>
            <a:endParaRPr lang="en-US" sz="1800" dirty="0"/>
          </a:p>
        </p:txBody>
      </p:sp>
      <p:sp>
        <p:nvSpPr>
          <p:cNvPr id="12" name="Text 10"/>
          <p:cNvSpPr/>
          <p:nvPr/>
        </p:nvSpPr>
        <p:spPr>
          <a:xfrm>
            <a:off x="914400" y="2114550"/>
            <a:ext cx="16952976" cy="1022745"/>
          </a:xfrm>
          <a:prstGeom prst="rect">
            <a:avLst/>
          </a:prstGeom>
          <a:noFill/>
          <a:ln w="9525"/>
        </p:spPr>
        <p:txBody>
          <a:bodyPr wrap="square" lIns="25400" tIns="25400" rIns="25400" bIns="25400" rtlCol="0" anchor="t">
            <a:normAutofit/>
          </a:bodyPr>
          <a:lstStyle/>
          <a:p>
            <a:pPr marL="0" indent="0" algn="l">
              <a:lnSpc>
                <a:spcPct val="100000"/>
              </a:lnSpc>
              <a:buNone/>
            </a:pPr>
            <a:r>
              <a:rPr lang="en-US" sz="4800" b="1" kern="0" spc="-120" dirty="0">
                <a:solidFill>
                  <a:srgbClr val="0B0F19"/>
                </a:solidFill>
                <a:latin typeface="Space Grotesk" pitchFamily="34" charset="0"/>
                <a:ea typeface="Space Grotesk" pitchFamily="34" charset="-122"/>
                <a:cs typeface="Space Grotesk" pitchFamily="34" charset="-120"/>
              </a:rPr>
              <a:t>How marks become a grade</a:t>
            </a:r>
            <a:endParaRPr lang="en-US" sz="4800" dirty="0"/>
          </a:p>
        </p:txBody>
      </p:sp>
      <p:sp>
        <p:nvSpPr>
          <p:cNvPr id="13" name="Text 11"/>
          <p:cNvSpPr/>
          <p:nvPr/>
        </p:nvSpPr>
        <p:spPr>
          <a:xfrm>
            <a:off x="914400" y="3296842"/>
            <a:ext cx="6957229" cy="404813"/>
          </a:xfrm>
          <a:prstGeom prst="rect">
            <a:avLst/>
          </a:prstGeom>
          <a:noFill/>
          <a:ln w="9525"/>
        </p:spPr>
        <p:txBody>
          <a:bodyPr wrap="square" lIns="25400" tIns="25400" rIns="25400" bIns="25400" rtlCol="0" anchor="t"/>
          <a:lstStyle/>
          <a:p>
            <a:pPr marL="0" indent="0" algn="l">
              <a:buNone/>
            </a:pPr>
            <a:r>
              <a:rPr lang="en-US" sz="2400" kern="0" spc="-34" dirty="0">
                <a:solidFill>
                  <a:srgbClr val="0B0F19"/>
                </a:solidFill>
                <a:latin typeface="Space Grotesk" pitchFamily="34" charset="0"/>
                <a:ea typeface="Space Grotesk" pitchFamily="34" charset="-122"/>
                <a:cs typeface="Space Grotesk" pitchFamily="34" charset="-120"/>
              </a:rPr>
              <a:t>One hundred marks, no curve</a:t>
            </a:r>
            <a:endParaRPr lang="en-US" sz="2400" dirty="0"/>
          </a:p>
        </p:txBody>
      </p:sp>
      <p:sp>
        <p:nvSpPr>
          <p:cNvPr id="14" name="Text 12"/>
          <p:cNvSpPr/>
          <p:nvPr/>
        </p:nvSpPr>
        <p:spPr>
          <a:xfrm>
            <a:off x="914400" y="3768303"/>
            <a:ext cx="6957229" cy="1134670"/>
          </a:xfrm>
          <a:prstGeom prst="rect">
            <a:avLst/>
          </a:prstGeom>
          <a:noFill/>
          <a:ln w="9525"/>
        </p:spPr>
        <p:txBody>
          <a:bodyPr wrap="square" lIns="25400" tIns="25400" rIns="25400" bIns="25400" rtlCol="0" anchor="t">
            <a:spAutoFit/>
          </a:bodyPr>
          <a:lstStyle/>
          <a:p>
            <a:pPr marL="0" indent="0" algn="l">
              <a:lnSpc>
                <a:spcPct val="120000"/>
              </a:lnSpc>
              <a:buNone/>
            </a:pPr>
            <a:r>
              <a:rPr lang="en-US" sz="2000" dirty="0">
                <a:solidFill>
                  <a:srgbClr val="3A4250"/>
                </a:solidFill>
                <a:latin typeface="Space Grotesk" pitchFamily="34" charset="0"/>
                <a:ea typeface="Space Grotesk" pitchFamily="34" charset="-122"/>
                <a:cs typeface="Space Grotesk" pitchFamily="34" charset="-120"/>
              </a:rPr>
              <a:t>The six components add up to 100. The bands on the right are applied directly — there is no curve, no bonus, and no negotiating at the boundary.</a:t>
            </a:r>
            <a:endParaRPr lang="en-US" sz="2000" dirty="0"/>
          </a:p>
        </p:txBody>
      </p:sp>
      <p:sp>
        <p:nvSpPr>
          <p:cNvPr id="15" name="Text 13"/>
          <p:cNvSpPr/>
          <p:nvPr/>
        </p:nvSpPr>
        <p:spPr>
          <a:xfrm>
            <a:off x="914400" y="5378055"/>
            <a:ext cx="6957229" cy="404813"/>
          </a:xfrm>
          <a:prstGeom prst="rect">
            <a:avLst/>
          </a:prstGeom>
          <a:noFill/>
          <a:ln w="9525"/>
        </p:spPr>
        <p:txBody>
          <a:bodyPr wrap="square" lIns="25400" tIns="25400" rIns="25400" bIns="25400" rtlCol="0" anchor="t"/>
          <a:lstStyle/>
          <a:p>
            <a:pPr marL="0" indent="0" algn="l">
              <a:buNone/>
            </a:pPr>
            <a:r>
              <a:rPr lang="en-US" sz="2400" kern="0" spc="-34" dirty="0">
                <a:solidFill>
                  <a:srgbClr val="0B0F19"/>
                </a:solidFill>
                <a:latin typeface="Space Grotesk" pitchFamily="34" charset="0"/>
                <a:ea typeface="Space Grotesk" pitchFamily="34" charset="-122"/>
                <a:cs typeface="Space Grotesk" pitchFamily="34" charset="-120"/>
              </a:rPr>
              <a:t>Seventy per cent is yours alone</a:t>
            </a:r>
            <a:endParaRPr lang="en-US" sz="2400" dirty="0"/>
          </a:p>
        </p:txBody>
      </p:sp>
      <p:sp>
        <p:nvSpPr>
          <p:cNvPr id="16" name="Text 14"/>
          <p:cNvSpPr/>
          <p:nvPr/>
        </p:nvSpPr>
        <p:spPr>
          <a:xfrm>
            <a:off x="914400" y="5849515"/>
            <a:ext cx="6957229" cy="765338"/>
          </a:xfrm>
          <a:prstGeom prst="rect">
            <a:avLst/>
          </a:prstGeom>
          <a:noFill/>
          <a:ln w="9525"/>
        </p:spPr>
        <p:txBody>
          <a:bodyPr wrap="square" lIns="25400" tIns="25400" rIns="25400" bIns="25400" rtlCol="0" anchor="t">
            <a:spAutoFit/>
          </a:bodyPr>
          <a:lstStyle/>
          <a:p>
            <a:pPr marL="0" indent="0" algn="l">
              <a:lnSpc>
                <a:spcPct val="120000"/>
              </a:lnSpc>
              <a:buNone/>
            </a:pPr>
            <a:r>
              <a:rPr lang="en-US" sz="2000" dirty="0">
                <a:solidFill>
                  <a:srgbClr val="3A4250"/>
                </a:solidFill>
                <a:latin typeface="Space Grotesk" pitchFamily="34" charset="0"/>
                <a:ea typeface="Space Grotesk" pitchFamily="34" charset="-122"/>
                <a:cs typeface="Space Grotesk" pitchFamily="34" charset="-120"/>
              </a:rPr>
              <a:t>Only the team project is a group mark. Everything else is earned individually, so your grade reflects the work you personally did.</a:t>
            </a:r>
            <a:endParaRPr lang="en-US" sz="2000" dirty="0"/>
          </a:p>
        </p:txBody>
      </p:sp>
      <p:sp>
        <p:nvSpPr>
          <p:cNvPr id="17" name="Text 15"/>
          <p:cNvSpPr/>
          <p:nvPr/>
        </p:nvSpPr>
        <p:spPr>
          <a:xfrm>
            <a:off x="914400" y="7442599"/>
            <a:ext cx="6957229" cy="404813"/>
          </a:xfrm>
          <a:prstGeom prst="rect">
            <a:avLst/>
          </a:prstGeom>
          <a:noFill/>
          <a:ln w="9525"/>
        </p:spPr>
        <p:txBody>
          <a:bodyPr wrap="square" lIns="25400" tIns="25400" rIns="25400" bIns="25400" rtlCol="0" anchor="t"/>
          <a:lstStyle/>
          <a:p>
            <a:pPr marL="0" indent="0" algn="l">
              <a:buNone/>
            </a:pPr>
            <a:r>
              <a:rPr lang="en-US" sz="2400" kern="0" spc="-34" dirty="0">
                <a:solidFill>
                  <a:srgbClr val="0B0F19"/>
                </a:solidFill>
                <a:latin typeface="Space Grotesk" pitchFamily="34" charset="0"/>
                <a:ea typeface="Space Grotesk" pitchFamily="34" charset="-122"/>
                <a:cs typeface="Space Grotesk" pitchFamily="34" charset="-120"/>
              </a:rPr>
              <a:t>Every rubric is published first</a:t>
            </a:r>
            <a:endParaRPr lang="en-US" sz="2400" dirty="0"/>
          </a:p>
        </p:txBody>
      </p:sp>
      <p:sp>
        <p:nvSpPr>
          <p:cNvPr id="18" name="Text 16"/>
          <p:cNvSpPr/>
          <p:nvPr/>
        </p:nvSpPr>
        <p:spPr>
          <a:xfrm>
            <a:off x="914400" y="7914060"/>
            <a:ext cx="6957229" cy="765338"/>
          </a:xfrm>
          <a:prstGeom prst="rect">
            <a:avLst/>
          </a:prstGeom>
          <a:noFill/>
          <a:ln w="9525"/>
        </p:spPr>
        <p:txBody>
          <a:bodyPr wrap="square" lIns="25400" tIns="25400" rIns="25400" bIns="25400" rtlCol="0" anchor="t">
            <a:spAutoFit/>
          </a:bodyPr>
          <a:lstStyle/>
          <a:p>
            <a:pPr marL="0" indent="0" algn="l">
              <a:lnSpc>
                <a:spcPct val="120000"/>
              </a:lnSpc>
              <a:buNone/>
            </a:pPr>
            <a:r>
              <a:rPr lang="en-US" sz="2000" dirty="0">
                <a:solidFill>
                  <a:srgbClr val="3A4250"/>
                </a:solidFill>
                <a:latin typeface="Space Grotesk" pitchFamily="34" charset="0"/>
                <a:ea typeface="Space Grotesk" pitchFamily="34" charset="-122"/>
                <a:cs typeface="Space Grotesk" pitchFamily="34" charset="-120"/>
              </a:rPr>
              <a:t>The criteria for each piece of work are in the handbook before that work is due. You can always see exactly how a mark was arrived at.</a:t>
            </a:r>
            <a:endParaRPr lang="en-US" sz="2000" dirty="0"/>
          </a:p>
        </p:txBody>
      </p:sp>
      <p:sp>
        <p:nvSpPr>
          <p:cNvPr id="19" name="Shape 17"/>
          <p:cNvSpPr/>
          <p:nvPr/>
        </p:nvSpPr>
        <p:spPr>
          <a:xfrm>
            <a:off x="9642053" y="3296842"/>
            <a:ext cx="7731547" cy="5667375"/>
          </a:xfrm>
          <a:prstGeom prst="roundRect">
            <a:avLst>
              <a:gd name="adj" fmla="val 3361"/>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0" name="Shape 18"/>
          <p:cNvSpPr/>
          <p:nvPr/>
        </p:nvSpPr>
        <p:spPr>
          <a:xfrm>
            <a:off x="10023053" y="3996930"/>
            <a:ext cx="228600" cy="228600"/>
          </a:xfrm>
          <a:prstGeom prst="roundRect">
            <a:avLst>
              <a:gd name="adj" fmla="val 25000"/>
            </a:avLst>
          </a:prstGeom>
          <a:solidFill>
            <a:srgbClr val="2D5BFF"/>
          </a:solidFill>
          <a:ln w="9525"/>
        </p:spPr>
        <p:txBody>
          <a:bodyPr/>
          <a:lstStyle/>
          <a:p>
            <a:endParaRPr lang="en-TH"/>
          </a:p>
        </p:txBody>
      </p:sp>
      <p:sp>
        <p:nvSpPr>
          <p:cNvPr id="21" name="Text 19"/>
          <p:cNvSpPr/>
          <p:nvPr/>
        </p:nvSpPr>
        <p:spPr>
          <a:xfrm>
            <a:off x="10481519" y="3820717"/>
            <a:ext cx="2041084" cy="420628"/>
          </a:xfrm>
          <a:prstGeom prst="rect">
            <a:avLst/>
          </a:prstGeom>
          <a:noFill/>
          <a:ln w="9525"/>
        </p:spPr>
        <p:txBody>
          <a:bodyPr lIns="25400" tIns="25400" rIns="25400" bIns="25400" rtlCol="0" anchor="t">
            <a:spAutoFit/>
          </a:bodyPr>
          <a:lstStyle/>
          <a:p>
            <a:pPr marL="0" indent="0" algn="l">
              <a:buNone/>
            </a:pPr>
            <a:r>
              <a:rPr lang="en-US" sz="2400" dirty="0">
                <a:solidFill>
                  <a:srgbClr val="0B0F19"/>
                </a:solidFill>
                <a:latin typeface="Space Grotesk" pitchFamily="34" charset="0"/>
                <a:ea typeface="Space Grotesk" pitchFamily="34" charset="-122"/>
                <a:cs typeface="Space Grotesk" pitchFamily="34" charset="-120"/>
              </a:rPr>
              <a:t>A</a:t>
            </a:r>
            <a:endParaRPr lang="en-US" sz="2400" dirty="0"/>
          </a:p>
        </p:txBody>
      </p:sp>
      <p:sp>
        <p:nvSpPr>
          <p:cNvPr id="22" name="Text 20"/>
          <p:cNvSpPr/>
          <p:nvPr/>
        </p:nvSpPr>
        <p:spPr>
          <a:xfrm>
            <a:off x="10481519" y="4179219"/>
            <a:ext cx="857607"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80 – 100</a:t>
            </a:r>
            <a:endParaRPr lang="en-US" dirty="0"/>
          </a:p>
        </p:txBody>
      </p:sp>
      <p:sp>
        <p:nvSpPr>
          <p:cNvPr id="23" name="Text 21"/>
          <p:cNvSpPr/>
          <p:nvPr/>
        </p:nvSpPr>
        <p:spPr>
          <a:xfrm>
            <a:off x="16622947" y="3968531"/>
            <a:ext cx="369653"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top</a:t>
            </a:r>
            <a:endParaRPr lang="en-US" dirty="0"/>
          </a:p>
        </p:txBody>
      </p:sp>
      <p:sp>
        <p:nvSpPr>
          <p:cNvPr id="24" name="Shape 22"/>
          <p:cNvSpPr/>
          <p:nvPr/>
        </p:nvSpPr>
        <p:spPr>
          <a:xfrm>
            <a:off x="9946853" y="4620817"/>
            <a:ext cx="7121947" cy="9525"/>
          </a:xfrm>
          <a:prstGeom prst="rect">
            <a:avLst/>
          </a:prstGeom>
          <a:solidFill>
            <a:srgbClr val="ECEEF1"/>
          </a:solidFill>
          <a:ln w="9525"/>
        </p:spPr>
        <p:txBody>
          <a:bodyPr/>
          <a:lstStyle/>
          <a:p>
            <a:endParaRPr lang="en-TH"/>
          </a:p>
        </p:txBody>
      </p:sp>
      <p:sp>
        <p:nvSpPr>
          <p:cNvPr id="25" name="Shape 23"/>
          <p:cNvSpPr/>
          <p:nvPr/>
        </p:nvSpPr>
        <p:spPr>
          <a:xfrm>
            <a:off x="10023053" y="5016105"/>
            <a:ext cx="228600" cy="228600"/>
          </a:xfrm>
          <a:prstGeom prst="roundRect">
            <a:avLst>
              <a:gd name="adj" fmla="val 25000"/>
            </a:avLst>
          </a:prstGeom>
          <a:solidFill>
            <a:srgbClr val="FF5A47"/>
          </a:solidFill>
          <a:ln w="9525"/>
        </p:spPr>
        <p:txBody>
          <a:bodyPr/>
          <a:lstStyle/>
          <a:p>
            <a:endParaRPr lang="en-TH"/>
          </a:p>
        </p:txBody>
      </p:sp>
      <p:sp>
        <p:nvSpPr>
          <p:cNvPr id="26" name="Text 24"/>
          <p:cNvSpPr/>
          <p:nvPr/>
        </p:nvSpPr>
        <p:spPr>
          <a:xfrm>
            <a:off x="10481519" y="4839892"/>
            <a:ext cx="1594364" cy="420628"/>
          </a:xfrm>
          <a:prstGeom prst="rect">
            <a:avLst/>
          </a:prstGeom>
          <a:noFill/>
          <a:ln w="9525"/>
        </p:spPr>
        <p:txBody>
          <a:bodyPr lIns="25400" tIns="25400" rIns="25400" bIns="25400" rtlCol="0" anchor="t">
            <a:spAutoFit/>
          </a:bodyPr>
          <a:lstStyle/>
          <a:p>
            <a:pPr marL="0" indent="0" algn="l">
              <a:buNone/>
            </a:pPr>
            <a:r>
              <a:rPr lang="en-US" sz="2400" dirty="0">
                <a:solidFill>
                  <a:srgbClr val="0B0F19"/>
                </a:solidFill>
                <a:latin typeface="Space Grotesk" pitchFamily="34" charset="0"/>
                <a:ea typeface="Space Grotesk" pitchFamily="34" charset="-122"/>
                <a:cs typeface="Space Grotesk" pitchFamily="34" charset="-120"/>
              </a:rPr>
              <a:t>B+ / B</a:t>
            </a:r>
            <a:endParaRPr lang="en-US" sz="2400" dirty="0"/>
          </a:p>
        </p:txBody>
      </p:sp>
      <p:sp>
        <p:nvSpPr>
          <p:cNvPr id="27" name="Text 25"/>
          <p:cNvSpPr/>
          <p:nvPr/>
        </p:nvSpPr>
        <p:spPr>
          <a:xfrm>
            <a:off x="10481519" y="5198394"/>
            <a:ext cx="1413849"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75–79 / 70–74</a:t>
            </a:r>
            <a:endParaRPr lang="en-US" dirty="0"/>
          </a:p>
        </p:txBody>
      </p:sp>
      <p:sp>
        <p:nvSpPr>
          <p:cNvPr id="28" name="Text 26"/>
          <p:cNvSpPr/>
          <p:nvPr/>
        </p:nvSpPr>
        <p:spPr>
          <a:xfrm>
            <a:off x="16468418" y="4997231"/>
            <a:ext cx="524182"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good</a:t>
            </a:r>
            <a:endParaRPr lang="en-US" dirty="0"/>
          </a:p>
        </p:txBody>
      </p:sp>
      <p:sp>
        <p:nvSpPr>
          <p:cNvPr id="29" name="Shape 27"/>
          <p:cNvSpPr/>
          <p:nvPr/>
        </p:nvSpPr>
        <p:spPr>
          <a:xfrm>
            <a:off x="9946853" y="5630467"/>
            <a:ext cx="7121947" cy="9525"/>
          </a:xfrm>
          <a:prstGeom prst="rect">
            <a:avLst/>
          </a:prstGeom>
          <a:solidFill>
            <a:srgbClr val="ECEEF1"/>
          </a:solidFill>
          <a:ln w="9525"/>
        </p:spPr>
        <p:txBody>
          <a:bodyPr/>
          <a:lstStyle/>
          <a:p>
            <a:endParaRPr lang="en-TH"/>
          </a:p>
        </p:txBody>
      </p:sp>
      <p:sp>
        <p:nvSpPr>
          <p:cNvPr id="30" name="Shape 28"/>
          <p:cNvSpPr/>
          <p:nvPr/>
        </p:nvSpPr>
        <p:spPr>
          <a:xfrm>
            <a:off x="10023053" y="6025755"/>
            <a:ext cx="228600" cy="228600"/>
          </a:xfrm>
          <a:prstGeom prst="roundRect">
            <a:avLst>
              <a:gd name="adj" fmla="val 25000"/>
            </a:avLst>
          </a:prstGeom>
          <a:solidFill>
            <a:srgbClr val="FFC233"/>
          </a:solidFill>
          <a:ln w="9525"/>
        </p:spPr>
        <p:txBody>
          <a:bodyPr/>
          <a:lstStyle/>
          <a:p>
            <a:endParaRPr lang="en-TH"/>
          </a:p>
        </p:txBody>
      </p:sp>
      <p:sp>
        <p:nvSpPr>
          <p:cNvPr id="31" name="Text 29"/>
          <p:cNvSpPr/>
          <p:nvPr/>
        </p:nvSpPr>
        <p:spPr>
          <a:xfrm>
            <a:off x="10481519" y="5849542"/>
            <a:ext cx="1392118" cy="420628"/>
          </a:xfrm>
          <a:prstGeom prst="rect">
            <a:avLst/>
          </a:prstGeom>
          <a:noFill/>
          <a:ln w="9525"/>
        </p:spPr>
        <p:txBody>
          <a:bodyPr lIns="25400" tIns="25400" rIns="25400" bIns="25400" rtlCol="0" anchor="t">
            <a:spAutoFit/>
          </a:bodyPr>
          <a:lstStyle/>
          <a:p>
            <a:pPr marL="0" indent="0" algn="l">
              <a:buNone/>
            </a:pPr>
            <a:r>
              <a:rPr lang="en-US" sz="2400" dirty="0">
                <a:solidFill>
                  <a:srgbClr val="0B0F19"/>
                </a:solidFill>
                <a:latin typeface="Space Grotesk" pitchFamily="34" charset="0"/>
                <a:ea typeface="Space Grotesk" pitchFamily="34" charset="-122"/>
                <a:cs typeface="Space Grotesk" pitchFamily="34" charset="-120"/>
              </a:rPr>
              <a:t>C+ / C</a:t>
            </a:r>
            <a:endParaRPr lang="en-US" sz="2400" dirty="0"/>
          </a:p>
        </p:txBody>
      </p:sp>
      <p:sp>
        <p:nvSpPr>
          <p:cNvPr id="32" name="Text 30"/>
          <p:cNvSpPr/>
          <p:nvPr/>
        </p:nvSpPr>
        <p:spPr>
          <a:xfrm>
            <a:off x="10481519" y="6208044"/>
            <a:ext cx="1413849"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65–69 / 60–64</a:t>
            </a:r>
            <a:endParaRPr lang="en-US" dirty="0"/>
          </a:p>
        </p:txBody>
      </p:sp>
      <p:sp>
        <p:nvSpPr>
          <p:cNvPr id="33" name="Text 31"/>
          <p:cNvSpPr/>
          <p:nvPr/>
        </p:nvSpPr>
        <p:spPr>
          <a:xfrm>
            <a:off x="16629203" y="5990036"/>
            <a:ext cx="360997"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fair</a:t>
            </a:r>
            <a:endParaRPr lang="en-US" dirty="0"/>
          </a:p>
        </p:txBody>
      </p:sp>
      <p:sp>
        <p:nvSpPr>
          <p:cNvPr id="34" name="Shape 32"/>
          <p:cNvSpPr/>
          <p:nvPr/>
        </p:nvSpPr>
        <p:spPr>
          <a:xfrm>
            <a:off x="9946853" y="6640117"/>
            <a:ext cx="7121947" cy="9525"/>
          </a:xfrm>
          <a:prstGeom prst="rect">
            <a:avLst/>
          </a:prstGeom>
          <a:solidFill>
            <a:srgbClr val="ECEEF1"/>
          </a:solidFill>
          <a:ln w="9525"/>
        </p:spPr>
        <p:txBody>
          <a:bodyPr/>
          <a:lstStyle/>
          <a:p>
            <a:endParaRPr lang="en-TH"/>
          </a:p>
        </p:txBody>
      </p:sp>
      <p:sp>
        <p:nvSpPr>
          <p:cNvPr id="35" name="Shape 33"/>
          <p:cNvSpPr/>
          <p:nvPr/>
        </p:nvSpPr>
        <p:spPr>
          <a:xfrm>
            <a:off x="10023053" y="7035405"/>
            <a:ext cx="228600" cy="228600"/>
          </a:xfrm>
          <a:prstGeom prst="roundRect">
            <a:avLst>
              <a:gd name="adj" fmla="val 25000"/>
            </a:avLst>
          </a:prstGeom>
          <a:solidFill>
            <a:srgbClr val="16B670"/>
          </a:solidFill>
          <a:ln w="9525"/>
        </p:spPr>
        <p:txBody>
          <a:bodyPr/>
          <a:lstStyle/>
          <a:p>
            <a:endParaRPr lang="en-TH"/>
          </a:p>
        </p:txBody>
      </p:sp>
      <p:sp>
        <p:nvSpPr>
          <p:cNvPr id="36" name="Text 34"/>
          <p:cNvSpPr/>
          <p:nvPr/>
        </p:nvSpPr>
        <p:spPr>
          <a:xfrm>
            <a:off x="10481519" y="6859192"/>
            <a:ext cx="3335738" cy="420628"/>
          </a:xfrm>
          <a:prstGeom prst="rect">
            <a:avLst/>
          </a:prstGeom>
          <a:noFill/>
          <a:ln w="9525"/>
        </p:spPr>
        <p:txBody>
          <a:bodyPr lIns="25400" tIns="25400" rIns="25400" bIns="25400" rtlCol="0" anchor="t">
            <a:spAutoFit/>
          </a:bodyPr>
          <a:lstStyle/>
          <a:p>
            <a:pPr marL="0" indent="0" algn="l">
              <a:buNone/>
            </a:pPr>
            <a:r>
              <a:rPr lang="en-US" sz="2400" dirty="0">
                <a:solidFill>
                  <a:srgbClr val="0B0F19"/>
                </a:solidFill>
                <a:latin typeface="Space Grotesk" pitchFamily="34" charset="0"/>
                <a:ea typeface="Space Grotesk" pitchFamily="34" charset="-122"/>
                <a:cs typeface="Space Grotesk" pitchFamily="34" charset="-120"/>
              </a:rPr>
              <a:t>D+ / D</a:t>
            </a:r>
            <a:endParaRPr lang="en-US" sz="2400" dirty="0"/>
          </a:p>
        </p:txBody>
      </p:sp>
      <p:sp>
        <p:nvSpPr>
          <p:cNvPr id="37" name="Text 35"/>
          <p:cNvSpPr/>
          <p:nvPr/>
        </p:nvSpPr>
        <p:spPr>
          <a:xfrm>
            <a:off x="10481519" y="7217694"/>
            <a:ext cx="1413849"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55–59 / 50–54</a:t>
            </a:r>
            <a:endParaRPr lang="en-US" dirty="0"/>
          </a:p>
        </p:txBody>
      </p:sp>
      <p:sp>
        <p:nvSpPr>
          <p:cNvPr id="38" name="Text 36"/>
          <p:cNvSpPr/>
          <p:nvPr/>
        </p:nvSpPr>
        <p:spPr>
          <a:xfrm>
            <a:off x="16529332" y="6999686"/>
            <a:ext cx="463268"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pass</a:t>
            </a:r>
            <a:endParaRPr lang="en-US" dirty="0"/>
          </a:p>
        </p:txBody>
      </p:sp>
      <p:sp>
        <p:nvSpPr>
          <p:cNvPr id="39" name="Shape 37"/>
          <p:cNvSpPr/>
          <p:nvPr/>
        </p:nvSpPr>
        <p:spPr>
          <a:xfrm>
            <a:off x="9946853" y="7649767"/>
            <a:ext cx="7121947" cy="9525"/>
          </a:xfrm>
          <a:prstGeom prst="rect">
            <a:avLst/>
          </a:prstGeom>
          <a:solidFill>
            <a:srgbClr val="ECEEF1"/>
          </a:solidFill>
          <a:ln w="9525"/>
        </p:spPr>
        <p:txBody>
          <a:bodyPr/>
          <a:lstStyle/>
          <a:p>
            <a:endParaRPr lang="en-TH"/>
          </a:p>
        </p:txBody>
      </p:sp>
      <p:sp>
        <p:nvSpPr>
          <p:cNvPr id="40" name="Shape 38"/>
          <p:cNvSpPr/>
          <p:nvPr/>
        </p:nvSpPr>
        <p:spPr>
          <a:xfrm>
            <a:off x="10023053" y="8045055"/>
            <a:ext cx="228600" cy="228600"/>
          </a:xfrm>
          <a:prstGeom prst="roundRect">
            <a:avLst>
              <a:gd name="adj" fmla="val 25000"/>
            </a:avLst>
          </a:prstGeom>
          <a:solidFill>
            <a:srgbClr val="7A4FFF"/>
          </a:solidFill>
          <a:ln w="9525"/>
        </p:spPr>
        <p:txBody>
          <a:bodyPr/>
          <a:lstStyle/>
          <a:p>
            <a:endParaRPr lang="en-TH"/>
          </a:p>
        </p:txBody>
      </p:sp>
      <p:sp>
        <p:nvSpPr>
          <p:cNvPr id="41" name="Text 39"/>
          <p:cNvSpPr/>
          <p:nvPr/>
        </p:nvSpPr>
        <p:spPr>
          <a:xfrm>
            <a:off x="10481519" y="7868842"/>
            <a:ext cx="634774" cy="420628"/>
          </a:xfrm>
          <a:prstGeom prst="rect">
            <a:avLst/>
          </a:prstGeom>
          <a:noFill/>
          <a:ln w="9525"/>
        </p:spPr>
        <p:txBody>
          <a:bodyPr lIns="25400" tIns="25400" rIns="25400" bIns="25400" rtlCol="0" anchor="t">
            <a:spAutoFit/>
          </a:bodyPr>
          <a:lstStyle/>
          <a:p>
            <a:pPr marL="0" indent="0" algn="l">
              <a:buNone/>
            </a:pPr>
            <a:r>
              <a:rPr lang="en-US" sz="2400" dirty="0">
                <a:solidFill>
                  <a:srgbClr val="0B0F19"/>
                </a:solidFill>
                <a:latin typeface="Space Grotesk" pitchFamily="34" charset="0"/>
                <a:ea typeface="Space Grotesk" pitchFamily="34" charset="-122"/>
                <a:cs typeface="Space Grotesk" pitchFamily="34" charset="-120"/>
              </a:rPr>
              <a:t>F</a:t>
            </a:r>
            <a:endParaRPr lang="en-US" sz="2400" dirty="0"/>
          </a:p>
        </p:txBody>
      </p:sp>
      <p:sp>
        <p:nvSpPr>
          <p:cNvPr id="42" name="Text 40"/>
          <p:cNvSpPr/>
          <p:nvPr/>
        </p:nvSpPr>
        <p:spPr>
          <a:xfrm>
            <a:off x="10481519" y="8164418"/>
            <a:ext cx="914417"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below 50</a:t>
            </a:r>
            <a:endParaRPr lang="en-US" dirty="0"/>
          </a:p>
        </p:txBody>
      </p:sp>
      <p:sp>
        <p:nvSpPr>
          <p:cNvPr id="43" name="Text 41"/>
          <p:cNvSpPr/>
          <p:nvPr/>
        </p:nvSpPr>
        <p:spPr>
          <a:xfrm>
            <a:off x="16658854" y="8018016"/>
            <a:ext cx="333746"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fail</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EEF0F3"/>
        </a:solidFill>
        <a:effectLst/>
      </p:bgPr>
    </p:bg>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p:cNvSpPr/>
          <p:nvPr/>
        </p:nvSpPr>
        <p:spPr>
          <a:xfrm>
            <a:off x="728216" y="154781"/>
            <a:ext cx="3889732"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p:cNvSpPr/>
          <p:nvPr/>
        </p:nvSpPr>
        <p:spPr>
          <a:xfrm>
            <a:off x="4771355" y="154781"/>
            <a:ext cx="3382869"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Page · Your project</a:t>
            </a:r>
            <a:endParaRPr lang="en-US" sz="1800" dirty="0"/>
          </a:p>
        </p:txBody>
      </p:sp>
      <p:sp>
        <p:nvSpPr>
          <p:cNvPr id="7" name="Text 5"/>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kern="0" spc="72" dirty="0">
                <a:solidFill>
                  <a:srgbClr val="7A8290"/>
                </a:solidFill>
                <a:latin typeface="JetBrains Mono" pitchFamily="34" charset="0"/>
                <a:ea typeface="JetBrains Mono" pitchFamily="34" charset="-122"/>
                <a:cs typeface="JetBrains Mono" pitchFamily="34" charset="-120"/>
              </a:rPr>
              <a:t>12</a:t>
            </a:r>
            <a:r>
              <a:rPr lang="en-US" sz="1800" kern="0" spc="72" dirty="0">
                <a:solidFill>
                  <a:srgbClr val="7A8290"/>
                </a:solidFill>
                <a:latin typeface="JetBrains Mono" pitchFamily="34" charset="0"/>
                <a:ea typeface="JetBrains Mono" pitchFamily="34" charset="-122"/>
                <a:cs typeface="JetBrains Mono" pitchFamily="34" charset="-120"/>
              </a:rPr>
              <a:t> / </a:t>
            </a:r>
            <a:r>
              <a:rPr lang="en-US" kern="0" spc="72" dirty="0">
                <a:solidFill>
                  <a:srgbClr val="7A8290"/>
                </a:solidFill>
                <a:latin typeface="JetBrains Mono" pitchFamily="34" charset="0"/>
                <a:ea typeface="JetBrains Mono" pitchFamily="34" charset="-122"/>
                <a:cs typeface="JetBrains Mono" pitchFamily="34" charset="-120"/>
              </a:rPr>
              <a:t>32</a:t>
            </a:r>
            <a:endParaRPr lang="en-US" sz="1800" dirty="0"/>
          </a:p>
        </p:txBody>
      </p:sp>
      <p:sp>
        <p:nvSpPr>
          <p:cNvPr id="9" name="Text 7"/>
          <p:cNvSpPr/>
          <p:nvPr/>
        </p:nvSpPr>
        <p:spPr>
          <a:xfrm>
            <a:off x="914400" y="1524000"/>
            <a:ext cx="16952976"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YOUR PROJECT</a:t>
            </a:r>
            <a:endParaRPr lang="en-US" sz="1800" dirty="0"/>
          </a:p>
        </p:txBody>
      </p:sp>
      <p:sp>
        <p:nvSpPr>
          <p:cNvPr id="10" name="Text 8"/>
          <p:cNvSpPr/>
          <p:nvPr/>
        </p:nvSpPr>
        <p:spPr>
          <a:xfrm>
            <a:off x="914400" y="1995487"/>
            <a:ext cx="16952976" cy="908051"/>
          </a:xfrm>
          <a:prstGeom prst="rect">
            <a:avLst/>
          </a:prstGeom>
          <a:noFill/>
          <a:ln w="9525"/>
        </p:spPr>
        <p:txBody>
          <a:bodyPr wrap="square" lIns="25400" tIns="25400" rIns="25400" bIns="25400" rtlCol="0" anchor="t">
            <a:normAutofit/>
          </a:bodyPr>
          <a:lstStyle/>
          <a:p>
            <a:pPr marL="0" indent="0" algn="l">
              <a:lnSpc>
                <a:spcPct val="100000"/>
              </a:lnSpc>
              <a:buNone/>
            </a:pPr>
            <a:r>
              <a:rPr lang="en-US" sz="4800" b="1" kern="0" spc="-120" dirty="0">
                <a:solidFill>
                  <a:srgbClr val="0B0F19"/>
                </a:solidFill>
                <a:latin typeface="Space Grotesk" pitchFamily="34" charset="0"/>
                <a:ea typeface="Space Grotesk" pitchFamily="34" charset="-122"/>
                <a:cs typeface="Space Grotesk" pitchFamily="34" charset="-120"/>
              </a:rPr>
              <a:t>One team project, four checkpoints</a:t>
            </a:r>
            <a:endParaRPr lang="en-US" sz="4800" dirty="0"/>
          </a:p>
        </p:txBody>
      </p:sp>
      <p:sp>
        <p:nvSpPr>
          <p:cNvPr id="11" name="Text 9"/>
          <p:cNvSpPr/>
          <p:nvPr/>
        </p:nvSpPr>
        <p:spPr>
          <a:xfrm>
            <a:off x="914400" y="2903538"/>
            <a:ext cx="16459200" cy="908051"/>
          </a:xfrm>
          <a:prstGeom prst="rect">
            <a:avLst/>
          </a:prstGeom>
          <a:noFill/>
          <a:ln w="9525"/>
        </p:spPr>
        <p:txBody>
          <a:bodyPr wrap="square" lIns="25400" tIns="25400" rIns="25400" bIns="25400" rtlCol="0" anchor="t">
            <a:normAutofit lnSpcReduction="10000"/>
          </a:bodyPr>
          <a:lstStyle/>
          <a:p>
            <a:pPr marL="0" indent="0" algn="l">
              <a:lnSpc>
                <a:spcPct val="125000"/>
              </a:lnSpc>
              <a:buNone/>
            </a:pPr>
            <a:r>
              <a:rPr lang="en-US" sz="2400" dirty="0">
                <a:solidFill>
                  <a:srgbClr val="3A4250"/>
                </a:solidFill>
                <a:latin typeface="Space Grotesk" pitchFamily="34" charset="0"/>
                <a:ea typeface="Space Grotesk" pitchFamily="34" charset="-122"/>
                <a:cs typeface="Space Grotesk" pitchFamily="34" charset="-120"/>
              </a:rPr>
              <a:t>Teams of about five. Everyone works in the same problem space — helping a student organise their study life — but every team picks different features. Same domain, different solutions, so nobody can copy.</a:t>
            </a:r>
            <a:endParaRPr lang="en-US" sz="2400" dirty="0"/>
          </a:p>
        </p:txBody>
      </p:sp>
      <p:sp>
        <p:nvSpPr>
          <p:cNvPr id="12" name="Shape 10"/>
          <p:cNvSpPr/>
          <p:nvPr/>
        </p:nvSpPr>
        <p:spPr>
          <a:xfrm>
            <a:off x="914400" y="4026098"/>
            <a:ext cx="3943350" cy="5427924"/>
          </a:xfrm>
          <a:prstGeom prst="roundRect">
            <a:avLst>
              <a:gd name="adj" fmla="val 5083"/>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13" name="Text 11"/>
          <p:cNvSpPr/>
          <p:nvPr/>
        </p:nvSpPr>
        <p:spPr>
          <a:xfrm>
            <a:off x="1181100" y="4311848"/>
            <a:ext cx="3512249"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STAGE 01</a:t>
            </a:r>
            <a:endParaRPr lang="en-US" sz="1800" dirty="0"/>
          </a:p>
        </p:txBody>
      </p:sp>
      <p:sp>
        <p:nvSpPr>
          <p:cNvPr id="14" name="Text 12"/>
          <p:cNvSpPr/>
          <p:nvPr/>
        </p:nvSpPr>
        <p:spPr>
          <a:xfrm>
            <a:off x="1181100" y="4707136"/>
            <a:ext cx="3512249" cy="373335"/>
          </a:xfrm>
          <a:prstGeom prst="rect">
            <a:avLst/>
          </a:prstGeom>
          <a:noFill/>
          <a:ln w="9525"/>
        </p:spPr>
        <p:txBody>
          <a:bodyPr wrap="square" lIns="25400" tIns="25400" rIns="25400" bIns="25400" rtlCol="0" anchor="t">
            <a:normAutofit fontScale="92500" lnSpcReduction="20000"/>
          </a:bodyPr>
          <a:lstStyle/>
          <a:p>
            <a:pPr marL="0" indent="0" algn="l">
              <a:lnSpc>
                <a:spcPct val="110000"/>
              </a:lnSpc>
              <a:buNone/>
            </a:pPr>
            <a:r>
              <a:rPr lang="en-US" sz="2400" b="1" kern="0" spc="-36" dirty="0">
                <a:solidFill>
                  <a:srgbClr val="0B0F19"/>
                </a:solidFill>
                <a:latin typeface="Space Grotesk" pitchFamily="34" charset="0"/>
                <a:ea typeface="Space Grotesk" pitchFamily="34" charset="-122"/>
                <a:cs typeface="Space Grotesk" pitchFamily="34" charset="-120"/>
              </a:rPr>
              <a:t>Charter &amp; SRS</a:t>
            </a:r>
            <a:endParaRPr lang="en-US" sz="2400" dirty="0"/>
          </a:p>
        </p:txBody>
      </p:sp>
      <p:sp>
        <p:nvSpPr>
          <p:cNvPr id="15" name="Text 13"/>
          <p:cNvSpPr/>
          <p:nvPr/>
        </p:nvSpPr>
        <p:spPr>
          <a:xfrm>
            <a:off x="1181100" y="5175721"/>
            <a:ext cx="3512249" cy="3211841"/>
          </a:xfrm>
          <a:prstGeom prst="rect">
            <a:avLst/>
          </a:prstGeom>
          <a:noFill/>
          <a:ln w="9525"/>
        </p:spPr>
        <p:txBody>
          <a:bodyPr wrap="square" lIns="25400" tIns="25400" rIns="25400" bIns="25400" rtlCol="0" anchor="t">
            <a:spAutoFit/>
          </a:bodyPr>
          <a:lstStyle/>
          <a:p>
            <a:pPr marL="0" indent="0" algn="l">
              <a:lnSpc>
                <a:spcPct val="145000"/>
              </a:lnSpc>
              <a:buNone/>
            </a:pPr>
            <a:r>
              <a:rPr lang="en-US" sz="2400" dirty="0">
                <a:solidFill>
                  <a:srgbClr val="3A4250"/>
                </a:solidFill>
                <a:latin typeface="Space Grotesk" pitchFamily="34" charset="0"/>
                <a:ea typeface="Space Grotesk" pitchFamily="34" charset="-122"/>
                <a:cs typeface="Space Grotesk" pitchFamily="34" charset="-120"/>
              </a:rPr>
              <a:t>Name the pain you actually care about and who has it, then write the requirements as user stories with acceptance criteria. Weeks 2–4.</a:t>
            </a:r>
            <a:endParaRPr lang="en-US" sz="2400" dirty="0"/>
          </a:p>
        </p:txBody>
      </p:sp>
      <p:grpSp>
        <p:nvGrpSpPr>
          <p:cNvPr id="92241334" name="Group 92241334"/>
          <p:cNvGrpSpPr/>
          <p:nvPr/>
        </p:nvGrpSpPr>
        <p:grpSpPr>
          <a:xfrm>
            <a:off x="1181100" y="9061994"/>
            <a:ext cx="3409950" cy="95250"/>
            <a:chOff x="1181100" y="7061522"/>
            <a:chExt cx="3409950" cy="95250"/>
          </a:xfrm>
        </p:grpSpPr>
        <p:sp>
          <p:nvSpPr>
            <p:cNvPr id="16" name="Shape 14"/>
            <p:cNvSpPr/>
            <p:nvPr/>
          </p:nvSpPr>
          <p:spPr>
            <a:xfrm>
              <a:off x="1181100" y="7061522"/>
              <a:ext cx="809625" cy="95250"/>
            </a:xfrm>
            <a:prstGeom prst="roundRect">
              <a:avLst>
                <a:gd name="adj" fmla="val 40000"/>
              </a:avLst>
            </a:prstGeom>
            <a:solidFill>
              <a:srgbClr val="FF5A47"/>
            </a:solidFill>
            <a:ln w="9525"/>
          </p:spPr>
          <p:txBody>
            <a:bodyPr/>
            <a:lstStyle/>
            <a:p>
              <a:endParaRPr lang="en-TH"/>
            </a:p>
          </p:txBody>
        </p:sp>
        <p:sp>
          <p:nvSpPr>
            <p:cNvPr id="17" name="Shape 15"/>
            <p:cNvSpPr/>
            <p:nvPr/>
          </p:nvSpPr>
          <p:spPr>
            <a:xfrm>
              <a:off x="2047875" y="7061522"/>
              <a:ext cx="809625" cy="95250"/>
            </a:xfrm>
            <a:prstGeom prst="roundRect">
              <a:avLst>
                <a:gd name="adj" fmla="val 40000"/>
              </a:avLst>
            </a:prstGeom>
            <a:solidFill>
              <a:srgbClr val="E4E7EC"/>
            </a:solidFill>
            <a:ln w="9525"/>
          </p:spPr>
          <p:txBody>
            <a:bodyPr/>
            <a:lstStyle/>
            <a:p>
              <a:endParaRPr lang="en-TH"/>
            </a:p>
          </p:txBody>
        </p:sp>
        <p:sp>
          <p:nvSpPr>
            <p:cNvPr id="18" name="Shape 16"/>
            <p:cNvSpPr/>
            <p:nvPr/>
          </p:nvSpPr>
          <p:spPr>
            <a:xfrm>
              <a:off x="2914650" y="7061522"/>
              <a:ext cx="809625" cy="95250"/>
            </a:xfrm>
            <a:prstGeom prst="roundRect">
              <a:avLst>
                <a:gd name="adj" fmla="val 40000"/>
              </a:avLst>
            </a:prstGeom>
            <a:solidFill>
              <a:srgbClr val="E4E7EC"/>
            </a:solidFill>
            <a:ln w="9525"/>
          </p:spPr>
          <p:txBody>
            <a:bodyPr/>
            <a:lstStyle/>
            <a:p>
              <a:endParaRPr lang="en-TH"/>
            </a:p>
          </p:txBody>
        </p:sp>
        <p:sp>
          <p:nvSpPr>
            <p:cNvPr id="19" name="Shape 17"/>
            <p:cNvSpPr/>
            <p:nvPr/>
          </p:nvSpPr>
          <p:spPr>
            <a:xfrm>
              <a:off x="3781425" y="7061522"/>
              <a:ext cx="809625" cy="95250"/>
            </a:xfrm>
            <a:prstGeom prst="roundRect">
              <a:avLst>
                <a:gd name="adj" fmla="val 40000"/>
              </a:avLst>
            </a:prstGeom>
            <a:solidFill>
              <a:srgbClr val="E4E7EC"/>
            </a:solidFill>
            <a:ln w="9525"/>
          </p:spPr>
          <p:txBody>
            <a:bodyPr/>
            <a:lstStyle/>
            <a:p>
              <a:endParaRPr lang="en-TH"/>
            </a:p>
          </p:txBody>
        </p:sp>
      </p:grpSp>
      <p:sp>
        <p:nvSpPr>
          <p:cNvPr id="20" name="Shape 18"/>
          <p:cNvSpPr/>
          <p:nvPr/>
        </p:nvSpPr>
        <p:spPr>
          <a:xfrm>
            <a:off x="5086350" y="4026098"/>
            <a:ext cx="3943350" cy="5427924"/>
          </a:xfrm>
          <a:prstGeom prst="roundRect">
            <a:avLst>
              <a:gd name="adj" fmla="val 5083"/>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1" name="Text 19"/>
          <p:cNvSpPr/>
          <p:nvPr/>
        </p:nvSpPr>
        <p:spPr>
          <a:xfrm>
            <a:off x="5353050" y="4311848"/>
            <a:ext cx="3512249"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STAGE 02</a:t>
            </a:r>
            <a:endParaRPr lang="en-US" sz="1800" dirty="0"/>
          </a:p>
        </p:txBody>
      </p:sp>
      <p:sp>
        <p:nvSpPr>
          <p:cNvPr id="22" name="Text 20"/>
          <p:cNvSpPr/>
          <p:nvPr/>
        </p:nvSpPr>
        <p:spPr>
          <a:xfrm>
            <a:off x="5353050" y="4707136"/>
            <a:ext cx="3512249" cy="373335"/>
          </a:xfrm>
          <a:prstGeom prst="rect">
            <a:avLst/>
          </a:prstGeom>
          <a:noFill/>
          <a:ln w="9525"/>
        </p:spPr>
        <p:txBody>
          <a:bodyPr wrap="square" lIns="25400" tIns="25400" rIns="25400" bIns="25400" rtlCol="0" anchor="t">
            <a:normAutofit fontScale="92500" lnSpcReduction="20000"/>
          </a:bodyPr>
          <a:lstStyle/>
          <a:p>
            <a:pPr marL="0" indent="0" algn="l">
              <a:lnSpc>
                <a:spcPct val="110000"/>
              </a:lnSpc>
              <a:buNone/>
            </a:pPr>
            <a:r>
              <a:rPr lang="en-US" sz="2400" b="1" kern="0" spc="-36" dirty="0">
                <a:solidFill>
                  <a:srgbClr val="0B0F19"/>
                </a:solidFill>
                <a:latin typeface="Space Grotesk" pitchFamily="34" charset="0"/>
                <a:ea typeface="Space Grotesk" pitchFamily="34" charset="-122"/>
                <a:cs typeface="Space Grotesk" pitchFamily="34" charset="-120"/>
              </a:rPr>
              <a:t>Model &amp; design</a:t>
            </a:r>
            <a:endParaRPr lang="en-US" sz="2400" dirty="0"/>
          </a:p>
        </p:txBody>
      </p:sp>
      <p:sp>
        <p:nvSpPr>
          <p:cNvPr id="23" name="Text 21"/>
          <p:cNvSpPr/>
          <p:nvPr/>
        </p:nvSpPr>
        <p:spPr>
          <a:xfrm>
            <a:off x="5353050" y="5175721"/>
            <a:ext cx="3512249" cy="3747373"/>
          </a:xfrm>
          <a:prstGeom prst="rect">
            <a:avLst/>
          </a:prstGeom>
          <a:noFill/>
          <a:ln w="9525"/>
        </p:spPr>
        <p:txBody>
          <a:bodyPr wrap="square" lIns="25400" tIns="25400" rIns="25400" bIns="25400" rtlCol="0" anchor="t">
            <a:spAutoFit/>
          </a:bodyPr>
          <a:lstStyle/>
          <a:p>
            <a:pPr marL="0" indent="0" algn="l">
              <a:lnSpc>
                <a:spcPct val="145000"/>
              </a:lnSpc>
              <a:buNone/>
            </a:pPr>
            <a:r>
              <a:rPr lang="en-US" sz="2400" dirty="0">
                <a:solidFill>
                  <a:srgbClr val="3A4250"/>
                </a:solidFill>
                <a:latin typeface="Space Grotesk" pitchFamily="34" charset="0"/>
                <a:ea typeface="Space Grotesk" pitchFamily="34" charset="-122"/>
                <a:cs typeface="Space Grotesk" pitchFamily="34" charset="-120"/>
              </a:rPr>
              <a:t>Turn requirements into a use-case model and a simple architecture, and record one design decision together with the alternatives you rejected. Weeks 4–6.</a:t>
            </a:r>
            <a:endParaRPr lang="en-US" sz="2400" dirty="0"/>
          </a:p>
        </p:txBody>
      </p:sp>
      <p:grpSp>
        <p:nvGrpSpPr>
          <p:cNvPr id="37399629" name="Group 37399629"/>
          <p:cNvGrpSpPr/>
          <p:nvPr/>
        </p:nvGrpSpPr>
        <p:grpSpPr>
          <a:xfrm>
            <a:off x="5353050" y="9061994"/>
            <a:ext cx="3409950" cy="95250"/>
            <a:chOff x="5353050" y="7392963"/>
            <a:chExt cx="3409950" cy="95250"/>
          </a:xfrm>
        </p:grpSpPr>
        <p:sp>
          <p:nvSpPr>
            <p:cNvPr id="24" name="Shape 22"/>
            <p:cNvSpPr/>
            <p:nvPr/>
          </p:nvSpPr>
          <p:spPr>
            <a:xfrm>
              <a:off x="5353050" y="7392963"/>
              <a:ext cx="809625" cy="95250"/>
            </a:xfrm>
            <a:prstGeom prst="roundRect">
              <a:avLst>
                <a:gd name="adj" fmla="val 40000"/>
              </a:avLst>
            </a:prstGeom>
            <a:solidFill>
              <a:srgbClr val="FFC233"/>
            </a:solidFill>
            <a:ln w="9525"/>
          </p:spPr>
          <p:txBody>
            <a:bodyPr/>
            <a:lstStyle/>
            <a:p>
              <a:endParaRPr lang="en-TH"/>
            </a:p>
          </p:txBody>
        </p:sp>
        <p:sp>
          <p:nvSpPr>
            <p:cNvPr id="25" name="Shape 23"/>
            <p:cNvSpPr/>
            <p:nvPr/>
          </p:nvSpPr>
          <p:spPr>
            <a:xfrm>
              <a:off x="6219825" y="7392963"/>
              <a:ext cx="809625" cy="95250"/>
            </a:xfrm>
            <a:prstGeom prst="roundRect">
              <a:avLst>
                <a:gd name="adj" fmla="val 40000"/>
              </a:avLst>
            </a:prstGeom>
            <a:solidFill>
              <a:srgbClr val="FFC233"/>
            </a:solidFill>
            <a:ln w="9525"/>
          </p:spPr>
          <p:txBody>
            <a:bodyPr/>
            <a:lstStyle/>
            <a:p>
              <a:endParaRPr lang="en-TH"/>
            </a:p>
          </p:txBody>
        </p:sp>
        <p:sp>
          <p:nvSpPr>
            <p:cNvPr id="26" name="Shape 24"/>
            <p:cNvSpPr/>
            <p:nvPr/>
          </p:nvSpPr>
          <p:spPr>
            <a:xfrm>
              <a:off x="7086600" y="7392963"/>
              <a:ext cx="809625" cy="95250"/>
            </a:xfrm>
            <a:prstGeom prst="roundRect">
              <a:avLst>
                <a:gd name="adj" fmla="val 40000"/>
              </a:avLst>
            </a:prstGeom>
            <a:solidFill>
              <a:srgbClr val="E4E7EC"/>
            </a:solidFill>
            <a:ln w="9525"/>
          </p:spPr>
          <p:txBody>
            <a:bodyPr/>
            <a:lstStyle/>
            <a:p>
              <a:endParaRPr lang="en-TH"/>
            </a:p>
          </p:txBody>
        </p:sp>
        <p:sp>
          <p:nvSpPr>
            <p:cNvPr id="27" name="Shape 25"/>
            <p:cNvSpPr/>
            <p:nvPr/>
          </p:nvSpPr>
          <p:spPr>
            <a:xfrm>
              <a:off x="7953375" y="7392963"/>
              <a:ext cx="809625" cy="95250"/>
            </a:xfrm>
            <a:prstGeom prst="roundRect">
              <a:avLst>
                <a:gd name="adj" fmla="val 40000"/>
              </a:avLst>
            </a:prstGeom>
            <a:solidFill>
              <a:srgbClr val="E4E7EC"/>
            </a:solidFill>
            <a:ln w="9525"/>
          </p:spPr>
          <p:txBody>
            <a:bodyPr/>
            <a:lstStyle/>
            <a:p>
              <a:endParaRPr lang="en-TH"/>
            </a:p>
          </p:txBody>
        </p:sp>
      </p:grpSp>
      <p:sp>
        <p:nvSpPr>
          <p:cNvPr id="28" name="Shape 26"/>
          <p:cNvSpPr/>
          <p:nvPr/>
        </p:nvSpPr>
        <p:spPr>
          <a:xfrm>
            <a:off x="9258300" y="4026098"/>
            <a:ext cx="3943350" cy="5427924"/>
          </a:xfrm>
          <a:prstGeom prst="roundRect">
            <a:avLst>
              <a:gd name="adj" fmla="val 5083"/>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9" name="Text 27"/>
          <p:cNvSpPr/>
          <p:nvPr/>
        </p:nvSpPr>
        <p:spPr>
          <a:xfrm>
            <a:off x="9525000" y="4311848"/>
            <a:ext cx="3512249"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STAGE 03</a:t>
            </a:r>
            <a:endParaRPr lang="en-US" sz="1800" dirty="0"/>
          </a:p>
        </p:txBody>
      </p:sp>
      <p:sp>
        <p:nvSpPr>
          <p:cNvPr id="30" name="Text 28"/>
          <p:cNvSpPr/>
          <p:nvPr/>
        </p:nvSpPr>
        <p:spPr>
          <a:xfrm>
            <a:off x="9525000" y="4707136"/>
            <a:ext cx="3512249" cy="373335"/>
          </a:xfrm>
          <a:prstGeom prst="rect">
            <a:avLst/>
          </a:prstGeom>
          <a:noFill/>
          <a:ln w="9525"/>
        </p:spPr>
        <p:txBody>
          <a:bodyPr wrap="square" lIns="25400" tIns="25400" rIns="25400" bIns="25400" rtlCol="0" anchor="t">
            <a:normAutofit fontScale="92500" lnSpcReduction="20000"/>
          </a:bodyPr>
          <a:lstStyle/>
          <a:p>
            <a:pPr marL="0" indent="0" algn="l">
              <a:lnSpc>
                <a:spcPct val="110000"/>
              </a:lnSpc>
              <a:buNone/>
            </a:pPr>
            <a:r>
              <a:rPr lang="en-US" sz="2400" b="1" kern="0" spc="-36" dirty="0">
                <a:solidFill>
                  <a:srgbClr val="0B0F19"/>
                </a:solidFill>
                <a:latin typeface="Space Grotesk" pitchFamily="34" charset="0"/>
                <a:ea typeface="Space Grotesk" pitchFamily="34" charset="-122"/>
                <a:cs typeface="Space Grotesk" pitchFamily="34" charset="-120"/>
              </a:rPr>
              <a:t>Build &amp; test</a:t>
            </a:r>
            <a:endParaRPr lang="en-US" sz="2400" dirty="0"/>
          </a:p>
        </p:txBody>
      </p:sp>
      <p:sp>
        <p:nvSpPr>
          <p:cNvPr id="31" name="Text 29"/>
          <p:cNvSpPr/>
          <p:nvPr/>
        </p:nvSpPr>
        <p:spPr>
          <a:xfrm>
            <a:off x="9525000" y="5175721"/>
            <a:ext cx="3512249" cy="3211841"/>
          </a:xfrm>
          <a:prstGeom prst="rect">
            <a:avLst/>
          </a:prstGeom>
          <a:noFill/>
          <a:ln w="9525"/>
        </p:spPr>
        <p:txBody>
          <a:bodyPr wrap="square" lIns="25400" tIns="25400" rIns="25400" bIns="25400" rtlCol="0" anchor="t">
            <a:spAutoFit/>
          </a:bodyPr>
          <a:lstStyle/>
          <a:p>
            <a:pPr marL="0" indent="0" algn="l">
              <a:lnSpc>
                <a:spcPct val="145000"/>
              </a:lnSpc>
              <a:buNone/>
            </a:pPr>
            <a:r>
              <a:rPr lang="en-US" sz="2400" dirty="0">
                <a:solidFill>
                  <a:srgbClr val="3A4250"/>
                </a:solidFill>
                <a:latin typeface="Space Grotesk" pitchFamily="34" charset="0"/>
                <a:ea typeface="Space Grotesk" pitchFamily="34" charset="-122"/>
                <a:cs typeface="Space Grotesk" pitchFamily="34" charset="-120"/>
              </a:rPr>
              <a:t>A GitHub repository every member commits to, unit tests that check your own acceptance criteria, and a basic quality and security pass. Weeks 6–10.</a:t>
            </a:r>
            <a:endParaRPr lang="en-US" sz="2400" dirty="0"/>
          </a:p>
        </p:txBody>
      </p:sp>
      <p:grpSp>
        <p:nvGrpSpPr>
          <p:cNvPr id="41997815" name="Group 41997815"/>
          <p:cNvGrpSpPr/>
          <p:nvPr/>
        </p:nvGrpSpPr>
        <p:grpSpPr>
          <a:xfrm>
            <a:off x="9525000" y="9061994"/>
            <a:ext cx="3409950" cy="95250"/>
            <a:chOff x="9525000" y="7061522"/>
            <a:chExt cx="3409950" cy="95250"/>
          </a:xfrm>
        </p:grpSpPr>
        <p:sp>
          <p:nvSpPr>
            <p:cNvPr id="32" name="Shape 30"/>
            <p:cNvSpPr/>
            <p:nvPr/>
          </p:nvSpPr>
          <p:spPr>
            <a:xfrm>
              <a:off x="9525000" y="7061522"/>
              <a:ext cx="809625" cy="95250"/>
            </a:xfrm>
            <a:prstGeom prst="roundRect">
              <a:avLst>
                <a:gd name="adj" fmla="val 40000"/>
              </a:avLst>
            </a:prstGeom>
            <a:solidFill>
              <a:srgbClr val="2D5BFF"/>
            </a:solidFill>
            <a:ln w="9525"/>
          </p:spPr>
          <p:txBody>
            <a:bodyPr/>
            <a:lstStyle/>
            <a:p>
              <a:endParaRPr lang="en-TH"/>
            </a:p>
          </p:txBody>
        </p:sp>
        <p:sp>
          <p:nvSpPr>
            <p:cNvPr id="33" name="Shape 31"/>
            <p:cNvSpPr/>
            <p:nvPr/>
          </p:nvSpPr>
          <p:spPr>
            <a:xfrm>
              <a:off x="10391775" y="7061522"/>
              <a:ext cx="809625" cy="95250"/>
            </a:xfrm>
            <a:prstGeom prst="roundRect">
              <a:avLst>
                <a:gd name="adj" fmla="val 40000"/>
              </a:avLst>
            </a:prstGeom>
            <a:solidFill>
              <a:srgbClr val="2D5BFF"/>
            </a:solidFill>
            <a:ln w="9525"/>
          </p:spPr>
          <p:txBody>
            <a:bodyPr/>
            <a:lstStyle/>
            <a:p>
              <a:endParaRPr lang="en-TH"/>
            </a:p>
          </p:txBody>
        </p:sp>
        <p:sp>
          <p:nvSpPr>
            <p:cNvPr id="34" name="Shape 32"/>
            <p:cNvSpPr/>
            <p:nvPr/>
          </p:nvSpPr>
          <p:spPr>
            <a:xfrm>
              <a:off x="11258550" y="7061522"/>
              <a:ext cx="809625" cy="95250"/>
            </a:xfrm>
            <a:prstGeom prst="roundRect">
              <a:avLst>
                <a:gd name="adj" fmla="val 40000"/>
              </a:avLst>
            </a:prstGeom>
            <a:solidFill>
              <a:srgbClr val="2D5BFF"/>
            </a:solidFill>
            <a:ln w="9525"/>
          </p:spPr>
          <p:txBody>
            <a:bodyPr/>
            <a:lstStyle/>
            <a:p>
              <a:endParaRPr lang="en-TH"/>
            </a:p>
          </p:txBody>
        </p:sp>
        <p:sp>
          <p:nvSpPr>
            <p:cNvPr id="35" name="Shape 33"/>
            <p:cNvSpPr/>
            <p:nvPr/>
          </p:nvSpPr>
          <p:spPr>
            <a:xfrm>
              <a:off x="12125325" y="7061522"/>
              <a:ext cx="809625" cy="95250"/>
            </a:xfrm>
            <a:prstGeom prst="roundRect">
              <a:avLst>
                <a:gd name="adj" fmla="val 40000"/>
              </a:avLst>
            </a:prstGeom>
            <a:solidFill>
              <a:srgbClr val="E4E7EC"/>
            </a:solidFill>
            <a:ln w="9525"/>
          </p:spPr>
          <p:txBody>
            <a:bodyPr/>
            <a:lstStyle/>
            <a:p>
              <a:endParaRPr lang="en-TH"/>
            </a:p>
          </p:txBody>
        </p:sp>
      </p:grpSp>
      <p:sp>
        <p:nvSpPr>
          <p:cNvPr id="36" name="Shape 34"/>
          <p:cNvSpPr/>
          <p:nvPr/>
        </p:nvSpPr>
        <p:spPr>
          <a:xfrm>
            <a:off x="13430250" y="4026098"/>
            <a:ext cx="3943350" cy="5427924"/>
          </a:xfrm>
          <a:prstGeom prst="roundRect">
            <a:avLst>
              <a:gd name="adj" fmla="val 5083"/>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37" name="Text 35"/>
          <p:cNvSpPr/>
          <p:nvPr/>
        </p:nvSpPr>
        <p:spPr>
          <a:xfrm>
            <a:off x="13696950" y="4311848"/>
            <a:ext cx="3512249"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STAGE 04</a:t>
            </a:r>
            <a:endParaRPr lang="en-US" sz="1800" dirty="0"/>
          </a:p>
        </p:txBody>
      </p:sp>
      <p:sp>
        <p:nvSpPr>
          <p:cNvPr id="38" name="Text 36"/>
          <p:cNvSpPr/>
          <p:nvPr/>
        </p:nvSpPr>
        <p:spPr>
          <a:xfrm>
            <a:off x="13696950" y="4707136"/>
            <a:ext cx="3512249" cy="373335"/>
          </a:xfrm>
          <a:prstGeom prst="rect">
            <a:avLst/>
          </a:prstGeom>
          <a:noFill/>
          <a:ln w="9525"/>
        </p:spPr>
        <p:txBody>
          <a:bodyPr wrap="square" lIns="25400" tIns="25400" rIns="25400" bIns="25400" rtlCol="0" anchor="t">
            <a:normAutofit fontScale="92500" lnSpcReduction="20000"/>
          </a:bodyPr>
          <a:lstStyle/>
          <a:p>
            <a:pPr marL="0" indent="0" algn="l">
              <a:lnSpc>
                <a:spcPct val="110000"/>
              </a:lnSpc>
              <a:buNone/>
            </a:pPr>
            <a:r>
              <a:rPr lang="en-US" sz="2400" b="1" kern="0" spc="-36" dirty="0">
                <a:solidFill>
                  <a:srgbClr val="0B0F19"/>
                </a:solidFill>
                <a:latin typeface="Space Grotesk" pitchFamily="34" charset="0"/>
                <a:ea typeface="Space Grotesk" pitchFamily="34" charset="-122"/>
                <a:cs typeface="Space Grotesk" pitchFamily="34" charset="-120"/>
              </a:rPr>
              <a:t>Demo &amp; defend</a:t>
            </a:r>
            <a:endParaRPr lang="en-US" sz="2400" dirty="0"/>
          </a:p>
        </p:txBody>
      </p:sp>
      <p:sp>
        <p:nvSpPr>
          <p:cNvPr id="39" name="Text 37"/>
          <p:cNvSpPr/>
          <p:nvPr/>
        </p:nvSpPr>
        <p:spPr>
          <a:xfrm>
            <a:off x="13696950" y="5175721"/>
            <a:ext cx="3512249" cy="3211841"/>
          </a:xfrm>
          <a:prstGeom prst="rect">
            <a:avLst/>
          </a:prstGeom>
          <a:noFill/>
          <a:ln w="9525"/>
        </p:spPr>
        <p:txBody>
          <a:bodyPr wrap="square" lIns="25400" tIns="25400" rIns="25400" bIns="25400" rtlCol="0" anchor="t">
            <a:spAutoFit/>
          </a:bodyPr>
          <a:lstStyle/>
          <a:p>
            <a:pPr marL="0" indent="0" algn="l">
              <a:lnSpc>
                <a:spcPct val="145000"/>
              </a:lnSpc>
              <a:buNone/>
            </a:pPr>
            <a:r>
              <a:rPr lang="en-US" sz="2400" dirty="0">
                <a:solidFill>
                  <a:srgbClr val="3A4250"/>
                </a:solidFill>
                <a:latin typeface="Space Grotesk" pitchFamily="34" charset="0"/>
                <a:ea typeface="Space Grotesk" pitchFamily="34" charset="-122"/>
                <a:cs typeface="Space Grotesk" pitchFamily="34" charset="-120"/>
              </a:rPr>
              <a:t>A working demo, a final report, and an individual oral exam in which you explain the part you personally built. Weeks 13–14.</a:t>
            </a:r>
            <a:endParaRPr lang="en-US" sz="2400" dirty="0"/>
          </a:p>
        </p:txBody>
      </p:sp>
      <p:grpSp>
        <p:nvGrpSpPr>
          <p:cNvPr id="58338088" name="Group 58338088"/>
          <p:cNvGrpSpPr/>
          <p:nvPr/>
        </p:nvGrpSpPr>
        <p:grpSpPr>
          <a:xfrm>
            <a:off x="13696950" y="9061994"/>
            <a:ext cx="3409950" cy="95250"/>
            <a:chOff x="13696950" y="7061522"/>
            <a:chExt cx="3409950" cy="95250"/>
          </a:xfrm>
        </p:grpSpPr>
        <p:sp>
          <p:nvSpPr>
            <p:cNvPr id="40" name="Shape 38"/>
            <p:cNvSpPr/>
            <p:nvPr/>
          </p:nvSpPr>
          <p:spPr>
            <a:xfrm>
              <a:off x="13696950" y="7061522"/>
              <a:ext cx="809625" cy="95250"/>
            </a:xfrm>
            <a:prstGeom prst="roundRect">
              <a:avLst>
                <a:gd name="adj" fmla="val 40000"/>
              </a:avLst>
            </a:prstGeom>
            <a:solidFill>
              <a:srgbClr val="16B670"/>
            </a:solidFill>
            <a:ln w="9525"/>
          </p:spPr>
          <p:txBody>
            <a:bodyPr/>
            <a:lstStyle/>
            <a:p>
              <a:endParaRPr lang="en-TH"/>
            </a:p>
          </p:txBody>
        </p:sp>
        <p:sp>
          <p:nvSpPr>
            <p:cNvPr id="41" name="Shape 39"/>
            <p:cNvSpPr/>
            <p:nvPr/>
          </p:nvSpPr>
          <p:spPr>
            <a:xfrm>
              <a:off x="14563725" y="7061522"/>
              <a:ext cx="809625" cy="95250"/>
            </a:xfrm>
            <a:prstGeom prst="roundRect">
              <a:avLst>
                <a:gd name="adj" fmla="val 40000"/>
              </a:avLst>
            </a:prstGeom>
            <a:solidFill>
              <a:srgbClr val="16B670"/>
            </a:solidFill>
            <a:ln w="9525"/>
          </p:spPr>
          <p:txBody>
            <a:bodyPr/>
            <a:lstStyle/>
            <a:p>
              <a:endParaRPr lang="en-TH"/>
            </a:p>
          </p:txBody>
        </p:sp>
        <p:sp>
          <p:nvSpPr>
            <p:cNvPr id="42" name="Shape 40"/>
            <p:cNvSpPr/>
            <p:nvPr/>
          </p:nvSpPr>
          <p:spPr>
            <a:xfrm>
              <a:off x="15430500" y="7061522"/>
              <a:ext cx="809625" cy="95250"/>
            </a:xfrm>
            <a:prstGeom prst="roundRect">
              <a:avLst>
                <a:gd name="adj" fmla="val 40000"/>
              </a:avLst>
            </a:prstGeom>
            <a:solidFill>
              <a:srgbClr val="16B670"/>
            </a:solidFill>
            <a:ln w="9525"/>
          </p:spPr>
          <p:txBody>
            <a:bodyPr/>
            <a:lstStyle/>
            <a:p>
              <a:endParaRPr lang="en-TH"/>
            </a:p>
          </p:txBody>
        </p:sp>
        <p:sp>
          <p:nvSpPr>
            <p:cNvPr id="43" name="Shape 41"/>
            <p:cNvSpPr/>
            <p:nvPr/>
          </p:nvSpPr>
          <p:spPr>
            <a:xfrm>
              <a:off x="16297275" y="7061522"/>
              <a:ext cx="809625" cy="95250"/>
            </a:xfrm>
            <a:prstGeom prst="roundRect">
              <a:avLst>
                <a:gd name="adj" fmla="val 40000"/>
              </a:avLst>
            </a:prstGeom>
            <a:solidFill>
              <a:srgbClr val="16B670"/>
            </a:solidFill>
            <a:ln w="9525"/>
          </p:spPr>
          <p:txBody>
            <a:bodyPr/>
            <a:lstStyle/>
            <a:p>
              <a:endParaRPr lang="en-TH"/>
            </a:p>
          </p:txBody>
        </p:sp>
      </p:grpSp>
      <p:sp>
        <p:nvSpPr>
          <p:cNvPr id="8" name="Shape 7">
            <a:extLst>
              <a:ext uri="{FF2B5EF4-FFF2-40B4-BE49-F238E27FC236}">
                <a16:creationId xmlns:a16="http://schemas.microsoft.com/office/drawing/2014/main" id="{DC91B7B3-1300-72DC-9F49-ED6D53B38298}"/>
              </a:ext>
            </a:extLst>
          </p:cNvPr>
          <p:cNvSpPr/>
          <p:nvPr/>
        </p:nvSpPr>
        <p:spPr>
          <a:xfrm>
            <a:off x="914400" y="1524000"/>
            <a:ext cx="1653555" cy="419100"/>
          </a:xfrm>
          <a:prstGeom prst="roundRect">
            <a:avLst>
              <a:gd name="adj" fmla="val 50000"/>
            </a:avLst>
          </a:prstGeom>
          <a:solidFill>
            <a:srgbClr val="FF5A47"/>
          </a:solidFill>
          <a:ln w="9525"/>
        </p:spPr>
        <p:txBody>
          <a:bodyPr/>
          <a:lstStyle/>
          <a:p>
            <a:endParaRPr lang="en-TH"/>
          </a:p>
        </p:txBody>
      </p:sp>
      <p:sp>
        <p:nvSpPr>
          <p:cNvPr id="44" name="Text 8">
            <a:extLst>
              <a:ext uri="{FF2B5EF4-FFF2-40B4-BE49-F238E27FC236}">
                <a16:creationId xmlns:a16="http://schemas.microsoft.com/office/drawing/2014/main" id="{29F3BA75-6542-C880-5746-8332EEBD62BB}"/>
              </a:ext>
            </a:extLst>
          </p:cNvPr>
          <p:cNvSpPr/>
          <p:nvPr/>
        </p:nvSpPr>
        <p:spPr>
          <a:xfrm>
            <a:off x="1085850" y="1619250"/>
            <a:ext cx="1310655" cy="266700"/>
          </a:xfrm>
          <a:prstGeom prst="rect">
            <a:avLst/>
          </a:prstGeom>
          <a:noFill/>
          <a:ln w="9525"/>
        </p:spPr>
        <p:txBody>
          <a:bodyPr wrap="square" lIns="25400" tIns="25400" rIns="25400" bIns="25400" rtlCol="0" anchor="ctr">
            <a:normAutofit fontScale="92500" lnSpcReduction="20000"/>
          </a:bodyPr>
          <a:lstStyle/>
          <a:p>
            <a:pPr marL="0" indent="0" algn="ctr">
              <a:lnSpc>
                <a:spcPct val="100000"/>
              </a:lnSpc>
              <a:buNone/>
            </a:pPr>
            <a:r>
              <a:rPr lang="en-US" sz="1800" dirty="0">
                <a:solidFill>
                  <a:srgbClr val="FFFFFF"/>
                </a:solidFill>
                <a:latin typeface="JetBrains Mono" pitchFamily="34" charset="0"/>
                <a:ea typeface="JetBrains Mono" pitchFamily="34" charset="-122"/>
                <a:cs typeface="JetBrains Mono" pitchFamily="34" charset="-120"/>
              </a:rPr>
              <a:t>30%</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E19D2D7-7F4E-1444-5880-DD78EEC4299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4374C73-E8B0-80FE-8551-A1DF804C39CD}"/>
              </a:ext>
            </a:extLst>
          </p:cNvPr>
          <p:cNvSpPr/>
          <p:nvPr/>
        </p:nvSpPr>
        <p:spPr>
          <a:xfrm>
            <a:off x="0" y="0"/>
            <a:ext cx="18288000" cy="619125"/>
          </a:xfrm>
          <a:prstGeom prst="rect">
            <a:avLst/>
          </a:prstGeom>
          <a:solidFill>
            <a:srgbClr val="E4E7EC"/>
          </a:solidFill>
          <a:ln w="9525"/>
        </p:spPr>
        <p:txBody>
          <a:bodyPr/>
          <a:lstStyle/>
          <a:p>
            <a:endParaRPr lang="en-TH"/>
          </a:p>
        </p:txBody>
      </p:sp>
      <p:sp>
        <p:nvSpPr>
          <p:cNvPr id="3" name="Shape 1">
            <a:extLst>
              <a:ext uri="{FF2B5EF4-FFF2-40B4-BE49-F238E27FC236}">
                <a16:creationId xmlns:a16="http://schemas.microsoft.com/office/drawing/2014/main" id="{27215365-B28B-2516-845A-58FA678F185C}"/>
              </a:ext>
            </a:extLst>
          </p:cNvPr>
          <p:cNvSpPr/>
          <p:nvPr/>
        </p:nvSpPr>
        <p:spPr>
          <a:xfrm>
            <a:off x="0" y="609600"/>
            <a:ext cx="18288000" cy="9525"/>
          </a:xfrm>
          <a:prstGeom prst="rect">
            <a:avLst/>
          </a:prstGeom>
          <a:solidFill>
            <a:srgbClr val="C8CCD3"/>
          </a:solidFill>
          <a:ln w="9525"/>
        </p:spPr>
        <p:txBody>
          <a:bodyPr/>
          <a:lstStyle/>
          <a:p>
            <a:endParaRPr lang="en-TH"/>
          </a:p>
        </p:txBody>
      </p:sp>
      <p:sp>
        <p:nvSpPr>
          <p:cNvPr id="4" name="Text 2">
            <a:extLst>
              <a:ext uri="{FF2B5EF4-FFF2-40B4-BE49-F238E27FC236}">
                <a16:creationId xmlns:a16="http://schemas.microsoft.com/office/drawing/2014/main" id="{E2A453D4-B07D-F14C-94F4-02CED938C6C1}"/>
              </a:ext>
            </a:extLst>
          </p:cNvPr>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a:extLst>
              <a:ext uri="{FF2B5EF4-FFF2-40B4-BE49-F238E27FC236}">
                <a16:creationId xmlns:a16="http://schemas.microsoft.com/office/drawing/2014/main" id="{0D464943-F119-D6EA-41DF-2B3EB0EE7F75}"/>
              </a:ext>
            </a:extLst>
          </p:cNvPr>
          <p:cNvSpPr/>
          <p:nvPr/>
        </p:nvSpPr>
        <p:spPr>
          <a:xfrm>
            <a:off x="728216" y="154781"/>
            <a:ext cx="3889732"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a:extLst>
              <a:ext uri="{FF2B5EF4-FFF2-40B4-BE49-F238E27FC236}">
                <a16:creationId xmlns:a16="http://schemas.microsoft.com/office/drawing/2014/main" id="{FE09B5FB-20F8-FCFD-CAA1-300D8D9E268E}"/>
              </a:ext>
            </a:extLst>
          </p:cNvPr>
          <p:cNvSpPr/>
          <p:nvPr/>
        </p:nvSpPr>
        <p:spPr>
          <a:xfrm>
            <a:off x="4771355" y="154781"/>
            <a:ext cx="3382869"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Page · Your project</a:t>
            </a:r>
            <a:endParaRPr lang="en-US" sz="1800" dirty="0"/>
          </a:p>
        </p:txBody>
      </p:sp>
      <p:sp>
        <p:nvSpPr>
          <p:cNvPr id="7" name="Text 5">
            <a:extLst>
              <a:ext uri="{FF2B5EF4-FFF2-40B4-BE49-F238E27FC236}">
                <a16:creationId xmlns:a16="http://schemas.microsoft.com/office/drawing/2014/main" id="{0584416B-880C-7172-306B-6D9C2858D716}"/>
              </a:ext>
            </a:extLst>
          </p:cNvPr>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kern="0" spc="72" dirty="0">
                <a:solidFill>
                  <a:srgbClr val="7A8290"/>
                </a:solidFill>
                <a:latin typeface="JetBrains Mono" pitchFamily="34" charset="0"/>
                <a:ea typeface="JetBrains Mono" pitchFamily="34" charset="-122"/>
                <a:cs typeface="JetBrains Mono" pitchFamily="34" charset="-120"/>
              </a:rPr>
              <a:t>13</a:t>
            </a:r>
            <a:r>
              <a:rPr lang="en-US" sz="1800" kern="0" spc="72" dirty="0">
                <a:solidFill>
                  <a:srgbClr val="7A8290"/>
                </a:solidFill>
                <a:latin typeface="JetBrains Mono" pitchFamily="34" charset="0"/>
                <a:ea typeface="JetBrains Mono" pitchFamily="34" charset="-122"/>
                <a:cs typeface="JetBrains Mono" pitchFamily="34" charset="-120"/>
              </a:rPr>
              <a:t> / </a:t>
            </a:r>
            <a:r>
              <a:rPr lang="en-US" kern="0" spc="72" dirty="0">
                <a:solidFill>
                  <a:srgbClr val="7A8290"/>
                </a:solidFill>
                <a:latin typeface="JetBrains Mono" pitchFamily="34" charset="0"/>
                <a:ea typeface="JetBrains Mono" pitchFamily="34" charset="-122"/>
                <a:cs typeface="JetBrains Mono" pitchFamily="34" charset="-120"/>
              </a:rPr>
              <a:t>32</a:t>
            </a:r>
            <a:endParaRPr lang="en-US" sz="1800" dirty="0"/>
          </a:p>
        </p:txBody>
      </p:sp>
      <p:sp>
        <p:nvSpPr>
          <p:cNvPr id="8" name="Shape 7">
            <a:extLst>
              <a:ext uri="{FF2B5EF4-FFF2-40B4-BE49-F238E27FC236}">
                <a16:creationId xmlns:a16="http://schemas.microsoft.com/office/drawing/2014/main" id="{CEDFC54C-5CA3-771B-843D-690DA254D638}"/>
              </a:ext>
            </a:extLst>
          </p:cNvPr>
          <p:cNvSpPr/>
          <p:nvPr/>
        </p:nvSpPr>
        <p:spPr>
          <a:xfrm>
            <a:off x="6825526" y="113110"/>
            <a:ext cx="1653555" cy="419100"/>
          </a:xfrm>
          <a:prstGeom prst="roundRect">
            <a:avLst>
              <a:gd name="adj" fmla="val 50000"/>
            </a:avLst>
          </a:prstGeom>
          <a:solidFill>
            <a:srgbClr val="FF5A47"/>
          </a:solidFill>
          <a:ln w="9525"/>
        </p:spPr>
        <p:txBody>
          <a:bodyPr/>
          <a:lstStyle/>
          <a:p>
            <a:endParaRPr lang="en-TH"/>
          </a:p>
        </p:txBody>
      </p:sp>
      <p:sp>
        <p:nvSpPr>
          <p:cNvPr id="44" name="Text 8">
            <a:extLst>
              <a:ext uri="{FF2B5EF4-FFF2-40B4-BE49-F238E27FC236}">
                <a16:creationId xmlns:a16="http://schemas.microsoft.com/office/drawing/2014/main" id="{DF4B93E8-1378-69A1-D6AD-3B9A52B991C3}"/>
              </a:ext>
            </a:extLst>
          </p:cNvPr>
          <p:cNvSpPr/>
          <p:nvPr/>
        </p:nvSpPr>
        <p:spPr>
          <a:xfrm>
            <a:off x="6996976" y="208360"/>
            <a:ext cx="1310655" cy="266700"/>
          </a:xfrm>
          <a:prstGeom prst="rect">
            <a:avLst/>
          </a:prstGeom>
          <a:noFill/>
          <a:ln w="9525"/>
        </p:spPr>
        <p:txBody>
          <a:bodyPr wrap="square" lIns="25400" tIns="25400" rIns="25400" bIns="25400" rtlCol="0" anchor="ctr">
            <a:normAutofit fontScale="92500" lnSpcReduction="20000"/>
          </a:bodyPr>
          <a:lstStyle/>
          <a:p>
            <a:pPr marL="0" indent="0" algn="ctr">
              <a:lnSpc>
                <a:spcPct val="100000"/>
              </a:lnSpc>
              <a:buNone/>
            </a:pPr>
            <a:r>
              <a:rPr lang="en-US" sz="1800" dirty="0">
                <a:solidFill>
                  <a:srgbClr val="FFFFFF"/>
                </a:solidFill>
                <a:latin typeface="JetBrains Mono" pitchFamily="34" charset="0"/>
                <a:ea typeface="JetBrains Mono" pitchFamily="34" charset="-122"/>
                <a:cs typeface="JetBrains Mono" pitchFamily="34" charset="-120"/>
              </a:rPr>
              <a:t>30%</a:t>
            </a:r>
            <a:endParaRPr lang="en-US" sz="1800" dirty="0"/>
          </a:p>
        </p:txBody>
      </p:sp>
      <p:pic>
        <p:nvPicPr>
          <p:cNvPr id="46" name="Picture 45">
            <a:extLst>
              <a:ext uri="{FF2B5EF4-FFF2-40B4-BE49-F238E27FC236}">
                <a16:creationId xmlns:a16="http://schemas.microsoft.com/office/drawing/2014/main" id="{794303E5-E7CC-9388-C24E-320FB8B0DB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608" y="696515"/>
            <a:ext cx="17034368" cy="9576737"/>
          </a:xfrm>
          <a:prstGeom prst="rect">
            <a:avLst/>
          </a:prstGeom>
        </p:spPr>
      </p:pic>
    </p:spTree>
    <p:extLst>
      <p:ext uri="{BB962C8B-B14F-4D97-AF65-F5344CB8AC3E}">
        <p14:creationId xmlns:p14="http://schemas.microsoft.com/office/powerpoint/2010/main" val="3085651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p:cNvSpPr/>
          <p:nvPr/>
        </p:nvSpPr>
        <p:spPr>
          <a:xfrm>
            <a:off x="728216" y="154781"/>
            <a:ext cx="3889732" cy="338138"/>
          </a:xfrm>
          <a:prstGeom prst="rect">
            <a:avLst/>
          </a:prstGeom>
          <a:noFill/>
          <a:ln w="9525"/>
        </p:spPr>
        <p:txBody>
          <a:bodyPr wrap="square" lIns="25400" tIns="25400" rIns="25400" bIns="25400" rtlCol="0" anchor="t">
            <a:normAutofit/>
          </a:bodyPr>
          <a:lstStyle/>
          <a:p>
            <a:pPr marL="0" indent="0" algn="l">
              <a:buNone/>
            </a:pPr>
            <a:r>
              <a:rPr lang="en-US" sz="1800" b="1" kern="0" spc="-18" dirty="0">
                <a:solidFill>
                  <a:srgbClr val="0B0F19"/>
                </a:solidFill>
                <a:latin typeface="JetBrains Mono" pitchFamily="34" charset="0"/>
                <a:ea typeface="JetBrains Mono" pitchFamily="34" charset="-122"/>
                <a:cs typeface="JetBrains Mono" pitchFamily="34" charset="-120"/>
              </a:rPr>
              <a:t>intro2se-week01.fig</a:t>
            </a:r>
            <a:endParaRPr lang="en-US" sz="1800" dirty="0"/>
          </a:p>
        </p:txBody>
      </p:sp>
      <p:sp>
        <p:nvSpPr>
          <p:cNvPr id="6" name="Text 4"/>
          <p:cNvSpPr/>
          <p:nvPr/>
        </p:nvSpPr>
        <p:spPr>
          <a:xfrm>
            <a:off x="4771355" y="154781"/>
            <a:ext cx="3524129"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The rules · Assignment</a:t>
            </a:r>
            <a:endParaRPr lang="en-US" sz="1800" dirty="0"/>
          </a:p>
        </p:txBody>
      </p:sp>
      <p:sp>
        <p:nvSpPr>
          <p:cNvPr id="7" name="Text 5"/>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sz="1800" kern="0" spc="72" dirty="0">
                <a:solidFill>
                  <a:srgbClr val="7A8290"/>
                </a:solidFill>
                <a:latin typeface="JetBrains Mono" pitchFamily="34" charset="0"/>
                <a:ea typeface="JetBrains Mono" pitchFamily="34" charset="-122"/>
                <a:cs typeface="JetBrains Mono" pitchFamily="34" charset="-120"/>
              </a:rPr>
              <a:t>14 / </a:t>
            </a:r>
            <a:r>
              <a:rPr lang="en-US" kern="0" spc="72" dirty="0">
                <a:solidFill>
                  <a:srgbClr val="7A8290"/>
                </a:solidFill>
                <a:latin typeface="JetBrains Mono" pitchFamily="34" charset="0"/>
                <a:ea typeface="JetBrains Mono" pitchFamily="34" charset="-122"/>
                <a:cs typeface="JetBrains Mono" pitchFamily="34" charset="-120"/>
              </a:rPr>
              <a:t>32</a:t>
            </a:r>
            <a:endParaRPr lang="en-US" sz="1800" dirty="0"/>
          </a:p>
        </p:txBody>
      </p:sp>
      <p:sp>
        <p:nvSpPr>
          <p:cNvPr id="9" name="Shape 7"/>
          <p:cNvSpPr/>
          <p:nvPr/>
        </p:nvSpPr>
        <p:spPr>
          <a:xfrm>
            <a:off x="914400" y="1524000"/>
            <a:ext cx="1653555" cy="419100"/>
          </a:xfrm>
          <a:prstGeom prst="roundRect">
            <a:avLst>
              <a:gd name="adj" fmla="val 50000"/>
            </a:avLst>
          </a:prstGeom>
          <a:solidFill>
            <a:srgbClr val="FFC233"/>
          </a:solidFill>
          <a:ln w="9525"/>
        </p:spPr>
        <p:txBody>
          <a:bodyPr/>
          <a:lstStyle/>
          <a:p>
            <a:endParaRPr lang="en-TH"/>
          </a:p>
        </p:txBody>
      </p:sp>
      <p:sp>
        <p:nvSpPr>
          <p:cNvPr id="10" name="Text 8"/>
          <p:cNvSpPr/>
          <p:nvPr/>
        </p:nvSpPr>
        <p:spPr>
          <a:xfrm>
            <a:off x="1085850" y="1619250"/>
            <a:ext cx="1310655" cy="266700"/>
          </a:xfrm>
          <a:prstGeom prst="rect">
            <a:avLst/>
          </a:prstGeom>
          <a:noFill/>
          <a:ln w="9525"/>
        </p:spPr>
        <p:txBody>
          <a:bodyPr wrap="square" lIns="25400" tIns="25400" rIns="25400" bIns="25400" rtlCol="0" anchor="ctr">
            <a:normAutofit fontScale="70000" lnSpcReduction="20000"/>
          </a:bodyPr>
          <a:lstStyle/>
          <a:p>
            <a:pPr marL="0" indent="0" algn="ctr">
              <a:lnSpc>
                <a:spcPct val="100000"/>
              </a:lnSpc>
              <a:buNone/>
            </a:pPr>
            <a:r>
              <a:rPr lang="en-US" sz="1800" dirty="0">
                <a:solidFill>
                  <a:srgbClr val="0B0F19"/>
                </a:solidFill>
                <a:latin typeface="JetBrains Mono" pitchFamily="34" charset="0"/>
                <a:ea typeface="JetBrains Mono" pitchFamily="34" charset="-122"/>
                <a:cs typeface="JetBrains Mono" pitchFamily="34" charset="-120"/>
              </a:rPr>
              <a:t>INDIVIDUAL · 10%</a:t>
            </a:r>
            <a:endParaRPr lang="en-US" sz="1800" dirty="0"/>
          </a:p>
        </p:txBody>
      </p:sp>
      <p:sp>
        <p:nvSpPr>
          <p:cNvPr id="11" name="Text 9"/>
          <p:cNvSpPr/>
          <p:nvPr/>
        </p:nvSpPr>
        <p:spPr>
          <a:xfrm>
            <a:off x="2796555" y="1583531"/>
            <a:ext cx="2641851" cy="338138"/>
          </a:xfrm>
          <a:prstGeom prst="rect">
            <a:avLst/>
          </a:prstGeom>
          <a:noFill/>
          <a:ln w="9525"/>
        </p:spPr>
        <p:txBody>
          <a:bodyPr wrap="square" lIns="25400" tIns="25400" rIns="25400" bIns="25400" rtlCol="0" anchor="t">
            <a:normAutofit fontScale="85000" lnSpcReduction="10000"/>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DUE MON 21 SEP · WEEK 8</a:t>
            </a:r>
            <a:endParaRPr lang="en-US" sz="1800" dirty="0"/>
          </a:p>
        </p:txBody>
      </p:sp>
      <p:sp>
        <p:nvSpPr>
          <p:cNvPr id="12" name="Text 10"/>
          <p:cNvSpPr/>
          <p:nvPr/>
        </p:nvSpPr>
        <p:spPr>
          <a:xfrm>
            <a:off x="914400" y="2114550"/>
            <a:ext cx="10859213" cy="1506328"/>
          </a:xfrm>
          <a:prstGeom prst="rect">
            <a:avLst/>
          </a:prstGeom>
          <a:noFill/>
          <a:ln w="9525"/>
        </p:spPr>
        <p:txBody>
          <a:bodyPr wrap="square" lIns="25400" tIns="25400" rIns="25400" bIns="25400" rtlCol="0" anchor="t">
            <a:normAutofit/>
          </a:bodyPr>
          <a:lstStyle/>
          <a:p>
            <a:pPr marL="0" indent="0" algn="l">
              <a:lnSpc>
                <a:spcPct val="100000"/>
              </a:lnSpc>
              <a:buNone/>
            </a:pPr>
            <a:r>
              <a:rPr lang="en-US" sz="4800" b="1" kern="0" spc="-120" dirty="0">
                <a:solidFill>
                  <a:srgbClr val="0B0F19"/>
                </a:solidFill>
                <a:latin typeface="Space Grotesk" pitchFamily="34" charset="0"/>
                <a:ea typeface="Space Grotesk" pitchFamily="34" charset="-122"/>
                <a:cs typeface="Space Grotesk" pitchFamily="34" charset="-120"/>
              </a:rPr>
              <a:t>The article assignment, step by step</a:t>
            </a:r>
            <a:endParaRPr lang="en-US" sz="4800" dirty="0"/>
          </a:p>
        </p:txBody>
      </p:sp>
      <p:sp>
        <p:nvSpPr>
          <p:cNvPr id="13" name="Shape 11"/>
          <p:cNvSpPr/>
          <p:nvPr/>
        </p:nvSpPr>
        <p:spPr>
          <a:xfrm>
            <a:off x="914400" y="5834257"/>
            <a:ext cx="3124200" cy="3614589"/>
          </a:xfrm>
          <a:prstGeom prst="roundRect">
            <a:avLst>
              <a:gd name="adj" fmla="val 6098"/>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14" name="Text 12"/>
          <p:cNvSpPr/>
          <p:nvPr/>
        </p:nvSpPr>
        <p:spPr>
          <a:xfrm>
            <a:off x="1162050" y="6100957"/>
            <a:ext cx="2707767"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STEP 01</a:t>
            </a:r>
            <a:endParaRPr lang="en-US" sz="1800" dirty="0"/>
          </a:p>
        </p:txBody>
      </p:sp>
      <p:sp>
        <p:nvSpPr>
          <p:cNvPr id="15" name="Text 13"/>
          <p:cNvSpPr/>
          <p:nvPr/>
        </p:nvSpPr>
        <p:spPr>
          <a:xfrm>
            <a:off x="1162050" y="6515295"/>
            <a:ext cx="2707767" cy="404813"/>
          </a:xfrm>
          <a:prstGeom prst="rect">
            <a:avLst/>
          </a:prstGeom>
          <a:noFill/>
          <a:ln w="9525"/>
        </p:spPr>
        <p:txBody>
          <a:bodyPr wrap="square" lIns="25400" tIns="25400" rIns="25400" bIns="25400" rtlCol="0" anchor="t">
            <a:normAutofit/>
          </a:bodyPr>
          <a:lstStyle/>
          <a:p>
            <a:pPr marL="0" indent="0" algn="l">
              <a:buNone/>
            </a:pPr>
            <a:r>
              <a:rPr lang="en-US" sz="2250" b="1" kern="0" spc="-34" dirty="0">
                <a:solidFill>
                  <a:srgbClr val="0B0F19"/>
                </a:solidFill>
                <a:latin typeface="Space Grotesk" pitchFamily="34" charset="0"/>
                <a:ea typeface="Space Grotesk" pitchFamily="34" charset="-122"/>
                <a:cs typeface="Space Grotesk" pitchFamily="34" charset="-120"/>
              </a:rPr>
              <a:t>Pick an article</a:t>
            </a:r>
            <a:endParaRPr lang="en-US" sz="2250" dirty="0"/>
          </a:p>
        </p:txBody>
      </p:sp>
      <p:sp>
        <p:nvSpPr>
          <p:cNvPr id="16" name="Text 14"/>
          <p:cNvSpPr/>
          <p:nvPr/>
        </p:nvSpPr>
        <p:spPr>
          <a:xfrm>
            <a:off x="1162050" y="6977257"/>
            <a:ext cx="2707767" cy="1024469"/>
          </a:xfrm>
          <a:prstGeom prst="rect">
            <a:avLst/>
          </a:prstGeom>
          <a:noFill/>
          <a:ln w="9525"/>
        </p:spPr>
        <p:txBody>
          <a:bodyPr wrap="square" lIns="25400" tIns="25400" rIns="25400" bIns="25400" rtlCol="0" anchor="t">
            <a:spAutoFit/>
          </a:bodyPr>
          <a:lstStyle/>
          <a:p>
            <a:pPr marL="0" indent="0" algn="l">
              <a:lnSpc>
                <a:spcPct val="125000"/>
              </a:lnSpc>
              <a:buNone/>
            </a:pPr>
            <a:r>
              <a:rPr lang="en-US" sz="1600" dirty="0">
                <a:solidFill>
                  <a:srgbClr val="3A4250"/>
                </a:solidFill>
                <a:latin typeface="Space Grotesk" pitchFamily="34" charset="0"/>
                <a:ea typeface="Space Grotesk" pitchFamily="34" charset="-122"/>
                <a:cs typeface="Space Grotesk" pitchFamily="34" charset="-120"/>
              </a:rPr>
              <a:t>One article that genuinely interests you — from GitHub Resources (AI, dev, security, DevOps) or the Hugging Face blog / Daily Papers.</a:t>
            </a:r>
            <a:endParaRPr lang="en-US" sz="1600" dirty="0"/>
          </a:p>
        </p:txBody>
      </p:sp>
      <p:grpSp>
        <p:nvGrpSpPr>
          <p:cNvPr id="60087382" name="Group 60087382"/>
          <p:cNvGrpSpPr/>
          <p:nvPr/>
        </p:nvGrpSpPr>
        <p:grpSpPr>
          <a:xfrm>
            <a:off x="1162050" y="8786858"/>
            <a:ext cx="1287810" cy="376238"/>
            <a:chOff x="1162050" y="6088261"/>
            <a:chExt cx="1287810" cy="376238"/>
          </a:xfrm>
        </p:grpSpPr>
        <p:sp>
          <p:nvSpPr>
            <p:cNvPr id="17" name="Shape 15"/>
            <p:cNvSpPr/>
            <p:nvPr/>
          </p:nvSpPr>
          <p:spPr>
            <a:xfrm>
              <a:off x="1162050" y="6088261"/>
              <a:ext cx="1287810" cy="376238"/>
            </a:xfrm>
            <a:prstGeom prst="roundRect">
              <a:avLst>
                <a:gd name="adj" fmla="val 15190"/>
              </a:avLst>
            </a:prstGeom>
            <a:solidFill>
              <a:srgbClr val="E4E7EC"/>
            </a:solidFill>
            <a:ln w="9525"/>
          </p:spPr>
          <p:txBody>
            <a:bodyPr/>
            <a:lstStyle/>
            <a:p>
              <a:endParaRPr lang="en-TH"/>
            </a:p>
          </p:txBody>
        </p:sp>
        <p:sp>
          <p:nvSpPr>
            <p:cNvPr id="18" name="Text 16"/>
            <p:cNvSpPr/>
            <p:nvPr/>
          </p:nvSpPr>
          <p:spPr>
            <a:xfrm>
              <a:off x="1219200" y="6107311"/>
              <a:ext cx="1173510"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3A4250"/>
                  </a:solidFill>
                  <a:latin typeface="JetBrains Mono" pitchFamily="34" charset="0"/>
                  <a:ea typeface="JetBrains Mono" pitchFamily="34" charset="-122"/>
                  <a:cs typeface="JetBrains Mono" pitchFamily="34" charset="-120"/>
                </a:rPr>
                <a:t>your choice</a:t>
              </a:r>
              <a:endParaRPr lang="en-US" sz="1800" dirty="0"/>
            </a:p>
          </p:txBody>
        </p:sp>
      </p:grpSp>
      <p:sp>
        <p:nvSpPr>
          <p:cNvPr id="21" name="Shape 19"/>
          <p:cNvSpPr/>
          <p:nvPr/>
        </p:nvSpPr>
        <p:spPr>
          <a:xfrm>
            <a:off x="4248150" y="5834257"/>
            <a:ext cx="3124200" cy="3614589"/>
          </a:xfrm>
          <a:prstGeom prst="roundRect">
            <a:avLst>
              <a:gd name="adj" fmla="val 6098"/>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2" name="Text 20"/>
          <p:cNvSpPr/>
          <p:nvPr/>
        </p:nvSpPr>
        <p:spPr>
          <a:xfrm>
            <a:off x="4495800" y="6100957"/>
            <a:ext cx="2707767"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STEP 02</a:t>
            </a:r>
            <a:endParaRPr lang="en-US" sz="1800" dirty="0"/>
          </a:p>
        </p:txBody>
      </p:sp>
      <p:sp>
        <p:nvSpPr>
          <p:cNvPr id="23" name="Text 21"/>
          <p:cNvSpPr/>
          <p:nvPr/>
        </p:nvSpPr>
        <p:spPr>
          <a:xfrm>
            <a:off x="4495800" y="6515295"/>
            <a:ext cx="2707767" cy="404813"/>
          </a:xfrm>
          <a:prstGeom prst="rect">
            <a:avLst/>
          </a:prstGeom>
          <a:noFill/>
          <a:ln w="9525"/>
        </p:spPr>
        <p:txBody>
          <a:bodyPr wrap="square" lIns="25400" tIns="25400" rIns="25400" bIns="25400" rtlCol="0" anchor="t">
            <a:normAutofit/>
          </a:bodyPr>
          <a:lstStyle/>
          <a:p>
            <a:pPr marL="0" indent="0" algn="l">
              <a:buNone/>
            </a:pPr>
            <a:r>
              <a:rPr lang="en-US" sz="2250" b="1" kern="0" spc="-34" dirty="0">
                <a:solidFill>
                  <a:srgbClr val="0B0F19"/>
                </a:solidFill>
                <a:latin typeface="Space Grotesk" pitchFamily="34" charset="0"/>
                <a:ea typeface="Space Grotesk" pitchFamily="34" charset="-122"/>
                <a:cs typeface="Space Grotesk" pitchFamily="34" charset="-120"/>
              </a:rPr>
              <a:t>Make a one-pager</a:t>
            </a:r>
            <a:endParaRPr lang="en-US" sz="2250" dirty="0"/>
          </a:p>
        </p:txBody>
      </p:sp>
      <p:sp>
        <p:nvSpPr>
          <p:cNvPr id="24" name="Text 22"/>
          <p:cNvSpPr/>
          <p:nvPr/>
        </p:nvSpPr>
        <p:spPr>
          <a:xfrm>
            <a:off x="4495800" y="6977257"/>
            <a:ext cx="2707767" cy="1024469"/>
          </a:xfrm>
          <a:prstGeom prst="rect">
            <a:avLst/>
          </a:prstGeom>
          <a:noFill/>
          <a:ln w="9525"/>
        </p:spPr>
        <p:txBody>
          <a:bodyPr wrap="square" lIns="25400" tIns="25400" rIns="25400" bIns="25400" rtlCol="0" anchor="t">
            <a:spAutoFit/>
          </a:bodyPr>
          <a:lstStyle/>
          <a:p>
            <a:pPr marL="0" indent="0" algn="l">
              <a:lnSpc>
                <a:spcPct val="125000"/>
              </a:lnSpc>
              <a:buNone/>
            </a:pPr>
            <a:r>
              <a:rPr lang="en-US" sz="1600" dirty="0">
                <a:solidFill>
                  <a:srgbClr val="3A4250"/>
                </a:solidFill>
                <a:latin typeface="Space Grotesk" pitchFamily="34" charset="0"/>
                <a:ea typeface="Space Grotesk" pitchFamily="34" charset="-122"/>
                <a:cs typeface="Space Grotesk" pitchFamily="34" charset="-120"/>
              </a:rPr>
              <a:t>One page, A4 or 16:9: what the idea is, why it matters, how it works. Mind map, infographic or bullets — make it readable.</a:t>
            </a:r>
            <a:endParaRPr lang="en-US" sz="1600" dirty="0"/>
          </a:p>
        </p:txBody>
      </p:sp>
      <p:grpSp>
        <p:nvGrpSpPr>
          <p:cNvPr id="91112432" name="Group 91112432"/>
          <p:cNvGrpSpPr/>
          <p:nvPr/>
        </p:nvGrpSpPr>
        <p:grpSpPr>
          <a:xfrm>
            <a:off x="4495800" y="8786858"/>
            <a:ext cx="1699320" cy="376238"/>
            <a:chOff x="4495800" y="6088261"/>
            <a:chExt cx="1699320" cy="376238"/>
          </a:xfrm>
        </p:grpSpPr>
        <p:sp>
          <p:nvSpPr>
            <p:cNvPr id="25" name="Shape 23"/>
            <p:cNvSpPr/>
            <p:nvPr/>
          </p:nvSpPr>
          <p:spPr>
            <a:xfrm>
              <a:off x="4495800" y="6088261"/>
              <a:ext cx="1699320" cy="376238"/>
            </a:xfrm>
            <a:prstGeom prst="roundRect">
              <a:avLst>
                <a:gd name="adj" fmla="val 15190"/>
              </a:avLst>
            </a:prstGeom>
            <a:solidFill>
              <a:srgbClr val="E4E7EC"/>
            </a:solidFill>
            <a:ln w="9525"/>
          </p:spPr>
          <p:txBody>
            <a:bodyPr/>
            <a:lstStyle/>
            <a:p>
              <a:endParaRPr lang="en-TH"/>
            </a:p>
          </p:txBody>
        </p:sp>
        <p:sp>
          <p:nvSpPr>
            <p:cNvPr id="26" name="Text 24"/>
            <p:cNvSpPr/>
            <p:nvPr/>
          </p:nvSpPr>
          <p:spPr>
            <a:xfrm>
              <a:off x="4552950" y="6107311"/>
              <a:ext cx="1585020"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3A4250"/>
                  </a:solidFill>
                  <a:latin typeface="JetBrains Mono" pitchFamily="34" charset="0"/>
                  <a:ea typeface="JetBrains Mono" pitchFamily="34" charset="-122"/>
                  <a:cs typeface="JetBrains Mono" pitchFamily="34" charset="-120"/>
                </a:rPr>
                <a:t>1 page</a:t>
              </a:r>
              <a:endParaRPr lang="en-US" sz="1800" dirty="0"/>
            </a:p>
          </p:txBody>
        </p:sp>
      </p:grpSp>
      <p:sp>
        <p:nvSpPr>
          <p:cNvPr id="29" name="Shape 27"/>
          <p:cNvSpPr/>
          <p:nvPr/>
        </p:nvSpPr>
        <p:spPr>
          <a:xfrm>
            <a:off x="7581900" y="5834257"/>
            <a:ext cx="3124200" cy="3614589"/>
          </a:xfrm>
          <a:prstGeom prst="roundRect">
            <a:avLst>
              <a:gd name="adj" fmla="val 6098"/>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30" name="Text 28"/>
          <p:cNvSpPr/>
          <p:nvPr/>
        </p:nvSpPr>
        <p:spPr>
          <a:xfrm>
            <a:off x="7829550" y="6100957"/>
            <a:ext cx="2707767"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STEP 03</a:t>
            </a:r>
            <a:endParaRPr lang="en-US" sz="1800" dirty="0"/>
          </a:p>
        </p:txBody>
      </p:sp>
      <p:sp>
        <p:nvSpPr>
          <p:cNvPr id="31" name="Text 29"/>
          <p:cNvSpPr/>
          <p:nvPr/>
        </p:nvSpPr>
        <p:spPr>
          <a:xfrm>
            <a:off x="7829550" y="6515295"/>
            <a:ext cx="2707767" cy="404813"/>
          </a:xfrm>
          <a:prstGeom prst="rect">
            <a:avLst/>
          </a:prstGeom>
          <a:noFill/>
          <a:ln w="9525"/>
        </p:spPr>
        <p:txBody>
          <a:bodyPr wrap="square" lIns="25400" tIns="25400" rIns="25400" bIns="25400" rtlCol="0" anchor="t">
            <a:normAutofit/>
          </a:bodyPr>
          <a:lstStyle/>
          <a:p>
            <a:pPr marL="0" indent="0" algn="l">
              <a:buNone/>
            </a:pPr>
            <a:r>
              <a:rPr lang="en-US" sz="2250" b="1" kern="0" spc="-34" dirty="0">
                <a:solidFill>
                  <a:srgbClr val="0B0F19"/>
                </a:solidFill>
                <a:latin typeface="Space Grotesk" pitchFamily="34" charset="0"/>
                <a:ea typeface="Space Grotesk" pitchFamily="34" charset="-122"/>
                <a:cs typeface="Space Grotesk" pitchFamily="34" charset="-120"/>
              </a:rPr>
              <a:t>Record 3 minutes</a:t>
            </a:r>
            <a:endParaRPr lang="en-US" sz="2250" dirty="0"/>
          </a:p>
        </p:txBody>
      </p:sp>
      <p:sp>
        <p:nvSpPr>
          <p:cNvPr id="32" name="Text 30"/>
          <p:cNvSpPr/>
          <p:nvPr/>
        </p:nvSpPr>
        <p:spPr>
          <a:xfrm>
            <a:off x="7829550" y="6977257"/>
            <a:ext cx="2707767" cy="1349025"/>
          </a:xfrm>
          <a:prstGeom prst="rect">
            <a:avLst/>
          </a:prstGeom>
          <a:noFill/>
          <a:ln w="9525"/>
        </p:spPr>
        <p:txBody>
          <a:bodyPr wrap="square" lIns="25400" tIns="25400" rIns="25400" bIns="25400" rtlCol="0" anchor="t">
            <a:spAutoFit/>
          </a:bodyPr>
          <a:lstStyle/>
          <a:p>
            <a:pPr marL="0" indent="0" algn="l">
              <a:lnSpc>
                <a:spcPct val="125000"/>
              </a:lnSpc>
              <a:buNone/>
            </a:pPr>
            <a:r>
              <a:rPr lang="en-US" sz="1600" dirty="0">
                <a:solidFill>
                  <a:srgbClr val="3A4250"/>
                </a:solidFill>
                <a:latin typeface="Space Grotesk" pitchFamily="34" charset="0"/>
                <a:ea typeface="Space Grotesk" pitchFamily="34" charset="-122"/>
                <a:cs typeface="Space Grotesk" pitchFamily="34" charset="-120"/>
              </a:rPr>
              <a:t>Present your own one-pager on camera, in your own words — like explaining it to a friend. Zoom, Meet, Canva or OBS all work.</a:t>
            </a:r>
            <a:endParaRPr lang="en-US" sz="1600" dirty="0"/>
          </a:p>
        </p:txBody>
      </p:sp>
      <p:grpSp>
        <p:nvGrpSpPr>
          <p:cNvPr id="5611275" name="Group 5611275"/>
          <p:cNvGrpSpPr/>
          <p:nvPr/>
        </p:nvGrpSpPr>
        <p:grpSpPr>
          <a:xfrm>
            <a:off x="7829550" y="8786858"/>
            <a:ext cx="1424955" cy="376238"/>
            <a:chOff x="7829550" y="6419701"/>
            <a:chExt cx="1424955" cy="376238"/>
          </a:xfrm>
        </p:grpSpPr>
        <p:sp>
          <p:nvSpPr>
            <p:cNvPr id="33" name="Shape 31"/>
            <p:cNvSpPr/>
            <p:nvPr/>
          </p:nvSpPr>
          <p:spPr>
            <a:xfrm>
              <a:off x="7829550" y="6419701"/>
              <a:ext cx="1424955" cy="376238"/>
            </a:xfrm>
            <a:prstGeom prst="roundRect">
              <a:avLst>
                <a:gd name="adj" fmla="val 15190"/>
              </a:avLst>
            </a:prstGeom>
            <a:solidFill>
              <a:srgbClr val="E4E7EC"/>
            </a:solidFill>
            <a:ln w="9525"/>
          </p:spPr>
          <p:txBody>
            <a:bodyPr/>
            <a:lstStyle/>
            <a:p>
              <a:endParaRPr lang="en-TH"/>
            </a:p>
          </p:txBody>
        </p:sp>
        <p:sp>
          <p:nvSpPr>
            <p:cNvPr id="34" name="Text 32"/>
            <p:cNvSpPr/>
            <p:nvPr/>
          </p:nvSpPr>
          <p:spPr>
            <a:xfrm>
              <a:off x="7886700" y="6438751"/>
              <a:ext cx="1310655"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3A4250"/>
                  </a:solidFill>
                  <a:latin typeface="JetBrains Mono" pitchFamily="34" charset="0"/>
                  <a:ea typeface="JetBrains Mono" pitchFamily="34" charset="-122"/>
                  <a:cs typeface="JetBrains Mono" pitchFamily="34" charset="-120"/>
                </a:rPr>
                <a:t>3 min max</a:t>
              </a:r>
              <a:endParaRPr lang="en-US" sz="1800" dirty="0"/>
            </a:p>
          </p:txBody>
        </p:sp>
      </p:grpSp>
      <p:sp>
        <p:nvSpPr>
          <p:cNvPr id="37" name="Shape 35"/>
          <p:cNvSpPr/>
          <p:nvPr/>
        </p:nvSpPr>
        <p:spPr>
          <a:xfrm>
            <a:off x="10915650" y="5834257"/>
            <a:ext cx="3124200" cy="3614589"/>
          </a:xfrm>
          <a:prstGeom prst="roundRect">
            <a:avLst>
              <a:gd name="adj" fmla="val 6098"/>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38" name="Text 36"/>
          <p:cNvSpPr/>
          <p:nvPr/>
        </p:nvSpPr>
        <p:spPr>
          <a:xfrm>
            <a:off x="11163300" y="6100957"/>
            <a:ext cx="2707767"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STEP 04</a:t>
            </a:r>
            <a:endParaRPr lang="en-US" sz="1800" dirty="0"/>
          </a:p>
        </p:txBody>
      </p:sp>
      <p:sp>
        <p:nvSpPr>
          <p:cNvPr id="39" name="Text 37"/>
          <p:cNvSpPr/>
          <p:nvPr/>
        </p:nvSpPr>
        <p:spPr>
          <a:xfrm>
            <a:off x="11163300" y="6515295"/>
            <a:ext cx="2707767" cy="404813"/>
          </a:xfrm>
          <a:prstGeom prst="rect">
            <a:avLst/>
          </a:prstGeom>
          <a:noFill/>
          <a:ln w="9525"/>
        </p:spPr>
        <p:txBody>
          <a:bodyPr wrap="square" lIns="25400" tIns="25400" rIns="25400" bIns="25400" rtlCol="0" anchor="t">
            <a:normAutofit/>
          </a:bodyPr>
          <a:lstStyle/>
          <a:p>
            <a:pPr marL="0" indent="0" algn="l">
              <a:buNone/>
            </a:pPr>
            <a:r>
              <a:rPr lang="en-US" sz="2250" b="1" kern="0" spc="-34" dirty="0">
                <a:solidFill>
                  <a:srgbClr val="0B0F19"/>
                </a:solidFill>
                <a:latin typeface="Space Grotesk" pitchFamily="34" charset="0"/>
                <a:ea typeface="Space Grotesk" pitchFamily="34" charset="-122"/>
                <a:cs typeface="Space Grotesk" pitchFamily="34" charset="-120"/>
              </a:rPr>
              <a:t>Upload and link it</a:t>
            </a:r>
            <a:endParaRPr lang="en-US" sz="2250" dirty="0"/>
          </a:p>
        </p:txBody>
      </p:sp>
      <p:sp>
        <p:nvSpPr>
          <p:cNvPr id="40" name="Text 38"/>
          <p:cNvSpPr/>
          <p:nvPr/>
        </p:nvSpPr>
        <p:spPr>
          <a:xfrm>
            <a:off x="11163300" y="6977257"/>
            <a:ext cx="2707767" cy="1024469"/>
          </a:xfrm>
          <a:prstGeom prst="rect">
            <a:avLst/>
          </a:prstGeom>
          <a:noFill/>
          <a:ln w="9525"/>
        </p:spPr>
        <p:txBody>
          <a:bodyPr wrap="square" lIns="25400" tIns="25400" rIns="25400" bIns="25400" rtlCol="0" anchor="t">
            <a:spAutoFit/>
          </a:bodyPr>
          <a:lstStyle/>
          <a:p>
            <a:pPr marL="0" indent="0" algn="l">
              <a:lnSpc>
                <a:spcPct val="125000"/>
              </a:lnSpc>
              <a:buNone/>
            </a:pPr>
            <a:r>
              <a:rPr lang="en-US" sz="1600" dirty="0">
                <a:solidFill>
                  <a:srgbClr val="3A4250"/>
                </a:solidFill>
                <a:latin typeface="Space Grotesk" pitchFamily="34" charset="0"/>
                <a:ea typeface="Space Grotesk" pitchFamily="34" charset="-122"/>
                <a:cs typeface="Space Grotesk" pitchFamily="34" charset="-120"/>
              </a:rPr>
              <a:t>Put the video on YouTube (Unlisted) or Google Drive (anyone with the link), then paste that link inside the one-pager.</a:t>
            </a:r>
            <a:endParaRPr lang="en-US" sz="1600" dirty="0"/>
          </a:p>
        </p:txBody>
      </p:sp>
      <p:grpSp>
        <p:nvGrpSpPr>
          <p:cNvPr id="55245507" name="Group 55245507"/>
          <p:cNvGrpSpPr/>
          <p:nvPr/>
        </p:nvGrpSpPr>
        <p:grpSpPr>
          <a:xfrm>
            <a:off x="11163300" y="8786858"/>
            <a:ext cx="1287810" cy="376238"/>
            <a:chOff x="11163300" y="5756821"/>
            <a:chExt cx="1287810" cy="376238"/>
          </a:xfrm>
        </p:grpSpPr>
        <p:sp>
          <p:nvSpPr>
            <p:cNvPr id="41" name="Shape 39"/>
            <p:cNvSpPr/>
            <p:nvPr/>
          </p:nvSpPr>
          <p:spPr>
            <a:xfrm>
              <a:off x="11163300" y="5756821"/>
              <a:ext cx="1287810" cy="376238"/>
            </a:xfrm>
            <a:prstGeom prst="roundRect">
              <a:avLst>
                <a:gd name="adj" fmla="val 15190"/>
              </a:avLst>
            </a:prstGeom>
            <a:solidFill>
              <a:srgbClr val="E4E7EC"/>
            </a:solidFill>
            <a:ln w="9525"/>
          </p:spPr>
          <p:txBody>
            <a:bodyPr/>
            <a:lstStyle/>
            <a:p>
              <a:endParaRPr lang="en-TH"/>
            </a:p>
          </p:txBody>
        </p:sp>
        <p:sp>
          <p:nvSpPr>
            <p:cNvPr id="42" name="Text 40"/>
            <p:cNvSpPr/>
            <p:nvPr/>
          </p:nvSpPr>
          <p:spPr>
            <a:xfrm>
              <a:off x="11220450" y="5775871"/>
              <a:ext cx="1173510"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3A4250"/>
                  </a:solidFill>
                  <a:latin typeface="JetBrains Mono" pitchFamily="34" charset="0"/>
                  <a:ea typeface="JetBrains Mono" pitchFamily="34" charset="-122"/>
                  <a:cs typeface="JetBrains Mono" pitchFamily="34" charset="-120"/>
                </a:rPr>
                <a:t>unlisted ok</a:t>
              </a:r>
              <a:endParaRPr lang="en-US" sz="1800" dirty="0"/>
            </a:p>
          </p:txBody>
        </p:sp>
      </p:grpSp>
      <p:sp>
        <p:nvSpPr>
          <p:cNvPr id="45" name="Shape 43"/>
          <p:cNvSpPr/>
          <p:nvPr/>
        </p:nvSpPr>
        <p:spPr>
          <a:xfrm>
            <a:off x="14249400" y="5834257"/>
            <a:ext cx="3124200" cy="3614589"/>
          </a:xfrm>
          <a:prstGeom prst="roundRect">
            <a:avLst>
              <a:gd name="adj" fmla="val 6098"/>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46" name="Text 44"/>
          <p:cNvSpPr/>
          <p:nvPr/>
        </p:nvSpPr>
        <p:spPr>
          <a:xfrm>
            <a:off x="14497050" y="6100957"/>
            <a:ext cx="2707767"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STEP 05</a:t>
            </a:r>
            <a:endParaRPr lang="en-US" sz="1800" dirty="0"/>
          </a:p>
        </p:txBody>
      </p:sp>
      <p:sp>
        <p:nvSpPr>
          <p:cNvPr id="47" name="Text 45"/>
          <p:cNvSpPr/>
          <p:nvPr/>
        </p:nvSpPr>
        <p:spPr>
          <a:xfrm>
            <a:off x="14497050" y="6515295"/>
            <a:ext cx="2707767" cy="404813"/>
          </a:xfrm>
          <a:prstGeom prst="rect">
            <a:avLst/>
          </a:prstGeom>
          <a:noFill/>
          <a:ln w="9525"/>
        </p:spPr>
        <p:txBody>
          <a:bodyPr wrap="square" lIns="25400" tIns="25400" rIns="25400" bIns="25400" rtlCol="0" anchor="t">
            <a:normAutofit/>
          </a:bodyPr>
          <a:lstStyle/>
          <a:p>
            <a:pPr marL="0" indent="0" algn="l">
              <a:buNone/>
            </a:pPr>
            <a:r>
              <a:rPr lang="en-US" sz="2250" b="1" kern="0" spc="-34" dirty="0">
                <a:solidFill>
                  <a:srgbClr val="0B0F19"/>
                </a:solidFill>
                <a:latin typeface="Space Grotesk" pitchFamily="34" charset="0"/>
                <a:ea typeface="Space Grotesk" pitchFamily="34" charset="-122"/>
                <a:cs typeface="Space Grotesk" pitchFamily="34" charset="-120"/>
              </a:rPr>
              <a:t>Submit as PDF</a:t>
            </a:r>
            <a:endParaRPr lang="en-US" sz="2250" dirty="0"/>
          </a:p>
        </p:txBody>
      </p:sp>
      <p:sp>
        <p:nvSpPr>
          <p:cNvPr id="48" name="Text 46"/>
          <p:cNvSpPr/>
          <p:nvPr/>
        </p:nvSpPr>
        <p:spPr>
          <a:xfrm>
            <a:off x="14497050" y="6977257"/>
            <a:ext cx="2707767" cy="1349025"/>
          </a:xfrm>
          <a:prstGeom prst="rect">
            <a:avLst/>
          </a:prstGeom>
          <a:noFill/>
          <a:ln w="9525"/>
        </p:spPr>
        <p:txBody>
          <a:bodyPr wrap="square" lIns="25400" tIns="25400" rIns="25400" bIns="25400" rtlCol="0" anchor="t">
            <a:spAutoFit/>
          </a:bodyPr>
          <a:lstStyle/>
          <a:p>
            <a:pPr marL="0" indent="0" algn="l">
              <a:lnSpc>
                <a:spcPct val="125000"/>
              </a:lnSpc>
              <a:buNone/>
            </a:pPr>
            <a:r>
              <a:rPr lang="en-US" sz="1600" dirty="0">
                <a:solidFill>
                  <a:srgbClr val="3A4250"/>
                </a:solidFill>
                <a:latin typeface="Space Grotesk" pitchFamily="34" charset="0"/>
                <a:ea typeface="Space Grotesk" pitchFamily="34" charset="-122"/>
                <a:cs typeface="Space Grotesk" pitchFamily="34" charset="-120"/>
              </a:rPr>
              <a:t>Export the one-pager as .pdf with the link inside and upload it. Check the link opens from another account first.</a:t>
            </a:r>
            <a:endParaRPr lang="en-US" sz="1600" dirty="0"/>
          </a:p>
        </p:txBody>
      </p:sp>
      <p:grpSp>
        <p:nvGrpSpPr>
          <p:cNvPr id="38010581" name="Group 38010581"/>
          <p:cNvGrpSpPr/>
          <p:nvPr/>
        </p:nvGrpSpPr>
        <p:grpSpPr>
          <a:xfrm>
            <a:off x="14497050" y="8786858"/>
            <a:ext cx="1973610" cy="376238"/>
            <a:chOff x="14497050" y="6088261"/>
            <a:chExt cx="1973610" cy="376238"/>
          </a:xfrm>
        </p:grpSpPr>
        <p:sp>
          <p:nvSpPr>
            <p:cNvPr id="49" name="Shape 47"/>
            <p:cNvSpPr/>
            <p:nvPr/>
          </p:nvSpPr>
          <p:spPr>
            <a:xfrm>
              <a:off x="14497050" y="6088261"/>
              <a:ext cx="1973610" cy="376238"/>
            </a:xfrm>
            <a:prstGeom prst="roundRect">
              <a:avLst>
                <a:gd name="adj" fmla="val 15190"/>
              </a:avLst>
            </a:prstGeom>
            <a:solidFill>
              <a:srgbClr val="E4E7EC"/>
            </a:solidFill>
            <a:ln w="9525"/>
          </p:spPr>
          <p:txBody>
            <a:bodyPr/>
            <a:lstStyle/>
            <a:p>
              <a:endParaRPr lang="en-TH"/>
            </a:p>
          </p:txBody>
        </p:sp>
        <p:sp>
          <p:nvSpPr>
            <p:cNvPr id="50" name="Text 48"/>
            <p:cNvSpPr/>
            <p:nvPr/>
          </p:nvSpPr>
          <p:spPr>
            <a:xfrm>
              <a:off x="14554200" y="6107311"/>
              <a:ext cx="1859310" cy="338138"/>
            </a:xfrm>
            <a:prstGeom prst="rect">
              <a:avLst/>
            </a:prstGeom>
            <a:noFill/>
            <a:ln w="9525"/>
          </p:spPr>
          <p:txBody>
            <a:bodyPr wrap="square" lIns="25400" tIns="25400" rIns="25400" bIns="25400" rtlCol="0" anchor="t">
              <a:normAutofit/>
            </a:bodyPr>
            <a:lstStyle/>
            <a:p>
              <a:pPr marL="0" indent="0" algn="l">
                <a:buNone/>
              </a:pPr>
              <a:r>
                <a:rPr lang="en-US" altLang="en-US">
                  <a:solidFill>
                    <a:srgbClr val="3A4250"/>
                  </a:solidFill>
                  <a:latin typeface="JetBrains Mono" pitchFamily="34" charset="0"/>
                  <a:ea typeface="JetBrains Mono" pitchFamily="34" charset="-122"/>
                  <a:cs typeface="JetBrains Mono" pitchFamily="34" charset="-120"/>
                </a:rPr>
                <a:t>Mon 21 Sep</a:t>
              </a:r>
              <a:endParaRPr lang="en-US" sz="1800" dirty="0"/>
            </a:p>
          </p:txBody>
        </p:sp>
      </p:grpSp>
      <p:grpSp>
        <p:nvGrpSpPr>
          <p:cNvPr id="7920254" name="Group 7920254"/>
          <p:cNvGrpSpPr/>
          <p:nvPr/>
        </p:nvGrpSpPr>
        <p:grpSpPr>
          <a:xfrm rot="180000">
            <a:off x="13298576" y="1813334"/>
            <a:ext cx="3111583" cy="2393525"/>
            <a:chOff x="1576388" y="3086100"/>
            <a:chExt cx="2476500" cy="1905000"/>
          </a:xfrm>
        </p:grpSpPr>
        <p:sp>
          <p:nvSpPr>
            <p:cNvPr id="2385485" name="Shape 9"/>
            <p:cNvSpPr/>
            <p:nvPr/>
          </p:nvSpPr>
          <p:spPr>
            <a:xfrm>
              <a:off x="1747838" y="3086100"/>
              <a:ext cx="876300" cy="247650"/>
            </a:xfrm>
            <a:prstGeom prst="roundRect">
              <a:avLst>
                <a:gd name="adj" fmla="val 30769"/>
              </a:avLst>
            </a:prstGeom>
            <a:solidFill>
              <a:srgbClr val="E8961F"/>
            </a:solidFill>
            <a:ln w="9525"/>
          </p:spPr>
          <p:txBody>
            <a:bodyPr/>
            <a:lstStyle/>
            <a:p>
              <a:endParaRPr lang="en-TH"/>
            </a:p>
          </p:txBody>
        </p:sp>
        <p:sp>
          <p:nvSpPr>
            <p:cNvPr id="40008253" name="Shape 10"/>
            <p:cNvSpPr/>
            <p:nvPr/>
          </p:nvSpPr>
          <p:spPr>
            <a:xfrm>
              <a:off x="1576388" y="3295650"/>
              <a:ext cx="2476500" cy="1695450"/>
            </a:xfrm>
            <a:prstGeom prst="roundRect">
              <a:avLst>
                <a:gd name="adj" fmla="val 7865"/>
              </a:avLst>
            </a:prstGeom>
            <a:solidFill>
              <a:srgbClr val="FFC233"/>
            </a:solidFill>
            <a:ln w="9525"/>
          </p:spPr>
          <p:txBody>
            <a:bodyPr/>
            <a:lstStyle/>
            <a:p>
              <a:endParaRPr lang="en-TH"/>
            </a:p>
          </p:txBody>
        </p:sp>
      </p:grpSp>
      <p:grpSp>
        <p:nvGrpSpPr>
          <p:cNvPr id="39236351" name="Group 39236351"/>
          <p:cNvGrpSpPr/>
          <p:nvPr/>
        </p:nvGrpSpPr>
        <p:grpSpPr>
          <a:xfrm>
            <a:off x="12451175" y="2438400"/>
            <a:ext cx="3270033" cy="2461353"/>
            <a:chOff x="5795963" y="3086100"/>
            <a:chExt cx="2476500" cy="1905000"/>
          </a:xfrm>
        </p:grpSpPr>
        <p:sp>
          <p:nvSpPr>
            <p:cNvPr id="86887337" name="Shape 14"/>
            <p:cNvSpPr/>
            <p:nvPr/>
          </p:nvSpPr>
          <p:spPr>
            <a:xfrm>
              <a:off x="5967413" y="3086100"/>
              <a:ext cx="876300" cy="247650"/>
            </a:xfrm>
            <a:prstGeom prst="roundRect">
              <a:avLst>
                <a:gd name="adj" fmla="val 30769"/>
              </a:avLst>
            </a:prstGeom>
            <a:solidFill>
              <a:srgbClr val="CC4334"/>
            </a:solidFill>
            <a:ln w="9525"/>
          </p:spPr>
          <p:txBody>
            <a:bodyPr/>
            <a:lstStyle/>
            <a:p>
              <a:endParaRPr lang="en-TH"/>
            </a:p>
          </p:txBody>
        </p:sp>
        <p:sp>
          <p:nvSpPr>
            <p:cNvPr id="30867353" name="Shape 15"/>
            <p:cNvSpPr/>
            <p:nvPr/>
          </p:nvSpPr>
          <p:spPr>
            <a:xfrm>
              <a:off x="5795963" y="3295650"/>
              <a:ext cx="2476500" cy="1695450"/>
            </a:xfrm>
            <a:prstGeom prst="roundRect">
              <a:avLst>
                <a:gd name="adj" fmla="val 7865"/>
              </a:avLst>
            </a:prstGeom>
            <a:solidFill>
              <a:srgbClr val="FF5A47"/>
            </a:solidFill>
            <a:ln w="9525"/>
          </p:spPr>
          <p:txBody>
            <a:bodyPr/>
            <a:lstStyle/>
            <a:p>
              <a:endParaRPr lang="en-TH"/>
            </a:p>
          </p:txBody>
        </p:sp>
      </p:grpSp>
      <p:pic>
        <p:nvPicPr>
          <p:cNvPr id="8" name="Picture 7" descr="What is Hugging Face? | IBM">
            <a:extLst>
              <a:ext uri="{FF2B5EF4-FFF2-40B4-BE49-F238E27FC236}">
                <a16:creationId xmlns:a16="http://schemas.microsoft.com/office/drawing/2014/main" id="{4848A9A5-D999-AB99-4A40-901D10EFEA1F}"/>
              </a:ext>
            </a:extLst>
          </p:cNvPr>
          <p:cNvPicPr>
            <a:picLocks noChangeAspect="1"/>
          </p:cNvPicPr>
          <p:nvPr/>
        </p:nvPicPr>
        <p:blipFill>
          <a:blip r:embed="rId2"/>
          <a:stretch>
            <a:fillRect/>
          </a:stretch>
        </p:blipFill>
        <p:spPr>
          <a:xfrm>
            <a:off x="6137970" y="2119074"/>
            <a:ext cx="5777305" cy="4358121"/>
          </a:xfrm>
          <a:prstGeom prst="rect">
            <a:avLst/>
          </a:prstGeom>
        </p:spPr>
      </p:pic>
      <p:pic>
        <p:nvPicPr>
          <p:cNvPr id="19" name="Picture 18" descr="GitHub Guide for Beginners | Analytics Vidhya">
            <a:extLst>
              <a:ext uri="{FF2B5EF4-FFF2-40B4-BE49-F238E27FC236}">
                <a16:creationId xmlns:a16="http://schemas.microsoft.com/office/drawing/2014/main" id="{36E9AA0E-0794-797E-60F3-9CAA343953D6}"/>
              </a:ext>
            </a:extLst>
          </p:cNvPr>
          <p:cNvPicPr>
            <a:picLocks noChangeAspect="1"/>
          </p:cNvPicPr>
          <p:nvPr/>
        </p:nvPicPr>
        <p:blipFill>
          <a:blip r:embed="rId3"/>
          <a:stretch>
            <a:fillRect/>
          </a:stretch>
        </p:blipFill>
        <p:spPr>
          <a:xfrm>
            <a:off x="1787222" y="3237725"/>
            <a:ext cx="4165189" cy="233656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p:cNvSpPr/>
          <p:nvPr/>
        </p:nvSpPr>
        <p:spPr>
          <a:xfrm>
            <a:off x="728216" y="154781"/>
            <a:ext cx="3889732" cy="338138"/>
          </a:xfrm>
          <a:prstGeom prst="rect">
            <a:avLst/>
          </a:prstGeom>
          <a:noFill/>
          <a:ln w="9525"/>
        </p:spPr>
        <p:txBody>
          <a:bodyPr wrap="square" lIns="25400" tIns="25400" rIns="25400" bIns="25400" rtlCol="0" anchor="t">
            <a:normAutofit/>
          </a:bodyPr>
          <a:lstStyle/>
          <a:p>
            <a:pPr marL="0" indent="0" algn="l">
              <a:buNone/>
            </a:pPr>
            <a:r>
              <a:rPr lang="en-US" sz="1800" b="1" kern="0" spc="-18" dirty="0">
                <a:solidFill>
                  <a:srgbClr val="0B0F19"/>
                </a:solidFill>
                <a:latin typeface="JetBrains Mono" pitchFamily="34" charset="0"/>
                <a:ea typeface="JetBrains Mono" pitchFamily="34" charset="-122"/>
                <a:cs typeface="JetBrains Mono" pitchFamily="34" charset="-120"/>
              </a:rPr>
              <a:t>intro2se-week01.fig</a:t>
            </a:r>
            <a:endParaRPr lang="en-US" sz="1800" dirty="0"/>
          </a:p>
        </p:txBody>
      </p:sp>
      <p:sp>
        <p:nvSpPr>
          <p:cNvPr id="6" name="Text 4"/>
          <p:cNvSpPr/>
          <p:nvPr/>
        </p:nvSpPr>
        <p:spPr>
          <a:xfrm>
            <a:off x="4771355" y="154781"/>
            <a:ext cx="3241533"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The rules · Assignment marks</a:t>
            </a:r>
            <a:endParaRPr lang="en-US" sz="1800" dirty="0"/>
          </a:p>
        </p:txBody>
      </p:sp>
      <p:sp>
        <p:nvSpPr>
          <p:cNvPr id="7" name="Text 5"/>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sz="1800" kern="0" spc="72" dirty="0">
                <a:solidFill>
                  <a:srgbClr val="7A8290"/>
                </a:solidFill>
                <a:latin typeface="JetBrains Mono" pitchFamily="34" charset="0"/>
                <a:ea typeface="JetBrains Mono" pitchFamily="34" charset="-122"/>
                <a:cs typeface="JetBrains Mono" pitchFamily="34" charset="-120"/>
              </a:rPr>
              <a:t>15 / </a:t>
            </a:r>
            <a:r>
              <a:rPr lang="en-US" kern="0" spc="72" dirty="0">
                <a:solidFill>
                  <a:srgbClr val="7A8290"/>
                </a:solidFill>
                <a:latin typeface="JetBrains Mono" pitchFamily="34" charset="0"/>
                <a:ea typeface="JetBrains Mono" pitchFamily="34" charset="-122"/>
                <a:cs typeface="JetBrains Mono" pitchFamily="34" charset="-120"/>
              </a:rPr>
              <a:t>32</a:t>
            </a:r>
            <a:endParaRPr lang="en-US" sz="1800" dirty="0"/>
          </a:p>
        </p:txBody>
      </p:sp>
      <p:sp>
        <p:nvSpPr>
          <p:cNvPr id="9" name="Text 7"/>
          <p:cNvSpPr/>
          <p:nvPr/>
        </p:nvSpPr>
        <p:spPr>
          <a:xfrm>
            <a:off x="914400" y="1524000"/>
            <a:ext cx="16952976" cy="990600"/>
          </a:xfrm>
          <a:prstGeom prst="rect">
            <a:avLst/>
          </a:prstGeom>
          <a:noFill/>
          <a:ln w="9525"/>
        </p:spPr>
        <p:txBody>
          <a:bodyPr wrap="square" lIns="25400" tIns="25400" rIns="25400" bIns="25400" rtlCol="0" anchor="t">
            <a:normAutofit/>
          </a:bodyPr>
          <a:lstStyle/>
          <a:p>
            <a:pPr marL="0" indent="0" algn="l">
              <a:lnSpc>
                <a:spcPct val="100000"/>
              </a:lnSpc>
              <a:buNone/>
            </a:pPr>
            <a:r>
              <a:rPr lang="en-US" sz="4800" b="1" kern="0" spc="-120" dirty="0">
                <a:solidFill>
                  <a:srgbClr val="0B0F19"/>
                </a:solidFill>
                <a:latin typeface="Space Grotesk" pitchFamily="34" charset="0"/>
                <a:ea typeface="Space Grotesk" pitchFamily="34" charset="-122"/>
                <a:cs typeface="Space Grotesk" pitchFamily="34" charset="-120"/>
              </a:rPr>
              <a:t>How the 10 marks are given</a:t>
            </a:r>
            <a:endParaRPr lang="en-US" sz="4800" dirty="0"/>
          </a:p>
        </p:txBody>
      </p:sp>
      <p:sp>
        <p:nvSpPr>
          <p:cNvPr id="10" name="Text 8"/>
          <p:cNvSpPr/>
          <p:nvPr/>
        </p:nvSpPr>
        <p:spPr>
          <a:xfrm>
            <a:off x="914400" y="2564884"/>
            <a:ext cx="16459200" cy="459740"/>
          </a:xfrm>
          <a:prstGeom prst="rect">
            <a:avLst/>
          </a:prstGeom>
          <a:noFill/>
          <a:ln w="9525"/>
        </p:spPr>
        <p:txBody>
          <a:bodyPr wrap="square" lIns="25400" tIns="25400" rIns="25400" bIns="25400" rtlCol="0" anchor="t">
            <a:spAutoFit/>
          </a:bodyPr>
          <a:lstStyle/>
          <a:p>
            <a:pPr marL="0" indent="0" algn="l">
              <a:lnSpc>
                <a:spcPct val="140000"/>
              </a:lnSpc>
              <a:buNone/>
            </a:pPr>
            <a:r>
              <a:rPr lang="en-US" sz="1800" dirty="0">
                <a:solidFill>
                  <a:srgbClr val="3A4250"/>
                </a:solidFill>
                <a:latin typeface="Space Grotesk" pitchFamily="34" charset="0"/>
                <a:ea typeface="Space Grotesk" pitchFamily="34" charset="-122"/>
                <a:cs typeface="Space Grotesk" pitchFamily="34" charset="-120"/>
              </a:rPr>
              <a:t>Four criteria. Two are about understanding the article, two are about communicating it — because in this course both are the point.</a:t>
            </a:r>
            <a:endParaRPr lang="en-US" sz="1800" kern="1200" dirty="0">
              <a:solidFill>
                <a:srgbClr val="3A4250"/>
              </a:solidFill>
              <a:latin typeface="Space Grotesk" pitchFamily="34" charset="0"/>
              <a:ea typeface="Space Grotesk" pitchFamily="34" charset="-122"/>
              <a:cs typeface="Space Grotesk" pitchFamily="34" charset="-120"/>
            </a:endParaRPr>
          </a:p>
        </p:txBody>
      </p:sp>
      <p:sp>
        <p:nvSpPr>
          <p:cNvPr id="11" name="Shape 9"/>
          <p:cNvSpPr/>
          <p:nvPr/>
        </p:nvSpPr>
        <p:spPr>
          <a:xfrm>
            <a:off x="914400" y="4291211"/>
            <a:ext cx="3914775" cy="4587548"/>
          </a:xfrm>
          <a:prstGeom prst="roundRect">
            <a:avLst>
              <a:gd name="adj" fmla="val 4866"/>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12" name="Text 10"/>
          <p:cNvSpPr/>
          <p:nvPr/>
        </p:nvSpPr>
        <p:spPr>
          <a:xfrm>
            <a:off x="1238250" y="4576961"/>
            <a:ext cx="3365087"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CONTENT</a:t>
            </a:r>
            <a:endParaRPr lang="en-US" sz="1800" dirty="0"/>
          </a:p>
        </p:txBody>
      </p:sp>
      <p:sp>
        <p:nvSpPr>
          <p:cNvPr id="13" name="Text 11"/>
          <p:cNvSpPr/>
          <p:nvPr/>
        </p:nvSpPr>
        <p:spPr>
          <a:xfrm>
            <a:off x="1238250" y="5105598"/>
            <a:ext cx="3365087" cy="990600"/>
          </a:xfrm>
          <a:prstGeom prst="rect">
            <a:avLst/>
          </a:prstGeom>
          <a:noFill/>
          <a:ln w="9525"/>
        </p:spPr>
        <p:txBody>
          <a:bodyPr wrap="square" lIns="25400" tIns="25400" rIns="25400" bIns="25400" rtlCol="0" anchor="t">
            <a:normAutofit fontScale="92500" lnSpcReduction="20000"/>
          </a:bodyPr>
          <a:lstStyle/>
          <a:p>
            <a:pPr marL="0" indent="0" algn="l">
              <a:lnSpc>
                <a:spcPct val="100000"/>
              </a:lnSpc>
              <a:buNone/>
            </a:pPr>
            <a:r>
              <a:rPr lang="en-US" sz="7500" b="1" kern="0" dirty="0">
                <a:solidFill>
                  <a:srgbClr val="2D5BFF"/>
                </a:solidFill>
                <a:latin typeface="Space Grotesk" pitchFamily="34" charset="0"/>
                <a:ea typeface="Space Grotesk" pitchFamily="34" charset="-122"/>
                <a:cs typeface="Space Grotesk" pitchFamily="34" charset="-120"/>
              </a:rPr>
              <a:t>3</a:t>
            </a:r>
            <a:r>
              <a:rPr lang="en-US" sz="2850" kern="0" dirty="0">
                <a:solidFill>
                  <a:srgbClr val="2D5BFF"/>
                </a:solidFill>
                <a:latin typeface="Space Grotesk" pitchFamily="34" charset="0"/>
                <a:ea typeface="Space Grotesk" pitchFamily="34" charset="-122"/>
                <a:cs typeface="Space Grotesk" pitchFamily="34" charset="-120"/>
              </a:rPr>
              <a:t>marks</a:t>
            </a:r>
            <a:endParaRPr lang="en-US" sz="7500" dirty="0"/>
          </a:p>
        </p:txBody>
      </p:sp>
      <p:sp>
        <p:nvSpPr>
          <p:cNvPr id="14" name="Shape 12"/>
          <p:cNvSpPr/>
          <p:nvPr/>
        </p:nvSpPr>
        <p:spPr>
          <a:xfrm>
            <a:off x="1238250" y="6229548"/>
            <a:ext cx="1775966" cy="414338"/>
          </a:xfrm>
          <a:prstGeom prst="roundRect">
            <a:avLst>
              <a:gd name="adj" fmla="val 50000"/>
            </a:avLst>
          </a:prstGeom>
          <a:solidFill>
            <a:srgbClr val="D8F1E4"/>
          </a:solidFill>
          <a:ln w="9525"/>
        </p:spPr>
        <p:txBody>
          <a:bodyPr/>
          <a:lstStyle/>
          <a:p>
            <a:endParaRPr lang="en-TH"/>
          </a:p>
        </p:txBody>
      </p:sp>
      <p:sp>
        <p:nvSpPr>
          <p:cNvPr id="15" name="Text 13"/>
          <p:cNvSpPr/>
          <p:nvPr/>
        </p:nvSpPr>
        <p:spPr>
          <a:xfrm>
            <a:off x="1333500" y="6267648"/>
            <a:ext cx="1585466" cy="338138"/>
          </a:xfrm>
          <a:prstGeom prst="rect">
            <a:avLst/>
          </a:prstGeom>
          <a:noFill/>
          <a:ln w="9525"/>
        </p:spPr>
        <p:txBody>
          <a:bodyPr wrap="square" lIns="25400" tIns="25400" rIns="25400" bIns="25400" rtlCol="0" anchor="t">
            <a:normAutofit fontScale="92500"/>
          </a:bodyPr>
          <a:lstStyle/>
          <a:p>
            <a:pPr marL="0" indent="0" algn="l">
              <a:buNone/>
            </a:pPr>
            <a:r>
              <a:rPr lang="en-US" sz="1800" dirty="0">
                <a:solidFill>
                  <a:srgbClr val="0E7D4F"/>
                </a:solidFill>
                <a:latin typeface="JetBrains Mono" pitchFamily="34" charset="0"/>
                <a:ea typeface="JetBrains Mono" pitchFamily="34" charset="-122"/>
                <a:cs typeface="JetBrains Mono" pitchFamily="34" charset="-120"/>
              </a:rPr>
              <a:t>grasp of the idea</a:t>
            </a:r>
            <a:endParaRPr lang="en-US" sz="1800" dirty="0"/>
          </a:p>
        </p:txBody>
      </p:sp>
      <p:sp>
        <p:nvSpPr>
          <p:cNvPr id="16" name="Text 14"/>
          <p:cNvSpPr/>
          <p:nvPr/>
        </p:nvSpPr>
        <p:spPr>
          <a:xfrm>
            <a:off x="1238250" y="6853436"/>
            <a:ext cx="3365087" cy="1349025"/>
          </a:xfrm>
          <a:prstGeom prst="rect">
            <a:avLst/>
          </a:prstGeom>
          <a:noFill/>
          <a:ln w="9525"/>
        </p:spPr>
        <p:txBody>
          <a:bodyPr wrap="square" lIns="25400" tIns="25400" rIns="25400" bIns="25400" rtlCol="0" anchor="t">
            <a:spAutoFit/>
          </a:bodyPr>
          <a:lstStyle/>
          <a:p>
            <a:pPr marL="0" indent="0" algn="l">
              <a:lnSpc>
                <a:spcPct val="125000"/>
              </a:lnSpc>
              <a:buNone/>
            </a:pPr>
            <a:r>
              <a:rPr lang="en-US" sz="1600" dirty="0">
                <a:solidFill>
                  <a:srgbClr val="3A4250"/>
                </a:solidFill>
                <a:latin typeface="Space Grotesk" pitchFamily="34" charset="0"/>
                <a:ea typeface="Space Grotesk" pitchFamily="34" charset="-122"/>
                <a:cs typeface="Space Grotesk" pitchFamily="34" charset="-120"/>
              </a:rPr>
              <a:t>Main points captured correctly and faithfully to the article, not over-complicated, and explained so that a general audience understands.</a:t>
            </a:r>
            <a:endParaRPr lang="en-US" sz="1600" dirty="0"/>
          </a:p>
        </p:txBody>
      </p:sp>
      <p:sp>
        <p:nvSpPr>
          <p:cNvPr id="17" name="Shape 15"/>
          <p:cNvSpPr/>
          <p:nvPr/>
        </p:nvSpPr>
        <p:spPr>
          <a:xfrm>
            <a:off x="5095875" y="4291211"/>
            <a:ext cx="3914775" cy="4587548"/>
          </a:xfrm>
          <a:prstGeom prst="roundRect">
            <a:avLst>
              <a:gd name="adj" fmla="val 4866"/>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18" name="Text 16"/>
          <p:cNvSpPr/>
          <p:nvPr/>
        </p:nvSpPr>
        <p:spPr>
          <a:xfrm>
            <a:off x="5419725" y="4576961"/>
            <a:ext cx="3365087"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ONE-PAGER</a:t>
            </a:r>
            <a:endParaRPr lang="en-US" sz="1800" dirty="0"/>
          </a:p>
        </p:txBody>
      </p:sp>
      <p:sp>
        <p:nvSpPr>
          <p:cNvPr id="19" name="Text 17"/>
          <p:cNvSpPr/>
          <p:nvPr/>
        </p:nvSpPr>
        <p:spPr>
          <a:xfrm>
            <a:off x="5419725" y="5105598"/>
            <a:ext cx="3365087" cy="990600"/>
          </a:xfrm>
          <a:prstGeom prst="rect">
            <a:avLst/>
          </a:prstGeom>
          <a:noFill/>
          <a:ln w="9525"/>
        </p:spPr>
        <p:txBody>
          <a:bodyPr wrap="square" lIns="25400" tIns="25400" rIns="25400" bIns="25400" rtlCol="0" anchor="t">
            <a:normAutofit fontScale="92500" lnSpcReduction="20000"/>
          </a:bodyPr>
          <a:lstStyle/>
          <a:p>
            <a:pPr marL="0" indent="0" algn="l">
              <a:lnSpc>
                <a:spcPct val="100000"/>
              </a:lnSpc>
              <a:buNone/>
            </a:pPr>
            <a:r>
              <a:rPr lang="en-US" sz="7500" b="1" kern="0" dirty="0">
                <a:solidFill>
                  <a:srgbClr val="FF5A47"/>
                </a:solidFill>
                <a:latin typeface="Space Grotesk" pitchFamily="34" charset="0"/>
                <a:ea typeface="Space Grotesk" pitchFamily="34" charset="-122"/>
                <a:cs typeface="Space Grotesk" pitchFamily="34" charset="-120"/>
              </a:rPr>
              <a:t>3</a:t>
            </a:r>
            <a:r>
              <a:rPr lang="en-US" sz="2850" kern="0" dirty="0">
                <a:solidFill>
                  <a:srgbClr val="FF5A47"/>
                </a:solidFill>
                <a:latin typeface="Space Grotesk" pitchFamily="34" charset="0"/>
                <a:ea typeface="Space Grotesk" pitchFamily="34" charset="-122"/>
                <a:cs typeface="Space Grotesk" pitchFamily="34" charset="-120"/>
              </a:rPr>
              <a:t>marks</a:t>
            </a:r>
            <a:endParaRPr lang="en-US" sz="7500" dirty="0"/>
          </a:p>
        </p:txBody>
      </p:sp>
      <p:sp>
        <p:nvSpPr>
          <p:cNvPr id="20" name="Shape 18"/>
          <p:cNvSpPr/>
          <p:nvPr/>
        </p:nvSpPr>
        <p:spPr>
          <a:xfrm>
            <a:off x="5419725" y="6229548"/>
            <a:ext cx="1638821" cy="414338"/>
          </a:xfrm>
          <a:prstGeom prst="roundRect">
            <a:avLst>
              <a:gd name="adj" fmla="val 50000"/>
            </a:avLst>
          </a:prstGeom>
          <a:solidFill>
            <a:srgbClr val="D8F1E4"/>
          </a:solidFill>
          <a:ln w="9525"/>
        </p:spPr>
        <p:txBody>
          <a:bodyPr/>
          <a:lstStyle/>
          <a:p>
            <a:endParaRPr lang="en-TH"/>
          </a:p>
        </p:txBody>
      </p:sp>
      <p:sp>
        <p:nvSpPr>
          <p:cNvPr id="21" name="Text 19"/>
          <p:cNvSpPr/>
          <p:nvPr/>
        </p:nvSpPr>
        <p:spPr>
          <a:xfrm>
            <a:off x="5514975" y="6267648"/>
            <a:ext cx="1448321" cy="338138"/>
          </a:xfrm>
          <a:prstGeom prst="rect">
            <a:avLst/>
          </a:prstGeom>
          <a:noFill/>
          <a:ln w="9525"/>
        </p:spPr>
        <p:txBody>
          <a:bodyPr wrap="square" lIns="25400" tIns="25400" rIns="25400" bIns="25400" rtlCol="0" anchor="t">
            <a:normAutofit fontScale="92500"/>
          </a:bodyPr>
          <a:lstStyle/>
          <a:p>
            <a:pPr marL="0" indent="0" algn="l">
              <a:buNone/>
            </a:pPr>
            <a:r>
              <a:rPr lang="en-US" sz="1800" dirty="0">
                <a:solidFill>
                  <a:srgbClr val="0E7D4F"/>
                </a:solidFill>
                <a:latin typeface="JetBrains Mono" pitchFamily="34" charset="0"/>
                <a:ea typeface="JetBrains Mono" pitchFamily="34" charset="-122"/>
                <a:cs typeface="JetBrains Mono" pitchFamily="34" charset="-120"/>
              </a:rPr>
              <a:t>design &amp; clarity</a:t>
            </a:r>
            <a:endParaRPr lang="en-US" sz="1800" dirty="0"/>
          </a:p>
        </p:txBody>
      </p:sp>
      <p:sp>
        <p:nvSpPr>
          <p:cNvPr id="22" name="Text 20"/>
          <p:cNvSpPr/>
          <p:nvPr/>
        </p:nvSpPr>
        <p:spPr>
          <a:xfrm>
            <a:off x="5419725" y="6853436"/>
            <a:ext cx="3365087" cy="1349025"/>
          </a:xfrm>
          <a:prstGeom prst="rect">
            <a:avLst/>
          </a:prstGeom>
          <a:noFill/>
          <a:ln w="9525"/>
        </p:spPr>
        <p:txBody>
          <a:bodyPr wrap="square" lIns="25400" tIns="25400" rIns="25400" bIns="25400" rtlCol="0" anchor="t">
            <a:spAutoFit/>
          </a:bodyPr>
          <a:lstStyle/>
          <a:p>
            <a:pPr marL="0" indent="0" algn="l">
              <a:lnSpc>
                <a:spcPct val="125000"/>
              </a:lnSpc>
              <a:buNone/>
            </a:pPr>
            <a:r>
              <a:rPr lang="en-US" sz="1600" dirty="0">
                <a:solidFill>
                  <a:srgbClr val="3A4250"/>
                </a:solidFill>
                <a:latin typeface="Space Grotesk" pitchFamily="34" charset="0"/>
                <a:ea typeface="Space Grotesk" pitchFamily="34" charset="-122"/>
                <a:cs typeface="Space Grotesk" pitchFamily="34" charset="-120"/>
              </a:rPr>
              <a:t>Fits one page, concise and well organised, and the layout genuinely helps the reader understand rather than only decorating.</a:t>
            </a:r>
            <a:endParaRPr lang="en-US" sz="1600" dirty="0"/>
          </a:p>
        </p:txBody>
      </p:sp>
      <p:sp>
        <p:nvSpPr>
          <p:cNvPr id="23" name="Shape 21"/>
          <p:cNvSpPr/>
          <p:nvPr/>
        </p:nvSpPr>
        <p:spPr>
          <a:xfrm>
            <a:off x="9277350" y="4291211"/>
            <a:ext cx="3914775" cy="4587548"/>
          </a:xfrm>
          <a:prstGeom prst="roundRect">
            <a:avLst>
              <a:gd name="adj" fmla="val 4866"/>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4" name="Text 22"/>
          <p:cNvSpPr/>
          <p:nvPr/>
        </p:nvSpPr>
        <p:spPr>
          <a:xfrm>
            <a:off x="9601200" y="4576961"/>
            <a:ext cx="3365087"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COMMUNICATION</a:t>
            </a:r>
            <a:endParaRPr lang="en-US" sz="1800" dirty="0"/>
          </a:p>
        </p:txBody>
      </p:sp>
      <p:sp>
        <p:nvSpPr>
          <p:cNvPr id="25" name="Text 23"/>
          <p:cNvSpPr/>
          <p:nvPr/>
        </p:nvSpPr>
        <p:spPr>
          <a:xfrm>
            <a:off x="9601200" y="5105598"/>
            <a:ext cx="3365087" cy="990600"/>
          </a:xfrm>
          <a:prstGeom prst="rect">
            <a:avLst/>
          </a:prstGeom>
          <a:noFill/>
          <a:ln w="9525"/>
        </p:spPr>
        <p:txBody>
          <a:bodyPr wrap="square" lIns="25400" tIns="25400" rIns="25400" bIns="25400" rtlCol="0" anchor="t">
            <a:normAutofit fontScale="92500" lnSpcReduction="20000"/>
          </a:bodyPr>
          <a:lstStyle/>
          <a:p>
            <a:pPr marL="0" indent="0" algn="l">
              <a:lnSpc>
                <a:spcPct val="100000"/>
              </a:lnSpc>
              <a:buNone/>
            </a:pPr>
            <a:r>
              <a:rPr lang="en-US" sz="7500" b="1" kern="0" dirty="0">
                <a:solidFill>
                  <a:srgbClr val="D49000"/>
                </a:solidFill>
                <a:latin typeface="Space Grotesk" pitchFamily="34" charset="0"/>
                <a:ea typeface="Space Grotesk" pitchFamily="34" charset="-122"/>
                <a:cs typeface="Space Grotesk" pitchFamily="34" charset="-120"/>
              </a:rPr>
              <a:t>2</a:t>
            </a:r>
            <a:r>
              <a:rPr lang="en-US" sz="2850" kern="0" dirty="0">
                <a:solidFill>
                  <a:srgbClr val="D49000"/>
                </a:solidFill>
                <a:latin typeface="Space Grotesk" pitchFamily="34" charset="0"/>
                <a:ea typeface="Space Grotesk" pitchFamily="34" charset="-122"/>
                <a:cs typeface="Space Grotesk" pitchFamily="34" charset="-120"/>
              </a:rPr>
              <a:t>marks</a:t>
            </a:r>
            <a:endParaRPr lang="en-US" sz="7500" dirty="0"/>
          </a:p>
        </p:txBody>
      </p:sp>
      <p:sp>
        <p:nvSpPr>
          <p:cNvPr id="26" name="Shape 24"/>
          <p:cNvSpPr/>
          <p:nvPr/>
        </p:nvSpPr>
        <p:spPr>
          <a:xfrm>
            <a:off x="9601200" y="6229548"/>
            <a:ext cx="1364456" cy="414338"/>
          </a:xfrm>
          <a:prstGeom prst="roundRect">
            <a:avLst>
              <a:gd name="adj" fmla="val 50000"/>
            </a:avLst>
          </a:prstGeom>
          <a:solidFill>
            <a:srgbClr val="D8F1E4"/>
          </a:solidFill>
          <a:ln w="9525"/>
        </p:spPr>
        <p:txBody>
          <a:bodyPr/>
          <a:lstStyle/>
          <a:p>
            <a:endParaRPr lang="en-TH"/>
          </a:p>
        </p:txBody>
      </p:sp>
      <p:sp>
        <p:nvSpPr>
          <p:cNvPr id="27" name="Text 25"/>
          <p:cNvSpPr/>
          <p:nvPr/>
        </p:nvSpPr>
        <p:spPr>
          <a:xfrm>
            <a:off x="9696450" y="6267648"/>
            <a:ext cx="1173956" cy="338138"/>
          </a:xfrm>
          <a:prstGeom prst="rect">
            <a:avLst/>
          </a:prstGeom>
          <a:noFill/>
          <a:ln w="9525"/>
        </p:spPr>
        <p:txBody>
          <a:bodyPr wrap="square" lIns="25400" tIns="25400" rIns="25400" bIns="25400" rtlCol="0" anchor="t">
            <a:normAutofit fontScale="92500"/>
          </a:bodyPr>
          <a:lstStyle/>
          <a:p>
            <a:pPr marL="0" indent="0" algn="l">
              <a:buNone/>
            </a:pPr>
            <a:r>
              <a:rPr lang="en-US" sz="1800" dirty="0">
                <a:solidFill>
                  <a:srgbClr val="0E7D4F"/>
                </a:solidFill>
                <a:latin typeface="JetBrains Mono" pitchFamily="34" charset="0"/>
                <a:ea typeface="JetBrains Mono" pitchFamily="34" charset="-122"/>
                <a:cs typeface="JetBrains Mono" pitchFamily="34" charset="-120"/>
              </a:rPr>
              <a:t>within 3 min</a:t>
            </a:r>
            <a:endParaRPr lang="en-US" sz="1800" dirty="0"/>
          </a:p>
        </p:txBody>
      </p:sp>
      <p:sp>
        <p:nvSpPr>
          <p:cNvPr id="28" name="Text 26"/>
          <p:cNvSpPr/>
          <p:nvPr/>
        </p:nvSpPr>
        <p:spPr>
          <a:xfrm>
            <a:off x="9601200" y="6853436"/>
            <a:ext cx="3365087" cy="1024469"/>
          </a:xfrm>
          <a:prstGeom prst="rect">
            <a:avLst/>
          </a:prstGeom>
          <a:noFill/>
          <a:ln w="9525"/>
        </p:spPr>
        <p:txBody>
          <a:bodyPr wrap="square" lIns="25400" tIns="25400" rIns="25400" bIns="25400" rtlCol="0" anchor="t">
            <a:spAutoFit/>
          </a:bodyPr>
          <a:lstStyle/>
          <a:p>
            <a:pPr marL="0" indent="0" algn="l">
              <a:lnSpc>
                <a:spcPct val="125000"/>
              </a:lnSpc>
              <a:buNone/>
            </a:pPr>
            <a:r>
              <a:rPr lang="en-US" sz="1600" dirty="0">
                <a:solidFill>
                  <a:srgbClr val="3A4250"/>
                </a:solidFill>
                <a:latin typeface="Space Grotesk" pitchFamily="34" charset="0"/>
                <a:ea typeface="Space Grotesk" pitchFamily="34" charset="-122"/>
                <a:cs typeface="Space Grotesk" pitchFamily="34" charset="-120"/>
              </a:rPr>
              <a:t>Engaging delivery in a clear logical order, presented with confidence — and finishing within the three-minute limit.</a:t>
            </a:r>
            <a:endParaRPr lang="en-US" sz="1600" dirty="0"/>
          </a:p>
        </p:txBody>
      </p:sp>
      <p:sp>
        <p:nvSpPr>
          <p:cNvPr id="29" name="Shape 27"/>
          <p:cNvSpPr/>
          <p:nvPr/>
        </p:nvSpPr>
        <p:spPr>
          <a:xfrm>
            <a:off x="13458825" y="4291211"/>
            <a:ext cx="3914775" cy="4587548"/>
          </a:xfrm>
          <a:prstGeom prst="roundRect">
            <a:avLst>
              <a:gd name="adj" fmla="val 4866"/>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30" name="Text 28"/>
          <p:cNvSpPr/>
          <p:nvPr/>
        </p:nvSpPr>
        <p:spPr>
          <a:xfrm>
            <a:off x="13782675" y="4576961"/>
            <a:ext cx="3365087"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VIDEO QUALITY</a:t>
            </a:r>
            <a:endParaRPr lang="en-US" sz="1800" dirty="0"/>
          </a:p>
        </p:txBody>
      </p:sp>
      <p:sp>
        <p:nvSpPr>
          <p:cNvPr id="31" name="Text 29"/>
          <p:cNvSpPr/>
          <p:nvPr/>
        </p:nvSpPr>
        <p:spPr>
          <a:xfrm>
            <a:off x="13782675" y="5105598"/>
            <a:ext cx="3365087" cy="990600"/>
          </a:xfrm>
          <a:prstGeom prst="rect">
            <a:avLst/>
          </a:prstGeom>
          <a:noFill/>
          <a:ln w="9525"/>
        </p:spPr>
        <p:txBody>
          <a:bodyPr wrap="square" lIns="25400" tIns="25400" rIns="25400" bIns="25400" rtlCol="0" anchor="t">
            <a:normAutofit fontScale="92500" lnSpcReduction="20000"/>
          </a:bodyPr>
          <a:lstStyle/>
          <a:p>
            <a:pPr marL="0" indent="0" algn="l">
              <a:lnSpc>
                <a:spcPct val="100000"/>
              </a:lnSpc>
              <a:buNone/>
            </a:pPr>
            <a:r>
              <a:rPr lang="en-US" sz="7500" b="1" kern="0" dirty="0">
                <a:solidFill>
                  <a:srgbClr val="16B670"/>
                </a:solidFill>
                <a:latin typeface="Space Grotesk" pitchFamily="34" charset="0"/>
                <a:ea typeface="Space Grotesk" pitchFamily="34" charset="-122"/>
                <a:cs typeface="Space Grotesk" pitchFamily="34" charset="-120"/>
              </a:rPr>
              <a:t>2</a:t>
            </a:r>
            <a:endParaRPr lang="en-US" sz="7500" dirty="0"/>
          </a:p>
        </p:txBody>
      </p:sp>
      <p:sp>
        <p:nvSpPr>
          <p:cNvPr id="32" name="Shape 30"/>
          <p:cNvSpPr/>
          <p:nvPr/>
        </p:nvSpPr>
        <p:spPr>
          <a:xfrm>
            <a:off x="13782675" y="6229548"/>
            <a:ext cx="1364456" cy="414338"/>
          </a:xfrm>
          <a:prstGeom prst="roundRect">
            <a:avLst>
              <a:gd name="adj" fmla="val 50000"/>
            </a:avLst>
          </a:prstGeom>
          <a:solidFill>
            <a:srgbClr val="D8F1E4"/>
          </a:solidFill>
          <a:ln w="9525"/>
        </p:spPr>
        <p:txBody>
          <a:bodyPr/>
          <a:lstStyle/>
          <a:p>
            <a:endParaRPr lang="en-TH"/>
          </a:p>
        </p:txBody>
      </p:sp>
      <p:sp>
        <p:nvSpPr>
          <p:cNvPr id="33" name="Text 31"/>
          <p:cNvSpPr/>
          <p:nvPr/>
        </p:nvSpPr>
        <p:spPr>
          <a:xfrm>
            <a:off x="13877925" y="6267648"/>
            <a:ext cx="1173956" cy="338138"/>
          </a:xfrm>
          <a:prstGeom prst="rect">
            <a:avLst/>
          </a:prstGeom>
          <a:noFill/>
          <a:ln w="9525"/>
        </p:spPr>
        <p:txBody>
          <a:bodyPr wrap="square" lIns="25400" tIns="25400" rIns="25400" bIns="25400" rtlCol="0" anchor="t">
            <a:normAutofit fontScale="77500" lnSpcReduction="20000"/>
          </a:bodyPr>
          <a:lstStyle/>
          <a:p>
            <a:pPr marL="0" indent="0" algn="l">
              <a:buNone/>
            </a:pPr>
            <a:r>
              <a:rPr lang="en-US" sz="1800" dirty="0">
                <a:solidFill>
                  <a:srgbClr val="0E7D4F"/>
                </a:solidFill>
                <a:latin typeface="JetBrains Mono" pitchFamily="34" charset="0"/>
                <a:ea typeface="JetBrains Mono" pitchFamily="34" charset="-122"/>
                <a:cs typeface="JetBrains Mono" pitchFamily="34" charset="-120"/>
              </a:rPr>
              <a:t>audio &amp; clarity</a:t>
            </a:r>
            <a:endParaRPr lang="en-US" sz="1800" dirty="0"/>
          </a:p>
        </p:txBody>
      </p:sp>
      <p:sp>
        <p:nvSpPr>
          <p:cNvPr id="34" name="Text 32"/>
          <p:cNvSpPr/>
          <p:nvPr/>
        </p:nvSpPr>
        <p:spPr>
          <a:xfrm>
            <a:off x="13782675" y="6853436"/>
            <a:ext cx="3365087" cy="1349025"/>
          </a:xfrm>
          <a:prstGeom prst="rect">
            <a:avLst/>
          </a:prstGeom>
          <a:noFill/>
          <a:ln w="9525"/>
        </p:spPr>
        <p:txBody>
          <a:bodyPr wrap="square" lIns="25400" tIns="25400" rIns="25400" bIns="25400" rtlCol="0" anchor="t">
            <a:spAutoFit/>
          </a:bodyPr>
          <a:lstStyle/>
          <a:p>
            <a:pPr marL="0" indent="0" algn="l">
              <a:lnSpc>
                <a:spcPct val="125000"/>
              </a:lnSpc>
              <a:buNone/>
            </a:pPr>
            <a:r>
              <a:rPr lang="en-US" sz="1600" dirty="0">
                <a:solidFill>
                  <a:srgbClr val="3A4250"/>
                </a:solidFill>
                <a:latin typeface="Space Grotesk" pitchFamily="34" charset="0"/>
                <a:ea typeface="Space Grotesk" pitchFamily="34" charset="-122"/>
                <a:cs typeface="Space Grotesk" pitchFamily="34" charset="-120"/>
              </a:rPr>
              <a:t>Speech clear and loud enough with little background noise, and both you and the one-pager clearly visible on screen.</a:t>
            </a:r>
            <a:endParaRPr lang="en-US" sz="1600" dirty="0"/>
          </a:p>
        </p:txBody>
      </p:sp>
      <p:sp>
        <p:nvSpPr>
          <p:cNvPr id="8" name="Shape 7">
            <a:extLst>
              <a:ext uri="{FF2B5EF4-FFF2-40B4-BE49-F238E27FC236}">
                <a16:creationId xmlns:a16="http://schemas.microsoft.com/office/drawing/2014/main" id="{789B859C-4F90-7F86-1521-C5FF94070502}"/>
              </a:ext>
            </a:extLst>
          </p:cNvPr>
          <p:cNvSpPr/>
          <p:nvPr/>
        </p:nvSpPr>
        <p:spPr>
          <a:xfrm>
            <a:off x="927100" y="3419475"/>
            <a:ext cx="1653555" cy="419100"/>
          </a:xfrm>
          <a:prstGeom prst="roundRect">
            <a:avLst>
              <a:gd name="adj" fmla="val 50000"/>
            </a:avLst>
          </a:prstGeom>
          <a:solidFill>
            <a:srgbClr val="FFC233"/>
          </a:solidFill>
          <a:ln w="9525"/>
        </p:spPr>
        <p:txBody>
          <a:bodyPr/>
          <a:lstStyle/>
          <a:p>
            <a:endParaRPr lang="en-TH"/>
          </a:p>
        </p:txBody>
      </p:sp>
      <p:sp>
        <p:nvSpPr>
          <p:cNvPr id="35" name="Text 8">
            <a:extLst>
              <a:ext uri="{FF2B5EF4-FFF2-40B4-BE49-F238E27FC236}">
                <a16:creationId xmlns:a16="http://schemas.microsoft.com/office/drawing/2014/main" id="{A43735F5-B62C-E4FB-2E16-4790D1A8F44F}"/>
              </a:ext>
            </a:extLst>
          </p:cNvPr>
          <p:cNvSpPr/>
          <p:nvPr/>
        </p:nvSpPr>
        <p:spPr>
          <a:xfrm>
            <a:off x="1098550" y="3514725"/>
            <a:ext cx="1310655" cy="266700"/>
          </a:xfrm>
          <a:prstGeom prst="rect">
            <a:avLst/>
          </a:prstGeom>
          <a:noFill/>
          <a:ln w="9525"/>
        </p:spPr>
        <p:txBody>
          <a:bodyPr wrap="square" lIns="25400" tIns="25400" rIns="25400" bIns="25400" rtlCol="0" anchor="ctr">
            <a:normAutofit fontScale="70000" lnSpcReduction="20000"/>
          </a:bodyPr>
          <a:lstStyle/>
          <a:p>
            <a:pPr marL="0" indent="0" algn="ctr">
              <a:lnSpc>
                <a:spcPct val="100000"/>
              </a:lnSpc>
              <a:buNone/>
            </a:pPr>
            <a:r>
              <a:rPr lang="en-US" sz="1800" dirty="0">
                <a:solidFill>
                  <a:srgbClr val="0B0F19"/>
                </a:solidFill>
                <a:latin typeface="JetBrains Mono" pitchFamily="34" charset="0"/>
                <a:ea typeface="JetBrains Mono" pitchFamily="34" charset="-122"/>
                <a:cs typeface="JetBrains Mono" pitchFamily="34" charset="-120"/>
              </a:rPr>
              <a:t>INDIVIDUAL · 10%</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1" y="154783"/>
            <a:ext cx="213866" cy="338138"/>
          </a:xfrm>
          <a:prstGeom prst="rect">
            <a:avLst/>
          </a:prstGeom>
          <a:noFill/>
          <a:ln w="9525"/>
        </p:spPr>
        <p:txBody>
          <a:bodyPr wrap="square" lIns="25400" tIns="25400" rIns="25400" bIns="25400" rtlCol="0" anchor="t">
            <a:normAutofit/>
          </a:bodyPr>
          <a:lstStyle/>
          <a:p>
            <a:r>
              <a:rPr lang="en-US" b="1" dirty="0">
                <a:solidFill>
                  <a:srgbClr val="0B0F19"/>
                </a:solidFill>
                <a:latin typeface="JetBrains Mono" pitchFamily="34" charset="0"/>
                <a:ea typeface="JetBrains Mono" pitchFamily="34" charset="-122"/>
                <a:cs typeface="JetBrains Mono" pitchFamily="34" charset="-120"/>
              </a:rPr>
              <a:t>▶</a:t>
            </a:r>
            <a:endParaRPr lang="en-US" dirty="0"/>
          </a:p>
        </p:txBody>
      </p:sp>
      <p:sp>
        <p:nvSpPr>
          <p:cNvPr id="5" name="Text 3"/>
          <p:cNvSpPr/>
          <p:nvPr/>
        </p:nvSpPr>
        <p:spPr>
          <a:xfrm>
            <a:off x="728216" y="154783"/>
            <a:ext cx="3889733"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p:cNvSpPr/>
          <p:nvPr/>
        </p:nvSpPr>
        <p:spPr>
          <a:xfrm>
            <a:off x="4771356" y="154783"/>
            <a:ext cx="3241533" cy="338138"/>
          </a:xfrm>
          <a:prstGeom prst="rect">
            <a:avLst/>
          </a:prstGeom>
          <a:noFill/>
          <a:ln w="9525"/>
        </p:spPr>
        <p:txBody>
          <a:bodyPr wrap="square" lIns="25400" tIns="25400" rIns="25400" bIns="25400" rtlCol="0" anchor="t">
            <a:normAutofit/>
          </a:bodyPr>
          <a:lstStyle/>
          <a:p>
            <a:r>
              <a:rPr lang="en-US" dirty="0">
                <a:solidFill>
                  <a:srgbClr val="7A8290"/>
                </a:solidFill>
                <a:latin typeface="JetBrains Mono" pitchFamily="34" charset="0"/>
                <a:ea typeface="JetBrains Mono" pitchFamily="34" charset="-122"/>
                <a:cs typeface="JetBrains Mono" pitchFamily="34" charset="-120"/>
              </a:rPr>
              <a:t>Page · Attendance</a:t>
            </a:r>
          </a:p>
        </p:txBody>
      </p:sp>
      <p:sp>
        <p:nvSpPr>
          <p:cNvPr id="7" name="Text 5"/>
          <p:cNvSpPr/>
          <p:nvPr/>
        </p:nvSpPr>
        <p:spPr>
          <a:xfrm>
            <a:off x="16997139" y="154783"/>
            <a:ext cx="1100361" cy="338138"/>
          </a:xfrm>
          <a:prstGeom prst="rect">
            <a:avLst/>
          </a:prstGeom>
          <a:noFill/>
          <a:ln w="9525"/>
        </p:spPr>
        <p:txBody>
          <a:bodyPr wrap="square" lIns="25400" tIns="25400" rIns="25400" bIns="25400" rtlCol="0" anchor="t">
            <a:normAutofit/>
          </a:bodyPr>
          <a:lstStyle/>
          <a:p>
            <a:r>
              <a:rPr lang="en-US" kern="0" spc="72" dirty="0">
                <a:solidFill>
                  <a:srgbClr val="7A8290"/>
                </a:solidFill>
                <a:latin typeface="JetBrains Mono" pitchFamily="34" charset="0"/>
                <a:ea typeface="JetBrains Mono" pitchFamily="34" charset="-122"/>
                <a:cs typeface="JetBrains Mono" pitchFamily="34" charset="-120"/>
              </a:rPr>
              <a:t>16 / 32</a:t>
            </a:r>
            <a:endParaRPr lang="en-US" dirty="0"/>
          </a:p>
        </p:txBody>
      </p:sp>
      <p:sp>
        <p:nvSpPr>
          <p:cNvPr id="9" name="Text 7"/>
          <p:cNvSpPr/>
          <p:nvPr/>
        </p:nvSpPr>
        <p:spPr>
          <a:xfrm>
            <a:off x="914400" y="1524000"/>
            <a:ext cx="16952976" cy="990600"/>
          </a:xfrm>
          <a:prstGeom prst="rect">
            <a:avLst/>
          </a:prstGeom>
          <a:noFill/>
          <a:ln w="9525"/>
        </p:spPr>
        <p:txBody>
          <a:bodyPr wrap="square" lIns="25400" tIns="25400" rIns="25400" bIns="25400" rtlCol="0" anchor="t">
            <a:normAutofit/>
          </a:bodyPr>
          <a:lstStyle/>
          <a:p>
            <a:r>
              <a:rPr lang="en-US" sz="4800" b="1" kern="0" spc="-120" dirty="0">
                <a:solidFill>
                  <a:srgbClr val="0B0F19"/>
                </a:solidFill>
                <a:latin typeface="Space Grotesk" pitchFamily="34" charset="0"/>
                <a:ea typeface="Space Grotesk" pitchFamily="34" charset="-122"/>
                <a:cs typeface="Space Grotesk" pitchFamily="34" charset="-120"/>
              </a:rPr>
              <a:t>How attendance works</a:t>
            </a:r>
          </a:p>
        </p:txBody>
      </p:sp>
      <p:sp>
        <p:nvSpPr>
          <p:cNvPr id="10" name="Text 8"/>
          <p:cNvSpPr/>
          <p:nvPr/>
        </p:nvSpPr>
        <p:spPr>
          <a:xfrm>
            <a:off x="914400" y="2564885"/>
            <a:ext cx="16459200" cy="403059"/>
          </a:xfrm>
          <a:prstGeom prst="rect">
            <a:avLst/>
          </a:prstGeom>
          <a:noFill/>
          <a:ln w="9525"/>
        </p:spPr>
        <p:txBody>
          <a:bodyPr wrap="square" lIns="25400" tIns="25400" rIns="25400" bIns="25400" rtlCol="0" anchor="t">
            <a:spAutoFit/>
          </a:bodyPr>
          <a:lstStyle/>
          <a:p>
            <a:pPr>
              <a:lnSpc>
                <a:spcPct val="140000"/>
              </a:lnSpc>
            </a:pPr>
            <a:r>
              <a:rPr lang="en-US" dirty="0">
                <a:solidFill>
                  <a:srgbClr val="3A4250"/>
                </a:solidFill>
                <a:latin typeface="Space Grotesk" pitchFamily="34" charset="0"/>
                <a:ea typeface="Space Grotesk" pitchFamily="34" charset="-122"/>
                <a:cs typeface="Space Grotesk" pitchFamily="34" charset="-120"/>
              </a:rPr>
              <a:t>No roll call. Your score comes from the “AI Critique” answer sheet you hand in at the end of every class.</a:t>
            </a:r>
          </a:p>
        </p:txBody>
      </p:sp>
      <p:sp>
        <p:nvSpPr>
          <p:cNvPr id="11" name="Shape 9"/>
          <p:cNvSpPr/>
          <p:nvPr/>
        </p:nvSpPr>
        <p:spPr>
          <a:xfrm>
            <a:off x="914400" y="4291213"/>
            <a:ext cx="3914775" cy="4587548"/>
          </a:xfrm>
          <a:prstGeom prst="roundRect">
            <a:avLst>
              <a:gd name="adj" fmla="val 4866"/>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12" name="Text 10"/>
          <p:cNvSpPr/>
          <p:nvPr/>
        </p:nvSpPr>
        <p:spPr>
          <a:xfrm>
            <a:off x="1238252" y="4576963"/>
            <a:ext cx="3365087" cy="338138"/>
          </a:xfrm>
          <a:prstGeom prst="rect">
            <a:avLst/>
          </a:prstGeom>
          <a:noFill/>
          <a:ln w="9525"/>
        </p:spPr>
        <p:txBody>
          <a:bodyPr wrap="square" lIns="25400" tIns="25400" rIns="25400" bIns="25400" rtlCol="0" anchor="t">
            <a:normAutofit/>
          </a:bodyPr>
          <a:lstStyle/>
          <a:p>
            <a:r>
              <a:rPr lang="en-US" kern="0" spc="108" dirty="0">
                <a:solidFill>
                  <a:srgbClr val="7A8290"/>
                </a:solidFill>
                <a:latin typeface="JetBrains Mono" pitchFamily="34" charset="0"/>
                <a:ea typeface="JetBrains Mono" pitchFamily="34" charset="-122"/>
                <a:cs typeface="JetBrains Mono" pitchFamily="34" charset="-120"/>
              </a:rPr>
              <a:t>ROLL CALL</a:t>
            </a:r>
          </a:p>
        </p:txBody>
      </p:sp>
      <p:sp>
        <p:nvSpPr>
          <p:cNvPr id="13" name="Text 11"/>
          <p:cNvSpPr/>
          <p:nvPr/>
        </p:nvSpPr>
        <p:spPr>
          <a:xfrm>
            <a:off x="1238252" y="5105598"/>
            <a:ext cx="3365087" cy="990600"/>
          </a:xfrm>
          <a:prstGeom prst="rect">
            <a:avLst/>
          </a:prstGeom>
          <a:noFill/>
          <a:ln w="9525"/>
        </p:spPr>
        <p:txBody>
          <a:bodyPr wrap="square" lIns="25400" tIns="25400" rIns="25400" bIns="25400" rtlCol="0" anchor="t">
            <a:normAutofit fontScale="92500" lnSpcReduction="20000"/>
          </a:bodyPr>
          <a:lstStyle/>
          <a:p>
            <a:r>
              <a:rPr lang="en-US" sz="7500" b="1" kern="0" dirty="0">
                <a:solidFill>
                  <a:srgbClr val="2D5BFF"/>
                </a:solidFill>
                <a:latin typeface="Space Grotesk" pitchFamily="34" charset="0"/>
                <a:ea typeface="Space Grotesk" pitchFamily="34" charset="-122"/>
                <a:cs typeface="Space Grotesk" pitchFamily="34" charset="-120"/>
              </a:rPr>
              <a:t>0</a:t>
            </a:r>
          </a:p>
        </p:txBody>
      </p:sp>
      <p:sp>
        <p:nvSpPr>
          <p:cNvPr id="14" name="Shape 12"/>
          <p:cNvSpPr/>
          <p:nvPr/>
        </p:nvSpPr>
        <p:spPr>
          <a:xfrm>
            <a:off x="1238251" y="6229549"/>
            <a:ext cx="1775966" cy="414338"/>
          </a:xfrm>
          <a:prstGeom prst="roundRect">
            <a:avLst>
              <a:gd name="adj" fmla="val 50000"/>
            </a:avLst>
          </a:prstGeom>
          <a:solidFill>
            <a:srgbClr val="EDEFF2"/>
          </a:solidFill>
          <a:ln w="9525"/>
        </p:spPr>
        <p:txBody>
          <a:bodyPr/>
          <a:lstStyle/>
          <a:p>
            <a:endParaRPr lang="en-TH"/>
          </a:p>
        </p:txBody>
      </p:sp>
      <p:sp>
        <p:nvSpPr>
          <p:cNvPr id="15" name="Text 13"/>
          <p:cNvSpPr/>
          <p:nvPr/>
        </p:nvSpPr>
        <p:spPr>
          <a:xfrm>
            <a:off x="1333501" y="6267649"/>
            <a:ext cx="1585466" cy="338138"/>
          </a:xfrm>
          <a:prstGeom prst="rect">
            <a:avLst/>
          </a:prstGeom>
          <a:noFill/>
          <a:ln w="9525"/>
        </p:spPr>
        <p:txBody>
          <a:bodyPr wrap="square" lIns="25400" tIns="25400" rIns="25400" bIns="25400" rtlCol="0" anchor="t">
            <a:normAutofit/>
          </a:bodyPr>
          <a:lstStyle/>
          <a:p>
            <a:r>
              <a:rPr lang="en-US" dirty="0">
                <a:solidFill>
                  <a:srgbClr val="3A4250"/>
                </a:solidFill>
                <a:latin typeface="JetBrains Mono" pitchFamily="34" charset="0"/>
                <a:ea typeface="JetBrains Mono" pitchFamily="34" charset="-122"/>
                <a:cs typeface="JetBrains Mono" pitchFamily="34" charset="-120"/>
              </a:rPr>
              <a:t>silent</a:t>
            </a:r>
          </a:p>
        </p:txBody>
      </p:sp>
      <p:sp>
        <p:nvSpPr>
          <p:cNvPr id="16" name="Text 14"/>
          <p:cNvSpPr/>
          <p:nvPr/>
        </p:nvSpPr>
        <p:spPr>
          <a:xfrm>
            <a:off x="1238252" y="6853436"/>
            <a:ext cx="3365087" cy="644472"/>
          </a:xfrm>
          <a:prstGeom prst="rect">
            <a:avLst/>
          </a:prstGeom>
          <a:noFill/>
          <a:ln w="9525"/>
        </p:spPr>
        <p:txBody>
          <a:bodyPr wrap="square" lIns="25400" tIns="25400" rIns="25400" bIns="25400" rtlCol="0" anchor="t">
            <a:spAutoFit/>
          </a:bodyPr>
          <a:lstStyle/>
          <a:p>
            <a:pPr>
              <a:lnSpc>
                <a:spcPct val="125000"/>
              </a:lnSpc>
            </a:pPr>
            <a:r>
              <a:rPr lang="en-US" sz="1601" dirty="0">
                <a:solidFill>
                  <a:srgbClr val="3A4250"/>
                </a:solidFill>
                <a:latin typeface="Space Grotesk" pitchFamily="34" charset="0"/>
                <a:ea typeface="Space Grotesk" pitchFamily="34" charset="-122"/>
                <a:cs typeface="Space Grotesk" pitchFamily="34" charset="-120"/>
              </a:rPr>
              <a:t>There is no verbal roll call in this class — not now, not ever.</a:t>
            </a:r>
          </a:p>
        </p:txBody>
      </p:sp>
      <p:sp>
        <p:nvSpPr>
          <p:cNvPr id="17" name="Shape 15"/>
          <p:cNvSpPr/>
          <p:nvPr/>
        </p:nvSpPr>
        <p:spPr>
          <a:xfrm>
            <a:off x="5095875" y="4291213"/>
            <a:ext cx="3914775" cy="4587548"/>
          </a:xfrm>
          <a:prstGeom prst="roundRect">
            <a:avLst>
              <a:gd name="adj" fmla="val 4866"/>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18" name="Text 16"/>
          <p:cNvSpPr/>
          <p:nvPr/>
        </p:nvSpPr>
        <p:spPr>
          <a:xfrm>
            <a:off x="5419727" y="4576963"/>
            <a:ext cx="3365087" cy="338138"/>
          </a:xfrm>
          <a:prstGeom prst="rect">
            <a:avLst/>
          </a:prstGeom>
          <a:noFill/>
          <a:ln w="9525"/>
        </p:spPr>
        <p:txBody>
          <a:bodyPr wrap="square" lIns="25400" tIns="25400" rIns="25400" bIns="25400" rtlCol="0" anchor="t">
            <a:normAutofit/>
          </a:bodyPr>
          <a:lstStyle/>
          <a:p>
            <a:r>
              <a:rPr lang="en-US" kern="0" spc="108" dirty="0">
                <a:solidFill>
                  <a:srgbClr val="7A8290"/>
                </a:solidFill>
                <a:latin typeface="JetBrains Mono" pitchFamily="34" charset="0"/>
                <a:ea typeface="JetBrains Mono" pitchFamily="34" charset="-122"/>
                <a:cs typeface="JetBrains Mono" pitchFamily="34" charset="-120"/>
              </a:rPr>
              <a:t>EVERY CLASS</a:t>
            </a:r>
          </a:p>
        </p:txBody>
      </p:sp>
      <p:sp>
        <p:nvSpPr>
          <p:cNvPr id="19" name="Text 17"/>
          <p:cNvSpPr/>
          <p:nvPr/>
        </p:nvSpPr>
        <p:spPr>
          <a:xfrm>
            <a:off x="5419727" y="5105598"/>
            <a:ext cx="3365087" cy="990600"/>
          </a:xfrm>
          <a:prstGeom prst="rect">
            <a:avLst/>
          </a:prstGeom>
          <a:noFill/>
          <a:ln w="9525"/>
        </p:spPr>
        <p:txBody>
          <a:bodyPr wrap="square" lIns="25400" tIns="25400" rIns="25400" bIns="25400" rtlCol="0" anchor="t">
            <a:normAutofit fontScale="92500" lnSpcReduction="20000"/>
          </a:bodyPr>
          <a:lstStyle/>
          <a:p>
            <a:r>
              <a:rPr lang="en-US" sz="7500" b="1" kern="0" dirty="0">
                <a:solidFill>
                  <a:srgbClr val="E8503A"/>
                </a:solidFill>
                <a:latin typeface="Space Grotesk" pitchFamily="34" charset="0"/>
                <a:ea typeface="Space Grotesk" pitchFamily="34" charset="-122"/>
                <a:cs typeface="Space Grotesk" pitchFamily="34" charset="-120"/>
              </a:rPr>
              <a:t>10</a:t>
            </a:r>
            <a:r>
              <a:rPr lang="en-US" sz="2850" kern="0" dirty="0">
                <a:solidFill>
                  <a:srgbClr val="E8503A"/>
                </a:solidFill>
                <a:latin typeface="Space Grotesk" pitchFamily="34" charset="0"/>
                <a:ea typeface="Space Grotesk" pitchFamily="34" charset="-122"/>
                <a:cs typeface="Space Grotesk" pitchFamily="34" charset="-120"/>
              </a:rPr>
              <a:t> min</a:t>
            </a:r>
          </a:p>
        </p:txBody>
      </p:sp>
      <p:sp>
        <p:nvSpPr>
          <p:cNvPr id="20" name="Shape 18"/>
          <p:cNvSpPr/>
          <p:nvPr/>
        </p:nvSpPr>
        <p:spPr>
          <a:xfrm>
            <a:off x="5419727" y="6229549"/>
            <a:ext cx="1638821" cy="414338"/>
          </a:xfrm>
          <a:prstGeom prst="roundRect">
            <a:avLst>
              <a:gd name="adj" fmla="val 50000"/>
            </a:avLst>
          </a:prstGeom>
          <a:solidFill>
            <a:srgbClr val="EDEFF2"/>
          </a:solidFill>
          <a:ln w="9525"/>
        </p:spPr>
        <p:txBody>
          <a:bodyPr/>
          <a:lstStyle/>
          <a:p>
            <a:endParaRPr lang="en-TH"/>
          </a:p>
        </p:txBody>
      </p:sp>
      <p:sp>
        <p:nvSpPr>
          <p:cNvPr id="21" name="Text 19"/>
          <p:cNvSpPr/>
          <p:nvPr/>
        </p:nvSpPr>
        <p:spPr>
          <a:xfrm>
            <a:off x="5514977" y="6267649"/>
            <a:ext cx="1448321" cy="338138"/>
          </a:xfrm>
          <a:prstGeom prst="rect">
            <a:avLst/>
          </a:prstGeom>
          <a:noFill/>
          <a:ln w="9525"/>
        </p:spPr>
        <p:txBody>
          <a:bodyPr wrap="square" lIns="25400" tIns="25400" rIns="25400" bIns="25400" rtlCol="0" anchor="t">
            <a:normAutofit/>
          </a:bodyPr>
          <a:lstStyle/>
          <a:p>
            <a:r>
              <a:rPr lang="en-US" dirty="0">
                <a:solidFill>
                  <a:srgbClr val="3A4250"/>
                </a:solidFill>
                <a:latin typeface="JetBrains Mono" pitchFamily="34" charset="0"/>
                <a:ea typeface="JetBrains Mono" pitchFamily="34" charset="-122"/>
                <a:cs typeface="JetBrains Mono" pitchFamily="34" charset="-120"/>
              </a:rPr>
              <a:t>last 10 min</a:t>
            </a:r>
          </a:p>
        </p:txBody>
      </p:sp>
      <p:sp>
        <p:nvSpPr>
          <p:cNvPr id="22" name="Text 20"/>
          <p:cNvSpPr/>
          <p:nvPr/>
        </p:nvSpPr>
        <p:spPr>
          <a:xfrm>
            <a:off x="5419727" y="6853436"/>
            <a:ext cx="3365087" cy="644472"/>
          </a:xfrm>
          <a:prstGeom prst="rect">
            <a:avLst/>
          </a:prstGeom>
          <a:noFill/>
          <a:ln w="9525"/>
        </p:spPr>
        <p:txBody>
          <a:bodyPr wrap="square" lIns="25400" tIns="25400" rIns="25400" bIns="25400" rtlCol="0" anchor="t">
            <a:spAutoFit/>
          </a:bodyPr>
          <a:lstStyle/>
          <a:p>
            <a:pPr>
              <a:lnSpc>
                <a:spcPct val="125000"/>
              </a:lnSpc>
            </a:pPr>
            <a:r>
              <a:rPr lang="en-US" sz="1601" dirty="0">
                <a:solidFill>
                  <a:srgbClr val="3A4250"/>
                </a:solidFill>
                <a:latin typeface="Space Grotesk" pitchFamily="34" charset="0"/>
                <a:ea typeface="Space Grotesk" pitchFamily="34" charset="-122"/>
                <a:cs typeface="Space Grotesk" pitchFamily="34" charset="-120"/>
              </a:rPr>
              <a:t>Submit a short answer sheet in the final 10 minutes of every class.</a:t>
            </a:r>
          </a:p>
        </p:txBody>
      </p:sp>
      <p:sp>
        <p:nvSpPr>
          <p:cNvPr id="23" name="Shape 21"/>
          <p:cNvSpPr/>
          <p:nvPr/>
        </p:nvSpPr>
        <p:spPr>
          <a:xfrm>
            <a:off x="9277350" y="4291213"/>
            <a:ext cx="3914775" cy="4587548"/>
          </a:xfrm>
          <a:prstGeom prst="roundRect">
            <a:avLst>
              <a:gd name="adj" fmla="val 4866"/>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4" name="Text 22"/>
          <p:cNvSpPr/>
          <p:nvPr/>
        </p:nvSpPr>
        <p:spPr>
          <a:xfrm>
            <a:off x="9601202" y="4576963"/>
            <a:ext cx="3365087" cy="338138"/>
          </a:xfrm>
          <a:prstGeom prst="rect">
            <a:avLst/>
          </a:prstGeom>
          <a:noFill/>
          <a:ln w="9525"/>
        </p:spPr>
        <p:txBody>
          <a:bodyPr wrap="square" lIns="25400" tIns="25400" rIns="25400" bIns="25400" rtlCol="0" anchor="t">
            <a:normAutofit/>
          </a:bodyPr>
          <a:lstStyle/>
          <a:p>
            <a:r>
              <a:rPr lang="en-US" kern="0" spc="108" dirty="0">
                <a:solidFill>
                  <a:srgbClr val="7A8290"/>
                </a:solidFill>
                <a:latin typeface="JetBrains Mono" pitchFamily="34" charset="0"/>
                <a:ea typeface="JetBrains Mono" pitchFamily="34" charset="-122"/>
                <a:cs typeface="JetBrains Mono" pitchFamily="34" charset="-120"/>
              </a:rPr>
              <a:t>BRING IT</a:t>
            </a:r>
          </a:p>
        </p:txBody>
      </p:sp>
      <p:sp>
        <p:nvSpPr>
          <p:cNvPr id="25" name="Text 23"/>
          <p:cNvSpPr/>
          <p:nvPr/>
        </p:nvSpPr>
        <p:spPr>
          <a:xfrm>
            <a:off x="9601202" y="5105598"/>
            <a:ext cx="3365087" cy="990600"/>
          </a:xfrm>
          <a:prstGeom prst="rect">
            <a:avLst/>
          </a:prstGeom>
          <a:noFill/>
          <a:ln w="9525"/>
        </p:spPr>
        <p:txBody>
          <a:bodyPr wrap="square" lIns="25400" tIns="25400" rIns="25400" bIns="25400" rtlCol="0" anchor="t">
            <a:normAutofit fontScale="92500" lnSpcReduction="20000"/>
          </a:bodyPr>
          <a:lstStyle/>
          <a:p>
            <a:r>
              <a:rPr lang="en-US" sz="7500" b="1" kern="0" dirty="0">
                <a:solidFill>
                  <a:srgbClr val="C77F0A"/>
                </a:solidFill>
                <a:latin typeface="Space Grotesk" pitchFamily="34" charset="0"/>
                <a:ea typeface="Space Grotesk" pitchFamily="34" charset="-122"/>
                <a:cs typeface="Space Grotesk" pitchFamily="34" charset="-120"/>
              </a:rPr>
              <a:t>A4</a:t>
            </a:r>
          </a:p>
        </p:txBody>
      </p:sp>
      <p:sp>
        <p:nvSpPr>
          <p:cNvPr id="26" name="Shape 24"/>
          <p:cNvSpPr/>
          <p:nvPr/>
        </p:nvSpPr>
        <p:spPr>
          <a:xfrm>
            <a:off x="9601201" y="6229549"/>
            <a:ext cx="1364456" cy="414338"/>
          </a:xfrm>
          <a:prstGeom prst="roundRect">
            <a:avLst>
              <a:gd name="adj" fmla="val 50000"/>
            </a:avLst>
          </a:prstGeom>
          <a:solidFill>
            <a:srgbClr val="EDEFF2"/>
          </a:solidFill>
          <a:ln w="9525"/>
        </p:spPr>
        <p:txBody>
          <a:bodyPr/>
          <a:lstStyle/>
          <a:p>
            <a:endParaRPr lang="en-TH"/>
          </a:p>
        </p:txBody>
      </p:sp>
      <p:sp>
        <p:nvSpPr>
          <p:cNvPr id="27" name="Text 25"/>
          <p:cNvSpPr/>
          <p:nvPr/>
        </p:nvSpPr>
        <p:spPr>
          <a:xfrm>
            <a:off x="9696451" y="6267649"/>
            <a:ext cx="1173956" cy="338138"/>
          </a:xfrm>
          <a:prstGeom prst="rect">
            <a:avLst/>
          </a:prstGeom>
          <a:noFill/>
          <a:ln w="9525"/>
        </p:spPr>
        <p:txBody>
          <a:bodyPr wrap="square" lIns="25400" tIns="25400" rIns="25400" bIns="25400" rtlCol="0" anchor="t">
            <a:normAutofit/>
          </a:bodyPr>
          <a:lstStyle/>
          <a:p>
            <a:r>
              <a:rPr lang="en-US" dirty="0">
                <a:solidFill>
                  <a:srgbClr val="3A4250"/>
                </a:solidFill>
                <a:latin typeface="JetBrains Mono" pitchFamily="34" charset="0"/>
                <a:ea typeface="JetBrains Mono" pitchFamily="34" charset="-122"/>
                <a:cs typeface="JetBrains Mono" pitchFamily="34" charset="-120"/>
              </a:rPr>
              <a:t>+ a pen</a:t>
            </a:r>
          </a:p>
        </p:txBody>
      </p:sp>
      <p:sp>
        <p:nvSpPr>
          <p:cNvPr id="28" name="Text 26"/>
          <p:cNvSpPr/>
          <p:nvPr/>
        </p:nvSpPr>
        <p:spPr>
          <a:xfrm>
            <a:off x="9601202" y="6853436"/>
            <a:ext cx="3365087" cy="644472"/>
          </a:xfrm>
          <a:prstGeom prst="rect">
            <a:avLst/>
          </a:prstGeom>
          <a:noFill/>
          <a:ln w="9525"/>
        </p:spPr>
        <p:txBody>
          <a:bodyPr wrap="square" lIns="25400" tIns="25400" rIns="25400" bIns="25400" rtlCol="0" anchor="t">
            <a:spAutoFit/>
          </a:bodyPr>
          <a:lstStyle/>
          <a:p>
            <a:pPr>
              <a:lnSpc>
                <a:spcPct val="125000"/>
              </a:lnSpc>
            </a:pPr>
            <a:r>
              <a:rPr lang="en-US" sz="1601" dirty="0">
                <a:solidFill>
                  <a:srgbClr val="3A4250"/>
                </a:solidFill>
                <a:latin typeface="Space Grotesk" pitchFamily="34" charset="0"/>
                <a:ea typeface="Space Grotesk" pitchFamily="34" charset="-122"/>
                <a:cs typeface="Space Grotesk" pitchFamily="34" charset="-120"/>
              </a:rPr>
              <a:t>Bring your own A4 paper — or a notebook — and a pen to every lecture.</a:t>
            </a:r>
          </a:p>
        </p:txBody>
      </p:sp>
      <p:sp>
        <p:nvSpPr>
          <p:cNvPr id="29" name="Shape 27"/>
          <p:cNvSpPr/>
          <p:nvPr/>
        </p:nvSpPr>
        <p:spPr>
          <a:xfrm>
            <a:off x="13458825" y="4291213"/>
            <a:ext cx="3914775" cy="4587548"/>
          </a:xfrm>
          <a:prstGeom prst="roundRect">
            <a:avLst>
              <a:gd name="adj" fmla="val 4866"/>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30" name="Text 28"/>
          <p:cNvSpPr/>
          <p:nvPr/>
        </p:nvSpPr>
        <p:spPr>
          <a:xfrm>
            <a:off x="13782677" y="4576963"/>
            <a:ext cx="3365087" cy="338138"/>
          </a:xfrm>
          <a:prstGeom prst="rect">
            <a:avLst/>
          </a:prstGeom>
          <a:noFill/>
          <a:ln w="9525"/>
        </p:spPr>
        <p:txBody>
          <a:bodyPr wrap="square" lIns="25400" tIns="25400" rIns="25400" bIns="25400" rtlCol="0" anchor="t">
            <a:normAutofit/>
          </a:bodyPr>
          <a:lstStyle/>
          <a:p>
            <a:r>
              <a:rPr lang="en-US" kern="0" spc="108" dirty="0">
                <a:solidFill>
                  <a:srgbClr val="7A8290"/>
                </a:solidFill>
                <a:latin typeface="JetBrains Mono" pitchFamily="34" charset="0"/>
                <a:ea typeface="JetBrains Mono" pitchFamily="34" charset="-122"/>
                <a:cs typeface="JetBrains Mono" pitchFamily="34" charset="-120"/>
              </a:rPr>
              <a:t>THE TASK</a:t>
            </a:r>
          </a:p>
        </p:txBody>
      </p:sp>
      <p:sp>
        <p:nvSpPr>
          <p:cNvPr id="31" name="Text 29"/>
          <p:cNvSpPr/>
          <p:nvPr/>
        </p:nvSpPr>
        <p:spPr>
          <a:xfrm>
            <a:off x="13782677" y="5105598"/>
            <a:ext cx="3365087" cy="990600"/>
          </a:xfrm>
          <a:prstGeom prst="rect">
            <a:avLst/>
          </a:prstGeom>
          <a:noFill/>
          <a:ln w="9525"/>
        </p:spPr>
        <p:txBody>
          <a:bodyPr wrap="square" lIns="25400" tIns="25400" rIns="25400" bIns="25400" rtlCol="0" anchor="t">
            <a:normAutofit fontScale="92500" lnSpcReduction="20000"/>
          </a:bodyPr>
          <a:lstStyle/>
          <a:p>
            <a:r>
              <a:rPr lang="en-US" sz="7500" b="1" kern="0" dirty="0">
                <a:solidFill>
                  <a:srgbClr val="0E7C55"/>
                </a:solidFill>
                <a:latin typeface="Space Grotesk" pitchFamily="34" charset="0"/>
                <a:ea typeface="Space Grotesk" pitchFamily="34" charset="-122"/>
                <a:cs typeface="Space Grotesk" pitchFamily="34" charset="-120"/>
              </a:rPr>
              <a:t>3</a:t>
            </a:r>
            <a:r>
              <a:rPr lang="en-US" sz="2850" kern="0" dirty="0">
                <a:solidFill>
                  <a:srgbClr val="0E7C55"/>
                </a:solidFill>
                <a:latin typeface="Space Grotesk" pitchFamily="34" charset="0"/>
                <a:ea typeface="Space Grotesk" pitchFamily="34" charset="-122"/>
                <a:cs typeface="Space Grotesk" pitchFamily="34" charset="-120"/>
              </a:rPr>
              <a:t> steps</a:t>
            </a:r>
          </a:p>
        </p:txBody>
      </p:sp>
      <p:sp>
        <p:nvSpPr>
          <p:cNvPr id="32" name="Shape 30"/>
          <p:cNvSpPr/>
          <p:nvPr/>
        </p:nvSpPr>
        <p:spPr>
          <a:xfrm>
            <a:off x="13782676" y="6229549"/>
            <a:ext cx="1364456" cy="414338"/>
          </a:xfrm>
          <a:prstGeom prst="roundRect">
            <a:avLst>
              <a:gd name="adj" fmla="val 50000"/>
            </a:avLst>
          </a:prstGeom>
          <a:solidFill>
            <a:srgbClr val="EDEFF2"/>
          </a:solidFill>
          <a:ln w="9525"/>
        </p:spPr>
        <p:txBody>
          <a:bodyPr/>
          <a:lstStyle/>
          <a:p>
            <a:endParaRPr lang="en-TH"/>
          </a:p>
        </p:txBody>
      </p:sp>
      <p:sp>
        <p:nvSpPr>
          <p:cNvPr id="33" name="Text 31"/>
          <p:cNvSpPr/>
          <p:nvPr/>
        </p:nvSpPr>
        <p:spPr>
          <a:xfrm>
            <a:off x="13877926" y="6267649"/>
            <a:ext cx="1173956" cy="338138"/>
          </a:xfrm>
          <a:prstGeom prst="rect">
            <a:avLst/>
          </a:prstGeom>
          <a:noFill/>
          <a:ln w="9525"/>
        </p:spPr>
        <p:txBody>
          <a:bodyPr wrap="square" lIns="25400" tIns="25400" rIns="25400" bIns="25400" rtlCol="0" anchor="t">
            <a:normAutofit/>
          </a:bodyPr>
          <a:lstStyle/>
          <a:p>
            <a:r>
              <a:rPr lang="en-US" dirty="0">
                <a:solidFill>
                  <a:srgbClr val="3A4250"/>
                </a:solidFill>
                <a:latin typeface="JetBrains Mono" pitchFamily="34" charset="0"/>
                <a:ea typeface="JetBrains Mono" pitchFamily="34" charset="-122"/>
                <a:cs typeface="JetBrains Mono" pitchFamily="34" charset="-120"/>
              </a:rPr>
              <a:t>on paper</a:t>
            </a:r>
          </a:p>
        </p:txBody>
      </p:sp>
      <p:sp>
        <p:nvSpPr>
          <p:cNvPr id="34" name="Text 32"/>
          <p:cNvSpPr/>
          <p:nvPr/>
        </p:nvSpPr>
        <p:spPr>
          <a:xfrm>
            <a:off x="13782677" y="6853436"/>
            <a:ext cx="3365087" cy="644472"/>
          </a:xfrm>
          <a:prstGeom prst="rect">
            <a:avLst/>
          </a:prstGeom>
          <a:noFill/>
          <a:ln w="9525"/>
        </p:spPr>
        <p:txBody>
          <a:bodyPr wrap="square" lIns="25400" tIns="25400" rIns="25400" bIns="25400" rtlCol="0" anchor="t">
            <a:spAutoFit/>
          </a:bodyPr>
          <a:lstStyle/>
          <a:p>
            <a:pPr>
              <a:lnSpc>
                <a:spcPct val="125000"/>
              </a:lnSpc>
            </a:pPr>
            <a:r>
              <a:rPr lang="en-US" sz="1601" dirty="0">
                <a:solidFill>
                  <a:srgbClr val="3A4250"/>
                </a:solidFill>
                <a:latin typeface="Space Grotesk" pitchFamily="34" charset="0"/>
                <a:ea typeface="Space Grotesk" pitchFamily="34" charset="-122"/>
                <a:cs typeface="Space Grotesk" pitchFamily="34" charset="-120"/>
              </a:rPr>
              <a:t>Spot the AI's deliberate error, explain why it's wrong, and give the correct fix.</a:t>
            </a:r>
          </a:p>
        </p:txBody>
      </p:sp>
      <p:sp>
        <p:nvSpPr>
          <p:cNvPr id="8" name="Shape 7">
            <a:extLst>
              <a:ext uri="{FF2B5EF4-FFF2-40B4-BE49-F238E27FC236}">
                <a16:creationId xmlns:a16="http://schemas.microsoft.com/office/drawing/2014/main" id="{0A895AB8-73B4-76B5-353D-97D1C5681AB4}"/>
              </a:ext>
            </a:extLst>
          </p:cNvPr>
          <p:cNvSpPr/>
          <p:nvPr/>
        </p:nvSpPr>
        <p:spPr>
          <a:xfrm>
            <a:off x="914400" y="3324225"/>
            <a:ext cx="1653555" cy="419100"/>
          </a:xfrm>
          <a:prstGeom prst="roundRect">
            <a:avLst>
              <a:gd name="adj" fmla="val 50000"/>
            </a:avLst>
          </a:prstGeom>
          <a:solidFill>
            <a:schemeClr val="accent2"/>
          </a:solidFill>
          <a:ln w="9525">
            <a:solidFill>
              <a:schemeClr val="accent2"/>
            </a:solidFill>
          </a:ln>
        </p:spPr>
        <p:txBody>
          <a:bodyPr/>
          <a:lstStyle/>
          <a:p>
            <a:endParaRPr lang="en-TH"/>
          </a:p>
        </p:txBody>
      </p:sp>
      <p:sp>
        <p:nvSpPr>
          <p:cNvPr id="35" name="Text 8">
            <a:extLst>
              <a:ext uri="{FF2B5EF4-FFF2-40B4-BE49-F238E27FC236}">
                <a16:creationId xmlns:a16="http://schemas.microsoft.com/office/drawing/2014/main" id="{FC6DA7C0-DCF1-B577-0EDA-AB4C419A6A9F}"/>
              </a:ext>
            </a:extLst>
          </p:cNvPr>
          <p:cNvSpPr/>
          <p:nvPr/>
        </p:nvSpPr>
        <p:spPr>
          <a:xfrm>
            <a:off x="1085850" y="3419475"/>
            <a:ext cx="1310655" cy="266700"/>
          </a:xfrm>
          <a:prstGeom prst="rect">
            <a:avLst/>
          </a:prstGeom>
          <a:noFill/>
          <a:ln w="9525"/>
        </p:spPr>
        <p:txBody>
          <a:bodyPr wrap="square" lIns="25400" tIns="25400" rIns="25400" bIns="25400" rtlCol="0" anchor="ctr">
            <a:normAutofit fontScale="70000" lnSpcReduction="20000"/>
          </a:bodyPr>
          <a:lstStyle/>
          <a:p>
            <a:pPr marL="0" indent="0" algn="ctr">
              <a:lnSpc>
                <a:spcPct val="100000"/>
              </a:lnSpc>
              <a:buNone/>
            </a:pPr>
            <a:r>
              <a:rPr lang="en-US" sz="1800" dirty="0">
                <a:solidFill>
                  <a:srgbClr val="0B0F19"/>
                </a:solidFill>
                <a:latin typeface="JetBrains Mono" pitchFamily="34" charset="0"/>
                <a:ea typeface="JetBrains Mono" pitchFamily="34" charset="-122"/>
                <a:cs typeface="JetBrains Mono" pitchFamily="34" charset="-120"/>
              </a:rPr>
              <a:t>INDIVIDUAL · 10%</a:t>
            </a:r>
            <a:endParaRPr lang="en-US" sz="1800" dirty="0"/>
          </a:p>
        </p:txBody>
      </p:sp>
    </p:spTree>
    <p:extLst>
      <p:ext uri="{BB962C8B-B14F-4D97-AF65-F5344CB8AC3E}">
        <p14:creationId xmlns:p14="http://schemas.microsoft.com/office/powerpoint/2010/main" val="3156515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bg>
      <p:bgPr>
        <a:solidFill>
          <a:srgbClr val="EEF0F3"/>
        </a:solidFill>
        <a:effectLst/>
      </p:bgPr>
    </p:bg>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p:cNvSpPr/>
          <p:nvPr/>
        </p:nvSpPr>
        <p:spPr>
          <a:xfrm>
            <a:off x="728216" y="154781"/>
            <a:ext cx="3889732"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p:cNvSpPr/>
          <p:nvPr/>
        </p:nvSpPr>
        <p:spPr>
          <a:xfrm>
            <a:off x="4771355" y="154781"/>
            <a:ext cx="2959014"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The rules · AI Critique</a:t>
            </a:r>
            <a:endParaRPr lang="en-US" sz="1800" dirty="0"/>
          </a:p>
        </p:txBody>
      </p:sp>
      <p:sp>
        <p:nvSpPr>
          <p:cNvPr id="7" name="Text 5"/>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kern="0" spc="72" dirty="0">
                <a:solidFill>
                  <a:srgbClr val="7A8290"/>
                </a:solidFill>
                <a:latin typeface="JetBrains Mono" pitchFamily="34" charset="0"/>
                <a:ea typeface="JetBrains Mono" pitchFamily="34" charset="-122"/>
                <a:cs typeface="JetBrains Mono" pitchFamily="34" charset="-120"/>
              </a:rPr>
              <a:t>17</a:t>
            </a:r>
            <a:r>
              <a:rPr lang="en-US" sz="1800" kern="0" spc="72" dirty="0">
                <a:solidFill>
                  <a:srgbClr val="7A8290"/>
                </a:solidFill>
                <a:latin typeface="JetBrains Mono" pitchFamily="34" charset="0"/>
                <a:ea typeface="JetBrains Mono" pitchFamily="34" charset="-122"/>
                <a:cs typeface="JetBrains Mono" pitchFamily="34" charset="-120"/>
              </a:rPr>
              <a:t> / </a:t>
            </a:r>
            <a:r>
              <a:rPr lang="en-US" kern="0" spc="72" dirty="0">
                <a:solidFill>
                  <a:srgbClr val="7A8290"/>
                </a:solidFill>
                <a:latin typeface="JetBrains Mono" pitchFamily="34" charset="0"/>
                <a:ea typeface="JetBrains Mono" pitchFamily="34" charset="-122"/>
                <a:cs typeface="JetBrains Mono" pitchFamily="34" charset="-120"/>
              </a:rPr>
              <a:t>32</a:t>
            </a:r>
            <a:endParaRPr lang="en-US" sz="1800" dirty="0"/>
          </a:p>
        </p:txBody>
      </p:sp>
      <p:sp>
        <p:nvSpPr>
          <p:cNvPr id="9" name="Text 7"/>
          <p:cNvSpPr/>
          <p:nvPr/>
        </p:nvSpPr>
        <p:spPr>
          <a:xfrm>
            <a:off x="914400" y="1524000"/>
            <a:ext cx="16952976" cy="338138"/>
          </a:xfrm>
          <a:prstGeom prst="rect">
            <a:avLst/>
          </a:prstGeom>
          <a:noFill/>
          <a:ln w="9525"/>
        </p:spPr>
        <p:txBody>
          <a:bodyPr wrap="square" lIns="25400" tIns="25400" rIns="25400" bIns="25400" rtlCol="0" anchor="t">
            <a:normAutofit/>
          </a:bodyPr>
          <a:lstStyle/>
          <a:p>
            <a:pPr marL="0" indent="0" algn="l">
              <a:buNone/>
            </a:pPr>
            <a:r>
              <a:rPr lang="en-US" sz="1730" kern="0" spc="108" dirty="0">
                <a:solidFill>
                  <a:srgbClr val="7A8290"/>
                </a:solidFill>
                <a:latin typeface="JetBrains Mono" pitchFamily="34" charset="0"/>
                <a:ea typeface="JetBrains Mono" pitchFamily="34" charset="-122"/>
                <a:cs typeface="JetBrains Mono" pitchFamily="34" charset="-120"/>
              </a:rPr>
              <a:t>EVERY CHAPTER CLASS</a:t>
            </a:r>
            <a:endParaRPr lang="en-US" sz="1730" dirty="0"/>
          </a:p>
        </p:txBody>
      </p:sp>
      <p:sp>
        <p:nvSpPr>
          <p:cNvPr id="10" name="Text 8"/>
          <p:cNvSpPr/>
          <p:nvPr/>
        </p:nvSpPr>
        <p:spPr>
          <a:xfrm>
            <a:off x="914400" y="1995487"/>
            <a:ext cx="16952976" cy="960853"/>
          </a:xfrm>
          <a:prstGeom prst="rect">
            <a:avLst/>
          </a:prstGeom>
          <a:noFill/>
          <a:ln w="9525"/>
        </p:spPr>
        <p:txBody>
          <a:bodyPr wrap="square" lIns="25400" tIns="25400" rIns="25400" bIns="25400" rtlCol="0" anchor="t">
            <a:normAutofit/>
          </a:bodyPr>
          <a:lstStyle/>
          <a:p>
            <a:pPr marL="0" indent="0" algn="l">
              <a:lnSpc>
                <a:spcPct val="100000"/>
              </a:lnSpc>
              <a:buNone/>
            </a:pPr>
            <a:r>
              <a:rPr lang="en-US" sz="4800" b="1" kern="0" spc="-120" dirty="0">
                <a:solidFill>
                  <a:srgbClr val="0B0F19"/>
                </a:solidFill>
                <a:latin typeface="Space Grotesk" pitchFamily="34" charset="0"/>
                <a:ea typeface="Space Grotesk" pitchFamily="34" charset="-122"/>
                <a:cs typeface="Space Grotesk" pitchFamily="34" charset="-120"/>
              </a:rPr>
              <a:t>The last 10 minutes: find the AI's mistake</a:t>
            </a:r>
            <a:endParaRPr lang="en-US" sz="4800" dirty="0"/>
          </a:p>
        </p:txBody>
      </p:sp>
      <p:sp>
        <p:nvSpPr>
          <p:cNvPr id="11" name="Text 9"/>
          <p:cNvSpPr/>
          <p:nvPr/>
        </p:nvSpPr>
        <p:spPr>
          <a:xfrm>
            <a:off x="914400" y="2901258"/>
            <a:ext cx="14935562" cy="940450"/>
          </a:xfrm>
          <a:prstGeom prst="rect">
            <a:avLst/>
          </a:prstGeom>
          <a:noFill/>
          <a:ln w="9525"/>
          <a:effectLst/>
        </p:spPr>
        <p:txBody>
          <a:bodyPr wrap="square" lIns="25400" tIns="25400" rIns="25400" bIns="25400" rtlCol="0" anchor="t">
            <a:spAutoFit/>
          </a:bodyPr>
          <a:lstStyle/>
          <a:p>
            <a:pPr marL="0" indent="0" algn="l">
              <a:lnSpc>
                <a:spcPct val="125000"/>
              </a:lnSpc>
              <a:buNone/>
            </a:pPr>
            <a:r>
              <a:rPr lang="en-US" sz="2400" dirty="0">
                <a:solidFill>
                  <a:srgbClr val="3A4250"/>
                </a:solidFill>
                <a:latin typeface="Space Grotesk" pitchFamily="34" charset="0"/>
                <a:ea typeface="Space Grotesk" pitchFamily="34" charset="-122"/>
                <a:cs typeface="Space Grotesk" pitchFamily="34" charset="-120"/>
              </a:rPr>
              <a:t>Each chapter class ends with a ten-minute exercise. I project something an AI wrote that contains a deliberate mistake. You answer in three steps, by hand, on A4 — and hand it in before you leave.</a:t>
            </a:r>
            <a:endParaRPr lang="en-US" sz="2400" kern="1200" dirty="0">
              <a:solidFill>
                <a:srgbClr val="3A4250"/>
              </a:solidFill>
              <a:latin typeface="Space Grotesk" pitchFamily="34" charset="0"/>
              <a:ea typeface="Space Grotesk" pitchFamily="34" charset="-122"/>
              <a:cs typeface="Space Grotesk" pitchFamily="34" charset="-120"/>
            </a:endParaRPr>
          </a:p>
        </p:txBody>
      </p:sp>
      <p:sp>
        <p:nvSpPr>
          <p:cNvPr id="12" name="Shape 10"/>
          <p:cNvSpPr/>
          <p:nvPr/>
        </p:nvSpPr>
        <p:spPr>
          <a:xfrm>
            <a:off x="914400" y="3958679"/>
            <a:ext cx="5257800" cy="5562600"/>
          </a:xfrm>
          <a:prstGeom prst="roundRect">
            <a:avLst>
              <a:gd name="adj" fmla="val 4348"/>
            </a:avLst>
          </a:prstGeom>
          <a:solidFill>
            <a:srgbClr val="FF5A47"/>
          </a:solidFill>
          <a:ln w="9525"/>
        </p:spPr>
        <p:txBody>
          <a:bodyPr/>
          <a:lstStyle/>
          <a:p>
            <a:endParaRPr lang="en-TH"/>
          </a:p>
        </p:txBody>
      </p:sp>
      <p:sp>
        <p:nvSpPr>
          <p:cNvPr id="13" name="Text 11"/>
          <p:cNvSpPr/>
          <p:nvPr/>
        </p:nvSpPr>
        <p:spPr>
          <a:xfrm>
            <a:off x="1295400" y="4377779"/>
            <a:ext cx="4630674"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FFFFFF">
                    <a:alpha val="55000"/>
                  </a:srgbClr>
                </a:solidFill>
                <a:latin typeface="JetBrains Mono" pitchFamily="34" charset="0"/>
                <a:ea typeface="JetBrains Mono" pitchFamily="34" charset="-122"/>
                <a:cs typeface="JetBrains Mono" pitchFamily="34" charset="-120"/>
              </a:rPr>
              <a:t>STEP 01</a:t>
            </a:r>
            <a:endParaRPr lang="en-US" sz="1800" dirty="0"/>
          </a:p>
        </p:txBody>
      </p:sp>
      <p:sp>
        <p:nvSpPr>
          <p:cNvPr id="14" name="Text 12"/>
          <p:cNvSpPr/>
          <p:nvPr/>
        </p:nvSpPr>
        <p:spPr>
          <a:xfrm>
            <a:off x="1295400" y="4849267"/>
            <a:ext cx="4630674" cy="1028700"/>
          </a:xfrm>
          <a:prstGeom prst="rect">
            <a:avLst/>
          </a:prstGeom>
          <a:noFill/>
          <a:ln w="9525"/>
        </p:spPr>
        <p:txBody>
          <a:bodyPr wrap="square" lIns="25400" tIns="25400" rIns="25400" bIns="25400" rtlCol="0" anchor="t">
            <a:normAutofit/>
          </a:bodyPr>
          <a:lstStyle/>
          <a:p>
            <a:pPr marL="0" indent="0" algn="l">
              <a:lnSpc>
                <a:spcPct val="104000"/>
              </a:lnSpc>
              <a:buNone/>
            </a:pPr>
            <a:r>
              <a:rPr lang="en-US" sz="3750" b="1" kern="0" spc="-94" dirty="0">
                <a:solidFill>
                  <a:srgbClr val="FFFFFF"/>
                </a:solidFill>
                <a:latin typeface="Space Grotesk" pitchFamily="34" charset="0"/>
                <a:ea typeface="Space Grotesk" pitchFamily="34" charset="-122"/>
                <a:cs typeface="Space Grotesk" pitchFamily="34" charset="-120"/>
              </a:rPr>
              <a:t>Spot the error</a:t>
            </a:r>
            <a:endParaRPr lang="en-US" sz="3750" dirty="0"/>
          </a:p>
        </p:txBody>
      </p:sp>
      <p:sp>
        <p:nvSpPr>
          <p:cNvPr id="15" name="Text 13"/>
          <p:cNvSpPr/>
          <p:nvPr/>
        </p:nvSpPr>
        <p:spPr>
          <a:xfrm>
            <a:off x="1295400" y="6049417"/>
            <a:ext cx="4630674" cy="1863780"/>
          </a:xfrm>
          <a:prstGeom prst="rect">
            <a:avLst/>
          </a:prstGeom>
          <a:noFill/>
          <a:ln w="9525"/>
        </p:spPr>
        <p:txBody>
          <a:bodyPr wrap="square" lIns="25400" tIns="25400" rIns="25400" bIns="25400" rtlCol="0" anchor="t">
            <a:spAutoFit/>
          </a:bodyPr>
          <a:lstStyle/>
          <a:p>
            <a:pPr marL="0" indent="0" algn="l">
              <a:lnSpc>
                <a:spcPct val="125000"/>
              </a:lnSpc>
              <a:buNone/>
            </a:pPr>
            <a:r>
              <a:rPr lang="en-US" sz="2400" dirty="0">
                <a:solidFill>
                  <a:srgbClr val="FFFFFF"/>
                </a:solidFill>
                <a:latin typeface="Space Grotesk" pitchFamily="34" charset="0"/>
                <a:ea typeface="Space Grotesk" pitchFamily="34" charset="-122"/>
                <a:cs typeface="Space Grotesk" pitchFamily="34" charset="-120"/>
              </a:rPr>
              <a:t>Point at exactly what the AI got wrong. Not "it looks off" — name the line, the arrow, or the claim that is incorrect.</a:t>
            </a:r>
            <a:endParaRPr lang="en-US" sz="2400" dirty="0"/>
          </a:p>
        </p:txBody>
      </p:sp>
      <p:sp>
        <p:nvSpPr>
          <p:cNvPr id="16" name="Shape 14"/>
          <p:cNvSpPr/>
          <p:nvPr/>
        </p:nvSpPr>
        <p:spPr>
          <a:xfrm>
            <a:off x="4462239" y="7806779"/>
            <a:ext cx="1333500" cy="1333500"/>
          </a:xfrm>
          <a:prstGeom prst="roundRect">
            <a:avLst>
              <a:gd name="adj" fmla="val 17143"/>
            </a:avLst>
          </a:prstGeom>
          <a:solidFill>
            <a:srgbClr val="FFFFFF">
              <a:alpha val="80000"/>
            </a:srgbClr>
          </a:solidFill>
          <a:ln w="9525"/>
        </p:spPr>
        <p:txBody>
          <a:bodyPr/>
          <a:lstStyle/>
          <a:p>
            <a:endParaRPr lang="en-TH"/>
          </a:p>
        </p:txBody>
      </p:sp>
      <p:sp>
        <p:nvSpPr>
          <p:cNvPr id="18" name="Shape 15"/>
          <p:cNvSpPr/>
          <p:nvPr/>
        </p:nvSpPr>
        <p:spPr>
          <a:xfrm>
            <a:off x="6515100" y="3958679"/>
            <a:ext cx="5257800" cy="5562600"/>
          </a:xfrm>
          <a:prstGeom prst="roundRect">
            <a:avLst>
              <a:gd name="adj" fmla="val 4348"/>
            </a:avLst>
          </a:prstGeom>
          <a:solidFill>
            <a:srgbClr val="FFC233"/>
          </a:solidFill>
          <a:ln w="9525"/>
        </p:spPr>
        <p:txBody>
          <a:bodyPr/>
          <a:lstStyle/>
          <a:p>
            <a:endParaRPr lang="en-TH"/>
          </a:p>
        </p:txBody>
      </p:sp>
      <p:sp>
        <p:nvSpPr>
          <p:cNvPr id="19" name="Text 16"/>
          <p:cNvSpPr/>
          <p:nvPr/>
        </p:nvSpPr>
        <p:spPr>
          <a:xfrm>
            <a:off x="6896100" y="4377779"/>
            <a:ext cx="4630674"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0B0F19">
                    <a:alpha val="70000"/>
                  </a:srgbClr>
                </a:solidFill>
                <a:latin typeface="JetBrains Mono" pitchFamily="34" charset="0"/>
                <a:ea typeface="JetBrains Mono" pitchFamily="34" charset="-122"/>
                <a:cs typeface="JetBrains Mono" pitchFamily="34" charset="-120"/>
              </a:rPr>
              <a:t>STEP 02</a:t>
            </a:r>
            <a:endParaRPr lang="en-US" sz="1800" dirty="0"/>
          </a:p>
        </p:txBody>
      </p:sp>
      <p:sp>
        <p:nvSpPr>
          <p:cNvPr id="20" name="Text 17"/>
          <p:cNvSpPr/>
          <p:nvPr/>
        </p:nvSpPr>
        <p:spPr>
          <a:xfrm>
            <a:off x="6896100" y="4849267"/>
            <a:ext cx="4630674" cy="1028700"/>
          </a:xfrm>
          <a:prstGeom prst="rect">
            <a:avLst/>
          </a:prstGeom>
          <a:noFill/>
          <a:ln w="9525"/>
        </p:spPr>
        <p:txBody>
          <a:bodyPr wrap="square" lIns="25400" tIns="25400" rIns="25400" bIns="25400" rtlCol="0" anchor="t">
            <a:normAutofit/>
          </a:bodyPr>
          <a:lstStyle/>
          <a:p>
            <a:pPr marL="0" indent="0" algn="l">
              <a:lnSpc>
                <a:spcPct val="104000"/>
              </a:lnSpc>
              <a:buNone/>
            </a:pPr>
            <a:r>
              <a:rPr lang="en-US" sz="3750" b="1" kern="0" spc="-94" dirty="0">
                <a:solidFill>
                  <a:srgbClr val="0B0F19"/>
                </a:solidFill>
                <a:latin typeface="Space Grotesk" pitchFamily="34" charset="0"/>
                <a:ea typeface="Space Grotesk" pitchFamily="34" charset="-122"/>
                <a:cs typeface="Space Grotesk" pitchFamily="34" charset="-120"/>
              </a:rPr>
              <a:t>Explain why</a:t>
            </a:r>
            <a:endParaRPr lang="en-US" sz="3750" dirty="0"/>
          </a:p>
        </p:txBody>
      </p:sp>
      <p:sp>
        <p:nvSpPr>
          <p:cNvPr id="21" name="Text 18"/>
          <p:cNvSpPr/>
          <p:nvPr/>
        </p:nvSpPr>
        <p:spPr>
          <a:xfrm>
            <a:off x="6896100" y="6049417"/>
            <a:ext cx="4630674" cy="1863780"/>
          </a:xfrm>
          <a:prstGeom prst="rect">
            <a:avLst/>
          </a:prstGeom>
          <a:noFill/>
          <a:ln w="9525"/>
        </p:spPr>
        <p:txBody>
          <a:bodyPr wrap="square" lIns="25400" tIns="25400" rIns="25400" bIns="25400" rtlCol="0" anchor="t">
            <a:spAutoFit/>
          </a:bodyPr>
          <a:lstStyle/>
          <a:p>
            <a:pPr marL="0" indent="0" algn="l">
              <a:lnSpc>
                <a:spcPct val="125000"/>
              </a:lnSpc>
              <a:buNone/>
            </a:pPr>
            <a:r>
              <a:rPr lang="en-US" sz="2400" dirty="0">
                <a:solidFill>
                  <a:srgbClr val="0B0F19"/>
                </a:solidFill>
                <a:latin typeface="Space Grotesk" pitchFamily="34" charset="0"/>
                <a:ea typeface="Space Grotesk" pitchFamily="34" charset="-122"/>
                <a:cs typeface="Space Grotesk" pitchFamily="34" charset="-120"/>
              </a:rPr>
              <a:t>One or two sentences on why it is wrong. This is the part AI cannot do for you, because it is the part that made the mistake.</a:t>
            </a:r>
            <a:endParaRPr lang="en-US" sz="2400" dirty="0"/>
          </a:p>
        </p:txBody>
      </p:sp>
      <p:sp>
        <p:nvSpPr>
          <p:cNvPr id="22" name="Shape 19"/>
          <p:cNvSpPr/>
          <p:nvPr/>
        </p:nvSpPr>
        <p:spPr>
          <a:xfrm>
            <a:off x="10062939" y="7806779"/>
            <a:ext cx="1333500" cy="1333500"/>
          </a:xfrm>
          <a:prstGeom prst="roundRect">
            <a:avLst>
              <a:gd name="adj" fmla="val 17143"/>
            </a:avLst>
          </a:prstGeom>
          <a:solidFill>
            <a:srgbClr val="FFFFFF">
              <a:alpha val="80000"/>
            </a:srgbClr>
          </a:solidFill>
          <a:ln w="9525"/>
        </p:spPr>
        <p:txBody>
          <a:bodyPr/>
          <a:lstStyle/>
          <a:p>
            <a:endParaRPr lang="en-TH"/>
          </a:p>
        </p:txBody>
      </p:sp>
      <p:sp>
        <p:nvSpPr>
          <p:cNvPr id="24" name="Shape 20"/>
          <p:cNvSpPr/>
          <p:nvPr/>
        </p:nvSpPr>
        <p:spPr>
          <a:xfrm>
            <a:off x="12115800" y="3958679"/>
            <a:ext cx="5257800" cy="5562600"/>
          </a:xfrm>
          <a:prstGeom prst="roundRect">
            <a:avLst>
              <a:gd name="adj" fmla="val 4348"/>
            </a:avLst>
          </a:prstGeom>
          <a:solidFill>
            <a:srgbClr val="16B670"/>
          </a:solidFill>
          <a:ln w="9525"/>
        </p:spPr>
        <p:txBody>
          <a:bodyPr/>
          <a:lstStyle/>
          <a:p>
            <a:endParaRPr lang="en-TH"/>
          </a:p>
        </p:txBody>
      </p:sp>
      <p:sp>
        <p:nvSpPr>
          <p:cNvPr id="25" name="Text 21"/>
          <p:cNvSpPr/>
          <p:nvPr/>
        </p:nvSpPr>
        <p:spPr>
          <a:xfrm>
            <a:off x="12496800" y="4377779"/>
            <a:ext cx="4630674"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FFFFFF">
                    <a:alpha val="55000"/>
                  </a:srgbClr>
                </a:solidFill>
                <a:latin typeface="JetBrains Mono" pitchFamily="34" charset="0"/>
                <a:ea typeface="JetBrains Mono" pitchFamily="34" charset="-122"/>
                <a:cs typeface="JetBrains Mono" pitchFamily="34" charset="-120"/>
              </a:rPr>
              <a:t>STEP 03</a:t>
            </a:r>
            <a:endParaRPr lang="en-US" sz="1800" dirty="0"/>
          </a:p>
        </p:txBody>
      </p:sp>
      <p:sp>
        <p:nvSpPr>
          <p:cNvPr id="26" name="Text 22"/>
          <p:cNvSpPr/>
          <p:nvPr/>
        </p:nvSpPr>
        <p:spPr>
          <a:xfrm>
            <a:off x="12496800" y="4849267"/>
            <a:ext cx="4630674" cy="533400"/>
          </a:xfrm>
          <a:prstGeom prst="rect">
            <a:avLst/>
          </a:prstGeom>
          <a:noFill/>
          <a:ln w="9525"/>
        </p:spPr>
        <p:txBody>
          <a:bodyPr wrap="square" lIns="25400" tIns="25400" rIns="25400" bIns="25400" rtlCol="0" anchor="t">
            <a:normAutofit fontScale="92500" lnSpcReduction="20000"/>
          </a:bodyPr>
          <a:lstStyle/>
          <a:p>
            <a:pPr marL="0" indent="0" algn="l">
              <a:lnSpc>
                <a:spcPct val="104000"/>
              </a:lnSpc>
              <a:buNone/>
            </a:pPr>
            <a:r>
              <a:rPr lang="en-US" sz="3750" b="1" kern="0" spc="-94" dirty="0">
                <a:solidFill>
                  <a:srgbClr val="FFFFFF"/>
                </a:solidFill>
                <a:latin typeface="Space Grotesk" pitchFamily="34" charset="0"/>
                <a:ea typeface="Space Grotesk" pitchFamily="34" charset="-122"/>
                <a:cs typeface="Space Grotesk" pitchFamily="34" charset="-120"/>
              </a:rPr>
              <a:t>Fix it</a:t>
            </a:r>
            <a:endParaRPr lang="en-US" sz="3750" dirty="0"/>
          </a:p>
        </p:txBody>
      </p:sp>
      <p:sp>
        <p:nvSpPr>
          <p:cNvPr id="27" name="Text 23"/>
          <p:cNvSpPr/>
          <p:nvPr/>
        </p:nvSpPr>
        <p:spPr>
          <a:xfrm>
            <a:off x="12496800" y="6049417"/>
            <a:ext cx="4630674" cy="1863780"/>
          </a:xfrm>
          <a:prstGeom prst="rect">
            <a:avLst/>
          </a:prstGeom>
          <a:noFill/>
          <a:ln w="9525"/>
        </p:spPr>
        <p:txBody>
          <a:bodyPr wrap="square" lIns="25400" tIns="25400" rIns="25400" bIns="25400" rtlCol="0" anchor="t">
            <a:spAutoFit/>
          </a:bodyPr>
          <a:lstStyle/>
          <a:p>
            <a:pPr marL="0" indent="0" algn="l">
              <a:lnSpc>
                <a:spcPct val="125000"/>
              </a:lnSpc>
              <a:buNone/>
            </a:pPr>
            <a:r>
              <a:rPr lang="en-US" sz="2400" dirty="0">
                <a:solidFill>
                  <a:srgbClr val="FFFFFF"/>
                </a:solidFill>
                <a:latin typeface="Space Grotesk" pitchFamily="34" charset="0"/>
                <a:ea typeface="Space Grotesk" pitchFamily="34" charset="-122"/>
                <a:cs typeface="Space Grotesk" pitchFamily="34" charset="-120"/>
              </a:rPr>
              <a:t>Write the corrected version, or draw the correct diagram. Your paper is also your attendance for the day — there is no roll call.</a:t>
            </a:r>
            <a:endParaRPr lang="en-US" sz="2400" dirty="0"/>
          </a:p>
        </p:txBody>
      </p:sp>
      <p:sp>
        <p:nvSpPr>
          <p:cNvPr id="28" name="Shape 24"/>
          <p:cNvSpPr/>
          <p:nvPr/>
        </p:nvSpPr>
        <p:spPr>
          <a:xfrm>
            <a:off x="15663639" y="7806779"/>
            <a:ext cx="1333500" cy="1333500"/>
          </a:xfrm>
          <a:prstGeom prst="roundRect">
            <a:avLst>
              <a:gd name="adj" fmla="val 17143"/>
            </a:avLst>
          </a:prstGeom>
          <a:solidFill>
            <a:srgbClr val="FFFFFF">
              <a:alpha val="80000"/>
            </a:srgbClr>
          </a:solidFill>
          <a:ln w="9525"/>
        </p:spPr>
        <p:txBody>
          <a:bodyPr/>
          <a:lstStyle/>
          <a:p>
            <a:endParaRPr lang="en-TH"/>
          </a:p>
        </p:txBody>
      </p:sp>
      <p:pic>
        <p:nvPicPr>
          <p:cNvPr id="77450564" name="77450564"/>
          <p:cNvPicPr/>
          <p:nvPr/>
        </p:nvPicPr>
        <p:blipFill rotWithShape="1">
          <a:blip>
            <a:extLst>
              <a:ext uri="{96DAC541-7B7A-43D3-8B79-37D633B846F1}">
                <asvg:svgBlip xmlns:asvg="http://schemas.microsoft.com/office/drawing/2016/SVG/main" r:embed="rId3"/>
              </a:ext>
            </a:extLst>
          </a:blip>
          <a:srcRect/>
          <a:stretch>
            <a:fillRect/>
          </a:stretch>
        </p:blipFill>
        <p:spPr>
          <a:xfrm>
            <a:off x="4648562" y="7993102"/>
            <a:ext cx="960853" cy="960853"/>
          </a:xfrm>
          <a:prstGeom prst="rect">
            <a:avLst/>
          </a:prstGeom>
        </p:spPr>
      </p:pic>
      <p:pic>
        <p:nvPicPr>
          <p:cNvPr id="68865761" name="77450564"/>
          <p:cNvPicPr/>
          <p:nvPr/>
        </p:nvPicPr>
        <p:blipFill rotWithShape="1">
          <a:blip>
            <a:extLst>
              <a:ext uri="{96DAC541-7B7A-43D3-8B79-37D633B846F1}">
                <asvg:svgBlip xmlns:asvg="http://schemas.microsoft.com/office/drawing/2016/SVG/main" r:embed="rId4"/>
              </a:ext>
            </a:extLst>
          </a:blip>
          <a:srcRect/>
          <a:stretch>
            <a:fillRect/>
          </a:stretch>
        </p:blipFill>
        <p:spPr>
          <a:xfrm>
            <a:off x="10249262" y="7993102"/>
            <a:ext cx="960853" cy="960853"/>
          </a:xfrm>
          <a:prstGeom prst="rect">
            <a:avLst/>
          </a:prstGeom>
        </p:spPr>
      </p:pic>
      <p:pic>
        <p:nvPicPr>
          <p:cNvPr id="53248808" name="77450564"/>
          <p:cNvPicPr/>
          <p:nvPr/>
        </p:nvPicPr>
        <p:blipFill rotWithShape="1">
          <a:blip>
            <a:extLst>
              <a:ext uri="{96DAC541-7B7A-43D3-8B79-37D633B846F1}">
                <asvg:svgBlip xmlns:asvg="http://schemas.microsoft.com/office/drawing/2016/SVG/main" r:embed="rId5"/>
              </a:ext>
            </a:extLst>
          </a:blip>
          <a:srcRect/>
          <a:stretch>
            <a:fillRect/>
          </a:stretch>
        </p:blipFill>
        <p:spPr>
          <a:xfrm>
            <a:off x="15849962" y="7993102"/>
            <a:ext cx="960853" cy="96085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EF0F3"/>
        </a:solidFill>
        <a:effectLst/>
      </p:bgPr>
    </p:bg>
    <p:spTree>
      <p:nvGrpSpPr>
        <p:cNvPr id="1" name="">
          <a:extLst>
            <a:ext uri="{FF2B5EF4-FFF2-40B4-BE49-F238E27FC236}">
              <a16:creationId xmlns:a16="http://schemas.microsoft.com/office/drawing/2014/main" id="{DDFA2F4A-5E9C-DC4A-45E1-3A384A578E4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D3CA920-7CD9-82BD-A675-A7E561BBEF8C}"/>
              </a:ext>
            </a:extLst>
          </p:cNvPr>
          <p:cNvSpPr/>
          <p:nvPr/>
        </p:nvSpPr>
        <p:spPr>
          <a:xfrm>
            <a:off x="0" y="0"/>
            <a:ext cx="18288000" cy="619125"/>
          </a:xfrm>
          <a:prstGeom prst="rect">
            <a:avLst/>
          </a:prstGeom>
          <a:solidFill>
            <a:srgbClr val="E4E7EC"/>
          </a:solidFill>
          <a:ln w="9525"/>
        </p:spPr>
        <p:txBody>
          <a:bodyPr/>
          <a:lstStyle/>
          <a:p>
            <a:endParaRPr lang="en-TH"/>
          </a:p>
        </p:txBody>
      </p:sp>
      <p:sp>
        <p:nvSpPr>
          <p:cNvPr id="3" name="Shape 1">
            <a:extLst>
              <a:ext uri="{FF2B5EF4-FFF2-40B4-BE49-F238E27FC236}">
                <a16:creationId xmlns:a16="http://schemas.microsoft.com/office/drawing/2014/main" id="{5771BFFC-365A-9AA5-B18C-FFE650BABA4A}"/>
              </a:ext>
            </a:extLst>
          </p:cNvPr>
          <p:cNvSpPr/>
          <p:nvPr/>
        </p:nvSpPr>
        <p:spPr>
          <a:xfrm>
            <a:off x="0" y="609600"/>
            <a:ext cx="18288000" cy="9525"/>
          </a:xfrm>
          <a:prstGeom prst="rect">
            <a:avLst/>
          </a:prstGeom>
          <a:solidFill>
            <a:srgbClr val="C8CCD3"/>
          </a:solidFill>
          <a:ln w="9525"/>
        </p:spPr>
        <p:txBody>
          <a:bodyPr/>
          <a:lstStyle/>
          <a:p>
            <a:endParaRPr lang="en-TH"/>
          </a:p>
        </p:txBody>
      </p:sp>
      <p:sp>
        <p:nvSpPr>
          <p:cNvPr id="4" name="Text 2">
            <a:extLst>
              <a:ext uri="{FF2B5EF4-FFF2-40B4-BE49-F238E27FC236}">
                <a16:creationId xmlns:a16="http://schemas.microsoft.com/office/drawing/2014/main" id="{958E1F71-3DC5-CA13-8C46-FAC9065E775F}"/>
              </a:ext>
            </a:extLst>
          </p:cNvPr>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a:extLst>
              <a:ext uri="{FF2B5EF4-FFF2-40B4-BE49-F238E27FC236}">
                <a16:creationId xmlns:a16="http://schemas.microsoft.com/office/drawing/2014/main" id="{A1D82DB9-0838-2EC6-1629-7F202CA839E6}"/>
              </a:ext>
            </a:extLst>
          </p:cNvPr>
          <p:cNvSpPr/>
          <p:nvPr/>
        </p:nvSpPr>
        <p:spPr>
          <a:xfrm>
            <a:off x="728216" y="154781"/>
            <a:ext cx="3889732"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a:extLst>
              <a:ext uri="{FF2B5EF4-FFF2-40B4-BE49-F238E27FC236}">
                <a16:creationId xmlns:a16="http://schemas.microsoft.com/office/drawing/2014/main" id="{44675C30-5363-31CF-97AC-1157F8818996}"/>
              </a:ext>
            </a:extLst>
          </p:cNvPr>
          <p:cNvSpPr/>
          <p:nvPr/>
        </p:nvSpPr>
        <p:spPr>
          <a:xfrm>
            <a:off x="4771355" y="154781"/>
            <a:ext cx="3241533" cy="338138"/>
          </a:xfrm>
          <a:prstGeom prst="rect">
            <a:avLst/>
          </a:prstGeom>
          <a:noFill/>
          <a:ln w="9525"/>
        </p:spPr>
        <p:txBody>
          <a:bodyPr wrap="square" lIns="25400" tIns="25400" rIns="25400" bIns="25400" rtlCol="0" anchor="t">
            <a:normAutofit/>
          </a:bodyPr>
          <a:lstStyle/>
          <a:p>
            <a:pPr lvl="0">
              <a:lnSpc>
                <a:spcPts val="2158"/>
              </a:lnSpc>
            </a:pPr>
            <a:r>
              <a:rPr lang="en-US" sz="1798" spc="-17" dirty="0">
                <a:solidFill>
                  <a:schemeClr val="bg2">
                    <a:lumMod val="75000"/>
                  </a:schemeClr>
                </a:solidFill>
                <a:latin typeface="JetBrains Mono Bold"/>
                <a:ea typeface="JetBrains Mono Bold"/>
                <a:cs typeface="JetBrains Mono Bold"/>
                <a:sym typeface="JetBrains Mono Bold"/>
              </a:rPr>
              <a:t>Design-system-governance</a:t>
            </a:r>
          </a:p>
        </p:txBody>
      </p:sp>
      <p:sp>
        <p:nvSpPr>
          <p:cNvPr id="7" name="Text 5">
            <a:extLst>
              <a:ext uri="{FF2B5EF4-FFF2-40B4-BE49-F238E27FC236}">
                <a16:creationId xmlns:a16="http://schemas.microsoft.com/office/drawing/2014/main" id="{A0C59D00-BB83-67A7-FBB4-718A8EEDA1CF}"/>
              </a:ext>
            </a:extLst>
          </p:cNvPr>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kern="0" spc="72" dirty="0">
                <a:solidFill>
                  <a:srgbClr val="7A8290"/>
                </a:solidFill>
                <a:latin typeface="JetBrains Mono" pitchFamily="34" charset="0"/>
                <a:ea typeface="JetBrains Mono" pitchFamily="34" charset="-122"/>
                <a:cs typeface="JetBrains Mono" pitchFamily="34" charset="-120"/>
              </a:rPr>
              <a:t>18</a:t>
            </a:r>
            <a:r>
              <a:rPr lang="en-US" sz="1800" kern="0" spc="72" dirty="0">
                <a:solidFill>
                  <a:srgbClr val="7A8290"/>
                </a:solidFill>
                <a:latin typeface="JetBrains Mono" pitchFamily="34" charset="0"/>
                <a:ea typeface="JetBrains Mono" pitchFamily="34" charset="-122"/>
                <a:cs typeface="JetBrains Mono" pitchFamily="34" charset="-120"/>
              </a:rPr>
              <a:t> / </a:t>
            </a:r>
            <a:r>
              <a:rPr lang="en-US" kern="0" spc="72" dirty="0">
                <a:solidFill>
                  <a:srgbClr val="7A8290"/>
                </a:solidFill>
                <a:latin typeface="JetBrains Mono" pitchFamily="34" charset="0"/>
                <a:ea typeface="JetBrains Mono" pitchFamily="34" charset="-122"/>
                <a:cs typeface="JetBrains Mono" pitchFamily="34" charset="-120"/>
              </a:rPr>
              <a:t>32</a:t>
            </a:r>
            <a:endParaRPr lang="en-US" sz="1800" dirty="0"/>
          </a:p>
        </p:txBody>
      </p:sp>
      <p:sp>
        <p:nvSpPr>
          <p:cNvPr id="13" name="TextBox 15">
            <a:extLst>
              <a:ext uri="{FF2B5EF4-FFF2-40B4-BE49-F238E27FC236}">
                <a16:creationId xmlns:a16="http://schemas.microsoft.com/office/drawing/2014/main" id="{96D275F0-FC3F-1B1F-2585-1679E4741111}"/>
              </a:ext>
            </a:extLst>
          </p:cNvPr>
          <p:cNvSpPr txBox="1"/>
          <p:nvPr/>
        </p:nvSpPr>
        <p:spPr>
          <a:xfrm>
            <a:off x="935041" y="1637510"/>
            <a:ext cx="2600573" cy="266700"/>
          </a:xfrm>
          <a:prstGeom prst="rect">
            <a:avLst/>
          </a:prstGeom>
        </p:spPr>
        <p:txBody>
          <a:bodyPr lIns="0" tIns="0" rIns="0" bIns="0" rtlCol="0" anchor="t">
            <a:spAutoFit/>
          </a:bodyPr>
          <a:lstStyle/>
          <a:p>
            <a:pPr marL="0" lvl="0" indent="0" algn="l">
              <a:lnSpc>
                <a:spcPts val="2158"/>
              </a:lnSpc>
            </a:pPr>
            <a:r>
              <a:rPr lang="en-US" sz="1798" spc="107" dirty="0">
                <a:solidFill>
                  <a:srgbClr val="7A8290"/>
                </a:solidFill>
                <a:latin typeface="JetBrains Mono"/>
                <a:ea typeface="JetBrains Mono"/>
                <a:cs typeface="JetBrains Mono"/>
                <a:sym typeface="JetBrains Mono"/>
              </a:rPr>
              <a:t>AI USAGE POLICY</a:t>
            </a:r>
          </a:p>
        </p:txBody>
      </p:sp>
      <p:sp>
        <p:nvSpPr>
          <p:cNvPr id="14" name="TextBox 16">
            <a:extLst>
              <a:ext uri="{FF2B5EF4-FFF2-40B4-BE49-F238E27FC236}">
                <a16:creationId xmlns:a16="http://schemas.microsoft.com/office/drawing/2014/main" id="{A71F0225-D985-D180-BEFA-9AC1649A00F8}"/>
              </a:ext>
            </a:extLst>
          </p:cNvPr>
          <p:cNvSpPr txBox="1"/>
          <p:nvPr/>
        </p:nvSpPr>
        <p:spPr>
          <a:xfrm>
            <a:off x="935041" y="2116141"/>
            <a:ext cx="10817943" cy="1466850"/>
          </a:xfrm>
          <a:prstGeom prst="rect">
            <a:avLst/>
          </a:prstGeom>
        </p:spPr>
        <p:txBody>
          <a:bodyPr lIns="0" tIns="0" rIns="0" bIns="0" rtlCol="0" anchor="t">
            <a:spAutoFit/>
          </a:bodyPr>
          <a:lstStyle/>
          <a:p>
            <a:pPr marL="0" lvl="0" indent="0" algn="l">
              <a:lnSpc>
                <a:spcPts val="5759"/>
              </a:lnSpc>
            </a:pPr>
            <a:r>
              <a:rPr lang="en-US" sz="4800" b="1" spc="-120">
                <a:solidFill>
                  <a:srgbClr val="0B0F19"/>
                </a:solidFill>
                <a:latin typeface="Arimo Bold"/>
                <a:ea typeface="Arimo Bold"/>
                <a:cs typeface="Arimo Bold"/>
                <a:sym typeface="Arimo Bold"/>
              </a:rPr>
              <a:t>AI is allowed — humans stay accountable</a:t>
            </a:r>
          </a:p>
        </p:txBody>
      </p:sp>
      <p:grpSp>
        <p:nvGrpSpPr>
          <p:cNvPr id="15" name="Group 17">
            <a:extLst>
              <a:ext uri="{FF2B5EF4-FFF2-40B4-BE49-F238E27FC236}">
                <a16:creationId xmlns:a16="http://schemas.microsoft.com/office/drawing/2014/main" id="{C6EDC37E-9833-FC44-7ECE-032BE99578F0}"/>
              </a:ext>
            </a:extLst>
          </p:cNvPr>
          <p:cNvGrpSpPr/>
          <p:nvPr/>
        </p:nvGrpSpPr>
        <p:grpSpPr>
          <a:xfrm>
            <a:off x="909638" y="5829490"/>
            <a:ext cx="3133725" cy="3624110"/>
            <a:chOff x="0" y="0"/>
            <a:chExt cx="4178300" cy="4832147"/>
          </a:xfrm>
        </p:grpSpPr>
        <p:sp>
          <p:nvSpPr>
            <p:cNvPr id="16" name="Freeform 18">
              <a:extLst>
                <a:ext uri="{FF2B5EF4-FFF2-40B4-BE49-F238E27FC236}">
                  <a16:creationId xmlns:a16="http://schemas.microsoft.com/office/drawing/2014/main" id="{BFE16EE4-7AD9-9ADB-918D-36AAF8B202DE}"/>
                </a:ext>
              </a:extLst>
            </p:cNvPr>
            <p:cNvSpPr/>
            <p:nvPr/>
          </p:nvSpPr>
          <p:spPr>
            <a:xfrm>
              <a:off x="0" y="0"/>
              <a:ext cx="4178300" cy="4832096"/>
            </a:xfrm>
            <a:custGeom>
              <a:avLst/>
              <a:gdLst/>
              <a:ahLst/>
              <a:cxnLst/>
              <a:rect l="l" t="t" r="r" b="b"/>
              <a:pathLst>
                <a:path w="4178300" h="4832096">
                  <a:moveTo>
                    <a:pt x="0" y="254762"/>
                  </a:moveTo>
                  <a:cubicBezTo>
                    <a:pt x="0" y="114046"/>
                    <a:pt x="114046" y="0"/>
                    <a:pt x="254762" y="0"/>
                  </a:cubicBezTo>
                  <a:lnTo>
                    <a:pt x="3923538" y="0"/>
                  </a:lnTo>
                  <a:cubicBezTo>
                    <a:pt x="4064254" y="0"/>
                    <a:pt x="4178300" y="114046"/>
                    <a:pt x="4178300" y="254762"/>
                  </a:cubicBezTo>
                  <a:lnTo>
                    <a:pt x="4178300" y="4577334"/>
                  </a:lnTo>
                  <a:cubicBezTo>
                    <a:pt x="4178300" y="4718050"/>
                    <a:pt x="4064254" y="4832096"/>
                    <a:pt x="3923538" y="4832096"/>
                  </a:cubicBezTo>
                  <a:lnTo>
                    <a:pt x="254762" y="4832096"/>
                  </a:lnTo>
                  <a:cubicBezTo>
                    <a:pt x="114046" y="4832096"/>
                    <a:pt x="0" y="4718050"/>
                    <a:pt x="0" y="4577334"/>
                  </a:cubicBezTo>
                  <a:close/>
                </a:path>
              </a:pathLst>
            </a:custGeom>
            <a:solidFill>
              <a:srgbClr val="FFFFFF"/>
            </a:solidFill>
          </p:spPr>
          <p:txBody>
            <a:bodyPr/>
            <a:lstStyle/>
            <a:p>
              <a:endParaRPr lang="en-TH"/>
            </a:p>
          </p:txBody>
        </p:sp>
      </p:grpSp>
      <p:sp>
        <p:nvSpPr>
          <p:cNvPr id="17" name="TextBox 19">
            <a:extLst>
              <a:ext uri="{FF2B5EF4-FFF2-40B4-BE49-F238E27FC236}">
                <a16:creationId xmlns:a16="http://schemas.microsoft.com/office/drawing/2014/main" id="{7289A891-E531-2CE3-0FF8-2CD1D1FBE837}"/>
              </a:ext>
            </a:extLst>
          </p:cNvPr>
          <p:cNvSpPr txBox="1"/>
          <p:nvPr/>
        </p:nvSpPr>
        <p:spPr>
          <a:xfrm>
            <a:off x="1182691" y="6121594"/>
            <a:ext cx="2666495" cy="247650"/>
          </a:xfrm>
          <a:prstGeom prst="rect">
            <a:avLst/>
          </a:prstGeom>
        </p:spPr>
        <p:txBody>
          <a:bodyPr lIns="0" tIns="0" rIns="0" bIns="0" rtlCol="0" anchor="t">
            <a:spAutoFit/>
          </a:bodyPr>
          <a:lstStyle/>
          <a:p>
            <a:pPr marL="0" lvl="0" indent="0" algn="l">
              <a:lnSpc>
                <a:spcPts val="1996"/>
              </a:lnSpc>
            </a:pPr>
            <a:r>
              <a:rPr lang="en-US" sz="1663" spc="107">
                <a:solidFill>
                  <a:srgbClr val="7A8290"/>
                </a:solidFill>
                <a:latin typeface="JetBrains Mono"/>
                <a:ea typeface="JetBrains Mono"/>
                <a:cs typeface="JetBrains Mono"/>
                <a:sym typeface="JetBrains Mono"/>
              </a:rPr>
              <a:t>STEP 01</a:t>
            </a:r>
          </a:p>
        </p:txBody>
      </p:sp>
      <p:sp>
        <p:nvSpPr>
          <p:cNvPr id="18" name="TextBox 20">
            <a:extLst>
              <a:ext uri="{FF2B5EF4-FFF2-40B4-BE49-F238E27FC236}">
                <a16:creationId xmlns:a16="http://schemas.microsoft.com/office/drawing/2014/main" id="{923A97BA-E640-4040-84DD-C34FB9CE003F}"/>
              </a:ext>
            </a:extLst>
          </p:cNvPr>
          <p:cNvSpPr txBox="1"/>
          <p:nvPr/>
        </p:nvSpPr>
        <p:spPr>
          <a:xfrm>
            <a:off x="1182691" y="6526406"/>
            <a:ext cx="2666495" cy="323850"/>
          </a:xfrm>
          <a:prstGeom prst="rect">
            <a:avLst/>
          </a:prstGeom>
        </p:spPr>
        <p:txBody>
          <a:bodyPr lIns="0" tIns="0" rIns="0" bIns="0" rtlCol="0" anchor="t">
            <a:spAutoFit/>
          </a:bodyPr>
          <a:lstStyle/>
          <a:p>
            <a:pPr marL="0" lvl="0" indent="0" algn="l">
              <a:lnSpc>
                <a:spcPts val="2497"/>
              </a:lnSpc>
            </a:pPr>
            <a:r>
              <a:rPr lang="en-US" sz="2081" b="1" spc="-33">
                <a:solidFill>
                  <a:srgbClr val="0B0F19"/>
                </a:solidFill>
                <a:latin typeface="Arimo Bold"/>
                <a:ea typeface="Arimo Bold"/>
                <a:cs typeface="Arimo Bold"/>
                <a:sym typeface="Arimo Bold"/>
              </a:rPr>
              <a:t>Disclose Tool</a:t>
            </a:r>
          </a:p>
        </p:txBody>
      </p:sp>
      <p:sp>
        <p:nvSpPr>
          <p:cNvPr id="19" name="TextBox 21">
            <a:extLst>
              <a:ext uri="{FF2B5EF4-FFF2-40B4-BE49-F238E27FC236}">
                <a16:creationId xmlns:a16="http://schemas.microsoft.com/office/drawing/2014/main" id="{624DA447-3D7F-8905-2447-FFB7E9EEFA1B}"/>
              </a:ext>
            </a:extLst>
          </p:cNvPr>
          <p:cNvSpPr txBox="1"/>
          <p:nvPr/>
        </p:nvSpPr>
        <p:spPr>
          <a:xfrm>
            <a:off x="1182691" y="6940744"/>
            <a:ext cx="2666495" cy="1177333"/>
          </a:xfrm>
          <a:prstGeom prst="rect">
            <a:avLst/>
          </a:prstGeom>
        </p:spPr>
        <p:txBody>
          <a:bodyPr lIns="0" tIns="0" rIns="0" bIns="0" rtlCol="0" anchor="t">
            <a:spAutoFit/>
          </a:bodyPr>
          <a:lstStyle/>
          <a:p>
            <a:pPr marL="0" lvl="0" indent="0" algn="l">
              <a:lnSpc>
                <a:spcPts val="2398"/>
              </a:lnSpc>
            </a:pPr>
            <a:r>
              <a:rPr lang="en-US" sz="1598">
                <a:solidFill>
                  <a:srgbClr val="3A4250"/>
                </a:solidFill>
                <a:latin typeface="Arimo"/>
                <a:ea typeface="Arimo"/>
                <a:cs typeface="Arimo"/>
                <a:sym typeface="Arimo"/>
              </a:rPr>
              <a:t>Name the AI tool you used (e.g. ChatGPT, Copilot, Gemini). Be specific and honest.</a:t>
            </a:r>
          </a:p>
        </p:txBody>
      </p:sp>
      <p:grpSp>
        <p:nvGrpSpPr>
          <p:cNvPr id="20" name="Group 22">
            <a:extLst>
              <a:ext uri="{FF2B5EF4-FFF2-40B4-BE49-F238E27FC236}">
                <a16:creationId xmlns:a16="http://schemas.microsoft.com/office/drawing/2014/main" id="{9E8EA9C8-1027-2D2D-DD69-012F7D87A3BB}"/>
              </a:ext>
            </a:extLst>
          </p:cNvPr>
          <p:cNvGrpSpPr/>
          <p:nvPr/>
        </p:nvGrpSpPr>
        <p:grpSpPr>
          <a:xfrm>
            <a:off x="1157288" y="8782098"/>
            <a:ext cx="1297334" cy="385762"/>
            <a:chOff x="0" y="0"/>
            <a:chExt cx="1729778" cy="514350"/>
          </a:xfrm>
        </p:grpSpPr>
        <p:sp>
          <p:nvSpPr>
            <p:cNvPr id="21" name="Freeform 23">
              <a:extLst>
                <a:ext uri="{FF2B5EF4-FFF2-40B4-BE49-F238E27FC236}">
                  <a16:creationId xmlns:a16="http://schemas.microsoft.com/office/drawing/2014/main" id="{75A2196E-B05A-76BD-3604-8B85B024F3EC}"/>
                </a:ext>
              </a:extLst>
            </p:cNvPr>
            <p:cNvSpPr/>
            <p:nvPr/>
          </p:nvSpPr>
          <p:spPr>
            <a:xfrm>
              <a:off x="0" y="0"/>
              <a:ext cx="1729740" cy="514350"/>
            </a:xfrm>
            <a:custGeom>
              <a:avLst/>
              <a:gdLst/>
              <a:ahLst/>
              <a:cxnLst/>
              <a:rect l="l" t="t" r="r" b="b"/>
              <a:pathLst>
                <a:path w="1729740" h="514350">
                  <a:moveTo>
                    <a:pt x="0" y="78105"/>
                  </a:moveTo>
                  <a:cubicBezTo>
                    <a:pt x="0" y="34925"/>
                    <a:pt x="34925" y="0"/>
                    <a:pt x="78105" y="0"/>
                  </a:cubicBezTo>
                  <a:lnTo>
                    <a:pt x="1651635" y="0"/>
                  </a:lnTo>
                  <a:cubicBezTo>
                    <a:pt x="1694815" y="0"/>
                    <a:pt x="1729740" y="34925"/>
                    <a:pt x="1729740" y="78105"/>
                  </a:cubicBezTo>
                  <a:lnTo>
                    <a:pt x="1729740" y="436245"/>
                  </a:lnTo>
                  <a:cubicBezTo>
                    <a:pt x="1729740" y="479425"/>
                    <a:pt x="1694815" y="514350"/>
                    <a:pt x="1651635" y="514350"/>
                  </a:cubicBezTo>
                  <a:lnTo>
                    <a:pt x="78105" y="514350"/>
                  </a:lnTo>
                  <a:cubicBezTo>
                    <a:pt x="34925" y="514350"/>
                    <a:pt x="0" y="479425"/>
                    <a:pt x="0" y="436245"/>
                  </a:cubicBezTo>
                  <a:close/>
                </a:path>
              </a:pathLst>
            </a:custGeom>
            <a:solidFill>
              <a:srgbClr val="E4E7EC"/>
            </a:solidFill>
          </p:spPr>
          <p:txBody>
            <a:bodyPr/>
            <a:lstStyle/>
            <a:p>
              <a:endParaRPr lang="en-TH"/>
            </a:p>
          </p:txBody>
        </p:sp>
      </p:grpSp>
      <p:sp>
        <p:nvSpPr>
          <p:cNvPr id="22" name="TextBox 24">
            <a:extLst>
              <a:ext uri="{FF2B5EF4-FFF2-40B4-BE49-F238E27FC236}">
                <a16:creationId xmlns:a16="http://schemas.microsoft.com/office/drawing/2014/main" id="{38E97FC6-4BD9-3E79-D054-69E0445CFF70}"/>
              </a:ext>
            </a:extLst>
          </p:cNvPr>
          <p:cNvSpPr txBox="1"/>
          <p:nvPr/>
        </p:nvSpPr>
        <p:spPr>
          <a:xfrm>
            <a:off x="1239841" y="8826541"/>
            <a:ext cx="1132237" cy="247650"/>
          </a:xfrm>
          <a:prstGeom prst="rect">
            <a:avLst/>
          </a:prstGeom>
        </p:spPr>
        <p:txBody>
          <a:bodyPr lIns="0" tIns="0" rIns="0" bIns="0" rtlCol="0" anchor="t">
            <a:spAutoFit/>
          </a:bodyPr>
          <a:lstStyle/>
          <a:p>
            <a:pPr marL="0" lvl="0" indent="0" algn="l">
              <a:lnSpc>
                <a:spcPts val="1996"/>
              </a:lnSpc>
            </a:pPr>
            <a:r>
              <a:rPr lang="en-US" sz="1663">
                <a:solidFill>
                  <a:srgbClr val="3A4250"/>
                </a:solidFill>
                <a:latin typeface="JetBrains Mono"/>
                <a:ea typeface="JetBrains Mono"/>
                <a:cs typeface="JetBrains Mono"/>
                <a:sym typeface="JetBrains Mono"/>
              </a:rPr>
              <a:t>Required</a:t>
            </a:r>
          </a:p>
        </p:txBody>
      </p:sp>
      <p:grpSp>
        <p:nvGrpSpPr>
          <p:cNvPr id="23" name="Group 25">
            <a:extLst>
              <a:ext uri="{FF2B5EF4-FFF2-40B4-BE49-F238E27FC236}">
                <a16:creationId xmlns:a16="http://schemas.microsoft.com/office/drawing/2014/main" id="{CCAFC2DA-1582-70FF-1BAA-C2E529A2072A}"/>
              </a:ext>
            </a:extLst>
          </p:cNvPr>
          <p:cNvGrpSpPr/>
          <p:nvPr/>
        </p:nvGrpSpPr>
        <p:grpSpPr>
          <a:xfrm>
            <a:off x="4243388" y="5829490"/>
            <a:ext cx="3133725" cy="3624110"/>
            <a:chOff x="0" y="0"/>
            <a:chExt cx="4178300" cy="4832147"/>
          </a:xfrm>
        </p:grpSpPr>
        <p:sp>
          <p:nvSpPr>
            <p:cNvPr id="24" name="Freeform 26">
              <a:extLst>
                <a:ext uri="{FF2B5EF4-FFF2-40B4-BE49-F238E27FC236}">
                  <a16:creationId xmlns:a16="http://schemas.microsoft.com/office/drawing/2014/main" id="{C16B211C-C01E-E77D-1C07-0B68EBB6D707}"/>
                </a:ext>
              </a:extLst>
            </p:cNvPr>
            <p:cNvSpPr/>
            <p:nvPr/>
          </p:nvSpPr>
          <p:spPr>
            <a:xfrm>
              <a:off x="0" y="0"/>
              <a:ext cx="4178300" cy="4832096"/>
            </a:xfrm>
            <a:custGeom>
              <a:avLst/>
              <a:gdLst/>
              <a:ahLst/>
              <a:cxnLst/>
              <a:rect l="l" t="t" r="r" b="b"/>
              <a:pathLst>
                <a:path w="4178300" h="4832096">
                  <a:moveTo>
                    <a:pt x="0" y="254762"/>
                  </a:moveTo>
                  <a:cubicBezTo>
                    <a:pt x="0" y="114046"/>
                    <a:pt x="114046" y="0"/>
                    <a:pt x="254762" y="0"/>
                  </a:cubicBezTo>
                  <a:lnTo>
                    <a:pt x="3923538" y="0"/>
                  </a:lnTo>
                  <a:cubicBezTo>
                    <a:pt x="4064254" y="0"/>
                    <a:pt x="4178300" y="114046"/>
                    <a:pt x="4178300" y="254762"/>
                  </a:cubicBezTo>
                  <a:lnTo>
                    <a:pt x="4178300" y="4577334"/>
                  </a:lnTo>
                  <a:cubicBezTo>
                    <a:pt x="4178300" y="4718050"/>
                    <a:pt x="4064254" y="4832096"/>
                    <a:pt x="3923538" y="4832096"/>
                  </a:cubicBezTo>
                  <a:lnTo>
                    <a:pt x="254762" y="4832096"/>
                  </a:lnTo>
                  <a:cubicBezTo>
                    <a:pt x="114046" y="4832096"/>
                    <a:pt x="0" y="4718050"/>
                    <a:pt x="0" y="4577334"/>
                  </a:cubicBezTo>
                  <a:close/>
                </a:path>
              </a:pathLst>
            </a:custGeom>
            <a:solidFill>
              <a:srgbClr val="FFFFFF"/>
            </a:solidFill>
          </p:spPr>
          <p:txBody>
            <a:bodyPr/>
            <a:lstStyle/>
            <a:p>
              <a:endParaRPr lang="en-TH"/>
            </a:p>
          </p:txBody>
        </p:sp>
      </p:grpSp>
      <p:sp>
        <p:nvSpPr>
          <p:cNvPr id="25" name="TextBox 27">
            <a:extLst>
              <a:ext uri="{FF2B5EF4-FFF2-40B4-BE49-F238E27FC236}">
                <a16:creationId xmlns:a16="http://schemas.microsoft.com/office/drawing/2014/main" id="{350DA2D9-24A6-9FC8-E88D-6797F90C5E72}"/>
              </a:ext>
            </a:extLst>
          </p:cNvPr>
          <p:cNvSpPr txBox="1"/>
          <p:nvPr/>
        </p:nvSpPr>
        <p:spPr>
          <a:xfrm>
            <a:off x="4516441" y="6121594"/>
            <a:ext cx="2666495" cy="247650"/>
          </a:xfrm>
          <a:prstGeom prst="rect">
            <a:avLst/>
          </a:prstGeom>
        </p:spPr>
        <p:txBody>
          <a:bodyPr lIns="0" tIns="0" rIns="0" bIns="0" rtlCol="0" anchor="t">
            <a:spAutoFit/>
          </a:bodyPr>
          <a:lstStyle/>
          <a:p>
            <a:pPr marL="0" lvl="0" indent="0" algn="l">
              <a:lnSpc>
                <a:spcPts val="1996"/>
              </a:lnSpc>
            </a:pPr>
            <a:r>
              <a:rPr lang="en-US" sz="1663" spc="107">
                <a:solidFill>
                  <a:srgbClr val="7A8290"/>
                </a:solidFill>
                <a:latin typeface="JetBrains Mono"/>
                <a:ea typeface="JetBrains Mono"/>
                <a:cs typeface="JetBrains Mono"/>
                <a:sym typeface="JetBrains Mono"/>
              </a:rPr>
              <a:t>STEP 02</a:t>
            </a:r>
          </a:p>
        </p:txBody>
      </p:sp>
      <p:sp>
        <p:nvSpPr>
          <p:cNvPr id="26" name="TextBox 28">
            <a:extLst>
              <a:ext uri="{FF2B5EF4-FFF2-40B4-BE49-F238E27FC236}">
                <a16:creationId xmlns:a16="http://schemas.microsoft.com/office/drawing/2014/main" id="{3845B0AF-F4BD-F6BA-EDD3-22F6B99315BD}"/>
              </a:ext>
            </a:extLst>
          </p:cNvPr>
          <p:cNvSpPr txBox="1"/>
          <p:nvPr/>
        </p:nvSpPr>
        <p:spPr>
          <a:xfrm>
            <a:off x="4516441" y="6526406"/>
            <a:ext cx="2666495" cy="323850"/>
          </a:xfrm>
          <a:prstGeom prst="rect">
            <a:avLst/>
          </a:prstGeom>
        </p:spPr>
        <p:txBody>
          <a:bodyPr lIns="0" tIns="0" rIns="0" bIns="0" rtlCol="0" anchor="t">
            <a:spAutoFit/>
          </a:bodyPr>
          <a:lstStyle/>
          <a:p>
            <a:pPr marL="0" lvl="0" indent="0" algn="l">
              <a:lnSpc>
                <a:spcPts val="2497"/>
              </a:lnSpc>
            </a:pPr>
            <a:r>
              <a:rPr lang="en-US" sz="2081" b="1" spc="-33">
                <a:solidFill>
                  <a:srgbClr val="0B0F19"/>
                </a:solidFill>
                <a:latin typeface="Arimo Bold"/>
                <a:ea typeface="Arimo Bold"/>
                <a:cs typeface="Arimo Bold"/>
                <a:sym typeface="Arimo Bold"/>
              </a:rPr>
              <a:t>State Purpose</a:t>
            </a:r>
          </a:p>
        </p:txBody>
      </p:sp>
      <p:sp>
        <p:nvSpPr>
          <p:cNvPr id="27" name="TextBox 29">
            <a:extLst>
              <a:ext uri="{FF2B5EF4-FFF2-40B4-BE49-F238E27FC236}">
                <a16:creationId xmlns:a16="http://schemas.microsoft.com/office/drawing/2014/main" id="{195B6CF6-C6D1-3253-3E6C-5FDEA783D89A}"/>
              </a:ext>
            </a:extLst>
          </p:cNvPr>
          <p:cNvSpPr txBox="1"/>
          <p:nvPr/>
        </p:nvSpPr>
        <p:spPr>
          <a:xfrm>
            <a:off x="4516441" y="6940744"/>
            <a:ext cx="2666495" cy="882058"/>
          </a:xfrm>
          <a:prstGeom prst="rect">
            <a:avLst/>
          </a:prstGeom>
        </p:spPr>
        <p:txBody>
          <a:bodyPr lIns="0" tIns="0" rIns="0" bIns="0" rtlCol="0" anchor="t">
            <a:spAutoFit/>
          </a:bodyPr>
          <a:lstStyle/>
          <a:p>
            <a:pPr marL="0" lvl="0" indent="0" algn="l">
              <a:lnSpc>
                <a:spcPts val="2398"/>
              </a:lnSpc>
            </a:pPr>
            <a:r>
              <a:rPr lang="en-US" sz="1598">
                <a:solidFill>
                  <a:srgbClr val="3A4250"/>
                </a:solidFill>
                <a:latin typeface="Arimo"/>
                <a:ea typeface="Arimo"/>
                <a:cs typeface="Arimo"/>
                <a:sym typeface="Arimo"/>
              </a:rPr>
              <a:t>Record your prompt and explain why you used AI for that task.</a:t>
            </a:r>
          </a:p>
        </p:txBody>
      </p:sp>
      <p:grpSp>
        <p:nvGrpSpPr>
          <p:cNvPr id="28" name="Group 30">
            <a:extLst>
              <a:ext uri="{FF2B5EF4-FFF2-40B4-BE49-F238E27FC236}">
                <a16:creationId xmlns:a16="http://schemas.microsoft.com/office/drawing/2014/main" id="{BBD33E9F-AB92-19C2-AD19-54F3826F303F}"/>
              </a:ext>
            </a:extLst>
          </p:cNvPr>
          <p:cNvGrpSpPr/>
          <p:nvPr/>
        </p:nvGrpSpPr>
        <p:grpSpPr>
          <a:xfrm>
            <a:off x="4491038" y="8782098"/>
            <a:ext cx="1708842" cy="385762"/>
            <a:chOff x="0" y="0"/>
            <a:chExt cx="2278456" cy="514350"/>
          </a:xfrm>
        </p:grpSpPr>
        <p:sp>
          <p:nvSpPr>
            <p:cNvPr id="29" name="Freeform 31">
              <a:extLst>
                <a:ext uri="{FF2B5EF4-FFF2-40B4-BE49-F238E27FC236}">
                  <a16:creationId xmlns:a16="http://schemas.microsoft.com/office/drawing/2014/main" id="{1B74A332-DC4C-AB9C-14D7-7D0A0BD24D03}"/>
                </a:ext>
              </a:extLst>
            </p:cNvPr>
            <p:cNvSpPr/>
            <p:nvPr/>
          </p:nvSpPr>
          <p:spPr>
            <a:xfrm>
              <a:off x="0" y="0"/>
              <a:ext cx="2278380" cy="514350"/>
            </a:xfrm>
            <a:custGeom>
              <a:avLst/>
              <a:gdLst/>
              <a:ahLst/>
              <a:cxnLst/>
              <a:rect l="l" t="t" r="r" b="b"/>
              <a:pathLst>
                <a:path w="2278380" h="514350">
                  <a:moveTo>
                    <a:pt x="0" y="78105"/>
                  </a:moveTo>
                  <a:cubicBezTo>
                    <a:pt x="0" y="34925"/>
                    <a:pt x="34925" y="0"/>
                    <a:pt x="78105" y="0"/>
                  </a:cubicBezTo>
                  <a:lnTo>
                    <a:pt x="2200275" y="0"/>
                  </a:lnTo>
                  <a:cubicBezTo>
                    <a:pt x="2243455" y="0"/>
                    <a:pt x="2278380" y="34925"/>
                    <a:pt x="2278380" y="78105"/>
                  </a:cubicBezTo>
                  <a:lnTo>
                    <a:pt x="2278380" y="436245"/>
                  </a:lnTo>
                  <a:cubicBezTo>
                    <a:pt x="2278380" y="479425"/>
                    <a:pt x="2243455" y="514350"/>
                    <a:pt x="2200275" y="514350"/>
                  </a:cubicBezTo>
                  <a:lnTo>
                    <a:pt x="78105" y="514350"/>
                  </a:lnTo>
                  <a:cubicBezTo>
                    <a:pt x="34925" y="514350"/>
                    <a:pt x="0" y="479425"/>
                    <a:pt x="0" y="436245"/>
                  </a:cubicBezTo>
                  <a:close/>
                </a:path>
              </a:pathLst>
            </a:custGeom>
            <a:solidFill>
              <a:srgbClr val="E4E7EC"/>
            </a:solidFill>
          </p:spPr>
          <p:txBody>
            <a:bodyPr/>
            <a:lstStyle/>
            <a:p>
              <a:endParaRPr lang="en-TH"/>
            </a:p>
          </p:txBody>
        </p:sp>
      </p:grpSp>
      <p:sp>
        <p:nvSpPr>
          <p:cNvPr id="30" name="TextBox 32">
            <a:extLst>
              <a:ext uri="{FF2B5EF4-FFF2-40B4-BE49-F238E27FC236}">
                <a16:creationId xmlns:a16="http://schemas.microsoft.com/office/drawing/2014/main" id="{5E365194-5C62-B6D1-D250-6AF468DA3D30}"/>
              </a:ext>
            </a:extLst>
          </p:cNvPr>
          <p:cNvSpPr txBox="1"/>
          <p:nvPr/>
        </p:nvSpPr>
        <p:spPr>
          <a:xfrm>
            <a:off x="4573591" y="8826541"/>
            <a:ext cx="1543745" cy="247650"/>
          </a:xfrm>
          <a:prstGeom prst="rect">
            <a:avLst/>
          </a:prstGeom>
        </p:spPr>
        <p:txBody>
          <a:bodyPr lIns="0" tIns="0" rIns="0" bIns="0" rtlCol="0" anchor="t">
            <a:spAutoFit/>
          </a:bodyPr>
          <a:lstStyle/>
          <a:p>
            <a:pPr marL="0" lvl="0" indent="0" algn="l">
              <a:lnSpc>
                <a:spcPts val="1996"/>
              </a:lnSpc>
            </a:pPr>
            <a:r>
              <a:rPr lang="en-US" sz="1663">
                <a:solidFill>
                  <a:srgbClr val="3A4250"/>
                </a:solidFill>
                <a:latin typeface="JetBrains Mono"/>
                <a:ea typeface="JetBrains Mono"/>
                <a:cs typeface="JetBrains Mono"/>
                <a:sym typeface="JetBrains Mono"/>
              </a:rPr>
              <a:t>In AI Log</a:t>
            </a:r>
          </a:p>
        </p:txBody>
      </p:sp>
      <p:grpSp>
        <p:nvGrpSpPr>
          <p:cNvPr id="31" name="Group 33">
            <a:extLst>
              <a:ext uri="{FF2B5EF4-FFF2-40B4-BE49-F238E27FC236}">
                <a16:creationId xmlns:a16="http://schemas.microsoft.com/office/drawing/2014/main" id="{6500AB32-671B-491C-B868-209B662F4C9D}"/>
              </a:ext>
            </a:extLst>
          </p:cNvPr>
          <p:cNvGrpSpPr/>
          <p:nvPr/>
        </p:nvGrpSpPr>
        <p:grpSpPr>
          <a:xfrm>
            <a:off x="7577138" y="5829490"/>
            <a:ext cx="3133725" cy="3624110"/>
            <a:chOff x="0" y="0"/>
            <a:chExt cx="4178300" cy="4832147"/>
          </a:xfrm>
        </p:grpSpPr>
        <p:sp>
          <p:nvSpPr>
            <p:cNvPr id="32" name="Freeform 34">
              <a:extLst>
                <a:ext uri="{FF2B5EF4-FFF2-40B4-BE49-F238E27FC236}">
                  <a16:creationId xmlns:a16="http://schemas.microsoft.com/office/drawing/2014/main" id="{C338B3DB-01CF-67CB-ECD2-5FDBC4ABBD01}"/>
                </a:ext>
              </a:extLst>
            </p:cNvPr>
            <p:cNvSpPr/>
            <p:nvPr/>
          </p:nvSpPr>
          <p:spPr>
            <a:xfrm>
              <a:off x="0" y="0"/>
              <a:ext cx="4178300" cy="4832096"/>
            </a:xfrm>
            <a:custGeom>
              <a:avLst/>
              <a:gdLst/>
              <a:ahLst/>
              <a:cxnLst/>
              <a:rect l="l" t="t" r="r" b="b"/>
              <a:pathLst>
                <a:path w="4178300" h="4832096">
                  <a:moveTo>
                    <a:pt x="0" y="254762"/>
                  </a:moveTo>
                  <a:cubicBezTo>
                    <a:pt x="0" y="114046"/>
                    <a:pt x="114046" y="0"/>
                    <a:pt x="254762" y="0"/>
                  </a:cubicBezTo>
                  <a:lnTo>
                    <a:pt x="3923538" y="0"/>
                  </a:lnTo>
                  <a:cubicBezTo>
                    <a:pt x="4064254" y="0"/>
                    <a:pt x="4178300" y="114046"/>
                    <a:pt x="4178300" y="254762"/>
                  </a:cubicBezTo>
                  <a:lnTo>
                    <a:pt x="4178300" y="4577334"/>
                  </a:lnTo>
                  <a:cubicBezTo>
                    <a:pt x="4178300" y="4718050"/>
                    <a:pt x="4064254" y="4832096"/>
                    <a:pt x="3923538" y="4832096"/>
                  </a:cubicBezTo>
                  <a:lnTo>
                    <a:pt x="254762" y="4832096"/>
                  </a:lnTo>
                  <a:cubicBezTo>
                    <a:pt x="114046" y="4832096"/>
                    <a:pt x="0" y="4718050"/>
                    <a:pt x="0" y="4577334"/>
                  </a:cubicBezTo>
                  <a:close/>
                </a:path>
              </a:pathLst>
            </a:custGeom>
            <a:solidFill>
              <a:srgbClr val="FFFFFF"/>
            </a:solidFill>
          </p:spPr>
          <p:txBody>
            <a:bodyPr/>
            <a:lstStyle/>
            <a:p>
              <a:endParaRPr lang="en-TH"/>
            </a:p>
          </p:txBody>
        </p:sp>
      </p:grpSp>
      <p:sp>
        <p:nvSpPr>
          <p:cNvPr id="33" name="TextBox 35">
            <a:extLst>
              <a:ext uri="{FF2B5EF4-FFF2-40B4-BE49-F238E27FC236}">
                <a16:creationId xmlns:a16="http://schemas.microsoft.com/office/drawing/2014/main" id="{25431AEA-2573-90EC-CA5B-36DBD82CFC3B}"/>
              </a:ext>
            </a:extLst>
          </p:cNvPr>
          <p:cNvSpPr txBox="1"/>
          <p:nvPr/>
        </p:nvSpPr>
        <p:spPr>
          <a:xfrm>
            <a:off x="7850191" y="6121594"/>
            <a:ext cx="2666495" cy="247650"/>
          </a:xfrm>
          <a:prstGeom prst="rect">
            <a:avLst/>
          </a:prstGeom>
        </p:spPr>
        <p:txBody>
          <a:bodyPr lIns="0" tIns="0" rIns="0" bIns="0" rtlCol="0" anchor="t">
            <a:spAutoFit/>
          </a:bodyPr>
          <a:lstStyle/>
          <a:p>
            <a:pPr marL="0" lvl="0" indent="0" algn="l">
              <a:lnSpc>
                <a:spcPts val="1996"/>
              </a:lnSpc>
            </a:pPr>
            <a:r>
              <a:rPr lang="en-US" sz="1663" spc="107">
                <a:solidFill>
                  <a:srgbClr val="7A8290"/>
                </a:solidFill>
                <a:latin typeface="JetBrains Mono"/>
                <a:ea typeface="JetBrains Mono"/>
                <a:cs typeface="JetBrains Mono"/>
                <a:sym typeface="JetBrains Mono"/>
              </a:rPr>
              <a:t>STEP 03</a:t>
            </a:r>
          </a:p>
        </p:txBody>
      </p:sp>
      <p:sp>
        <p:nvSpPr>
          <p:cNvPr id="34" name="TextBox 36">
            <a:extLst>
              <a:ext uri="{FF2B5EF4-FFF2-40B4-BE49-F238E27FC236}">
                <a16:creationId xmlns:a16="http://schemas.microsoft.com/office/drawing/2014/main" id="{CF480589-0D71-CD98-9465-3A793F39E10C}"/>
              </a:ext>
            </a:extLst>
          </p:cNvPr>
          <p:cNvSpPr txBox="1"/>
          <p:nvPr/>
        </p:nvSpPr>
        <p:spPr>
          <a:xfrm>
            <a:off x="7850191" y="6526406"/>
            <a:ext cx="2666495" cy="323850"/>
          </a:xfrm>
          <a:prstGeom prst="rect">
            <a:avLst/>
          </a:prstGeom>
        </p:spPr>
        <p:txBody>
          <a:bodyPr lIns="0" tIns="0" rIns="0" bIns="0" rtlCol="0" anchor="t">
            <a:spAutoFit/>
          </a:bodyPr>
          <a:lstStyle/>
          <a:p>
            <a:pPr marL="0" lvl="0" indent="0" algn="l">
              <a:lnSpc>
                <a:spcPts val="2497"/>
              </a:lnSpc>
            </a:pPr>
            <a:r>
              <a:rPr lang="en-US" sz="2081" b="1" spc="-33">
                <a:solidFill>
                  <a:srgbClr val="0B0F19"/>
                </a:solidFill>
                <a:latin typeface="Arimo Bold"/>
                <a:ea typeface="Arimo Bold"/>
                <a:cs typeface="Arimo Bold"/>
                <a:sym typeface="Arimo Bold"/>
              </a:rPr>
              <a:t>Document Output</a:t>
            </a:r>
          </a:p>
        </p:txBody>
      </p:sp>
      <p:sp>
        <p:nvSpPr>
          <p:cNvPr id="35" name="TextBox 37">
            <a:extLst>
              <a:ext uri="{FF2B5EF4-FFF2-40B4-BE49-F238E27FC236}">
                <a16:creationId xmlns:a16="http://schemas.microsoft.com/office/drawing/2014/main" id="{0D7C4DE0-A668-0FFF-4C2C-F630CAB21F23}"/>
              </a:ext>
            </a:extLst>
          </p:cNvPr>
          <p:cNvSpPr txBox="1"/>
          <p:nvPr/>
        </p:nvSpPr>
        <p:spPr>
          <a:xfrm>
            <a:off x="7850191" y="6940744"/>
            <a:ext cx="2666495" cy="1177333"/>
          </a:xfrm>
          <a:prstGeom prst="rect">
            <a:avLst/>
          </a:prstGeom>
        </p:spPr>
        <p:txBody>
          <a:bodyPr lIns="0" tIns="0" rIns="0" bIns="0" rtlCol="0" anchor="t">
            <a:spAutoFit/>
          </a:bodyPr>
          <a:lstStyle/>
          <a:p>
            <a:pPr marL="0" lvl="0" indent="0" algn="l">
              <a:lnSpc>
                <a:spcPts val="2398"/>
              </a:lnSpc>
            </a:pPr>
            <a:r>
              <a:rPr lang="en-US" sz="1598">
                <a:solidFill>
                  <a:srgbClr val="3A4250"/>
                </a:solidFill>
                <a:latin typeface="Arimo"/>
                <a:ea typeface="Arimo"/>
                <a:cs typeface="Arimo"/>
                <a:sym typeface="Arimo"/>
              </a:rPr>
              <a:t>Note what the AI produced. Mark what you accepted as-is and what you changed or rejected.</a:t>
            </a:r>
          </a:p>
        </p:txBody>
      </p:sp>
      <p:grpSp>
        <p:nvGrpSpPr>
          <p:cNvPr id="36" name="Group 38">
            <a:extLst>
              <a:ext uri="{FF2B5EF4-FFF2-40B4-BE49-F238E27FC236}">
                <a16:creationId xmlns:a16="http://schemas.microsoft.com/office/drawing/2014/main" id="{654B6693-74D0-F13B-6E9C-E9D30A32ED40}"/>
              </a:ext>
            </a:extLst>
          </p:cNvPr>
          <p:cNvGrpSpPr/>
          <p:nvPr/>
        </p:nvGrpSpPr>
        <p:grpSpPr>
          <a:xfrm>
            <a:off x="7824788" y="8782098"/>
            <a:ext cx="1434484" cy="385762"/>
            <a:chOff x="0" y="0"/>
            <a:chExt cx="1912645" cy="514350"/>
          </a:xfrm>
        </p:grpSpPr>
        <p:sp>
          <p:nvSpPr>
            <p:cNvPr id="37" name="Freeform 39">
              <a:extLst>
                <a:ext uri="{FF2B5EF4-FFF2-40B4-BE49-F238E27FC236}">
                  <a16:creationId xmlns:a16="http://schemas.microsoft.com/office/drawing/2014/main" id="{BD97E9E5-8ED4-D044-D127-3BB81434CB9D}"/>
                </a:ext>
              </a:extLst>
            </p:cNvPr>
            <p:cNvSpPr/>
            <p:nvPr/>
          </p:nvSpPr>
          <p:spPr>
            <a:xfrm>
              <a:off x="0" y="0"/>
              <a:ext cx="1912620" cy="514350"/>
            </a:xfrm>
            <a:custGeom>
              <a:avLst/>
              <a:gdLst/>
              <a:ahLst/>
              <a:cxnLst/>
              <a:rect l="l" t="t" r="r" b="b"/>
              <a:pathLst>
                <a:path w="1912620" h="514350">
                  <a:moveTo>
                    <a:pt x="0" y="78105"/>
                  </a:moveTo>
                  <a:cubicBezTo>
                    <a:pt x="0" y="34925"/>
                    <a:pt x="34925" y="0"/>
                    <a:pt x="78105" y="0"/>
                  </a:cubicBezTo>
                  <a:lnTo>
                    <a:pt x="1834515" y="0"/>
                  </a:lnTo>
                  <a:cubicBezTo>
                    <a:pt x="1877695" y="0"/>
                    <a:pt x="1912620" y="34925"/>
                    <a:pt x="1912620" y="78105"/>
                  </a:cubicBezTo>
                  <a:lnTo>
                    <a:pt x="1912620" y="436245"/>
                  </a:lnTo>
                  <a:cubicBezTo>
                    <a:pt x="1912620" y="479425"/>
                    <a:pt x="1877695" y="514350"/>
                    <a:pt x="1834515" y="514350"/>
                  </a:cubicBezTo>
                  <a:lnTo>
                    <a:pt x="78105" y="514350"/>
                  </a:lnTo>
                  <a:cubicBezTo>
                    <a:pt x="34925" y="514350"/>
                    <a:pt x="0" y="479425"/>
                    <a:pt x="0" y="436245"/>
                  </a:cubicBezTo>
                  <a:close/>
                </a:path>
              </a:pathLst>
            </a:custGeom>
            <a:solidFill>
              <a:srgbClr val="E4E7EC"/>
            </a:solidFill>
          </p:spPr>
          <p:txBody>
            <a:bodyPr/>
            <a:lstStyle/>
            <a:p>
              <a:endParaRPr lang="en-TH"/>
            </a:p>
          </p:txBody>
        </p:sp>
      </p:grpSp>
      <p:sp>
        <p:nvSpPr>
          <p:cNvPr id="38" name="TextBox 40">
            <a:extLst>
              <a:ext uri="{FF2B5EF4-FFF2-40B4-BE49-F238E27FC236}">
                <a16:creationId xmlns:a16="http://schemas.microsoft.com/office/drawing/2014/main" id="{A4550B91-861A-59D8-A1D1-6103A303F598}"/>
              </a:ext>
            </a:extLst>
          </p:cNvPr>
          <p:cNvSpPr txBox="1"/>
          <p:nvPr/>
        </p:nvSpPr>
        <p:spPr>
          <a:xfrm>
            <a:off x="7907341" y="8826541"/>
            <a:ext cx="1269378" cy="247650"/>
          </a:xfrm>
          <a:prstGeom prst="rect">
            <a:avLst/>
          </a:prstGeom>
        </p:spPr>
        <p:txBody>
          <a:bodyPr lIns="0" tIns="0" rIns="0" bIns="0" rtlCol="0" anchor="t">
            <a:spAutoFit/>
          </a:bodyPr>
          <a:lstStyle/>
          <a:p>
            <a:pPr marL="0" lvl="0" indent="0" algn="l">
              <a:lnSpc>
                <a:spcPts val="1996"/>
              </a:lnSpc>
            </a:pPr>
            <a:r>
              <a:rPr lang="en-US" sz="1663">
                <a:solidFill>
                  <a:srgbClr val="3A4250"/>
                </a:solidFill>
                <a:latin typeface="JetBrains Mono"/>
                <a:ea typeface="JetBrains Mono"/>
                <a:cs typeface="JetBrains Mono"/>
                <a:sym typeface="JetBrains Mono"/>
              </a:rPr>
              <a:t>Every use</a:t>
            </a:r>
          </a:p>
        </p:txBody>
      </p:sp>
      <p:grpSp>
        <p:nvGrpSpPr>
          <p:cNvPr id="39" name="Group 41">
            <a:extLst>
              <a:ext uri="{FF2B5EF4-FFF2-40B4-BE49-F238E27FC236}">
                <a16:creationId xmlns:a16="http://schemas.microsoft.com/office/drawing/2014/main" id="{0E520024-3BB4-5EA5-8378-E84828BBEB32}"/>
              </a:ext>
            </a:extLst>
          </p:cNvPr>
          <p:cNvGrpSpPr/>
          <p:nvPr/>
        </p:nvGrpSpPr>
        <p:grpSpPr>
          <a:xfrm>
            <a:off x="10910888" y="5829490"/>
            <a:ext cx="3133725" cy="3624110"/>
            <a:chOff x="0" y="0"/>
            <a:chExt cx="4178300" cy="4832147"/>
          </a:xfrm>
        </p:grpSpPr>
        <p:sp>
          <p:nvSpPr>
            <p:cNvPr id="40" name="Freeform 42">
              <a:extLst>
                <a:ext uri="{FF2B5EF4-FFF2-40B4-BE49-F238E27FC236}">
                  <a16:creationId xmlns:a16="http://schemas.microsoft.com/office/drawing/2014/main" id="{E3B0746E-1A48-A6C6-1352-12782BE48948}"/>
                </a:ext>
              </a:extLst>
            </p:cNvPr>
            <p:cNvSpPr/>
            <p:nvPr/>
          </p:nvSpPr>
          <p:spPr>
            <a:xfrm>
              <a:off x="0" y="0"/>
              <a:ext cx="4178300" cy="4832096"/>
            </a:xfrm>
            <a:custGeom>
              <a:avLst/>
              <a:gdLst/>
              <a:ahLst/>
              <a:cxnLst/>
              <a:rect l="l" t="t" r="r" b="b"/>
              <a:pathLst>
                <a:path w="4178300" h="4832096">
                  <a:moveTo>
                    <a:pt x="0" y="254762"/>
                  </a:moveTo>
                  <a:cubicBezTo>
                    <a:pt x="0" y="114046"/>
                    <a:pt x="114046" y="0"/>
                    <a:pt x="254762" y="0"/>
                  </a:cubicBezTo>
                  <a:lnTo>
                    <a:pt x="3923538" y="0"/>
                  </a:lnTo>
                  <a:cubicBezTo>
                    <a:pt x="4064254" y="0"/>
                    <a:pt x="4178300" y="114046"/>
                    <a:pt x="4178300" y="254762"/>
                  </a:cubicBezTo>
                  <a:lnTo>
                    <a:pt x="4178300" y="4577334"/>
                  </a:lnTo>
                  <a:cubicBezTo>
                    <a:pt x="4178300" y="4718050"/>
                    <a:pt x="4064254" y="4832096"/>
                    <a:pt x="3923538" y="4832096"/>
                  </a:cubicBezTo>
                  <a:lnTo>
                    <a:pt x="254762" y="4832096"/>
                  </a:lnTo>
                  <a:cubicBezTo>
                    <a:pt x="114046" y="4832096"/>
                    <a:pt x="0" y="4718050"/>
                    <a:pt x="0" y="4577334"/>
                  </a:cubicBezTo>
                  <a:close/>
                </a:path>
              </a:pathLst>
            </a:custGeom>
            <a:solidFill>
              <a:srgbClr val="FFFFFF"/>
            </a:solidFill>
          </p:spPr>
          <p:txBody>
            <a:bodyPr/>
            <a:lstStyle/>
            <a:p>
              <a:endParaRPr lang="en-TH"/>
            </a:p>
          </p:txBody>
        </p:sp>
      </p:grpSp>
      <p:sp>
        <p:nvSpPr>
          <p:cNvPr id="41" name="TextBox 43">
            <a:extLst>
              <a:ext uri="{FF2B5EF4-FFF2-40B4-BE49-F238E27FC236}">
                <a16:creationId xmlns:a16="http://schemas.microsoft.com/office/drawing/2014/main" id="{365188ED-DBE6-6748-BE85-3BA05233B3C4}"/>
              </a:ext>
            </a:extLst>
          </p:cNvPr>
          <p:cNvSpPr txBox="1"/>
          <p:nvPr/>
        </p:nvSpPr>
        <p:spPr>
          <a:xfrm>
            <a:off x="11183941" y="6121594"/>
            <a:ext cx="2666495" cy="247650"/>
          </a:xfrm>
          <a:prstGeom prst="rect">
            <a:avLst/>
          </a:prstGeom>
        </p:spPr>
        <p:txBody>
          <a:bodyPr lIns="0" tIns="0" rIns="0" bIns="0" rtlCol="0" anchor="t">
            <a:spAutoFit/>
          </a:bodyPr>
          <a:lstStyle/>
          <a:p>
            <a:pPr marL="0" lvl="0" indent="0" algn="l">
              <a:lnSpc>
                <a:spcPts val="1996"/>
              </a:lnSpc>
            </a:pPr>
            <a:r>
              <a:rPr lang="en-US" sz="1663" spc="107">
                <a:solidFill>
                  <a:srgbClr val="7A8290"/>
                </a:solidFill>
                <a:latin typeface="JetBrains Mono"/>
                <a:ea typeface="JetBrains Mono"/>
                <a:cs typeface="JetBrains Mono"/>
                <a:sym typeface="JetBrains Mono"/>
              </a:rPr>
              <a:t>STEP 04</a:t>
            </a:r>
          </a:p>
        </p:txBody>
      </p:sp>
      <p:sp>
        <p:nvSpPr>
          <p:cNvPr id="42" name="TextBox 44">
            <a:extLst>
              <a:ext uri="{FF2B5EF4-FFF2-40B4-BE49-F238E27FC236}">
                <a16:creationId xmlns:a16="http://schemas.microsoft.com/office/drawing/2014/main" id="{68F012AD-DCD7-A05F-AB25-9B49F8EB9872}"/>
              </a:ext>
            </a:extLst>
          </p:cNvPr>
          <p:cNvSpPr txBox="1"/>
          <p:nvPr/>
        </p:nvSpPr>
        <p:spPr>
          <a:xfrm>
            <a:off x="11183941" y="6526406"/>
            <a:ext cx="2666495" cy="323850"/>
          </a:xfrm>
          <a:prstGeom prst="rect">
            <a:avLst/>
          </a:prstGeom>
        </p:spPr>
        <p:txBody>
          <a:bodyPr lIns="0" tIns="0" rIns="0" bIns="0" rtlCol="0" anchor="t">
            <a:spAutoFit/>
          </a:bodyPr>
          <a:lstStyle/>
          <a:p>
            <a:pPr marL="0" lvl="0" indent="0" algn="l">
              <a:lnSpc>
                <a:spcPts val="2497"/>
              </a:lnSpc>
            </a:pPr>
            <a:r>
              <a:rPr lang="en-US" sz="2081" b="1" spc="-33">
                <a:solidFill>
                  <a:srgbClr val="0B0F19"/>
                </a:solidFill>
                <a:latin typeface="Arimo Bold"/>
                <a:ea typeface="Arimo Bold"/>
                <a:cs typeface="Arimo Bold"/>
                <a:sym typeface="Arimo Bold"/>
              </a:rPr>
              <a:t>Verify Results</a:t>
            </a:r>
          </a:p>
        </p:txBody>
      </p:sp>
      <p:sp>
        <p:nvSpPr>
          <p:cNvPr id="43" name="TextBox 45">
            <a:extLst>
              <a:ext uri="{FF2B5EF4-FFF2-40B4-BE49-F238E27FC236}">
                <a16:creationId xmlns:a16="http://schemas.microsoft.com/office/drawing/2014/main" id="{44C0FA15-B152-E91F-F2F8-B44587C05316}"/>
              </a:ext>
            </a:extLst>
          </p:cNvPr>
          <p:cNvSpPr txBox="1"/>
          <p:nvPr/>
        </p:nvSpPr>
        <p:spPr>
          <a:xfrm>
            <a:off x="11183941" y="6940744"/>
            <a:ext cx="2666495" cy="1177333"/>
          </a:xfrm>
          <a:prstGeom prst="rect">
            <a:avLst/>
          </a:prstGeom>
        </p:spPr>
        <p:txBody>
          <a:bodyPr lIns="0" tIns="0" rIns="0" bIns="0" rtlCol="0" anchor="t">
            <a:spAutoFit/>
          </a:bodyPr>
          <a:lstStyle/>
          <a:p>
            <a:pPr marL="0" lvl="0" indent="0" algn="l">
              <a:lnSpc>
                <a:spcPts val="2398"/>
              </a:lnSpc>
            </a:pPr>
            <a:r>
              <a:rPr lang="en-US" sz="1598">
                <a:solidFill>
                  <a:srgbClr val="3A4250"/>
                </a:solidFill>
                <a:latin typeface="Arimo"/>
                <a:ea typeface="Arimo"/>
                <a:cs typeface="Arimo"/>
                <a:sym typeface="Arimo"/>
              </a:rPr>
              <a:t>You check correctness, accuracy, and safety. AI can be wrong. Human judgment is final.</a:t>
            </a:r>
          </a:p>
        </p:txBody>
      </p:sp>
      <p:grpSp>
        <p:nvGrpSpPr>
          <p:cNvPr id="44" name="Group 46">
            <a:extLst>
              <a:ext uri="{FF2B5EF4-FFF2-40B4-BE49-F238E27FC236}">
                <a16:creationId xmlns:a16="http://schemas.microsoft.com/office/drawing/2014/main" id="{977C1C36-C861-C68D-DB9F-40FC4AB8CF82}"/>
              </a:ext>
            </a:extLst>
          </p:cNvPr>
          <p:cNvGrpSpPr/>
          <p:nvPr/>
        </p:nvGrpSpPr>
        <p:grpSpPr>
          <a:xfrm>
            <a:off x="11158538" y="8782098"/>
            <a:ext cx="1297334" cy="385762"/>
            <a:chOff x="0" y="0"/>
            <a:chExt cx="1729778" cy="514350"/>
          </a:xfrm>
        </p:grpSpPr>
        <p:sp>
          <p:nvSpPr>
            <p:cNvPr id="45" name="Freeform 47">
              <a:extLst>
                <a:ext uri="{FF2B5EF4-FFF2-40B4-BE49-F238E27FC236}">
                  <a16:creationId xmlns:a16="http://schemas.microsoft.com/office/drawing/2014/main" id="{71D3C287-051E-6499-769F-1C687B2096A0}"/>
                </a:ext>
              </a:extLst>
            </p:cNvPr>
            <p:cNvSpPr/>
            <p:nvPr/>
          </p:nvSpPr>
          <p:spPr>
            <a:xfrm>
              <a:off x="0" y="0"/>
              <a:ext cx="1729740" cy="514350"/>
            </a:xfrm>
            <a:custGeom>
              <a:avLst/>
              <a:gdLst/>
              <a:ahLst/>
              <a:cxnLst/>
              <a:rect l="l" t="t" r="r" b="b"/>
              <a:pathLst>
                <a:path w="1729740" h="514350">
                  <a:moveTo>
                    <a:pt x="0" y="78105"/>
                  </a:moveTo>
                  <a:cubicBezTo>
                    <a:pt x="0" y="34925"/>
                    <a:pt x="34925" y="0"/>
                    <a:pt x="78105" y="0"/>
                  </a:cubicBezTo>
                  <a:lnTo>
                    <a:pt x="1651635" y="0"/>
                  </a:lnTo>
                  <a:cubicBezTo>
                    <a:pt x="1694815" y="0"/>
                    <a:pt x="1729740" y="34925"/>
                    <a:pt x="1729740" y="78105"/>
                  </a:cubicBezTo>
                  <a:lnTo>
                    <a:pt x="1729740" y="436245"/>
                  </a:lnTo>
                  <a:cubicBezTo>
                    <a:pt x="1729740" y="479425"/>
                    <a:pt x="1694815" y="514350"/>
                    <a:pt x="1651635" y="514350"/>
                  </a:cubicBezTo>
                  <a:lnTo>
                    <a:pt x="78105" y="514350"/>
                  </a:lnTo>
                  <a:cubicBezTo>
                    <a:pt x="34925" y="514350"/>
                    <a:pt x="0" y="479425"/>
                    <a:pt x="0" y="436245"/>
                  </a:cubicBezTo>
                  <a:close/>
                </a:path>
              </a:pathLst>
            </a:custGeom>
            <a:solidFill>
              <a:srgbClr val="E4E7EC"/>
            </a:solidFill>
          </p:spPr>
          <p:txBody>
            <a:bodyPr/>
            <a:lstStyle/>
            <a:p>
              <a:endParaRPr lang="en-TH"/>
            </a:p>
          </p:txBody>
        </p:sp>
      </p:grpSp>
      <p:sp>
        <p:nvSpPr>
          <p:cNvPr id="46" name="TextBox 48">
            <a:extLst>
              <a:ext uri="{FF2B5EF4-FFF2-40B4-BE49-F238E27FC236}">
                <a16:creationId xmlns:a16="http://schemas.microsoft.com/office/drawing/2014/main" id="{EC040F7E-757B-0E05-CFD9-A339D7B5693D}"/>
              </a:ext>
            </a:extLst>
          </p:cNvPr>
          <p:cNvSpPr txBox="1"/>
          <p:nvPr/>
        </p:nvSpPr>
        <p:spPr>
          <a:xfrm>
            <a:off x="11241091" y="8826541"/>
            <a:ext cx="1132237" cy="247650"/>
          </a:xfrm>
          <a:prstGeom prst="rect">
            <a:avLst/>
          </a:prstGeom>
        </p:spPr>
        <p:txBody>
          <a:bodyPr lIns="0" tIns="0" rIns="0" bIns="0" rtlCol="0" anchor="t">
            <a:spAutoFit/>
          </a:bodyPr>
          <a:lstStyle/>
          <a:p>
            <a:pPr marL="0" lvl="0" indent="0" algn="l">
              <a:lnSpc>
                <a:spcPts val="1996"/>
              </a:lnSpc>
            </a:pPr>
            <a:r>
              <a:rPr lang="en-US" sz="1663">
                <a:solidFill>
                  <a:srgbClr val="3A4250"/>
                </a:solidFill>
                <a:latin typeface="JetBrains Mono"/>
                <a:ea typeface="JetBrains Mono"/>
                <a:cs typeface="JetBrains Mono"/>
                <a:sym typeface="JetBrains Mono"/>
              </a:rPr>
              <a:t>Critical</a:t>
            </a:r>
          </a:p>
        </p:txBody>
      </p:sp>
      <p:grpSp>
        <p:nvGrpSpPr>
          <p:cNvPr id="47" name="Group 49">
            <a:extLst>
              <a:ext uri="{FF2B5EF4-FFF2-40B4-BE49-F238E27FC236}">
                <a16:creationId xmlns:a16="http://schemas.microsoft.com/office/drawing/2014/main" id="{B629F704-4ACC-8195-15E2-41B1F4F31B5A}"/>
              </a:ext>
            </a:extLst>
          </p:cNvPr>
          <p:cNvGrpSpPr/>
          <p:nvPr/>
        </p:nvGrpSpPr>
        <p:grpSpPr>
          <a:xfrm>
            <a:off x="14244638" y="5829490"/>
            <a:ext cx="3133725" cy="3624110"/>
            <a:chOff x="0" y="0"/>
            <a:chExt cx="4178300" cy="4832147"/>
          </a:xfrm>
        </p:grpSpPr>
        <p:sp>
          <p:nvSpPr>
            <p:cNvPr id="48" name="Freeform 50">
              <a:extLst>
                <a:ext uri="{FF2B5EF4-FFF2-40B4-BE49-F238E27FC236}">
                  <a16:creationId xmlns:a16="http://schemas.microsoft.com/office/drawing/2014/main" id="{E737FC5D-1513-DD04-5596-285AA9D24D85}"/>
                </a:ext>
              </a:extLst>
            </p:cNvPr>
            <p:cNvSpPr/>
            <p:nvPr/>
          </p:nvSpPr>
          <p:spPr>
            <a:xfrm>
              <a:off x="0" y="0"/>
              <a:ext cx="4178300" cy="4832096"/>
            </a:xfrm>
            <a:custGeom>
              <a:avLst/>
              <a:gdLst/>
              <a:ahLst/>
              <a:cxnLst/>
              <a:rect l="l" t="t" r="r" b="b"/>
              <a:pathLst>
                <a:path w="4178300" h="4832096">
                  <a:moveTo>
                    <a:pt x="0" y="254762"/>
                  </a:moveTo>
                  <a:cubicBezTo>
                    <a:pt x="0" y="114046"/>
                    <a:pt x="114046" y="0"/>
                    <a:pt x="254762" y="0"/>
                  </a:cubicBezTo>
                  <a:lnTo>
                    <a:pt x="3923538" y="0"/>
                  </a:lnTo>
                  <a:cubicBezTo>
                    <a:pt x="4064254" y="0"/>
                    <a:pt x="4178300" y="114046"/>
                    <a:pt x="4178300" y="254762"/>
                  </a:cubicBezTo>
                  <a:lnTo>
                    <a:pt x="4178300" y="4577334"/>
                  </a:lnTo>
                  <a:cubicBezTo>
                    <a:pt x="4178300" y="4718050"/>
                    <a:pt x="4064254" y="4832096"/>
                    <a:pt x="3923538" y="4832096"/>
                  </a:cubicBezTo>
                  <a:lnTo>
                    <a:pt x="254762" y="4832096"/>
                  </a:lnTo>
                  <a:cubicBezTo>
                    <a:pt x="114046" y="4832096"/>
                    <a:pt x="0" y="4718050"/>
                    <a:pt x="0" y="4577334"/>
                  </a:cubicBezTo>
                  <a:close/>
                </a:path>
              </a:pathLst>
            </a:custGeom>
            <a:solidFill>
              <a:srgbClr val="FFFFFF"/>
            </a:solidFill>
          </p:spPr>
          <p:txBody>
            <a:bodyPr/>
            <a:lstStyle/>
            <a:p>
              <a:endParaRPr lang="en-TH"/>
            </a:p>
          </p:txBody>
        </p:sp>
      </p:grpSp>
      <p:sp>
        <p:nvSpPr>
          <p:cNvPr id="49" name="TextBox 51">
            <a:extLst>
              <a:ext uri="{FF2B5EF4-FFF2-40B4-BE49-F238E27FC236}">
                <a16:creationId xmlns:a16="http://schemas.microsoft.com/office/drawing/2014/main" id="{EA2BAB94-8494-CD3E-B0D5-6020502C1D0C}"/>
              </a:ext>
            </a:extLst>
          </p:cNvPr>
          <p:cNvSpPr txBox="1"/>
          <p:nvPr/>
        </p:nvSpPr>
        <p:spPr>
          <a:xfrm>
            <a:off x="14517691" y="6121594"/>
            <a:ext cx="2666495" cy="247650"/>
          </a:xfrm>
          <a:prstGeom prst="rect">
            <a:avLst/>
          </a:prstGeom>
        </p:spPr>
        <p:txBody>
          <a:bodyPr lIns="0" tIns="0" rIns="0" bIns="0" rtlCol="0" anchor="t">
            <a:spAutoFit/>
          </a:bodyPr>
          <a:lstStyle/>
          <a:p>
            <a:pPr marL="0" lvl="0" indent="0" algn="l">
              <a:lnSpc>
                <a:spcPts val="1996"/>
              </a:lnSpc>
            </a:pPr>
            <a:r>
              <a:rPr lang="en-US" sz="1663" spc="107">
                <a:solidFill>
                  <a:srgbClr val="7A8290"/>
                </a:solidFill>
                <a:latin typeface="JetBrains Mono"/>
                <a:ea typeface="JetBrains Mono"/>
                <a:cs typeface="JetBrains Mono"/>
                <a:sym typeface="JetBrains Mono"/>
              </a:rPr>
              <a:t>STEP 05</a:t>
            </a:r>
          </a:p>
        </p:txBody>
      </p:sp>
      <p:sp>
        <p:nvSpPr>
          <p:cNvPr id="50" name="TextBox 52">
            <a:extLst>
              <a:ext uri="{FF2B5EF4-FFF2-40B4-BE49-F238E27FC236}">
                <a16:creationId xmlns:a16="http://schemas.microsoft.com/office/drawing/2014/main" id="{55809FC4-54EB-7550-86B3-4F639D96655A}"/>
              </a:ext>
            </a:extLst>
          </p:cNvPr>
          <p:cNvSpPr txBox="1"/>
          <p:nvPr/>
        </p:nvSpPr>
        <p:spPr>
          <a:xfrm>
            <a:off x="14517691" y="6526406"/>
            <a:ext cx="2666495" cy="323850"/>
          </a:xfrm>
          <a:prstGeom prst="rect">
            <a:avLst/>
          </a:prstGeom>
        </p:spPr>
        <p:txBody>
          <a:bodyPr lIns="0" tIns="0" rIns="0" bIns="0" rtlCol="0" anchor="t">
            <a:spAutoFit/>
          </a:bodyPr>
          <a:lstStyle/>
          <a:p>
            <a:pPr marL="0" lvl="0" indent="0" algn="l">
              <a:lnSpc>
                <a:spcPts val="2497"/>
              </a:lnSpc>
            </a:pPr>
            <a:r>
              <a:rPr lang="en-US" sz="2081" b="1" spc="-33">
                <a:solidFill>
                  <a:srgbClr val="0B0F19"/>
                </a:solidFill>
                <a:latin typeface="Arimo Bold"/>
                <a:ea typeface="Arimo Bold"/>
                <a:cs typeface="Arimo Bold"/>
                <a:sym typeface="Arimo Bold"/>
              </a:rPr>
              <a:t>Submit Evidence</a:t>
            </a:r>
          </a:p>
        </p:txBody>
      </p:sp>
      <p:sp>
        <p:nvSpPr>
          <p:cNvPr id="51" name="TextBox 53">
            <a:extLst>
              <a:ext uri="{FF2B5EF4-FFF2-40B4-BE49-F238E27FC236}">
                <a16:creationId xmlns:a16="http://schemas.microsoft.com/office/drawing/2014/main" id="{B9B57475-163A-93B0-0A9C-F0AE8505564E}"/>
              </a:ext>
            </a:extLst>
          </p:cNvPr>
          <p:cNvSpPr txBox="1"/>
          <p:nvPr/>
        </p:nvSpPr>
        <p:spPr>
          <a:xfrm>
            <a:off x="14517691" y="6940744"/>
            <a:ext cx="2666495" cy="882058"/>
          </a:xfrm>
          <a:prstGeom prst="rect">
            <a:avLst/>
          </a:prstGeom>
        </p:spPr>
        <p:txBody>
          <a:bodyPr lIns="0" tIns="0" rIns="0" bIns="0" rtlCol="0" anchor="t">
            <a:spAutoFit/>
          </a:bodyPr>
          <a:lstStyle/>
          <a:p>
            <a:pPr marL="0" lvl="0" indent="0" algn="l">
              <a:lnSpc>
                <a:spcPts val="2398"/>
              </a:lnSpc>
            </a:pPr>
            <a:r>
              <a:rPr lang="en-US" sz="1598" dirty="0">
                <a:solidFill>
                  <a:srgbClr val="3A4250"/>
                </a:solidFill>
                <a:latin typeface="Arimo"/>
                <a:ea typeface="Arimo"/>
                <a:cs typeface="Arimo"/>
                <a:sym typeface="Arimo"/>
              </a:rPr>
              <a:t>Attach your AI log with each deliverable. No log = unacknowledged AI use.</a:t>
            </a:r>
          </a:p>
        </p:txBody>
      </p:sp>
      <p:grpSp>
        <p:nvGrpSpPr>
          <p:cNvPr id="52" name="Group 54">
            <a:extLst>
              <a:ext uri="{FF2B5EF4-FFF2-40B4-BE49-F238E27FC236}">
                <a16:creationId xmlns:a16="http://schemas.microsoft.com/office/drawing/2014/main" id="{4AD195F2-12AB-2882-E2BB-AD4B1379E1FC}"/>
              </a:ext>
            </a:extLst>
          </p:cNvPr>
          <p:cNvGrpSpPr/>
          <p:nvPr/>
        </p:nvGrpSpPr>
        <p:grpSpPr>
          <a:xfrm>
            <a:off x="14492288" y="8782098"/>
            <a:ext cx="1983134" cy="385762"/>
            <a:chOff x="0" y="0"/>
            <a:chExt cx="2644178" cy="514350"/>
          </a:xfrm>
        </p:grpSpPr>
        <p:sp>
          <p:nvSpPr>
            <p:cNvPr id="53" name="Freeform 55">
              <a:extLst>
                <a:ext uri="{FF2B5EF4-FFF2-40B4-BE49-F238E27FC236}">
                  <a16:creationId xmlns:a16="http://schemas.microsoft.com/office/drawing/2014/main" id="{8DE1F189-372C-A98D-B851-1202030D0C39}"/>
                </a:ext>
              </a:extLst>
            </p:cNvPr>
            <p:cNvSpPr/>
            <p:nvPr/>
          </p:nvSpPr>
          <p:spPr>
            <a:xfrm>
              <a:off x="0" y="0"/>
              <a:ext cx="2644140" cy="514350"/>
            </a:xfrm>
            <a:custGeom>
              <a:avLst/>
              <a:gdLst/>
              <a:ahLst/>
              <a:cxnLst/>
              <a:rect l="l" t="t" r="r" b="b"/>
              <a:pathLst>
                <a:path w="2644140" h="514350">
                  <a:moveTo>
                    <a:pt x="0" y="78105"/>
                  </a:moveTo>
                  <a:cubicBezTo>
                    <a:pt x="0" y="34925"/>
                    <a:pt x="34925" y="0"/>
                    <a:pt x="78105" y="0"/>
                  </a:cubicBezTo>
                  <a:lnTo>
                    <a:pt x="2566035" y="0"/>
                  </a:lnTo>
                  <a:cubicBezTo>
                    <a:pt x="2609215" y="0"/>
                    <a:pt x="2644140" y="34925"/>
                    <a:pt x="2644140" y="78105"/>
                  </a:cubicBezTo>
                  <a:lnTo>
                    <a:pt x="2644140" y="436245"/>
                  </a:lnTo>
                  <a:cubicBezTo>
                    <a:pt x="2644140" y="479425"/>
                    <a:pt x="2609215" y="514350"/>
                    <a:pt x="2566035" y="514350"/>
                  </a:cubicBezTo>
                  <a:lnTo>
                    <a:pt x="78105" y="514350"/>
                  </a:lnTo>
                  <a:cubicBezTo>
                    <a:pt x="34925" y="514350"/>
                    <a:pt x="0" y="479425"/>
                    <a:pt x="0" y="436245"/>
                  </a:cubicBezTo>
                  <a:close/>
                </a:path>
              </a:pathLst>
            </a:custGeom>
            <a:solidFill>
              <a:srgbClr val="E4E7EC"/>
            </a:solidFill>
          </p:spPr>
          <p:txBody>
            <a:bodyPr/>
            <a:lstStyle/>
            <a:p>
              <a:endParaRPr lang="en-TH"/>
            </a:p>
          </p:txBody>
        </p:sp>
      </p:grpSp>
      <p:sp>
        <p:nvSpPr>
          <p:cNvPr id="54" name="TextBox 56">
            <a:extLst>
              <a:ext uri="{FF2B5EF4-FFF2-40B4-BE49-F238E27FC236}">
                <a16:creationId xmlns:a16="http://schemas.microsoft.com/office/drawing/2014/main" id="{A4B0B4CF-96B3-9D43-58DF-92F61C9D213B}"/>
              </a:ext>
            </a:extLst>
          </p:cNvPr>
          <p:cNvSpPr txBox="1"/>
          <p:nvPr/>
        </p:nvSpPr>
        <p:spPr>
          <a:xfrm>
            <a:off x="14574841" y="8826541"/>
            <a:ext cx="1818037" cy="247650"/>
          </a:xfrm>
          <a:prstGeom prst="rect">
            <a:avLst/>
          </a:prstGeom>
        </p:spPr>
        <p:txBody>
          <a:bodyPr lIns="0" tIns="0" rIns="0" bIns="0" rtlCol="0" anchor="t">
            <a:spAutoFit/>
          </a:bodyPr>
          <a:lstStyle/>
          <a:p>
            <a:pPr marL="0" lvl="0" indent="0" algn="l">
              <a:lnSpc>
                <a:spcPts val="1996"/>
              </a:lnSpc>
            </a:pPr>
            <a:r>
              <a:rPr lang="en-US" sz="1663">
                <a:solidFill>
                  <a:srgbClr val="3A4250"/>
                </a:solidFill>
                <a:latin typeface="JetBrains Mono"/>
                <a:ea typeface="JetBrains Mono"/>
                <a:cs typeface="JetBrains Mono"/>
                <a:sym typeface="JetBrains Mono"/>
              </a:rPr>
              <a:t>With work</a:t>
            </a:r>
          </a:p>
        </p:txBody>
      </p:sp>
      <p:sp>
        <p:nvSpPr>
          <p:cNvPr id="55" name="Freeform 57">
            <a:extLst>
              <a:ext uri="{FF2B5EF4-FFF2-40B4-BE49-F238E27FC236}">
                <a16:creationId xmlns:a16="http://schemas.microsoft.com/office/drawing/2014/main" id="{1531F166-7996-FF07-2E46-C6A1B8E4A7A7}"/>
              </a:ext>
            </a:extLst>
          </p:cNvPr>
          <p:cNvSpPr/>
          <p:nvPr/>
        </p:nvSpPr>
        <p:spPr>
          <a:xfrm>
            <a:off x="13367217" y="1379293"/>
            <a:ext cx="2893583" cy="3475532"/>
          </a:xfrm>
          <a:custGeom>
            <a:avLst/>
            <a:gdLst/>
            <a:ahLst/>
            <a:cxnLst/>
            <a:rect l="l" t="t" r="r" b="b"/>
            <a:pathLst>
              <a:path w="2893583" h="3475532">
                <a:moveTo>
                  <a:pt x="0" y="0"/>
                </a:moveTo>
                <a:lnTo>
                  <a:pt x="2893583" y="0"/>
                </a:lnTo>
                <a:lnTo>
                  <a:pt x="2893583" y="3475533"/>
                </a:lnTo>
                <a:lnTo>
                  <a:pt x="0" y="3475533"/>
                </a:lnTo>
                <a:lnTo>
                  <a:pt x="0" y="0"/>
                </a:lnTo>
                <a:close/>
              </a:path>
            </a:pathLst>
          </a:custGeom>
          <a:blipFill>
            <a:blip r:embed="rId3"/>
            <a:stretch>
              <a:fillRect/>
            </a:stretch>
          </a:blipFill>
        </p:spPr>
        <p:txBody>
          <a:bodyPr/>
          <a:lstStyle/>
          <a:p>
            <a:endParaRPr lang="en-TH"/>
          </a:p>
        </p:txBody>
      </p:sp>
      <p:sp>
        <p:nvSpPr>
          <p:cNvPr id="56" name="Freeform 58">
            <a:extLst>
              <a:ext uri="{FF2B5EF4-FFF2-40B4-BE49-F238E27FC236}">
                <a16:creationId xmlns:a16="http://schemas.microsoft.com/office/drawing/2014/main" id="{0017985B-1DEF-C0B4-3D31-38118E0AEA8A}"/>
              </a:ext>
            </a:extLst>
          </p:cNvPr>
          <p:cNvSpPr/>
          <p:nvPr/>
        </p:nvSpPr>
        <p:spPr>
          <a:xfrm>
            <a:off x="12221276" y="2503291"/>
            <a:ext cx="3649842" cy="2504704"/>
          </a:xfrm>
          <a:custGeom>
            <a:avLst/>
            <a:gdLst/>
            <a:ahLst/>
            <a:cxnLst/>
            <a:rect l="l" t="t" r="r" b="b"/>
            <a:pathLst>
              <a:path w="3649842" h="2504704">
                <a:moveTo>
                  <a:pt x="0" y="0"/>
                </a:moveTo>
                <a:lnTo>
                  <a:pt x="3649842" y="0"/>
                </a:lnTo>
                <a:lnTo>
                  <a:pt x="3649842" y="2504704"/>
                </a:lnTo>
                <a:lnTo>
                  <a:pt x="0" y="2504704"/>
                </a:lnTo>
                <a:lnTo>
                  <a:pt x="0" y="0"/>
                </a:lnTo>
                <a:close/>
              </a:path>
            </a:pathLst>
          </a:custGeom>
          <a:blipFill>
            <a:blip r:embed="rId4"/>
            <a:stretch>
              <a:fillRect/>
            </a:stretch>
          </a:blipFill>
        </p:spPr>
        <p:txBody>
          <a:bodyPr/>
          <a:lstStyle/>
          <a:p>
            <a:endParaRPr lang="en-TH"/>
          </a:p>
        </p:txBody>
      </p:sp>
    </p:spTree>
    <p:extLst>
      <p:ext uri="{BB962C8B-B14F-4D97-AF65-F5344CB8AC3E}">
        <p14:creationId xmlns:p14="http://schemas.microsoft.com/office/powerpoint/2010/main" val="3163056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bg>
      <p:bgPr>
        <a:solidFill>
          <a:srgbClr val="EEF0F3"/>
        </a:solidFill>
        <a:effectLst/>
      </p:bgPr>
    </p:bg>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p:cNvSpPr/>
          <p:nvPr/>
        </p:nvSpPr>
        <p:spPr>
          <a:xfrm>
            <a:off x="728216" y="154781"/>
            <a:ext cx="3889732"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p:cNvSpPr/>
          <p:nvPr/>
        </p:nvSpPr>
        <p:spPr>
          <a:xfrm>
            <a:off x="4771355" y="154781"/>
            <a:ext cx="3100274"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The rules · AI policy</a:t>
            </a:r>
            <a:endParaRPr lang="en-US" sz="1800" dirty="0"/>
          </a:p>
        </p:txBody>
      </p:sp>
      <p:sp>
        <p:nvSpPr>
          <p:cNvPr id="7" name="Text 5"/>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sz="1800" kern="0" spc="72" dirty="0">
                <a:solidFill>
                  <a:srgbClr val="7A8290"/>
                </a:solidFill>
                <a:latin typeface="JetBrains Mono" pitchFamily="34" charset="0"/>
                <a:ea typeface="JetBrains Mono" pitchFamily="34" charset="-122"/>
                <a:cs typeface="JetBrains Mono" pitchFamily="34" charset="-120"/>
              </a:rPr>
              <a:t>19 / </a:t>
            </a:r>
            <a:r>
              <a:rPr lang="en-US" kern="0" spc="72" dirty="0">
                <a:solidFill>
                  <a:srgbClr val="7A8290"/>
                </a:solidFill>
                <a:latin typeface="JetBrains Mono" pitchFamily="34" charset="0"/>
                <a:ea typeface="JetBrains Mono" pitchFamily="34" charset="-122"/>
                <a:cs typeface="JetBrains Mono" pitchFamily="34" charset="-120"/>
              </a:rPr>
              <a:t>32</a:t>
            </a:r>
            <a:endParaRPr lang="en-US" sz="1800" dirty="0"/>
          </a:p>
        </p:txBody>
      </p:sp>
      <p:sp>
        <p:nvSpPr>
          <p:cNvPr id="9" name="Text 7"/>
          <p:cNvSpPr/>
          <p:nvPr/>
        </p:nvSpPr>
        <p:spPr>
          <a:xfrm>
            <a:off x="914400" y="1524000"/>
            <a:ext cx="16952976"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THE AI POLICY</a:t>
            </a:r>
            <a:endParaRPr lang="en-US" sz="1800" dirty="0"/>
          </a:p>
        </p:txBody>
      </p:sp>
      <p:sp>
        <p:nvSpPr>
          <p:cNvPr id="10" name="Text 8"/>
          <p:cNvSpPr/>
          <p:nvPr/>
        </p:nvSpPr>
        <p:spPr>
          <a:xfrm>
            <a:off x="914400" y="1995487"/>
            <a:ext cx="16952976" cy="972940"/>
          </a:xfrm>
          <a:prstGeom prst="rect">
            <a:avLst/>
          </a:prstGeom>
          <a:noFill/>
          <a:ln w="9525"/>
        </p:spPr>
        <p:txBody>
          <a:bodyPr wrap="square" lIns="25400" tIns="25400" rIns="25400" bIns="25400" rtlCol="0" anchor="t">
            <a:normAutofit/>
          </a:bodyPr>
          <a:lstStyle/>
          <a:p>
            <a:pPr marL="0" indent="0" algn="l">
              <a:lnSpc>
                <a:spcPct val="100000"/>
              </a:lnSpc>
              <a:buNone/>
            </a:pPr>
            <a:r>
              <a:rPr lang="en-US" sz="4706" b="1" kern="0" spc="-120" dirty="0">
                <a:solidFill>
                  <a:srgbClr val="0B0F19"/>
                </a:solidFill>
                <a:latin typeface="Space Grotesk" pitchFamily="34" charset="0"/>
                <a:ea typeface="Space Grotesk" pitchFamily="34" charset="-122"/>
                <a:cs typeface="Space Grotesk" pitchFamily="34" charset="-120"/>
              </a:rPr>
              <a:t>Use AI. Log it. Be able to explain it.</a:t>
            </a:r>
            <a:endParaRPr lang="en-US" sz="4706" dirty="0"/>
          </a:p>
        </p:txBody>
      </p:sp>
      <p:sp>
        <p:nvSpPr>
          <p:cNvPr id="11" name="Shape 9"/>
          <p:cNvSpPr/>
          <p:nvPr/>
        </p:nvSpPr>
        <p:spPr>
          <a:xfrm>
            <a:off x="914400" y="3240088"/>
            <a:ext cx="8001000" cy="6315819"/>
          </a:xfrm>
          <a:prstGeom prst="roundRect">
            <a:avLst>
              <a:gd name="adj" fmla="val 3016"/>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12" name="Shape 10"/>
          <p:cNvSpPr/>
          <p:nvPr/>
        </p:nvSpPr>
        <p:spPr>
          <a:xfrm>
            <a:off x="1257300" y="3544888"/>
            <a:ext cx="760363" cy="457200"/>
          </a:xfrm>
          <a:prstGeom prst="roundRect">
            <a:avLst>
              <a:gd name="adj" fmla="val 50000"/>
            </a:avLst>
          </a:prstGeom>
          <a:solidFill>
            <a:srgbClr val="16B670"/>
          </a:solidFill>
          <a:ln w="9525"/>
        </p:spPr>
        <p:txBody>
          <a:bodyPr/>
          <a:lstStyle/>
          <a:p>
            <a:endParaRPr lang="en-TH"/>
          </a:p>
        </p:txBody>
      </p:sp>
      <p:sp>
        <p:nvSpPr>
          <p:cNvPr id="13" name="Text 11"/>
          <p:cNvSpPr/>
          <p:nvPr/>
        </p:nvSpPr>
        <p:spPr>
          <a:xfrm>
            <a:off x="1428750" y="3640138"/>
            <a:ext cx="417463" cy="304800"/>
          </a:xfrm>
          <a:prstGeom prst="rect">
            <a:avLst/>
          </a:prstGeom>
          <a:noFill/>
          <a:ln w="9525"/>
        </p:spPr>
        <p:txBody>
          <a:bodyPr wrap="square" lIns="25400" tIns="25400" rIns="25400" bIns="25400" rtlCol="0" anchor="ctr">
            <a:normAutofit fontScale="92500" lnSpcReduction="20000"/>
          </a:bodyPr>
          <a:lstStyle/>
          <a:p>
            <a:pPr marL="0" indent="0" algn="ctr">
              <a:lnSpc>
                <a:spcPct val="100000"/>
              </a:lnSpc>
              <a:buNone/>
            </a:pPr>
            <a:r>
              <a:rPr lang="en-US" sz="2100" dirty="0">
                <a:solidFill>
                  <a:srgbClr val="FFFFFF"/>
                </a:solidFill>
                <a:latin typeface="Space Grotesk" pitchFamily="34" charset="0"/>
                <a:ea typeface="Space Grotesk" pitchFamily="34" charset="-122"/>
                <a:cs typeface="Space Grotesk" pitchFamily="34" charset="-120"/>
              </a:rPr>
              <a:t>Do</a:t>
            </a:r>
            <a:endParaRPr lang="en-US" sz="2100" dirty="0"/>
          </a:p>
        </p:txBody>
      </p:sp>
      <p:sp>
        <p:nvSpPr>
          <p:cNvPr id="15" name="Text 13"/>
          <p:cNvSpPr/>
          <p:nvPr/>
        </p:nvSpPr>
        <p:spPr>
          <a:xfrm>
            <a:off x="1257300" y="4297361"/>
            <a:ext cx="7534656" cy="376238"/>
          </a:xfrm>
          <a:prstGeom prst="rect">
            <a:avLst/>
          </a:prstGeom>
          <a:noFill/>
          <a:ln w="9525"/>
        </p:spPr>
        <p:txBody>
          <a:bodyPr wrap="square" lIns="25400" tIns="25400" rIns="25400" bIns="25400" rtlCol="0" anchor="t"/>
          <a:lstStyle/>
          <a:p>
            <a:pPr marL="0" indent="0" algn="l">
              <a:buNone/>
            </a:pPr>
            <a:r>
              <a:rPr lang="en-US" b="1" kern="0" spc="-31" dirty="0">
                <a:solidFill>
                  <a:srgbClr val="0B0F19"/>
                </a:solidFill>
                <a:latin typeface="Space Grotesk" pitchFamily="34" charset="0"/>
                <a:ea typeface="Space Grotesk" pitchFamily="34" charset="-122"/>
                <a:cs typeface="Space Grotesk" pitchFamily="34" charset="-120"/>
              </a:rPr>
              <a:t>Ask AI to explain what you don't understand</a:t>
            </a:r>
            <a:endParaRPr lang="en-US" dirty="0"/>
          </a:p>
        </p:txBody>
      </p:sp>
      <p:sp>
        <p:nvSpPr>
          <p:cNvPr id="16" name="Text 14"/>
          <p:cNvSpPr/>
          <p:nvPr/>
        </p:nvSpPr>
        <p:spPr>
          <a:xfrm>
            <a:off x="1257300" y="4711698"/>
            <a:ext cx="7534656" cy="803771"/>
          </a:xfrm>
          <a:prstGeom prst="rect">
            <a:avLst/>
          </a:prstGeom>
          <a:noFill/>
          <a:ln w="9525"/>
        </p:spPr>
        <p:txBody>
          <a:bodyPr wrap="square" lIns="25400" tIns="25400" rIns="25400" bIns="25400" rtlCol="0" anchor="t">
            <a:spAutoFit/>
          </a:bodyPr>
          <a:lstStyle/>
          <a:p>
            <a:pPr marL="0" indent="0" algn="l">
              <a:lnSpc>
                <a:spcPct val="145000"/>
              </a:lnSpc>
              <a:buNone/>
            </a:pPr>
            <a:r>
              <a:rPr lang="en-US" sz="1600" dirty="0">
                <a:solidFill>
                  <a:srgbClr val="3A4250"/>
                </a:solidFill>
                <a:latin typeface="Space Grotesk" pitchFamily="34" charset="0"/>
                <a:ea typeface="Space Grotesk" pitchFamily="34" charset="-122"/>
                <a:cs typeface="Space Grotesk" pitchFamily="34" charset="-120"/>
              </a:rPr>
              <a:t>Use it to learn faster — explanations, worked examples, alternative approaches. Understanding is the goal; the tool is only a shortcut to it.</a:t>
            </a:r>
            <a:endParaRPr lang="en-US" sz="1600" dirty="0"/>
          </a:p>
        </p:txBody>
      </p:sp>
      <p:sp>
        <p:nvSpPr>
          <p:cNvPr id="17" name="Shape 15"/>
          <p:cNvSpPr/>
          <p:nvPr/>
        </p:nvSpPr>
        <p:spPr>
          <a:xfrm>
            <a:off x="1257300" y="5717480"/>
            <a:ext cx="7315200" cy="9525"/>
          </a:xfrm>
          <a:prstGeom prst="rect">
            <a:avLst/>
          </a:prstGeom>
          <a:solidFill>
            <a:srgbClr val="ECEEF1"/>
          </a:solidFill>
          <a:ln w="9525"/>
        </p:spPr>
        <p:txBody>
          <a:bodyPr/>
          <a:lstStyle/>
          <a:p>
            <a:endParaRPr lang="en-TH"/>
          </a:p>
        </p:txBody>
      </p:sp>
      <p:sp>
        <p:nvSpPr>
          <p:cNvPr id="18" name="Text 16"/>
          <p:cNvSpPr/>
          <p:nvPr/>
        </p:nvSpPr>
        <p:spPr>
          <a:xfrm>
            <a:off x="1257300" y="5898453"/>
            <a:ext cx="7534656" cy="376238"/>
          </a:xfrm>
          <a:prstGeom prst="rect">
            <a:avLst/>
          </a:prstGeom>
          <a:noFill/>
          <a:ln w="9525"/>
        </p:spPr>
        <p:txBody>
          <a:bodyPr wrap="square" lIns="25400" tIns="25400" rIns="25400" bIns="25400" rtlCol="0" anchor="t"/>
          <a:lstStyle/>
          <a:p>
            <a:pPr marL="0" indent="0" algn="l">
              <a:buNone/>
            </a:pPr>
            <a:r>
              <a:rPr lang="en-US" b="1" kern="0" spc="-31" dirty="0">
                <a:solidFill>
                  <a:srgbClr val="0B0F19"/>
                </a:solidFill>
                <a:latin typeface="Space Grotesk" pitchFamily="34" charset="0"/>
                <a:ea typeface="Space Grotesk" pitchFamily="34" charset="-122"/>
                <a:cs typeface="Space Grotesk" pitchFamily="34" charset="-120"/>
              </a:rPr>
              <a:t>Let it draft, then read, test and fix</a:t>
            </a:r>
            <a:endParaRPr lang="en-US" dirty="0"/>
          </a:p>
        </p:txBody>
      </p:sp>
      <p:sp>
        <p:nvSpPr>
          <p:cNvPr id="19" name="Text 17"/>
          <p:cNvSpPr/>
          <p:nvPr/>
        </p:nvSpPr>
        <p:spPr>
          <a:xfrm>
            <a:off x="1257300" y="6312791"/>
            <a:ext cx="7534656" cy="803771"/>
          </a:xfrm>
          <a:prstGeom prst="rect">
            <a:avLst/>
          </a:prstGeom>
          <a:noFill/>
          <a:ln w="9525"/>
        </p:spPr>
        <p:txBody>
          <a:bodyPr wrap="square" lIns="25400" tIns="25400" rIns="25400" bIns="25400" rtlCol="0" anchor="t">
            <a:spAutoFit/>
          </a:bodyPr>
          <a:lstStyle/>
          <a:p>
            <a:pPr marL="0" indent="0" algn="l">
              <a:lnSpc>
                <a:spcPct val="145000"/>
              </a:lnSpc>
              <a:buNone/>
            </a:pPr>
            <a:r>
              <a:rPr lang="en-US" sz="1600" dirty="0">
                <a:solidFill>
                  <a:srgbClr val="3A4250"/>
                </a:solidFill>
                <a:latin typeface="Space Grotesk" pitchFamily="34" charset="0"/>
                <a:ea typeface="Space Grotesk" pitchFamily="34" charset="-122"/>
                <a:cs typeface="Space Grotesk" pitchFamily="34" charset="-120"/>
              </a:rPr>
              <a:t>Generated code is a first draft. Read every line you keep, run it against your tests, and correct what is wrong before you commit it.</a:t>
            </a:r>
            <a:endParaRPr lang="en-US" sz="1600" dirty="0"/>
          </a:p>
        </p:txBody>
      </p:sp>
      <p:sp>
        <p:nvSpPr>
          <p:cNvPr id="20" name="Shape 18"/>
          <p:cNvSpPr/>
          <p:nvPr/>
        </p:nvSpPr>
        <p:spPr>
          <a:xfrm>
            <a:off x="1257300" y="7318573"/>
            <a:ext cx="7315200" cy="9525"/>
          </a:xfrm>
          <a:prstGeom prst="rect">
            <a:avLst/>
          </a:prstGeom>
          <a:solidFill>
            <a:srgbClr val="ECEEF1"/>
          </a:solidFill>
          <a:ln w="9525"/>
        </p:spPr>
        <p:txBody>
          <a:bodyPr/>
          <a:lstStyle/>
          <a:p>
            <a:endParaRPr lang="en-TH"/>
          </a:p>
        </p:txBody>
      </p:sp>
      <p:sp>
        <p:nvSpPr>
          <p:cNvPr id="21" name="Text 19"/>
          <p:cNvSpPr/>
          <p:nvPr/>
        </p:nvSpPr>
        <p:spPr>
          <a:xfrm>
            <a:off x="1257300" y="7499546"/>
            <a:ext cx="7534656" cy="376238"/>
          </a:xfrm>
          <a:prstGeom prst="rect">
            <a:avLst/>
          </a:prstGeom>
          <a:noFill/>
          <a:ln w="9525"/>
        </p:spPr>
        <p:txBody>
          <a:bodyPr wrap="square" lIns="25400" tIns="25400" rIns="25400" bIns="25400" rtlCol="0" anchor="t"/>
          <a:lstStyle/>
          <a:p>
            <a:pPr marL="0" indent="0" algn="l">
              <a:buNone/>
            </a:pPr>
            <a:r>
              <a:rPr lang="en-US" b="1" kern="0" spc="-31" dirty="0">
                <a:solidFill>
                  <a:srgbClr val="0B0F19"/>
                </a:solidFill>
                <a:latin typeface="Space Grotesk" pitchFamily="34" charset="0"/>
                <a:ea typeface="Space Grotesk" pitchFamily="34" charset="-122"/>
                <a:cs typeface="Space Grotesk" pitchFamily="34" charset="-120"/>
              </a:rPr>
              <a:t>Log every use, honestly</a:t>
            </a:r>
            <a:endParaRPr lang="en-US" dirty="0"/>
          </a:p>
        </p:txBody>
      </p:sp>
      <p:sp>
        <p:nvSpPr>
          <p:cNvPr id="22" name="Text 20"/>
          <p:cNvSpPr/>
          <p:nvPr/>
        </p:nvSpPr>
        <p:spPr>
          <a:xfrm>
            <a:off x="1257300" y="7913884"/>
            <a:ext cx="7534656" cy="700980"/>
          </a:xfrm>
          <a:prstGeom prst="rect">
            <a:avLst/>
          </a:prstGeom>
          <a:noFill/>
          <a:ln w="9525"/>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3A4250"/>
                </a:solidFill>
                <a:latin typeface="Space Grotesk" pitchFamily="34" charset="0"/>
                <a:ea typeface="Space Grotesk" pitchFamily="34" charset="-122"/>
                <a:cs typeface="Space Grotesk" pitchFamily="34" charset="-120"/>
              </a:rPr>
              <a:t>Keep an AI Usage Log: what you asked, what it produced, what you changed. Honest logging is never penalised here. Hiding it is.</a:t>
            </a:r>
            <a:endParaRPr lang="en-US" sz="1800" dirty="0"/>
          </a:p>
        </p:txBody>
      </p:sp>
      <p:sp>
        <p:nvSpPr>
          <p:cNvPr id="23" name="Shape 21"/>
          <p:cNvSpPr/>
          <p:nvPr/>
        </p:nvSpPr>
        <p:spPr>
          <a:xfrm>
            <a:off x="9372600" y="3240088"/>
            <a:ext cx="8001000" cy="6315819"/>
          </a:xfrm>
          <a:prstGeom prst="roundRect">
            <a:avLst>
              <a:gd name="adj" fmla="val 3016"/>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4" name="Shape 22"/>
          <p:cNvSpPr/>
          <p:nvPr/>
        </p:nvSpPr>
        <p:spPr>
          <a:xfrm>
            <a:off x="9715500" y="3544888"/>
            <a:ext cx="1114797" cy="457200"/>
          </a:xfrm>
          <a:prstGeom prst="roundRect">
            <a:avLst>
              <a:gd name="adj" fmla="val 50000"/>
            </a:avLst>
          </a:prstGeom>
          <a:solidFill>
            <a:srgbClr val="FF5A47"/>
          </a:solidFill>
          <a:ln w="9525"/>
        </p:spPr>
        <p:txBody>
          <a:bodyPr/>
          <a:lstStyle/>
          <a:p>
            <a:endParaRPr lang="en-TH"/>
          </a:p>
        </p:txBody>
      </p:sp>
      <p:sp>
        <p:nvSpPr>
          <p:cNvPr id="25" name="Text 23"/>
          <p:cNvSpPr/>
          <p:nvPr/>
        </p:nvSpPr>
        <p:spPr>
          <a:xfrm>
            <a:off x="9886950" y="3640138"/>
            <a:ext cx="771897" cy="304800"/>
          </a:xfrm>
          <a:prstGeom prst="rect">
            <a:avLst/>
          </a:prstGeom>
          <a:noFill/>
          <a:ln w="9525"/>
        </p:spPr>
        <p:txBody>
          <a:bodyPr wrap="square" lIns="25400" tIns="25400" rIns="25400" bIns="25400" rtlCol="0" anchor="ctr">
            <a:normAutofit fontScale="92500" lnSpcReduction="20000"/>
          </a:bodyPr>
          <a:lstStyle/>
          <a:p>
            <a:pPr marL="0" indent="0" algn="ctr">
              <a:lnSpc>
                <a:spcPct val="100000"/>
              </a:lnSpc>
              <a:buNone/>
            </a:pPr>
            <a:r>
              <a:rPr lang="en-US" sz="2100" dirty="0">
                <a:solidFill>
                  <a:srgbClr val="FFFFFF"/>
                </a:solidFill>
                <a:latin typeface="Space Grotesk" pitchFamily="34" charset="0"/>
                <a:ea typeface="Space Grotesk" pitchFamily="34" charset="-122"/>
                <a:cs typeface="Space Grotesk" pitchFamily="34" charset="-120"/>
              </a:rPr>
              <a:t>Don't</a:t>
            </a:r>
            <a:endParaRPr lang="en-US" sz="2100" dirty="0"/>
          </a:p>
        </p:txBody>
      </p:sp>
      <p:sp>
        <p:nvSpPr>
          <p:cNvPr id="27" name="Text 25"/>
          <p:cNvSpPr/>
          <p:nvPr/>
        </p:nvSpPr>
        <p:spPr>
          <a:xfrm>
            <a:off x="9715500" y="4297361"/>
            <a:ext cx="7534656" cy="376238"/>
          </a:xfrm>
          <a:prstGeom prst="rect">
            <a:avLst/>
          </a:prstGeom>
          <a:noFill/>
          <a:ln w="9525"/>
        </p:spPr>
        <p:txBody>
          <a:bodyPr wrap="square" lIns="25400" tIns="25400" rIns="25400" bIns="25400" rtlCol="0" anchor="t"/>
          <a:lstStyle/>
          <a:p>
            <a:pPr marL="0" indent="0" algn="l">
              <a:buNone/>
            </a:pPr>
            <a:r>
              <a:rPr lang="en-US" b="1" kern="0" spc="-31" dirty="0">
                <a:solidFill>
                  <a:srgbClr val="0B0F19"/>
                </a:solidFill>
                <a:latin typeface="Space Grotesk" pitchFamily="34" charset="0"/>
                <a:ea typeface="Space Grotesk" pitchFamily="34" charset="-122"/>
                <a:cs typeface="Space Grotesk" pitchFamily="34" charset="-120"/>
              </a:rPr>
              <a:t>Submit work you cannot explain</a:t>
            </a:r>
            <a:endParaRPr lang="en-US" dirty="0"/>
          </a:p>
        </p:txBody>
      </p:sp>
      <p:sp>
        <p:nvSpPr>
          <p:cNvPr id="28" name="Text 26"/>
          <p:cNvSpPr/>
          <p:nvPr/>
        </p:nvSpPr>
        <p:spPr>
          <a:xfrm>
            <a:off x="9715500" y="4711698"/>
            <a:ext cx="7534656" cy="803771"/>
          </a:xfrm>
          <a:prstGeom prst="rect">
            <a:avLst/>
          </a:prstGeom>
          <a:noFill/>
          <a:ln w="9525"/>
        </p:spPr>
        <p:txBody>
          <a:bodyPr wrap="square" lIns="25400" tIns="25400" rIns="25400" bIns="25400" rtlCol="0" anchor="t">
            <a:spAutoFit/>
          </a:bodyPr>
          <a:lstStyle/>
          <a:p>
            <a:pPr marL="0" indent="0" algn="l">
              <a:lnSpc>
                <a:spcPct val="145000"/>
              </a:lnSpc>
              <a:buNone/>
            </a:pPr>
            <a:r>
              <a:rPr lang="en-US" sz="1600" dirty="0">
                <a:solidFill>
                  <a:srgbClr val="3A4250"/>
                </a:solidFill>
                <a:latin typeface="Space Grotesk" pitchFamily="34" charset="0"/>
                <a:ea typeface="Space Grotesk" pitchFamily="34" charset="-122"/>
                <a:cs typeface="Space Grotesk" pitchFamily="34" charset="-120"/>
              </a:rPr>
              <a:t>In the oral exam you explain the part you built. If you cannot, that part scores zero — whoever, or whatever, wrote it.</a:t>
            </a:r>
            <a:endParaRPr lang="en-US" sz="1600" dirty="0"/>
          </a:p>
        </p:txBody>
      </p:sp>
      <p:sp>
        <p:nvSpPr>
          <p:cNvPr id="29" name="Shape 27"/>
          <p:cNvSpPr/>
          <p:nvPr/>
        </p:nvSpPr>
        <p:spPr>
          <a:xfrm>
            <a:off x="9715500" y="5717480"/>
            <a:ext cx="7315200" cy="9525"/>
          </a:xfrm>
          <a:prstGeom prst="rect">
            <a:avLst/>
          </a:prstGeom>
          <a:solidFill>
            <a:srgbClr val="ECEEF1"/>
          </a:solidFill>
          <a:ln w="9525"/>
        </p:spPr>
        <p:txBody>
          <a:bodyPr/>
          <a:lstStyle/>
          <a:p>
            <a:endParaRPr lang="en-TH"/>
          </a:p>
        </p:txBody>
      </p:sp>
      <p:sp>
        <p:nvSpPr>
          <p:cNvPr id="30" name="Text 28"/>
          <p:cNvSpPr/>
          <p:nvPr/>
        </p:nvSpPr>
        <p:spPr>
          <a:xfrm>
            <a:off x="9715500" y="5898453"/>
            <a:ext cx="7534656" cy="376238"/>
          </a:xfrm>
          <a:prstGeom prst="rect">
            <a:avLst/>
          </a:prstGeom>
          <a:noFill/>
          <a:ln w="9525"/>
        </p:spPr>
        <p:txBody>
          <a:bodyPr wrap="square" lIns="25400" tIns="25400" rIns="25400" bIns="25400" rtlCol="0" anchor="t"/>
          <a:lstStyle/>
          <a:p>
            <a:pPr marL="0" indent="0" algn="l">
              <a:buNone/>
            </a:pPr>
            <a:r>
              <a:rPr lang="en-US" b="1" kern="0" spc="-31" dirty="0">
                <a:solidFill>
                  <a:srgbClr val="0B0F19"/>
                </a:solidFill>
                <a:latin typeface="Space Grotesk" pitchFamily="34" charset="0"/>
                <a:ea typeface="Space Grotesk" pitchFamily="34" charset="-122"/>
                <a:cs typeface="Space Grotesk" pitchFamily="34" charset="-120"/>
              </a:rPr>
              <a:t>Pass off a teammate's work as your own</a:t>
            </a:r>
            <a:endParaRPr lang="en-US" dirty="0"/>
          </a:p>
        </p:txBody>
      </p:sp>
      <p:sp>
        <p:nvSpPr>
          <p:cNvPr id="31" name="Text 29"/>
          <p:cNvSpPr/>
          <p:nvPr/>
        </p:nvSpPr>
        <p:spPr>
          <a:xfrm>
            <a:off x="9715500" y="6312791"/>
            <a:ext cx="7534656" cy="803771"/>
          </a:xfrm>
          <a:prstGeom prst="rect">
            <a:avLst/>
          </a:prstGeom>
          <a:noFill/>
          <a:ln w="9525"/>
        </p:spPr>
        <p:txBody>
          <a:bodyPr wrap="square" lIns="25400" tIns="25400" rIns="25400" bIns="25400" rtlCol="0" anchor="t">
            <a:spAutoFit/>
          </a:bodyPr>
          <a:lstStyle/>
          <a:p>
            <a:pPr marL="0" indent="0" algn="l">
              <a:lnSpc>
                <a:spcPct val="145000"/>
              </a:lnSpc>
              <a:buNone/>
            </a:pPr>
            <a:r>
              <a:rPr lang="en-US" sz="1600" dirty="0">
                <a:solidFill>
                  <a:srgbClr val="3A4250"/>
                </a:solidFill>
                <a:latin typeface="Space Grotesk" pitchFamily="34" charset="0"/>
                <a:ea typeface="Space Grotesk" pitchFamily="34" charset="-122"/>
                <a:cs typeface="Space Grotesk" pitchFamily="34" charset="-120"/>
              </a:rPr>
              <a:t>Every member is questioned individually about their own contribution. Free-riding tends to surface in about thirty seconds.</a:t>
            </a:r>
            <a:endParaRPr lang="en-US" sz="1600" dirty="0"/>
          </a:p>
        </p:txBody>
      </p:sp>
      <p:sp>
        <p:nvSpPr>
          <p:cNvPr id="32" name="Shape 30"/>
          <p:cNvSpPr/>
          <p:nvPr/>
        </p:nvSpPr>
        <p:spPr>
          <a:xfrm>
            <a:off x="9715500" y="7328098"/>
            <a:ext cx="7315200" cy="9525"/>
          </a:xfrm>
          <a:prstGeom prst="rect">
            <a:avLst/>
          </a:prstGeom>
          <a:solidFill>
            <a:srgbClr val="ECEEF1"/>
          </a:solidFill>
          <a:ln w="9525"/>
        </p:spPr>
        <p:txBody>
          <a:bodyPr/>
          <a:lstStyle/>
          <a:p>
            <a:endParaRPr lang="en-TH"/>
          </a:p>
        </p:txBody>
      </p:sp>
      <p:sp>
        <p:nvSpPr>
          <p:cNvPr id="33" name="Text 31"/>
          <p:cNvSpPr/>
          <p:nvPr/>
        </p:nvSpPr>
        <p:spPr>
          <a:xfrm>
            <a:off x="9715500" y="7499547"/>
            <a:ext cx="7534656" cy="376238"/>
          </a:xfrm>
          <a:prstGeom prst="rect">
            <a:avLst/>
          </a:prstGeom>
          <a:noFill/>
          <a:ln w="9525"/>
        </p:spPr>
        <p:txBody>
          <a:bodyPr wrap="square" lIns="25400" tIns="25400" rIns="25400" bIns="25400" rtlCol="0" anchor="t"/>
          <a:lstStyle/>
          <a:p>
            <a:pPr marL="0" indent="0" algn="l">
              <a:buNone/>
            </a:pPr>
            <a:r>
              <a:rPr lang="en-US" b="1" kern="0" spc="-31" dirty="0">
                <a:solidFill>
                  <a:srgbClr val="0B0F19"/>
                </a:solidFill>
                <a:latin typeface="Space Grotesk" pitchFamily="34" charset="0"/>
                <a:ea typeface="Space Grotesk" pitchFamily="34" charset="-122"/>
                <a:cs typeface="Space Grotesk" pitchFamily="34" charset="-120"/>
              </a:rPr>
              <a:t>Hide that AI was involved</a:t>
            </a:r>
            <a:endParaRPr lang="en-US" dirty="0"/>
          </a:p>
        </p:txBody>
      </p:sp>
      <p:sp>
        <p:nvSpPr>
          <p:cNvPr id="34" name="Text 32"/>
          <p:cNvSpPr/>
          <p:nvPr/>
        </p:nvSpPr>
        <p:spPr>
          <a:xfrm>
            <a:off x="9715500" y="7913884"/>
            <a:ext cx="7534656" cy="700980"/>
          </a:xfrm>
          <a:prstGeom prst="rect">
            <a:avLst/>
          </a:prstGeom>
          <a:noFill/>
          <a:ln w="9525"/>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3A4250"/>
                </a:solidFill>
                <a:latin typeface="Space Grotesk" pitchFamily="34" charset="0"/>
                <a:ea typeface="Space Grotesk" pitchFamily="34" charset="-122"/>
                <a:cs typeface="Space Grotesk" pitchFamily="34" charset="-120"/>
              </a:rPr>
              <a:t>Undisclosed AI use is an academic-integrity case. Disclosed AI use is simply how modern engineering works.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0EEF330-20AE-935C-BCCE-F62B58993B30}"/>
              </a:ext>
            </a:extLst>
          </p:cNvPr>
          <p:cNvSpPr/>
          <p:nvPr/>
        </p:nvSpPr>
        <p:spPr>
          <a:xfrm>
            <a:off x="0" y="0"/>
            <a:ext cx="18288000" cy="619125"/>
          </a:xfrm>
          <a:prstGeom prst="rect">
            <a:avLst/>
          </a:prstGeom>
          <a:solidFill>
            <a:srgbClr val="E4E7EC"/>
          </a:solidFill>
          <a:ln w="9525"/>
        </p:spPr>
        <p:txBody>
          <a:bodyPr/>
          <a:lstStyle/>
          <a:p>
            <a:endParaRPr lang="en-TH"/>
          </a:p>
        </p:txBody>
      </p:sp>
      <p:sp>
        <p:nvSpPr>
          <p:cNvPr id="3" name="Shape 12">
            <a:extLst>
              <a:ext uri="{FF2B5EF4-FFF2-40B4-BE49-F238E27FC236}">
                <a16:creationId xmlns:a16="http://schemas.microsoft.com/office/drawing/2014/main" id="{5A24DF1E-02C3-2143-E592-EB8368DE2576}"/>
              </a:ext>
            </a:extLst>
          </p:cNvPr>
          <p:cNvSpPr/>
          <p:nvPr/>
        </p:nvSpPr>
        <p:spPr>
          <a:xfrm>
            <a:off x="13260032" y="2213456"/>
            <a:ext cx="1851560" cy="1851560"/>
          </a:xfrm>
          <a:prstGeom prst="ellipse">
            <a:avLst/>
          </a:prstGeom>
          <a:solidFill>
            <a:schemeClr val="accent4"/>
          </a:solidFill>
          <a:ln w="9525"/>
        </p:spPr>
        <p:txBody>
          <a:bodyPr rtlCol="0" anchor="ctr"/>
          <a:lstStyle/>
          <a:p>
            <a:pPr algn="ctr"/>
            <a:endParaRPr/>
          </a:p>
        </p:txBody>
      </p:sp>
      <p:sp>
        <p:nvSpPr>
          <p:cNvPr id="4" name="Shape 1">
            <a:extLst>
              <a:ext uri="{FF2B5EF4-FFF2-40B4-BE49-F238E27FC236}">
                <a16:creationId xmlns:a16="http://schemas.microsoft.com/office/drawing/2014/main" id="{97876F17-5BAD-4BB8-F779-0E8ECEB25123}"/>
              </a:ext>
            </a:extLst>
          </p:cNvPr>
          <p:cNvSpPr/>
          <p:nvPr/>
        </p:nvSpPr>
        <p:spPr>
          <a:xfrm>
            <a:off x="0" y="609600"/>
            <a:ext cx="18288000" cy="9525"/>
          </a:xfrm>
          <a:prstGeom prst="rect">
            <a:avLst/>
          </a:prstGeom>
          <a:solidFill>
            <a:srgbClr val="C8CCD3"/>
          </a:solidFill>
          <a:ln w="9525"/>
        </p:spPr>
        <p:txBody>
          <a:bodyPr/>
          <a:lstStyle/>
          <a:p>
            <a:endParaRPr lang="en-TH"/>
          </a:p>
        </p:txBody>
      </p:sp>
      <p:sp>
        <p:nvSpPr>
          <p:cNvPr id="5" name="Text 2">
            <a:extLst>
              <a:ext uri="{FF2B5EF4-FFF2-40B4-BE49-F238E27FC236}">
                <a16:creationId xmlns:a16="http://schemas.microsoft.com/office/drawing/2014/main" id="{24A3E27F-2FB3-C98D-2CCC-A6776789F700}"/>
              </a:ext>
            </a:extLst>
          </p:cNvPr>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6" name="Text 3">
            <a:extLst>
              <a:ext uri="{FF2B5EF4-FFF2-40B4-BE49-F238E27FC236}">
                <a16:creationId xmlns:a16="http://schemas.microsoft.com/office/drawing/2014/main" id="{56A0C068-862D-D076-661D-C75F2E271D09}"/>
              </a:ext>
            </a:extLst>
          </p:cNvPr>
          <p:cNvSpPr/>
          <p:nvPr/>
        </p:nvSpPr>
        <p:spPr>
          <a:xfrm>
            <a:off x="728216" y="154781"/>
            <a:ext cx="3889732"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7" name="Text 4">
            <a:extLst>
              <a:ext uri="{FF2B5EF4-FFF2-40B4-BE49-F238E27FC236}">
                <a16:creationId xmlns:a16="http://schemas.microsoft.com/office/drawing/2014/main" id="{A60A1A06-CB21-F08B-F920-BAE36BBB4ADE}"/>
              </a:ext>
            </a:extLst>
          </p:cNvPr>
          <p:cNvSpPr/>
          <p:nvPr/>
        </p:nvSpPr>
        <p:spPr>
          <a:xfrm>
            <a:off x="4771355" y="154781"/>
            <a:ext cx="2537520"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Applied Digital Technology</a:t>
            </a:r>
            <a:endParaRPr lang="en-US" sz="1800" dirty="0"/>
          </a:p>
        </p:txBody>
      </p:sp>
      <p:sp>
        <p:nvSpPr>
          <p:cNvPr id="8" name="Text 5">
            <a:extLst>
              <a:ext uri="{FF2B5EF4-FFF2-40B4-BE49-F238E27FC236}">
                <a16:creationId xmlns:a16="http://schemas.microsoft.com/office/drawing/2014/main" id="{063473DE-7C11-FA73-B839-E0A4CAB47329}"/>
              </a:ext>
            </a:extLst>
          </p:cNvPr>
          <p:cNvSpPr/>
          <p:nvPr/>
        </p:nvSpPr>
        <p:spPr>
          <a:xfrm>
            <a:off x="7499375" y="154781"/>
            <a:ext cx="4371762"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Week 1 · Monday 3 August 2026</a:t>
            </a:r>
            <a:endParaRPr lang="en-US" sz="1800" dirty="0"/>
          </a:p>
        </p:txBody>
      </p:sp>
      <p:sp>
        <p:nvSpPr>
          <p:cNvPr id="9" name="Text 6">
            <a:extLst>
              <a:ext uri="{FF2B5EF4-FFF2-40B4-BE49-F238E27FC236}">
                <a16:creationId xmlns:a16="http://schemas.microsoft.com/office/drawing/2014/main" id="{BD77E97D-2B7E-CD01-571A-E7703CFA5103}"/>
              </a:ext>
            </a:extLst>
          </p:cNvPr>
          <p:cNvSpPr/>
          <p:nvPr/>
        </p:nvSpPr>
        <p:spPr>
          <a:xfrm>
            <a:off x="15241488" y="154781"/>
            <a:ext cx="2863206" cy="338138"/>
          </a:xfrm>
          <a:prstGeom prst="rect">
            <a:avLst/>
          </a:prstGeom>
          <a:noFill/>
          <a:ln w="9525"/>
        </p:spPr>
        <p:txBody>
          <a:bodyPr wrap="square" lIns="25400" tIns="25400" rIns="25400" bIns="25400" rtlCol="0" anchor="t">
            <a:normAutofit fontScale="85000" lnSpcReduction="10000"/>
          </a:bodyPr>
          <a:lstStyle/>
          <a:p>
            <a:pPr marL="0" indent="0" algn="l">
              <a:buNone/>
            </a:pPr>
            <a:r>
              <a:rPr lang="en-US" sz="1800" kern="0" spc="72" dirty="0">
                <a:solidFill>
                  <a:srgbClr val="7A8290"/>
                </a:solidFill>
                <a:latin typeface="JetBrains Mono" pitchFamily="34" charset="0"/>
                <a:ea typeface="JetBrains Mono" pitchFamily="34" charset="-122"/>
                <a:cs typeface="JetBrains Mono" pitchFamily="34" charset="-120"/>
              </a:rPr>
              <a:t>15031001 · SEMESTER 1 / 2026</a:t>
            </a:r>
            <a:endParaRPr lang="en-US" sz="1800" dirty="0"/>
          </a:p>
        </p:txBody>
      </p:sp>
      <p:sp>
        <p:nvSpPr>
          <p:cNvPr id="10" name="Text 8">
            <a:extLst>
              <a:ext uri="{FF2B5EF4-FFF2-40B4-BE49-F238E27FC236}">
                <a16:creationId xmlns:a16="http://schemas.microsoft.com/office/drawing/2014/main" id="{CDBED9F5-0A98-E770-2C76-BA0B9BD871B9}"/>
              </a:ext>
            </a:extLst>
          </p:cNvPr>
          <p:cNvSpPr/>
          <p:nvPr/>
        </p:nvSpPr>
        <p:spPr>
          <a:xfrm>
            <a:off x="914400" y="1524000"/>
            <a:ext cx="4090162" cy="352425"/>
          </a:xfrm>
          <a:prstGeom prst="rect">
            <a:avLst/>
          </a:prstGeom>
          <a:noFill/>
          <a:ln w="9525"/>
        </p:spPr>
        <p:txBody>
          <a:bodyPr wrap="none" lIns="25400" tIns="25400" rIns="25400" bIns="25400" rtlCol="0" anchor="t">
            <a:sp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MAE FAH LUANG UNIVERSITY · SOFTWARE ENGINEERING</a:t>
            </a:r>
            <a:endParaRPr lang="en-US" sz="1800" dirty="0"/>
          </a:p>
        </p:txBody>
      </p:sp>
      <p:sp>
        <p:nvSpPr>
          <p:cNvPr id="11" name="Text 9">
            <a:extLst>
              <a:ext uri="{FF2B5EF4-FFF2-40B4-BE49-F238E27FC236}">
                <a16:creationId xmlns:a16="http://schemas.microsoft.com/office/drawing/2014/main" id="{39F83331-D37C-3CA9-67A1-98D29B8BD698}"/>
              </a:ext>
            </a:extLst>
          </p:cNvPr>
          <p:cNvSpPr/>
          <p:nvPr/>
        </p:nvSpPr>
        <p:spPr>
          <a:xfrm>
            <a:off x="914400" y="2406955"/>
            <a:ext cx="10401411" cy="1496307"/>
          </a:xfrm>
          <a:prstGeom prst="rect">
            <a:avLst/>
          </a:prstGeom>
          <a:noFill/>
          <a:ln w="9525"/>
        </p:spPr>
        <p:txBody>
          <a:bodyPr wrap="square" lIns="25400" tIns="25400" rIns="25400" bIns="25400" rtlCol="0" anchor="t">
            <a:spAutoFit/>
          </a:bodyPr>
          <a:lstStyle/>
          <a:p>
            <a:pPr marL="0" indent="0" algn="l">
              <a:lnSpc>
                <a:spcPct val="75000"/>
              </a:lnSpc>
              <a:buNone/>
            </a:pPr>
            <a:r>
              <a:rPr lang="en-US" sz="12000" b="1" kern="0" spc="-468" dirty="0">
                <a:solidFill>
                  <a:srgbClr val="0B0F19"/>
                </a:solidFill>
                <a:latin typeface="Space Grotesk" pitchFamily="34" charset="0"/>
                <a:ea typeface="Space Grotesk" pitchFamily="34" charset="-122"/>
              </a:rPr>
              <a:t>CHAPTER 1</a:t>
            </a:r>
            <a:endParaRPr lang="en-US" sz="12000" dirty="0"/>
          </a:p>
        </p:txBody>
      </p:sp>
      <p:sp>
        <p:nvSpPr>
          <p:cNvPr id="12" name="Text 10">
            <a:extLst>
              <a:ext uri="{FF2B5EF4-FFF2-40B4-BE49-F238E27FC236}">
                <a16:creationId xmlns:a16="http://schemas.microsoft.com/office/drawing/2014/main" id="{113C0A2F-C2FC-2442-707C-4FE42998074C}"/>
              </a:ext>
            </a:extLst>
          </p:cNvPr>
          <p:cNvSpPr/>
          <p:nvPr/>
        </p:nvSpPr>
        <p:spPr>
          <a:xfrm>
            <a:off x="914400" y="7238926"/>
            <a:ext cx="8229600" cy="430631"/>
          </a:xfrm>
          <a:prstGeom prst="rect">
            <a:avLst/>
          </a:prstGeom>
          <a:noFill/>
          <a:ln w="9525"/>
        </p:spPr>
        <p:txBody>
          <a:bodyPr wrap="square" lIns="25400" tIns="25400" rIns="25400" bIns="25400" rtlCol="0" anchor="t">
            <a:spAutoFit/>
          </a:bodyPr>
          <a:lstStyle/>
          <a:p>
            <a:pPr marL="0" indent="0" algn="l">
              <a:lnSpc>
                <a:spcPct val="135000"/>
              </a:lnSpc>
              <a:buNone/>
            </a:pPr>
            <a:r>
              <a:rPr lang="en-US" sz="2000" kern="0" spc="-11" dirty="0">
                <a:solidFill>
                  <a:srgbClr val="3A4250"/>
                </a:solidFill>
                <a:latin typeface="Space Grotesk" pitchFamily="34" charset="0"/>
                <a:ea typeface="Space Grotesk" pitchFamily="34" charset="-122"/>
                <a:cs typeface="Space Grotesk" pitchFamily="34" charset="-120"/>
              </a:rPr>
              <a:t>Introduction to Software Engineering</a:t>
            </a:r>
            <a:endParaRPr lang="en-US" sz="2000" dirty="0"/>
          </a:p>
        </p:txBody>
      </p:sp>
      <p:sp>
        <p:nvSpPr>
          <p:cNvPr id="13" name="Shape 12">
            <a:extLst>
              <a:ext uri="{FF2B5EF4-FFF2-40B4-BE49-F238E27FC236}">
                <a16:creationId xmlns:a16="http://schemas.microsoft.com/office/drawing/2014/main" id="{D3917586-2F8F-1CCE-1681-B1835AC65EDB}"/>
              </a:ext>
            </a:extLst>
          </p:cNvPr>
          <p:cNvSpPr/>
          <p:nvPr/>
        </p:nvSpPr>
        <p:spPr>
          <a:xfrm>
            <a:off x="11537780" y="4736835"/>
            <a:ext cx="1851560" cy="1851560"/>
          </a:xfrm>
          <a:prstGeom prst="ellipse">
            <a:avLst/>
          </a:prstGeom>
          <a:solidFill>
            <a:srgbClr val="16B670"/>
          </a:solidFill>
          <a:ln w="9525"/>
        </p:spPr>
        <p:txBody>
          <a:bodyPr/>
          <a:lstStyle/>
          <a:p>
            <a:endParaRPr lang="en-TH"/>
          </a:p>
        </p:txBody>
      </p:sp>
      <p:sp>
        <p:nvSpPr>
          <p:cNvPr id="14" name="Shape 12">
            <a:extLst>
              <a:ext uri="{FF2B5EF4-FFF2-40B4-BE49-F238E27FC236}">
                <a16:creationId xmlns:a16="http://schemas.microsoft.com/office/drawing/2014/main" id="{E52815B4-39E5-3258-DE9A-FE565B3C2E0D}"/>
              </a:ext>
            </a:extLst>
          </p:cNvPr>
          <p:cNvSpPr/>
          <p:nvPr/>
        </p:nvSpPr>
        <p:spPr>
          <a:xfrm>
            <a:off x="16079251" y="4449745"/>
            <a:ext cx="1387511" cy="1387511"/>
          </a:xfrm>
          <a:prstGeom prst="ellipse">
            <a:avLst/>
          </a:prstGeom>
          <a:solidFill>
            <a:schemeClr val="accent1"/>
          </a:solidFill>
          <a:ln w="9525"/>
        </p:spPr>
        <p:txBody>
          <a:bodyPr rtlCol="0" anchor="ctr"/>
          <a:lstStyle/>
          <a:p>
            <a:pPr algn="ctr"/>
            <a:endParaRPr/>
          </a:p>
        </p:txBody>
      </p:sp>
      <p:sp>
        <p:nvSpPr>
          <p:cNvPr id="15" name="Shape 15">
            <a:extLst>
              <a:ext uri="{FF2B5EF4-FFF2-40B4-BE49-F238E27FC236}">
                <a16:creationId xmlns:a16="http://schemas.microsoft.com/office/drawing/2014/main" id="{E8D63878-3A43-B14A-24D7-2045E13696FB}"/>
              </a:ext>
            </a:extLst>
          </p:cNvPr>
          <p:cNvSpPr/>
          <p:nvPr/>
        </p:nvSpPr>
        <p:spPr>
          <a:xfrm>
            <a:off x="13611309" y="5991199"/>
            <a:ext cx="2863206" cy="2863206"/>
          </a:xfrm>
          <a:prstGeom prst="ellipse">
            <a:avLst/>
          </a:prstGeom>
          <a:solidFill>
            <a:srgbClr val="FF5A47"/>
          </a:solidFill>
          <a:ln w="9525"/>
        </p:spPr>
        <p:txBody>
          <a:bodyPr/>
          <a:lstStyle/>
          <a:p>
            <a:endParaRPr lang="en-TH"/>
          </a:p>
        </p:txBody>
      </p:sp>
    </p:spTree>
    <p:extLst>
      <p:ext uri="{BB962C8B-B14F-4D97-AF65-F5344CB8AC3E}">
        <p14:creationId xmlns:p14="http://schemas.microsoft.com/office/powerpoint/2010/main" val="3896281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99305" name="Shape 12"/>
          <p:cNvSpPr/>
          <p:nvPr/>
        </p:nvSpPr>
        <p:spPr>
          <a:xfrm>
            <a:off x="15590126" y="2338479"/>
            <a:ext cx="3914387" cy="3914387"/>
          </a:xfrm>
          <a:prstGeom prst="ellipse">
            <a:avLst/>
          </a:prstGeom>
          <a:solidFill>
            <a:srgbClr val="16B670"/>
          </a:solidFill>
          <a:ln w="9525"/>
        </p:spPr>
        <p:txBody>
          <a:bodyPr/>
          <a:lstStyle/>
          <a:p>
            <a:endParaRPr lang="en-TH"/>
          </a:p>
        </p:txBody>
      </p:sp>
      <p:sp>
        <p:nvSpPr>
          <p:cNvPr id="13646681" name="Shape 15"/>
          <p:cNvSpPr/>
          <p:nvPr/>
        </p:nvSpPr>
        <p:spPr>
          <a:xfrm>
            <a:off x="13004473" y="8185958"/>
            <a:ext cx="3889732" cy="3889732"/>
          </a:xfrm>
          <a:prstGeom prst="ellipse">
            <a:avLst/>
          </a:prstGeom>
          <a:solidFill>
            <a:srgbClr val="FF5A47"/>
          </a:solidFill>
          <a:ln w="9525"/>
        </p:spPr>
        <p:txBody>
          <a:bodyPr/>
          <a:lstStyle/>
          <a:p>
            <a:endParaRPr lang="en-TH"/>
          </a:p>
        </p:txBody>
      </p:sp>
      <p:sp>
        <p:nvSpPr>
          <p:cNvPr id="61482237" name="Shape 12"/>
          <p:cNvSpPr/>
          <p:nvPr/>
        </p:nvSpPr>
        <p:spPr>
          <a:xfrm>
            <a:off x="16624440" y="7059389"/>
            <a:ext cx="2087699" cy="2087699"/>
          </a:xfrm>
          <a:prstGeom prst="ellipse">
            <a:avLst/>
          </a:prstGeom>
          <a:solidFill>
            <a:schemeClr val="accent1"/>
          </a:solidFill>
          <a:ln w="9525"/>
        </p:spPr>
        <p:txBody>
          <a:bodyPr rtlCol="0" anchor="ctr"/>
          <a:lstStyle/>
          <a:p>
            <a:pPr algn="ctr"/>
            <a:endParaRPr/>
          </a:p>
        </p:txBody>
      </p:sp>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p:cNvSpPr/>
          <p:nvPr/>
        </p:nvSpPr>
        <p:spPr>
          <a:xfrm>
            <a:off x="728216" y="154781"/>
            <a:ext cx="3889732"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p:cNvSpPr/>
          <p:nvPr/>
        </p:nvSpPr>
        <p:spPr>
          <a:xfrm>
            <a:off x="4771355" y="154781"/>
            <a:ext cx="4936877"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Chapter 1 · What SE is</a:t>
            </a:r>
            <a:endParaRPr lang="en-US" sz="1800" dirty="0"/>
          </a:p>
        </p:txBody>
      </p:sp>
      <p:sp>
        <p:nvSpPr>
          <p:cNvPr id="7" name="Text 5"/>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kern="0" spc="72" dirty="0">
                <a:solidFill>
                  <a:srgbClr val="7A8290"/>
                </a:solidFill>
                <a:latin typeface="JetBrains Mono" pitchFamily="34" charset="0"/>
                <a:ea typeface="JetBrains Mono" pitchFamily="34" charset="-122"/>
                <a:cs typeface="JetBrains Mono" pitchFamily="34" charset="-120"/>
              </a:rPr>
              <a:t>21</a:t>
            </a:r>
            <a:r>
              <a:rPr lang="en-US" sz="1800" kern="0" spc="72" dirty="0">
                <a:solidFill>
                  <a:srgbClr val="7A8290"/>
                </a:solidFill>
                <a:latin typeface="JetBrains Mono" pitchFamily="34" charset="0"/>
                <a:ea typeface="JetBrains Mono" pitchFamily="34" charset="-122"/>
                <a:cs typeface="JetBrains Mono" pitchFamily="34" charset="-120"/>
              </a:rPr>
              <a:t> / </a:t>
            </a:r>
            <a:r>
              <a:rPr lang="en-US" kern="0" spc="72" dirty="0">
                <a:solidFill>
                  <a:srgbClr val="7A8290"/>
                </a:solidFill>
                <a:latin typeface="JetBrains Mono" pitchFamily="34" charset="0"/>
                <a:ea typeface="JetBrains Mono" pitchFamily="34" charset="-122"/>
                <a:cs typeface="JetBrains Mono" pitchFamily="34" charset="-120"/>
              </a:rPr>
              <a:t>32</a:t>
            </a:r>
            <a:endParaRPr lang="en-US" sz="1800" dirty="0"/>
          </a:p>
        </p:txBody>
      </p:sp>
      <p:sp>
        <p:nvSpPr>
          <p:cNvPr id="9" name="Text 7"/>
          <p:cNvSpPr/>
          <p:nvPr/>
        </p:nvSpPr>
        <p:spPr>
          <a:xfrm>
            <a:off x="914400" y="1524000"/>
            <a:ext cx="4538650" cy="814479"/>
          </a:xfrm>
          <a:prstGeom prst="rect">
            <a:avLst/>
          </a:prstGeom>
          <a:noFill/>
          <a:ln w="9525"/>
        </p:spPr>
        <p:txBody>
          <a:bodyPr wrap="none" lIns="25400" tIns="25400" rIns="25400" bIns="25400" rtlCol="0" anchor="t">
            <a:spAutoFit/>
          </a:bodyPr>
          <a:lstStyle/>
          <a:p>
            <a:pPr marL="0" indent="0" algn="l">
              <a:lnSpc>
                <a:spcPct val="100000"/>
              </a:lnSpc>
              <a:buNone/>
            </a:pPr>
            <a:r>
              <a:rPr lang="en-US" sz="4706" b="1" kern="0" spc="-120" dirty="0">
                <a:solidFill>
                  <a:srgbClr val="0B0F19"/>
                </a:solidFill>
                <a:latin typeface="Space Grotesk" pitchFamily="34" charset="0"/>
                <a:ea typeface="Space Grotesk" pitchFamily="34" charset="-122"/>
                <a:cs typeface="Space Grotesk" pitchFamily="34" charset="-120"/>
              </a:rPr>
              <a:t>More than code</a:t>
            </a:r>
            <a:endParaRPr lang="en-US" sz="4706" dirty="0"/>
          </a:p>
        </p:txBody>
      </p:sp>
      <p:sp>
        <p:nvSpPr>
          <p:cNvPr id="10" name="Text 8"/>
          <p:cNvSpPr/>
          <p:nvPr/>
        </p:nvSpPr>
        <p:spPr>
          <a:xfrm>
            <a:off x="914400" y="2539937"/>
            <a:ext cx="11772900" cy="781050"/>
          </a:xfrm>
          <a:prstGeom prst="rect">
            <a:avLst/>
          </a:prstGeom>
          <a:noFill/>
          <a:ln w="9525"/>
        </p:spPr>
        <p:txBody>
          <a:bodyPr wrap="square" lIns="25400" tIns="25400" rIns="25400" bIns="25400" rtlCol="0" anchor="t">
            <a:spAutoFit/>
          </a:bodyPr>
          <a:lstStyle/>
          <a:p>
            <a:pPr marL="0" indent="0" algn="l">
              <a:lnSpc>
                <a:spcPct val="125000"/>
              </a:lnSpc>
              <a:buNone/>
            </a:pPr>
            <a:r>
              <a:rPr lang="en-US" dirty="0">
                <a:solidFill>
                  <a:srgbClr val="3A4250"/>
                </a:solidFill>
                <a:latin typeface="Space Grotesk" pitchFamily="34" charset="0"/>
                <a:ea typeface="Space Grotesk" pitchFamily="34" charset="-122"/>
                <a:cs typeface="Space Grotesk" pitchFamily="34" charset="-120"/>
              </a:rPr>
              <a:t>A program is code that runs. Software is the program plus everything that makes it usable and changeable — documentation, configuration, tests, data. A software product is engineered so that other people can use it, trust it, and change it years later.</a:t>
            </a:r>
            <a:endParaRPr lang="en-US" dirty="0"/>
          </a:p>
        </p:txBody>
      </p:sp>
      <p:sp>
        <p:nvSpPr>
          <p:cNvPr id="11" name="Shape 9"/>
          <p:cNvSpPr/>
          <p:nvPr/>
        </p:nvSpPr>
        <p:spPr>
          <a:xfrm>
            <a:off x="914400" y="3896271"/>
            <a:ext cx="8001000" cy="4058469"/>
          </a:xfrm>
          <a:prstGeom prst="roundRect">
            <a:avLst>
              <a:gd name="adj" fmla="val 4694"/>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12" name="Shape 10"/>
          <p:cNvSpPr/>
          <p:nvPr/>
        </p:nvSpPr>
        <p:spPr>
          <a:xfrm>
            <a:off x="914400" y="4239171"/>
            <a:ext cx="8001000" cy="9525"/>
          </a:xfrm>
          <a:prstGeom prst="rect">
            <a:avLst/>
          </a:prstGeom>
          <a:solidFill>
            <a:srgbClr val="EDEFF2"/>
          </a:solidFill>
          <a:ln w="9525"/>
        </p:spPr>
        <p:txBody>
          <a:bodyPr/>
          <a:lstStyle/>
          <a:p>
            <a:endParaRPr lang="en-TH"/>
          </a:p>
        </p:txBody>
      </p:sp>
      <p:sp>
        <p:nvSpPr>
          <p:cNvPr id="13" name="Shape 11"/>
          <p:cNvSpPr/>
          <p:nvPr/>
        </p:nvSpPr>
        <p:spPr>
          <a:xfrm>
            <a:off x="1047750" y="4010571"/>
            <a:ext cx="114300" cy="114300"/>
          </a:xfrm>
          <a:prstGeom prst="ellipse">
            <a:avLst/>
          </a:prstGeom>
          <a:solidFill>
            <a:srgbClr val="FF6058"/>
          </a:solidFill>
          <a:ln w="9525"/>
        </p:spPr>
        <p:txBody>
          <a:bodyPr/>
          <a:lstStyle/>
          <a:p>
            <a:endParaRPr lang="en-TH"/>
          </a:p>
        </p:txBody>
      </p:sp>
      <p:sp>
        <p:nvSpPr>
          <p:cNvPr id="14" name="Shape 12"/>
          <p:cNvSpPr/>
          <p:nvPr/>
        </p:nvSpPr>
        <p:spPr>
          <a:xfrm>
            <a:off x="1238250" y="4010571"/>
            <a:ext cx="114300" cy="114300"/>
          </a:xfrm>
          <a:prstGeom prst="ellipse">
            <a:avLst/>
          </a:prstGeom>
          <a:solidFill>
            <a:srgbClr val="FFBE2E"/>
          </a:solidFill>
          <a:ln w="9525"/>
        </p:spPr>
        <p:txBody>
          <a:bodyPr/>
          <a:lstStyle/>
          <a:p>
            <a:endParaRPr lang="en-TH"/>
          </a:p>
        </p:txBody>
      </p:sp>
      <p:sp>
        <p:nvSpPr>
          <p:cNvPr id="15" name="Shape 13"/>
          <p:cNvSpPr/>
          <p:nvPr/>
        </p:nvSpPr>
        <p:spPr>
          <a:xfrm>
            <a:off x="1428750" y="4010571"/>
            <a:ext cx="114300" cy="114300"/>
          </a:xfrm>
          <a:prstGeom prst="ellipse">
            <a:avLst/>
          </a:prstGeom>
          <a:solidFill>
            <a:srgbClr val="29CC42"/>
          </a:solidFill>
          <a:ln w="9525"/>
        </p:spPr>
        <p:txBody>
          <a:bodyPr/>
          <a:lstStyle/>
          <a:p>
            <a:endParaRPr lang="en-TH"/>
          </a:p>
        </p:txBody>
      </p:sp>
      <p:sp>
        <p:nvSpPr>
          <p:cNvPr id="16" name="Text 14"/>
          <p:cNvSpPr/>
          <p:nvPr/>
        </p:nvSpPr>
        <p:spPr>
          <a:xfrm>
            <a:off x="1295400" y="4472533"/>
            <a:ext cx="7456170" cy="338138"/>
          </a:xfrm>
          <a:prstGeom prst="rect">
            <a:avLst/>
          </a:prstGeom>
          <a:noFill/>
          <a:ln w="9525"/>
        </p:spPr>
        <p:txBody>
          <a:bodyPr wrap="square" lIns="25400" tIns="25400" rIns="25400" bIns="25400" rtlCol="0" anchor="t"/>
          <a:lstStyle/>
          <a:p>
            <a:pPr marL="0" indent="0" algn="l">
              <a:buNone/>
            </a:pPr>
            <a:r>
              <a:rPr lang="en-US" dirty="0">
                <a:solidFill>
                  <a:srgbClr val="7A8290"/>
                </a:solidFill>
                <a:latin typeface="JetBrains Mono" pitchFamily="34" charset="0"/>
                <a:ea typeface="JetBrains Mono" pitchFamily="34" charset="-122"/>
                <a:cs typeface="JetBrains Mono" pitchFamily="34" charset="-120"/>
              </a:rPr>
              <a:t>A PROGRAM</a:t>
            </a:r>
            <a:endParaRPr lang="en-US" dirty="0"/>
          </a:p>
        </p:txBody>
      </p:sp>
      <p:sp>
        <p:nvSpPr>
          <p:cNvPr id="17" name="Text 15"/>
          <p:cNvSpPr/>
          <p:nvPr/>
        </p:nvSpPr>
        <p:spPr>
          <a:xfrm>
            <a:off x="1295400" y="4905920"/>
            <a:ext cx="7456170" cy="500063"/>
          </a:xfrm>
          <a:prstGeom prst="rect">
            <a:avLst/>
          </a:prstGeom>
          <a:noFill/>
          <a:ln w="9525"/>
        </p:spPr>
        <p:txBody>
          <a:bodyPr wrap="square" lIns="25400" tIns="25400" rIns="25400" bIns="25400" rtlCol="0" anchor="t"/>
          <a:lstStyle/>
          <a:p>
            <a:pPr marL="0" indent="0" algn="l">
              <a:buNone/>
            </a:pPr>
            <a:r>
              <a:rPr lang="en-US" sz="3000" b="1" kern="0" spc="-57" dirty="0">
                <a:solidFill>
                  <a:srgbClr val="0B0F19"/>
                </a:solidFill>
                <a:latin typeface="Space Grotesk" pitchFamily="34" charset="0"/>
                <a:ea typeface="Space Grotesk" pitchFamily="34" charset="-122"/>
                <a:cs typeface="Space Grotesk" pitchFamily="34" charset="-120"/>
              </a:rPr>
              <a:t>Runs on your machine</a:t>
            </a:r>
            <a:endParaRPr lang="en-US" sz="3000" dirty="0"/>
          </a:p>
        </p:txBody>
      </p:sp>
      <p:sp>
        <p:nvSpPr>
          <p:cNvPr id="18" name="Text 16"/>
          <p:cNvSpPr/>
          <p:nvPr/>
        </p:nvSpPr>
        <p:spPr>
          <a:xfrm>
            <a:off x="1295400" y="5552033"/>
            <a:ext cx="7239000" cy="1115244"/>
          </a:xfrm>
          <a:prstGeom prst="rect">
            <a:avLst/>
          </a:prstGeom>
          <a:noFill/>
          <a:ln w="9525"/>
          <a:effectLst/>
        </p:spPr>
        <p:txBody>
          <a:bodyPr wrap="square" lIns="25400" tIns="25400" rIns="25400" bIns="25400" rtlCol="0" anchor="t"/>
          <a:lstStyle/>
          <a:p>
            <a:pPr marL="0" indent="0">
              <a:lnSpc>
                <a:spcPct val="125000"/>
              </a:lnSpc>
              <a:buNone/>
            </a:pPr>
            <a:r>
              <a:rPr lang="en-US" dirty="0">
                <a:solidFill>
                  <a:srgbClr val="3A4250"/>
                </a:solidFill>
                <a:latin typeface="Space Grotesk" pitchFamily="34" charset="0"/>
                <a:ea typeface="Space Grotesk" pitchFamily="34" charset="-122"/>
                <a:cs typeface="Space Grotesk" pitchFamily="34" charset="-120"/>
              </a:rPr>
              <a:t>You wrote it, you understand it, you are the only user. If it breaks you remember why. A script that renames your files is a program — and that is programming.</a:t>
            </a:r>
            <a:endParaRPr lang="en-US" dirty="0"/>
          </a:p>
        </p:txBody>
      </p:sp>
      <p:sp>
        <p:nvSpPr>
          <p:cNvPr id="19" name="Shape 17"/>
          <p:cNvSpPr/>
          <p:nvPr/>
        </p:nvSpPr>
        <p:spPr>
          <a:xfrm>
            <a:off x="1295400" y="7002239"/>
            <a:ext cx="533400" cy="533400"/>
          </a:xfrm>
          <a:prstGeom prst="roundRect">
            <a:avLst>
              <a:gd name="adj" fmla="val 17857"/>
            </a:avLst>
          </a:prstGeom>
          <a:solidFill>
            <a:schemeClr val="accent1"/>
          </a:solidFill>
          <a:ln w="9525"/>
        </p:spPr>
        <p:txBody>
          <a:bodyPr/>
          <a:lstStyle/>
          <a:p>
            <a:endParaRPr lang="en-TH"/>
          </a:p>
        </p:txBody>
      </p:sp>
      <p:sp>
        <p:nvSpPr>
          <p:cNvPr id="20" name="Shape 18"/>
          <p:cNvSpPr/>
          <p:nvPr/>
        </p:nvSpPr>
        <p:spPr>
          <a:xfrm>
            <a:off x="1924050" y="7002239"/>
            <a:ext cx="533400" cy="533400"/>
          </a:xfrm>
          <a:prstGeom prst="roundRect">
            <a:avLst>
              <a:gd name="adj" fmla="val 17857"/>
            </a:avLst>
          </a:prstGeom>
          <a:solidFill>
            <a:schemeClr val="accent2"/>
          </a:solidFill>
          <a:ln w="9525"/>
        </p:spPr>
        <p:txBody>
          <a:bodyPr/>
          <a:lstStyle/>
          <a:p>
            <a:endParaRPr lang="en-TH"/>
          </a:p>
        </p:txBody>
      </p:sp>
      <p:sp>
        <p:nvSpPr>
          <p:cNvPr id="21" name="Shape 19"/>
          <p:cNvSpPr/>
          <p:nvPr/>
        </p:nvSpPr>
        <p:spPr>
          <a:xfrm>
            <a:off x="2552700" y="7002239"/>
            <a:ext cx="533400" cy="533400"/>
          </a:xfrm>
          <a:prstGeom prst="roundRect">
            <a:avLst>
              <a:gd name="adj" fmla="val 17857"/>
            </a:avLst>
          </a:prstGeom>
          <a:solidFill>
            <a:schemeClr val="accent3"/>
          </a:solidFill>
          <a:ln w="9525"/>
        </p:spPr>
        <p:txBody>
          <a:bodyPr/>
          <a:lstStyle/>
          <a:p>
            <a:endParaRPr lang="en-TH"/>
          </a:p>
        </p:txBody>
      </p:sp>
      <p:sp>
        <p:nvSpPr>
          <p:cNvPr id="25" name="Shape 23"/>
          <p:cNvSpPr/>
          <p:nvPr/>
        </p:nvSpPr>
        <p:spPr>
          <a:xfrm>
            <a:off x="9372600" y="3896271"/>
            <a:ext cx="8001000" cy="4058469"/>
          </a:xfrm>
          <a:prstGeom prst="roundRect">
            <a:avLst>
              <a:gd name="adj" fmla="val 4694"/>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6" name="Shape 24"/>
          <p:cNvSpPr/>
          <p:nvPr/>
        </p:nvSpPr>
        <p:spPr>
          <a:xfrm>
            <a:off x="9372600" y="4239171"/>
            <a:ext cx="8001000" cy="9525"/>
          </a:xfrm>
          <a:prstGeom prst="rect">
            <a:avLst/>
          </a:prstGeom>
          <a:solidFill>
            <a:srgbClr val="EDEFF2"/>
          </a:solidFill>
          <a:ln w="9525"/>
        </p:spPr>
        <p:txBody>
          <a:bodyPr/>
          <a:lstStyle/>
          <a:p>
            <a:endParaRPr lang="en-TH"/>
          </a:p>
        </p:txBody>
      </p:sp>
      <p:sp>
        <p:nvSpPr>
          <p:cNvPr id="27" name="Shape 25"/>
          <p:cNvSpPr/>
          <p:nvPr/>
        </p:nvSpPr>
        <p:spPr>
          <a:xfrm>
            <a:off x="9505950" y="4010571"/>
            <a:ext cx="114300" cy="114300"/>
          </a:xfrm>
          <a:prstGeom prst="ellipse">
            <a:avLst/>
          </a:prstGeom>
          <a:solidFill>
            <a:srgbClr val="FF6058"/>
          </a:solidFill>
          <a:ln w="9525"/>
        </p:spPr>
        <p:txBody>
          <a:bodyPr/>
          <a:lstStyle/>
          <a:p>
            <a:endParaRPr lang="en-TH"/>
          </a:p>
        </p:txBody>
      </p:sp>
      <p:sp>
        <p:nvSpPr>
          <p:cNvPr id="28" name="Shape 26"/>
          <p:cNvSpPr/>
          <p:nvPr/>
        </p:nvSpPr>
        <p:spPr>
          <a:xfrm>
            <a:off x="9696450" y="4010571"/>
            <a:ext cx="114300" cy="114300"/>
          </a:xfrm>
          <a:prstGeom prst="ellipse">
            <a:avLst/>
          </a:prstGeom>
          <a:solidFill>
            <a:srgbClr val="FFBE2E"/>
          </a:solidFill>
          <a:ln w="9525"/>
        </p:spPr>
        <p:txBody>
          <a:bodyPr/>
          <a:lstStyle/>
          <a:p>
            <a:endParaRPr lang="en-TH"/>
          </a:p>
        </p:txBody>
      </p:sp>
      <p:sp>
        <p:nvSpPr>
          <p:cNvPr id="29" name="Shape 27"/>
          <p:cNvSpPr/>
          <p:nvPr/>
        </p:nvSpPr>
        <p:spPr>
          <a:xfrm>
            <a:off x="9886950" y="4010571"/>
            <a:ext cx="114300" cy="114300"/>
          </a:xfrm>
          <a:prstGeom prst="ellipse">
            <a:avLst/>
          </a:prstGeom>
          <a:solidFill>
            <a:srgbClr val="29CC42"/>
          </a:solidFill>
          <a:ln w="9525"/>
        </p:spPr>
        <p:txBody>
          <a:bodyPr/>
          <a:lstStyle/>
          <a:p>
            <a:endParaRPr lang="en-TH"/>
          </a:p>
        </p:txBody>
      </p:sp>
      <p:sp>
        <p:nvSpPr>
          <p:cNvPr id="30" name="Text 28"/>
          <p:cNvSpPr/>
          <p:nvPr/>
        </p:nvSpPr>
        <p:spPr>
          <a:xfrm>
            <a:off x="9753600" y="4472533"/>
            <a:ext cx="7456170" cy="338138"/>
          </a:xfrm>
          <a:prstGeom prst="rect">
            <a:avLst/>
          </a:prstGeom>
          <a:noFill/>
          <a:ln w="9525"/>
        </p:spPr>
        <p:txBody>
          <a:bodyPr wrap="square" lIns="25400" tIns="25400" rIns="25400" bIns="25400" rtlCol="0" anchor="t"/>
          <a:lstStyle/>
          <a:p>
            <a:pPr marL="0" indent="0" algn="l">
              <a:buNone/>
            </a:pPr>
            <a:r>
              <a:rPr lang="en-US" dirty="0">
                <a:solidFill>
                  <a:srgbClr val="7A8290"/>
                </a:solidFill>
                <a:latin typeface="JetBrains Mono" pitchFamily="34" charset="0"/>
                <a:ea typeface="JetBrains Mono" pitchFamily="34" charset="-122"/>
                <a:cs typeface="JetBrains Mono" pitchFamily="34" charset="-120"/>
              </a:rPr>
              <a:t>A SOFTWARE PRODUCT</a:t>
            </a:r>
            <a:endParaRPr lang="en-US" dirty="0"/>
          </a:p>
        </p:txBody>
      </p:sp>
      <p:sp>
        <p:nvSpPr>
          <p:cNvPr id="31" name="Text 29"/>
          <p:cNvSpPr/>
          <p:nvPr/>
        </p:nvSpPr>
        <p:spPr>
          <a:xfrm>
            <a:off x="9753600" y="4905920"/>
            <a:ext cx="7456170" cy="500063"/>
          </a:xfrm>
          <a:prstGeom prst="rect">
            <a:avLst/>
          </a:prstGeom>
          <a:noFill/>
          <a:ln w="9525"/>
        </p:spPr>
        <p:txBody>
          <a:bodyPr wrap="square" lIns="25400" tIns="25400" rIns="25400" bIns="25400" rtlCol="0" anchor="t"/>
          <a:lstStyle/>
          <a:p>
            <a:pPr marL="0" indent="0" algn="l">
              <a:buNone/>
            </a:pPr>
            <a:r>
              <a:rPr lang="en-US" sz="3000" b="1" kern="0" spc="-57" dirty="0">
                <a:solidFill>
                  <a:srgbClr val="0B0F19"/>
                </a:solidFill>
                <a:latin typeface="Space Grotesk" pitchFamily="34" charset="0"/>
                <a:ea typeface="Space Grotesk" pitchFamily="34" charset="-122"/>
                <a:cs typeface="Space Grotesk" pitchFamily="34" charset="-120"/>
              </a:rPr>
              <a:t>Runs for people you never meet</a:t>
            </a:r>
            <a:endParaRPr lang="en-US" sz="3000" dirty="0"/>
          </a:p>
        </p:txBody>
      </p:sp>
      <p:sp>
        <p:nvSpPr>
          <p:cNvPr id="32" name="Text 30"/>
          <p:cNvSpPr/>
          <p:nvPr/>
        </p:nvSpPr>
        <p:spPr>
          <a:xfrm>
            <a:off x="9753600" y="5552033"/>
            <a:ext cx="7456170" cy="1115244"/>
          </a:xfrm>
          <a:prstGeom prst="rect">
            <a:avLst/>
          </a:prstGeom>
          <a:noFill/>
          <a:ln w="9525"/>
        </p:spPr>
        <p:txBody>
          <a:bodyPr wrap="square" lIns="25400" tIns="25400" rIns="25400" bIns="25400" rtlCol="0" anchor="t"/>
          <a:lstStyle/>
          <a:p>
            <a:pPr marL="0" indent="0" algn="l">
              <a:lnSpc>
                <a:spcPct val="125000"/>
              </a:lnSpc>
              <a:buNone/>
            </a:pPr>
            <a:r>
              <a:rPr lang="en-US" dirty="0">
                <a:solidFill>
                  <a:srgbClr val="3A4250"/>
                </a:solidFill>
                <a:latin typeface="Space Grotesk" pitchFamily="34" charset="0"/>
                <a:ea typeface="Space Grotesk" pitchFamily="34" charset="-122"/>
                <a:cs typeface="Space Grotesk" pitchFamily="34" charset="-120"/>
              </a:rPr>
              <a:t>Strangers depend on it, teammates who did not write it must change it, and it has to survive years of new requirements. Producing that is software engineering.</a:t>
            </a:r>
            <a:endParaRPr lang="en-US" dirty="0"/>
          </a:p>
        </p:txBody>
      </p:sp>
      <p:sp>
        <p:nvSpPr>
          <p:cNvPr id="33" name="Shape 31"/>
          <p:cNvSpPr/>
          <p:nvPr/>
        </p:nvSpPr>
        <p:spPr>
          <a:xfrm>
            <a:off x="9753600" y="7002239"/>
            <a:ext cx="1485156" cy="381000"/>
          </a:xfrm>
          <a:prstGeom prst="roundRect">
            <a:avLst>
              <a:gd name="adj" fmla="val 50000"/>
            </a:avLst>
          </a:prstGeom>
          <a:solidFill>
            <a:srgbClr val="E4E7EC"/>
          </a:solidFill>
          <a:ln w="9525"/>
        </p:spPr>
        <p:txBody>
          <a:bodyPr/>
          <a:lstStyle/>
          <a:p>
            <a:endParaRPr lang="en-TH"/>
          </a:p>
        </p:txBody>
      </p:sp>
      <p:sp>
        <p:nvSpPr>
          <p:cNvPr id="34" name="Text 32"/>
          <p:cNvSpPr/>
          <p:nvPr/>
        </p:nvSpPr>
        <p:spPr>
          <a:xfrm>
            <a:off x="9886950" y="7059389"/>
            <a:ext cx="1218456" cy="266700"/>
          </a:xfrm>
          <a:prstGeom prst="rect">
            <a:avLst/>
          </a:prstGeom>
          <a:noFill/>
          <a:ln w="9525"/>
        </p:spPr>
        <p:txBody>
          <a:bodyPr wrap="square" lIns="25400" tIns="25400" rIns="25400" bIns="25400" rtlCol="0" anchor="ctr">
            <a:normAutofit fontScale="92500" lnSpcReduction="20000"/>
          </a:bodyPr>
          <a:lstStyle/>
          <a:p>
            <a:pPr marL="0" indent="0" algn="ctr">
              <a:lnSpc>
                <a:spcPct val="100000"/>
              </a:lnSpc>
              <a:buNone/>
            </a:pPr>
            <a:r>
              <a:rPr lang="en-US" sz="1800" dirty="0">
                <a:solidFill>
                  <a:srgbClr val="0B0F19"/>
                </a:solidFill>
                <a:latin typeface="Space Grotesk" pitchFamily="34" charset="0"/>
                <a:ea typeface="Space Grotesk" pitchFamily="34" charset="-122"/>
                <a:cs typeface="Space Grotesk" pitchFamily="34" charset="-120"/>
              </a:rPr>
              <a:t>process</a:t>
            </a:r>
            <a:endParaRPr lang="en-US" sz="1800" dirty="0"/>
          </a:p>
        </p:txBody>
      </p:sp>
      <p:sp>
        <p:nvSpPr>
          <p:cNvPr id="35" name="Text 33"/>
          <p:cNvSpPr/>
          <p:nvPr/>
        </p:nvSpPr>
        <p:spPr>
          <a:xfrm>
            <a:off x="11372106" y="7042721"/>
            <a:ext cx="213866"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a:t>
            </a:r>
            <a:endParaRPr lang="en-US" sz="1800" dirty="0"/>
          </a:p>
        </p:txBody>
      </p:sp>
      <p:sp>
        <p:nvSpPr>
          <p:cNvPr id="36" name="Shape 34"/>
          <p:cNvSpPr/>
          <p:nvPr/>
        </p:nvSpPr>
        <p:spPr>
          <a:xfrm>
            <a:off x="11643122" y="7002239"/>
            <a:ext cx="1248742" cy="381000"/>
          </a:xfrm>
          <a:prstGeom prst="roundRect">
            <a:avLst>
              <a:gd name="adj" fmla="val 50000"/>
            </a:avLst>
          </a:prstGeom>
          <a:solidFill>
            <a:srgbClr val="FFE0DC"/>
          </a:solidFill>
          <a:ln w="9525"/>
        </p:spPr>
        <p:txBody>
          <a:bodyPr/>
          <a:lstStyle/>
          <a:p>
            <a:endParaRPr lang="en-TH"/>
          </a:p>
        </p:txBody>
      </p:sp>
      <p:sp>
        <p:nvSpPr>
          <p:cNvPr id="37" name="Text 35"/>
          <p:cNvSpPr/>
          <p:nvPr/>
        </p:nvSpPr>
        <p:spPr>
          <a:xfrm>
            <a:off x="11776472" y="7059389"/>
            <a:ext cx="982042" cy="266700"/>
          </a:xfrm>
          <a:prstGeom prst="rect">
            <a:avLst/>
          </a:prstGeom>
          <a:noFill/>
          <a:ln w="9525"/>
        </p:spPr>
        <p:txBody>
          <a:bodyPr wrap="square" lIns="25400" tIns="25400" rIns="25400" bIns="25400" rtlCol="0" anchor="ctr">
            <a:normAutofit fontScale="92500" lnSpcReduction="20000"/>
          </a:bodyPr>
          <a:lstStyle/>
          <a:p>
            <a:pPr marL="0" indent="0" algn="ctr">
              <a:lnSpc>
                <a:spcPct val="100000"/>
              </a:lnSpc>
              <a:buNone/>
            </a:pPr>
            <a:r>
              <a:rPr lang="en-US" sz="1800" dirty="0">
                <a:solidFill>
                  <a:srgbClr val="B23A2D"/>
                </a:solidFill>
                <a:latin typeface="Space Grotesk" pitchFamily="34" charset="0"/>
                <a:ea typeface="Space Grotesk" pitchFamily="34" charset="-122"/>
                <a:cs typeface="Space Grotesk" pitchFamily="34" charset="-120"/>
              </a:rPr>
              <a:t>team</a:t>
            </a:r>
            <a:endParaRPr lang="en-US" sz="1800" dirty="0"/>
          </a:p>
        </p:txBody>
      </p:sp>
      <p:sp>
        <p:nvSpPr>
          <p:cNvPr id="38" name="Text 36"/>
          <p:cNvSpPr/>
          <p:nvPr/>
        </p:nvSpPr>
        <p:spPr>
          <a:xfrm>
            <a:off x="13025214" y="7042721"/>
            <a:ext cx="213866"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a:t>
            </a:r>
            <a:endParaRPr lang="en-US" sz="1800" dirty="0"/>
          </a:p>
        </p:txBody>
      </p:sp>
      <p:sp>
        <p:nvSpPr>
          <p:cNvPr id="39" name="Shape 37"/>
          <p:cNvSpPr/>
          <p:nvPr/>
        </p:nvSpPr>
        <p:spPr>
          <a:xfrm>
            <a:off x="13296230" y="7002239"/>
            <a:ext cx="1248742" cy="381000"/>
          </a:xfrm>
          <a:prstGeom prst="roundRect">
            <a:avLst>
              <a:gd name="adj" fmla="val 50000"/>
            </a:avLst>
          </a:prstGeom>
          <a:solidFill>
            <a:srgbClr val="FFE0DC"/>
          </a:solidFill>
          <a:ln w="9525"/>
        </p:spPr>
        <p:txBody>
          <a:bodyPr/>
          <a:lstStyle/>
          <a:p>
            <a:endParaRPr lang="en-TH"/>
          </a:p>
        </p:txBody>
      </p:sp>
      <p:sp>
        <p:nvSpPr>
          <p:cNvPr id="40" name="Text 38"/>
          <p:cNvSpPr/>
          <p:nvPr/>
        </p:nvSpPr>
        <p:spPr>
          <a:xfrm>
            <a:off x="13429580" y="7059389"/>
            <a:ext cx="982042" cy="266700"/>
          </a:xfrm>
          <a:prstGeom prst="rect">
            <a:avLst/>
          </a:prstGeom>
          <a:noFill/>
          <a:ln w="9525"/>
        </p:spPr>
        <p:txBody>
          <a:bodyPr wrap="square" lIns="25400" tIns="25400" rIns="25400" bIns="25400" rtlCol="0" anchor="ctr">
            <a:normAutofit fontScale="92500" lnSpcReduction="20000"/>
          </a:bodyPr>
          <a:lstStyle/>
          <a:p>
            <a:pPr marL="0" indent="0" algn="ctr">
              <a:lnSpc>
                <a:spcPct val="100000"/>
              </a:lnSpc>
              <a:buNone/>
            </a:pPr>
            <a:r>
              <a:rPr lang="en-US" sz="1800" dirty="0">
                <a:solidFill>
                  <a:srgbClr val="B23A2D"/>
                </a:solidFill>
                <a:latin typeface="Space Grotesk" pitchFamily="34" charset="0"/>
                <a:ea typeface="Space Grotesk" pitchFamily="34" charset="-122"/>
                <a:cs typeface="Space Grotesk" pitchFamily="34" charset="-120"/>
              </a:rPr>
              <a:t>over years</a:t>
            </a:r>
            <a:endParaRPr lang="en-US" sz="1800" dirty="0"/>
          </a:p>
        </p:txBody>
      </p:sp>
      <p:sp>
        <p:nvSpPr>
          <p:cNvPr id="41" name="Text 39"/>
          <p:cNvSpPr/>
          <p:nvPr/>
        </p:nvSpPr>
        <p:spPr>
          <a:xfrm>
            <a:off x="14678323" y="7042721"/>
            <a:ext cx="213866"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a:t>
            </a:r>
            <a:endParaRPr lang="en-US" sz="1800" dirty="0"/>
          </a:p>
        </p:txBody>
      </p:sp>
      <p:sp>
        <p:nvSpPr>
          <p:cNvPr id="42" name="Shape 40"/>
          <p:cNvSpPr/>
          <p:nvPr/>
        </p:nvSpPr>
        <p:spPr>
          <a:xfrm>
            <a:off x="14949339" y="7002239"/>
            <a:ext cx="1513805" cy="381000"/>
          </a:xfrm>
          <a:prstGeom prst="roundRect">
            <a:avLst>
              <a:gd name="adj" fmla="val 50000"/>
            </a:avLst>
          </a:prstGeom>
          <a:solidFill>
            <a:srgbClr val="FFE0DC"/>
          </a:solidFill>
          <a:ln w="9525"/>
        </p:spPr>
        <p:txBody>
          <a:bodyPr/>
          <a:lstStyle/>
          <a:p>
            <a:endParaRPr lang="en-TH"/>
          </a:p>
        </p:txBody>
      </p:sp>
      <p:sp>
        <p:nvSpPr>
          <p:cNvPr id="43" name="Text 41"/>
          <p:cNvSpPr/>
          <p:nvPr/>
        </p:nvSpPr>
        <p:spPr>
          <a:xfrm>
            <a:off x="15082689" y="7059389"/>
            <a:ext cx="1247105" cy="266700"/>
          </a:xfrm>
          <a:prstGeom prst="rect">
            <a:avLst/>
          </a:prstGeom>
          <a:noFill/>
          <a:ln w="9525"/>
        </p:spPr>
        <p:txBody>
          <a:bodyPr wrap="square" lIns="25400" tIns="25400" rIns="25400" bIns="25400" rtlCol="0" anchor="ctr">
            <a:normAutofit fontScale="92500" lnSpcReduction="20000"/>
          </a:bodyPr>
          <a:lstStyle/>
          <a:p>
            <a:pPr marL="0" indent="0" algn="ctr">
              <a:lnSpc>
                <a:spcPct val="100000"/>
              </a:lnSpc>
              <a:buNone/>
            </a:pPr>
            <a:r>
              <a:rPr lang="en-US" sz="1800" dirty="0">
                <a:solidFill>
                  <a:srgbClr val="B23A2D"/>
                </a:solidFill>
                <a:latin typeface="Space Grotesk" pitchFamily="34" charset="0"/>
                <a:ea typeface="Space Grotesk" pitchFamily="34" charset="-122"/>
                <a:cs typeface="Space Grotesk" pitchFamily="34" charset="-120"/>
              </a:rPr>
              <a:t>a product</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1" y="154783"/>
            <a:ext cx="213866" cy="338138"/>
          </a:xfrm>
          <a:prstGeom prst="rect">
            <a:avLst/>
          </a:prstGeom>
          <a:noFill/>
          <a:ln w="9525"/>
        </p:spPr>
        <p:txBody>
          <a:bodyPr wrap="square" lIns="25400" tIns="25400" rIns="25400" bIns="25400" rtlCol="0" anchor="t">
            <a:normAutofit/>
          </a:bodyPr>
          <a:lstStyle/>
          <a:p>
            <a:r>
              <a:rPr lang="en-US" b="1" dirty="0">
                <a:solidFill>
                  <a:srgbClr val="0B0F19"/>
                </a:solidFill>
                <a:latin typeface="JetBrains Mono" pitchFamily="34" charset="0"/>
                <a:ea typeface="JetBrains Mono" pitchFamily="34" charset="-122"/>
                <a:cs typeface="JetBrains Mono" pitchFamily="34" charset="-120"/>
              </a:rPr>
              <a:t>▶</a:t>
            </a:r>
            <a:endParaRPr lang="en-US" dirty="0"/>
          </a:p>
        </p:txBody>
      </p:sp>
      <p:sp>
        <p:nvSpPr>
          <p:cNvPr id="5" name="Text 3"/>
          <p:cNvSpPr/>
          <p:nvPr/>
        </p:nvSpPr>
        <p:spPr>
          <a:xfrm>
            <a:off x="728216" y="154783"/>
            <a:ext cx="3889733"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p:cNvSpPr/>
          <p:nvPr/>
        </p:nvSpPr>
        <p:spPr>
          <a:xfrm>
            <a:off x="4771357" y="154783"/>
            <a:ext cx="1988939" cy="338138"/>
          </a:xfrm>
          <a:prstGeom prst="rect">
            <a:avLst/>
          </a:prstGeom>
          <a:noFill/>
          <a:ln w="9525"/>
        </p:spPr>
        <p:txBody>
          <a:bodyPr wrap="square" lIns="25400" tIns="25400" rIns="25400" bIns="25400" rtlCol="0" anchor="t">
            <a:normAutofit/>
          </a:bodyPr>
          <a:lstStyle/>
          <a:p>
            <a:r>
              <a:rPr lang="en-US" dirty="0">
                <a:solidFill>
                  <a:srgbClr val="7A8290"/>
                </a:solidFill>
                <a:latin typeface="JetBrains Mono" pitchFamily="34" charset="0"/>
                <a:ea typeface="JetBrains Mono" pitchFamily="34" charset="-122"/>
                <a:cs typeface="JetBrains Mono" pitchFamily="34" charset="-120"/>
              </a:rPr>
              <a:t>Page · What is SE</a:t>
            </a:r>
          </a:p>
        </p:txBody>
      </p:sp>
      <p:sp>
        <p:nvSpPr>
          <p:cNvPr id="7" name="Text 5"/>
          <p:cNvSpPr/>
          <p:nvPr/>
        </p:nvSpPr>
        <p:spPr>
          <a:xfrm>
            <a:off x="16997139" y="154783"/>
            <a:ext cx="1100361" cy="338138"/>
          </a:xfrm>
          <a:prstGeom prst="rect">
            <a:avLst/>
          </a:prstGeom>
          <a:noFill/>
          <a:ln w="9525"/>
        </p:spPr>
        <p:txBody>
          <a:bodyPr wrap="square" lIns="25400" tIns="25400" rIns="25400" bIns="25400" rtlCol="0" anchor="t">
            <a:normAutofit/>
          </a:bodyPr>
          <a:lstStyle/>
          <a:p>
            <a:r>
              <a:rPr lang="en-US" kern="0" spc="72" dirty="0">
                <a:solidFill>
                  <a:srgbClr val="7A8290"/>
                </a:solidFill>
                <a:latin typeface="JetBrains Mono" pitchFamily="34" charset="0"/>
                <a:ea typeface="JetBrains Mono" pitchFamily="34" charset="-122"/>
                <a:cs typeface="JetBrains Mono" pitchFamily="34" charset="-120"/>
              </a:rPr>
              <a:t>22 / 32</a:t>
            </a:r>
            <a:endParaRPr lang="en-US" dirty="0"/>
          </a:p>
        </p:txBody>
      </p:sp>
      <p:sp>
        <p:nvSpPr>
          <p:cNvPr id="9" name="Text 7"/>
          <p:cNvSpPr/>
          <p:nvPr/>
        </p:nvSpPr>
        <p:spPr>
          <a:xfrm>
            <a:off x="914400" y="1676401"/>
            <a:ext cx="7181469" cy="338138"/>
          </a:xfrm>
          <a:prstGeom prst="rect">
            <a:avLst/>
          </a:prstGeom>
          <a:noFill/>
          <a:ln w="9525"/>
        </p:spPr>
        <p:txBody>
          <a:bodyPr wrap="square" lIns="25400" tIns="25400" rIns="25400" bIns="25400" rtlCol="0" anchor="t">
            <a:normAutofit/>
          </a:bodyPr>
          <a:lstStyle/>
          <a:p>
            <a:r>
              <a:rPr lang="en-US" kern="0" spc="108" dirty="0">
                <a:solidFill>
                  <a:srgbClr val="7A8290"/>
                </a:solidFill>
                <a:latin typeface="JetBrains Mono" pitchFamily="34" charset="0"/>
                <a:ea typeface="JetBrains Mono" pitchFamily="34" charset="-122"/>
                <a:cs typeface="JetBrains Mono" pitchFamily="34" charset="-120"/>
              </a:rPr>
              <a:t>CORE LECTURE · WHAT &amp; WHY</a:t>
            </a:r>
          </a:p>
        </p:txBody>
      </p:sp>
      <p:sp>
        <p:nvSpPr>
          <p:cNvPr id="10" name="Text 8"/>
          <p:cNvSpPr/>
          <p:nvPr/>
        </p:nvSpPr>
        <p:spPr>
          <a:xfrm>
            <a:off x="914400" y="2147889"/>
            <a:ext cx="6799920" cy="1528624"/>
          </a:xfrm>
          <a:prstGeom prst="rect">
            <a:avLst/>
          </a:prstGeom>
          <a:noFill/>
          <a:ln w="9525"/>
        </p:spPr>
        <p:txBody>
          <a:bodyPr wrap="square" lIns="25400" tIns="25400" rIns="25400" bIns="25400" rtlCol="0" anchor="t">
            <a:spAutoFit/>
          </a:bodyPr>
          <a:lstStyle/>
          <a:p>
            <a:r>
              <a:rPr lang="en-US" sz="4800" b="1" kern="0" spc="-135" dirty="0">
                <a:solidFill>
                  <a:srgbClr val="0B0F19"/>
                </a:solidFill>
                <a:latin typeface="Space Grotesk" pitchFamily="34" charset="0"/>
                <a:ea typeface="Space Grotesk" pitchFamily="34" charset="-122"/>
                <a:cs typeface="Space Grotesk" pitchFamily="34" charset="-120"/>
              </a:rPr>
              <a:t>What is software engineering?</a:t>
            </a:r>
          </a:p>
        </p:txBody>
      </p:sp>
      <p:sp>
        <p:nvSpPr>
          <p:cNvPr id="11" name="Text 9"/>
          <p:cNvSpPr/>
          <p:nvPr/>
        </p:nvSpPr>
        <p:spPr>
          <a:xfrm>
            <a:off x="914400" y="4006274"/>
            <a:ext cx="6324600" cy="1756891"/>
          </a:xfrm>
          <a:prstGeom prst="rect">
            <a:avLst/>
          </a:prstGeom>
          <a:noFill/>
          <a:ln w="9525"/>
          <a:effectLst/>
        </p:spPr>
        <p:txBody>
          <a:bodyPr wrap="square" lIns="25400" tIns="25400" rIns="25400" bIns="25400" rtlCol="0" anchor="t">
            <a:spAutoFit/>
          </a:bodyPr>
          <a:lstStyle/>
          <a:p>
            <a:pPr>
              <a:lnSpc>
                <a:spcPct val="125000"/>
              </a:lnSpc>
            </a:pPr>
            <a:r>
              <a:rPr lang="en-US" dirty="0">
                <a:solidFill>
                  <a:srgbClr val="3A4250"/>
                </a:solidFill>
                <a:latin typeface="Space Grotesk" pitchFamily="34" charset="0"/>
                <a:ea typeface="Space Grotesk" pitchFamily="34" charset="-122"/>
                <a:cs typeface="Space Grotesk" pitchFamily="34" charset="-120"/>
              </a:rPr>
              <a:t>Software engineering is the disciplined practice of building software that a team can maintain, that behaves safely under real conditions, and that keeps serving users long after release. Code that merely compiles is not the same as software that is safe and reliable.</a:t>
            </a:r>
          </a:p>
        </p:txBody>
      </p:sp>
      <p:sp>
        <p:nvSpPr>
          <p:cNvPr id="12" name="Shape 10"/>
          <p:cNvSpPr/>
          <p:nvPr/>
        </p:nvSpPr>
        <p:spPr>
          <a:xfrm>
            <a:off x="914400" y="6603803"/>
            <a:ext cx="6324600" cy="2540198"/>
          </a:xfrm>
          <a:prstGeom prst="roundRect">
            <a:avLst>
              <a:gd name="adj" fmla="val 7499"/>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13" name="Text 11"/>
          <p:cNvSpPr/>
          <p:nvPr/>
        </p:nvSpPr>
        <p:spPr>
          <a:xfrm>
            <a:off x="1219200" y="6870503"/>
            <a:ext cx="5886450" cy="338138"/>
          </a:xfrm>
          <a:prstGeom prst="rect">
            <a:avLst/>
          </a:prstGeom>
          <a:noFill/>
          <a:ln w="9525"/>
        </p:spPr>
        <p:txBody>
          <a:bodyPr wrap="square" lIns="25400" tIns="25400" rIns="25400" bIns="25400" rtlCol="0" anchor="t">
            <a:normAutofit/>
          </a:bodyPr>
          <a:lstStyle/>
          <a:p>
            <a:r>
              <a:rPr lang="en-US" kern="0" spc="72" dirty="0">
                <a:solidFill>
                  <a:srgbClr val="7A8290"/>
                </a:solidFill>
                <a:latin typeface="JetBrains Mono" pitchFamily="34" charset="0"/>
                <a:ea typeface="JetBrains Mono" pitchFamily="34" charset="-122"/>
                <a:cs typeface="JetBrains Mono" pitchFamily="34" charset="-120"/>
              </a:rPr>
              <a:t>LIFETIME COST · MAINTENANCE</a:t>
            </a:r>
          </a:p>
        </p:txBody>
      </p:sp>
      <p:sp>
        <p:nvSpPr>
          <p:cNvPr id="14" name="Text 12"/>
          <p:cNvSpPr/>
          <p:nvPr/>
        </p:nvSpPr>
        <p:spPr>
          <a:xfrm>
            <a:off x="1219200" y="7335639"/>
            <a:ext cx="5886450" cy="876300"/>
          </a:xfrm>
          <a:prstGeom prst="rect">
            <a:avLst/>
          </a:prstGeom>
          <a:noFill/>
          <a:ln w="9525"/>
        </p:spPr>
        <p:txBody>
          <a:bodyPr wrap="square" lIns="25400" tIns="25400" rIns="25400" bIns="25400" rtlCol="0" anchor="t">
            <a:normAutofit fontScale="92500" lnSpcReduction="20000"/>
          </a:bodyPr>
          <a:lstStyle/>
          <a:p>
            <a:r>
              <a:rPr lang="en-US" sz="6600" b="1" kern="0" spc="-264" dirty="0">
                <a:solidFill>
                  <a:srgbClr val="2D5BFF"/>
                </a:solidFill>
                <a:latin typeface="Space Grotesk" pitchFamily="34" charset="0"/>
                <a:ea typeface="Space Grotesk" pitchFamily="34" charset="-122"/>
                <a:cs typeface="Space Grotesk" pitchFamily="34" charset="-120"/>
              </a:rPr>
              <a:t>60%+</a:t>
            </a:r>
          </a:p>
        </p:txBody>
      </p:sp>
      <p:sp>
        <p:nvSpPr>
          <p:cNvPr id="15" name="Text 13"/>
          <p:cNvSpPr/>
          <p:nvPr/>
        </p:nvSpPr>
        <p:spPr>
          <a:xfrm>
            <a:off x="1219200" y="8288140"/>
            <a:ext cx="5886450" cy="678062"/>
          </a:xfrm>
          <a:prstGeom prst="rect">
            <a:avLst/>
          </a:prstGeom>
          <a:noFill/>
          <a:ln w="9525"/>
        </p:spPr>
        <p:txBody>
          <a:bodyPr wrap="square" lIns="25400" tIns="25400" rIns="25400" bIns="25400" rtlCol="0" anchor="t">
            <a:normAutofit fontScale="85000" lnSpcReduction="10000"/>
          </a:bodyPr>
          <a:lstStyle/>
          <a:p>
            <a:pPr>
              <a:lnSpc>
                <a:spcPct val="125000"/>
              </a:lnSpc>
            </a:pPr>
            <a:r>
              <a:rPr lang="en-US" dirty="0">
                <a:solidFill>
                  <a:srgbClr val="3A4250"/>
                </a:solidFill>
                <a:latin typeface="Space Grotesk" pitchFamily="34" charset="0"/>
                <a:ea typeface="Space Grotesk" pitchFamily="34" charset="-122"/>
                <a:cs typeface="Space Grotesk" pitchFamily="34" charset="-120"/>
              </a:rPr>
              <a:t>of a software system's total cost is spent after launch — on maintenance, fixes, and change. Planning for that life is engineering.</a:t>
            </a:r>
          </a:p>
        </p:txBody>
      </p:sp>
      <p:pic>
        <p:nvPicPr>
          <p:cNvPr id="17" name="A captivating view of the historic Tennessee State Capitol in Nashville, showcasing its classic architecture." descr="preencoded.png"/>
          <p:cNvPicPr>
            <a:picLocks noChangeAspect="1"/>
          </p:cNvPicPr>
          <p:nvPr/>
        </p:nvPicPr>
        <p:blipFill>
          <a:blip r:embed="rId3"/>
          <a:srcRect b="45620"/>
          <a:stretch/>
        </p:blipFill>
        <p:spPr>
          <a:xfrm>
            <a:off x="8420100" y="1524000"/>
            <a:ext cx="8953500" cy="7620000"/>
          </a:xfrm>
          <a:prstGeom prst="roundRect">
            <a:avLst>
              <a:gd name="adj" fmla="val 3166"/>
            </a:avLst>
          </a:prstGeom>
        </p:spPr>
      </p:pic>
    </p:spTree>
    <p:extLst>
      <p:ext uri="{BB962C8B-B14F-4D97-AF65-F5344CB8AC3E}">
        <p14:creationId xmlns:p14="http://schemas.microsoft.com/office/powerpoint/2010/main" val="40869906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1" y="154783"/>
            <a:ext cx="213866" cy="338138"/>
          </a:xfrm>
          <a:prstGeom prst="rect">
            <a:avLst/>
          </a:prstGeom>
          <a:noFill/>
          <a:ln w="9525"/>
        </p:spPr>
        <p:txBody>
          <a:bodyPr wrap="square" lIns="25400" tIns="25400" rIns="25400" bIns="25400" rtlCol="0" anchor="t">
            <a:normAutofit/>
          </a:bodyPr>
          <a:lstStyle/>
          <a:p>
            <a:r>
              <a:rPr lang="en-US" b="1" dirty="0">
                <a:solidFill>
                  <a:srgbClr val="0B0F19"/>
                </a:solidFill>
                <a:latin typeface="JetBrains Mono" pitchFamily="34" charset="0"/>
                <a:ea typeface="JetBrains Mono" pitchFamily="34" charset="-122"/>
                <a:cs typeface="JetBrains Mono" pitchFamily="34" charset="-120"/>
              </a:rPr>
              <a:t>▶</a:t>
            </a:r>
            <a:endParaRPr lang="en-US" dirty="0"/>
          </a:p>
        </p:txBody>
      </p:sp>
      <p:sp>
        <p:nvSpPr>
          <p:cNvPr id="5" name="Text 3"/>
          <p:cNvSpPr/>
          <p:nvPr/>
        </p:nvSpPr>
        <p:spPr>
          <a:xfrm>
            <a:off x="728216" y="154783"/>
            <a:ext cx="3889733"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p:cNvSpPr/>
          <p:nvPr/>
        </p:nvSpPr>
        <p:spPr>
          <a:xfrm>
            <a:off x="4771355" y="154783"/>
            <a:ext cx="2959014" cy="338138"/>
          </a:xfrm>
          <a:prstGeom prst="rect">
            <a:avLst/>
          </a:prstGeom>
          <a:noFill/>
          <a:ln w="9525"/>
        </p:spPr>
        <p:txBody>
          <a:bodyPr wrap="square" lIns="25400" tIns="25400" rIns="25400" bIns="25400" rtlCol="0" anchor="t">
            <a:normAutofit/>
          </a:bodyPr>
          <a:lstStyle/>
          <a:p>
            <a:r>
              <a:rPr lang="en-US" dirty="0">
                <a:solidFill>
                  <a:srgbClr val="7A8290"/>
                </a:solidFill>
                <a:latin typeface="JetBrains Mono" pitchFamily="34" charset="0"/>
                <a:ea typeface="JetBrains Mono" pitchFamily="34" charset="-122"/>
                <a:cs typeface="JetBrains Mono" pitchFamily="34" charset="-120"/>
              </a:rPr>
              <a:t>Page · The Definition</a:t>
            </a:r>
          </a:p>
        </p:txBody>
      </p:sp>
      <p:sp>
        <p:nvSpPr>
          <p:cNvPr id="7" name="Text 5"/>
          <p:cNvSpPr/>
          <p:nvPr/>
        </p:nvSpPr>
        <p:spPr>
          <a:xfrm>
            <a:off x="16997139" y="154783"/>
            <a:ext cx="1100361" cy="338138"/>
          </a:xfrm>
          <a:prstGeom prst="rect">
            <a:avLst/>
          </a:prstGeom>
          <a:noFill/>
          <a:ln w="9525"/>
        </p:spPr>
        <p:txBody>
          <a:bodyPr wrap="square" lIns="25400" tIns="25400" rIns="25400" bIns="25400" rtlCol="0" anchor="t">
            <a:normAutofit/>
          </a:bodyPr>
          <a:lstStyle/>
          <a:p>
            <a:r>
              <a:rPr lang="en-US" kern="0" spc="72" dirty="0">
                <a:solidFill>
                  <a:srgbClr val="7A8290"/>
                </a:solidFill>
                <a:latin typeface="JetBrains Mono" pitchFamily="34" charset="0"/>
                <a:ea typeface="JetBrains Mono" pitchFamily="34" charset="-122"/>
                <a:cs typeface="JetBrains Mono" pitchFamily="34" charset="-120"/>
              </a:rPr>
              <a:t>23 / 32</a:t>
            </a:r>
            <a:endParaRPr lang="en-US" dirty="0"/>
          </a:p>
        </p:txBody>
      </p:sp>
      <p:sp>
        <p:nvSpPr>
          <p:cNvPr id="9" name="Text 7"/>
          <p:cNvSpPr/>
          <p:nvPr/>
        </p:nvSpPr>
        <p:spPr>
          <a:xfrm>
            <a:off x="914400" y="1524001"/>
            <a:ext cx="16952976" cy="338138"/>
          </a:xfrm>
          <a:prstGeom prst="rect">
            <a:avLst/>
          </a:prstGeom>
          <a:noFill/>
          <a:ln w="9525"/>
        </p:spPr>
        <p:txBody>
          <a:bodyPr wrap="square" lIns="25400" tIns="25400" rIns="25400" bIns="25400" rtlCol="0" anchor="t">
            <a:normAutofit/>
          </a:bodyPr>
          <a:lstStyle/>
          <a:p>
            <a:r>
              <a:rPr lang="en-US" sz="1730" kern="0" spc="108" dirty="0">
                <a:solidFill>
                  <a:srgbClr val="7A8290"/>
                </a:solidFill>
                <a:latin typeface="JetBrains Mono" pitchFamily="34" charset="0"/>
                <a:ea typeface="JetBrains Mono" pitchFamily="34" charset="-122"/>
                <a:cs typeface="JetBrains Mono" pitchFamily="34" charset="-120"/>
              </a:rPr>
              <a:t>CORE LECTURE · THE DEFINITION</a:t>
            </a:r>
          </a:p>
        </p:txBody>
      </p:sp>
      <p:sp>
        <p:nvSpPr>
          <p:cNvPr id="10" name="Text 8"/>
          <p:cNvSpPr/>
          <p:nvPr/>
        </p:nvSpPr>
        <p:spPr>
          <a:xfrm>
            <a:off x="914400" y="1995488"/>
            <a:ext cx="16952976" cy="960854"/>
          </a:xfrm>
          <a:prstGeom prst="rect">
            <a:avLst/>
          </a:prstGeom>
          <a:noFill/>
          <a:ln w="9525"/>
        </p:spPr>
        <p:txBody>
          <a:bodyPr wrap="square" lIns="25400" tIns="25400" rIns="25400" bIns="25400" rtlCol="0" anchor="t">
            <a:normAutofit/>
          </a:bodyPr>
          <a:lstStyle/>
          <a:p>
            <a:r>
              <a:rPr lang="en-US" sz="4800" b="1" kern="0" spc="-120" dirty="0">
                <a:solidFill>
                  <a:srgbClr val="0B0F19"/>
                </a:solidFill>
                <a:latin typeface="Space Grotesk" pitchFamily="34" charset="0"/>
                <a:ea typeface="Space Grotesk" pitchFamily="34" charset="-122"/>
                <a:cs typeface="Space Grotesk" pitchFamily="34" charset="-120"/>
              </a:rPr>
              <a:t>What the textbook actually says</a:t>
            </a:r>
          </a:p>
        </p:txBody>
      </p:sp>
      <p:sp>
        <p:nvSpPr>
          <p:cNvPr id="11" name="Text 9"/>
          <p:cNvSpPr/>
          <p:nvPr/>
        </p:nvSpPr>
        <p:spPr>
          <a:xfrm>
            <a:off x="914401" y="2901260"/>
            <a:ext cx="14935562" cy="940450"/>
          </a:xfrm>
          <a:prstGeom prst="rect">
            <a:avLst/>
          </a:prstGeom>
          <a:noFill/>
          <a:ln w="9525"/>
          <a:effectLst/>
        </p:spPr>
        <p:txBody>
          <a:bodyPr wrap="square" lIns="25400" tIns="25400" rIns="25400" bIns="25400" rtlCol="0" anchor="t">
            <a:spAutoFit/>
          </a:bodyPr>
          <a:lstStyle/>
          <a:p>
            <a:pPr>
              <a:lnSpc>
                <a:spcPct val="125000"/>
              </a:lnSpc>
            </a:pPr>
            <a:r>
              <a:rPr lang="en-US" sz="2400" i="1" dirty="0">
                <a:solidFill>
                  <a:srgbClr val="3A4250"/>
                </a:solidFill>
                <a:latin typeface="Space Grotesk" pitchFamily="34" charset="0"/>
                <a:ea typeface="Space Grotesk" pitchFamily="34" charset="-122"/>
                <a:cs typeface="Space Grotesk" pitchFamily="34" charset="-120"/>
              </a:rPr>
              <a:t>“The application of a systematic, disciplined, quantifiable approach to the development, operation, and maintenance of software.”  — IEEE Std 610.12</a:t>
            </a:r>
          </a:p>
        </p:txBody>
      </p:sp>
      <p:sp>
        <p:nvSpPr>
          <p:cNvPr id="12" name="Shape 10"/>
          <p:cNvSpPr/>
          <p:nvPr/>
        </p:nvSpPr>
        <p:spPr>
          <a:xfrm>
            <a:off x="914400" y="3958679"/>
            <a:ext cx="5257800" cy="5562600"/>
          </a:xfrm>
          <a:prstGeom prst="roundRect">
            <a:avLst>
              <a:gd name="adj" fmla="val 4348"/>
            </a:avLst>
          </a:prstGeom>
          <a:solidFill>
            <a:srgbClr val="FF5A47"/>
          </a:solidFill>
          <a:ln w="9525"/>
        </p:spPr>
        <p:txBody>
          <a:bodyPr/>
          <a:lstStyle/>
          <a:p>
            <a:endParaRPr lang="en-TH"/>
          </a:p>
        </p:txBody>
      </p:sp>
      <p:sp>
        <p:nvSpPr>
          <p:cNvPr id="13" name="Text 11"/>
          <p:cNvSpPr/>
          <p:nvPr/>
        </p:nvSpPr>
        <p:spPr>
          <a:xfrm>
            <a:off x="1295400" y="4377781"/>
            <a:ext cx="4630674" cy="338138"/>
          </a:xfrm>
          <a:prstGeom prst="rect">
            <a:avLst/>
          </a:prstGeom>
          <a:noFill/>
          <a:ln w="9525"/>
        </p:spPr>
        <p:txBody>
          <a:bodyPr wrap="square" lIns="25400" tIns="25400" rIns="25400" bIns="25400" rtlCol="0" anchor="t">
            <a:normAutofit/>
          </a:bodyPr>
          <a:lstStyle/>
          <a:p>
            <a:r>
              <a:rPr lang="en-US" dirty="0">
                <a:solidFill>
                  <a:srgbClr val="FFFFFF">
                    <a:alpha val="55000"/>
                  </a:srgbClr>
                </a:solidFill>
                <a:latin typeface="JetBrains Mono" pitchFamily="34" charset="0"/>
                <a:ea typeface="JetBrains Mono" pitchFamily="34" charset="-122"/>
                <a:cs typeface="JetBrains Mono" pitchFamily="34" charset="-120"/>
              </a:rPr>
              <a:t>KEYWORD 01</a:t>
            </a:r>
          </a:p>
        </p:txBody>
      </p:sp>
      <p:sp>
        <p:nvSpPr>
          <p:cNvPr id="14" name="Text 12"/>
          <p:cNvSpPr/>
          <p:nvPr/>
        </p:nvSpPr>
        <p:spPr>
          <a:xfrm>
            <a:off x="1295400" y="4849268"/>
            <a:ext cx="4630674" cy="1028700"/>
          </a:xfrm>
          <a:prstGeom prst="rect">
            <a:avLst/>
          </a:prstGeom>
          <a:noFill/>
          <a:ln w="9525"/>
        </p:spPr>
        <p:txBody>
          <a:bodyPr wrap="square" lIns="25400" tIns="25400" rIns="25400" bIns="25400" rtlCol="0" anchor="t">
            <a:normAutofit/>
          </a:bodyPr>
          <a:lstStyle/>
          <a:p>
            <a:pPr>
              <a:lnSpc>
                <a:spcPct val="104000"/>
              </a:lnSpc>
            </a:pPr>
            <a:r>
              <a:rPr lang="en-US" sz="3750" b="1" kern="0" spc="-95" dirty="0">
                <a:solidFill>
                  <a:srgbClr val="FFFFFF"/>
                </a:solidFill>
                <a:latin typeface="Space Grotesk" pitchFamily="34" charset="0"/>
                <a:ea typeface="Space Grotesk" pitchFamily="34" charset="-122"/>
                <a:cs typeface="Space Grotesk" pitchFamily="34" charset="-120"/>
              </a:rPr>
              <a:t>Systematic</a:t>
            </a:r>
          </a:p>
        </p:txBody>
      </p:sp>
      <p:sp>
        <p:nvSpPr>
          <p:cNvPr id="15" name="Text 13"/>
          <p:cNvSpPr/>
          <p:nvPr/>
        </p:nvSpPr>
        <p:spPr>
          <a:xfrm>
            <a:off x="1295400" y="6049418"/>
            <a:ext cx="4630674" cy="1863780"/>
          </a:xfrm>
          <a:prstGeom prst="rect">
            <a:avLst/>
          </a:prstGeom>
          <a:noFill/>
          <a:ln w="9525"/>
        </p:spPr>
        <p:txBody>
          <a:bodyPr wrap="square" lIns="25400" tIns="25400" rIns="25400" bIns="25400" rtlCol="0" anchor="t">
            <a:spAutoFit/>
          </a:bodyPr>
          <a:lstStyle/>
          <a:p>
            <a:pPr>
              <a:lnSpc>
                <a:spcPct val="125000"/>
              </a:lnSpc>
            </a:pPr>
            <a:r>
              <a:rPr lang="en-US" sz="2400" dirty="0">
                <a:solidFill>
                  <a:srgbClr val="FFFFFF"/>
                </a:solidFill>
                <a:latin typeface="Space Grotesk" pitchFamily="34" charset="0"/>
                <a:ea typeface="Space Grotesk" pitchFamily="34" charset="-122"/>
                <a:cs typeface="Space Grotesk" pitchFamily="34" charset="-120"/>
              </a:rPr>
              <a:t>A repeatable process, not ad-hoc improvisation. Steps, models, and structure guide the work from start to finish.</a:t>
            </a:r>
          </a:p>
        </p:txBody>
      </p:sp>
      <p:sp>
        <p:nvSpPr>
          <p:cNvPr id="16" name="Shape 14"/>
          <p:cNvSpPr/>
          <p:nvPr/>
        </p:nvSpPr>
        <p:spPr>
          <a:xfrm>
            <a:off x="4462239" y="7806779"/>
            <a:ext cx="1333500" cy="1333500"/>
          </a:xfrm>
          <a:prstGeom prst="roundRect">
            <a:avLst>
              <a:gd name="adj" fmla="val 17143"/>
            </a:avLst>
          </a:prstGeom>
          <a:solidFill>
            <a:srgbClr val="FFFFFF">
              <a:alpha val="80000"/>
            </a:srgbClr>
          </a:solidFill>
          <a:ln w="9525"/>
        </p:spPr>
        <p:txBody>
          <a:bodyPr/>
          <a:lstStyle/>
          <a:p>
            <a:endParaRPr lang="en-TH"/>
          </a:p>
        </p:txBody>
      </p:sp>
      <p:sp>
        <p:nvSpPr>
          <p:cNvPr id="18" name="Shape 15"/>
          <p:cNvSpPr/>
          <p:nvPr/>
        </p:nvSpPr>
        <p:spPr>
          <a:xfrm>
            <a:off x="6515100" y="3958679"/>
            <a:ext cx="5257800" cy="5562600"/>
          </a:xfrm>
          <a:prstGeom prst="roundRect">
            <a:avLst>
              <a:gd name="adj" fmla="val 4348"/>
            </a:avLst>
          </a:prstGeom>
          <a:solidFill>
            <a:srgbClr val="FFC233"/>
          </a:solidFill>
          <a:ln w="9525"/>
        </p:spPr>
        <p:txBody>
          <a:bodyPr/>
          <a:lstStyle/>
          <a:p>
            <a:endParaRPr lang="en-TH"/>
          </a:p>
        </p:txBody>
      </p:sp>
      <p:sp>
        <p:nvSpPr>
          <p:cNvPr id="19" name="Text 16"/>
          <p:cNvSpPr/>
          <p:nvPr/>
        </p:nvSpPr>
        <p:spPr>
          <a:xfrm>
            <a:off x="6896100" y="4377781"/>
            <a:ext cx="4630674" cy="338138"/>
          </a:xfrm>
          <a:prstGeom prst="rect">
            <a:avLst/>
          </a:prstGeom>
          <a:noFill/>
          <a:ln w="9525"/>
        </p:spPr>
        <p:txBody>
          <a:bodyPr wrap="square" lIns="25400" tIns="25400" rIns="25400" bIns="25400" rtlCol="0" anchor="t">
            <a:normAutofit/>
          </a:bodyPr>
          <a:lstStyle/>
          <a:p>
            <a:r>
              <a:rPr lang="en-US" dirty="0">
                <a:solidFill>
                  <a:srgbClr val="FFFFFF">
                    <a:alpha val="55000"/>
                  </a:srgbClr>
                </a:solidFill>
                <a:latin typeface="JetBrains Mono" pitchFamily="34" charset="0"/>
                <a:ea typeface="JetBrains Mono" pitchFamily="34" charset="-122"/>
                <a:cs typeface="JetBrains Mono" pitchFamily="34" charset="-120"/>
              </a:rPr>
              <a:t>KEYWORD 02</a:t>
            </a:r>
          </a:p>
        </p:txBody>
      </p:sp>
      <p:sp>
        <p:nvSpPr>
          <p:cNvPr id="20" name="Text 17"/>
          <p:cNvSpPr/>
          <p:nvPr/>
        </p:nvSpPr>
        <p:spPr>
          <a:xfrm>
            <a:off x="6896100" y="4849268"/>
            <a:ext cx="4630674" cy="1028700"/>
          </a:xfrm>
          <a:prstGeom prst="rect">
            <a:avLst/>
          </a:prstGeom>
          <a:noFill/>
          <a:ln w="9525"/>
        </p:spPr>
        <p:txBody>
          <a:bodyPr wrap="square" lIns="25400" tIns="25400" rIns="25400" bIns="25400" rtlCol="0" anchor="t">
            <a:normAutofit/>
          </a:bodyPr>
          <a:lstStyle/>
          <a:p>
            <a:pPr>
              <a:lnSpc>
                <a:spcPct val="104000"/>
              </a:lnSpc>
            </a:pPr>
            <a:r>
              <a:rPr lang="en-US" sz="3750" b="1" kern="0" spc="-95" dirty="0">
                <a:solidFill>
                  <a:srgbClr val="FFFFFF"/>
                </a:solidFill>
                <a:latin typeface="Space Grotesk" pitchFamily="34" charset="0"/>
                <a:ea typeface="Space Grotesk" pitchFamily="34" charset="-122"/>
                <a:cs typeface="Space Grotesk" pitchFamily="34" charset="-120"/>
              </a:rPr>
              <a:t>Disciplined</a:t>
            </a:r>
          </a:p>
        </p:txBody>
      </p:sp>
      <p:sp>
        <p:nvSpPr>
          <p:cNvPr id="21" name="Text 18"/>
          <p:cNvSpPr/>
          <p:nvPr/>
        </p:nvSpPr>
        <p:spPr>
          <a:xfrm>
            <a:off x="6896100" y="6049418"/>
            <a:ext cx="4630674" cy="1402115"/>
          </a:xfrm>
          <a:prstGeom prst="rect">
            <a:avLst/>
          </a:prstGeom>
          <a:noFill/>
          <a:ln w="9525"/>
        </p:spPr>
        <p:txBody>
          <a:bodyPr wrap="square" lIns="25400" tIns="25400" rIns="25400" bIns="25400" rtlCol="0" anchor="t">
            <a:spAutoFit/>
          </a:bodyPr>
          <a:lstStyle/>
          <a:p>
            <a:pPr>
              <a:lnSpc>
                <a:spcPct val="125000"/>
              </a:lnSpc>
            </a:pPr>
            <a:r>
              <a:rPr lang="en-US" sz="2400" dirty="0">
                <a:solidFill>
                  <a:srgbClr val="FFFFFF"/>
                </a:solidFill>
                <a:latin typeface="Space Grotesk" pitchFamily="34" charset="0"/>
                <a:ea typeface="Space Grotesk" pitchFamily="34" charset="-122"/>
                <a:cs typeface="Space Grotesk" pitchFamily="34" charset="-120"/>
              </a:rPr>
              <a:t>Proven practices applied consistently — reviews, testing, documentation — even when shortcuts feel faster.</a:t>
            </a:r>
          </a:p>
        </p:txBody>
      </p:sp>
      <p:sp>
        <p:nvSpPr>
          <p:cNvPr id="22" name="Shape 19"/>
          <p:cNvSpPr/>
          <p:nvPr/>
        </p:nvSpPr>
        <p:spPr>
          <a:xfrm>
            <a:off x="10062939" y="7806779"/>
            <a:ext cx="1333500" cy="1333500"/>
          </a:xfrm>
          <a:prstGeom prst="roundRect">
            <a:avLst>
              <a:gd name="adj" fmla="val 17143"/>
            </a:avLst>
          </a:prstGeom>
          <a:solidFill>
            <a:srgbClr val="FFFFFF">
              <a:alpha val="80000"/>
            </a:srgbClr>
          </a:solidFill>
          <a:ln w="9525"/>
        </p:spPr>
        <p:txBody>
          <a:bodyPr/>
          <a:lstStyle/>
          <a:p>
            <a:endParaRPr lang="en-TH"/>
          </a:p>
        </p:txBody>
      </p:sp>
      <p:sp>
        <p:nvSpPr>
          <p:cNvPr id="24" name="Shape 20"/>
          <p:cNvSpPr/>
          <p:nvPr/>
        </p:nvSpPr>
        <p:spPr>
          <a:xfrm>
            <a:off x="12115800" y="3958679"/>
            <a:ext cx="5257800" cy="5562600"/>
          </a:xfrm>
          <a:prstGeom prst="roundRect">
            <a:avLst>
              <a:gd name="adj" fmla="val 4348"/>
            </a:avLst>
          </a:prstGeom>
          <a:solidFill>
            <a:srgbClr val="16B670"/>
          </a:solidFill>
          <a:ln w="9525"/>
        </p:spPr>
        <p:txBody>
          <a:bodyPr/>
          <a:lstStyle/>
          <a:p>
            <a:endParaRPr lang="en-TH"/>
          </a:p>
        </p:txBody>
      </p:sp>
      <p:sp>
        <p:nvSpPr>
          <p:cNvPr id="25" name="Text 21"/>
          <p:cNvSpPr/>
          <p:nvPr/>
        </p:nvSpPr>
        <p:spPr>
          <a:xfrm>
            <a:off x="12496800" y="4377781"/>
            <a:ext cx="4630674" cy="338138"/>
          </a:xfrm>
          <a:prstGeom prst="rect">
            <a:avLst/>
          </a:prstGeom>
          <a:noFill/>
          <a:ln w="9525"/>
        </p:spPr>
        <p:txBody>
          <a:bodyPr wrap="square" lIns="25400" tIns="25400" rIns="25400" bIns="25400" rtlCol="0" anchor="t">
            <a:normAutofit/>
          </a:bodyPr>
          <a:lstStyle/>
          <a:p>
            <a:r>
              <a:rPr lang="en-US" dirty="0">
                <a:solidFill>
                  <a:srgbClr val="FFFFFF">
                    <a:alpha val="55000"/>
                  </a:srgbClr>
                </a:solidFill>
                <a:latin typeface="JetBrains Mono" pitchFamily="34" charset="0"/>
                <a:ea typeface="JetBrains Mono" pitchFamily="34" charset="-122"/>
                <a:cs typeface="JetBrains Mono" pitchFamily="34" charset="-120"/>
              </a:rPr>
              <a:t>KEYWORD 03</a:t>
            </a:r>
          </a:p>
        </p:txBody>
      </p:sp>
      <p:sp>
        <p:nvSpPr>
          <p:cNvPr id="26" name="Text 22"/>
          <p:cNvSpPr/>
          <p:nvPr/>
        </p:nvSpPr>
        <p:spPr>
          <a:xfrm>
            <a:off x="12496800" y="4849268"/>
            <a:ext cx="4630674" cy="533400"/>
          </a:xfrm>
          <a:prstGeom prst="rect">
            <a:avLst/>
          </a:prstGeom>
          <a:noFill/>
          <a:ln w="9525"/>
        </p:spPr>
        <p:txBody>
          <a:bodyPr wrap="square" lIns="25400" tIns="25400" rIns="25400" bIns="25400" rtlCol="0" anchor="t">
            <a:normAutofit fontScale="92500" lnSpcReduction="20000"/>
          </a:bodyPr>
          <a:lstStyle/>
          <a:p>
            <a:pPr>
              <a:lnSpc>
                <a:spcPct val="104000"/>
              </a:lnSpc>
            </a:pPr>
            <a:r>
              <a:rPr lang="en-US" sz="3750" b="1" kern="0" spc="-95" dirty="0">
                <a:solidFill>
                  <a:srgbClr val="FFFFFF"/>
                </a:solidFill>
                <a:latin typeface="Space Grotesk" pitchFamily="34" charset="0"/>
                <a:ea typeface="Space Grotesk" pitchFamily="34" charset="-122"/>
                <a:cs typeface="Space Grotesk" pitchFamily="34" charset="-120"/>
              </a:rPr>
              <a:t>Quantifiable</a:t>
            </a:r>
          </a:p>
        </p:txBody>
      </p:sp>
      <p:sp>
        <p:nvSpPr>
          <p:cNvPr id="27" name="Text 23"/>
          <p:cNvSpPr/>
          <p:nvPr/>
        </p:nvSpPr>
        <p:spPr>
          <a:xfrm>
            <a:off x="12496800" y="6049418"/>
            <a:ext cx="4630674" cy="1863780"/>
          </a:xfrm>
          <a:prstGeom prst="rect">
            <a:avLst/>
          </a:prstGeom>
          <a:noFill/>
          <a:ln w="9525"/>
        </p:spPr>
        <p:txBody>
          <a:bodyPr wrap="square" lIns="25400" tIns="25400" rIns="25400" bIns="25400" rtlCol="0" anchor="t">
            <a:spAutoFit/>
          </a:bodyPr>
          <a:lstStyle/>
          <a:p>
            <a:pPr>
              <a:lnSpc>
                <a:spcPct val="125000"/>
              </a:lnSpc>
            </a:pPr>
            <a:r>
              <a:rPr lang="en-US" sz="2400" dirty="0">
                <a:solidFill>
                  <a:srgbClr val="FFFFFF"/>
                </a:solidFill>
                <a:latin typeface="Space Grotesk" pitchFamily="34" charset="0"/>
                <a:ea typeface="Space Grotesk" pitchFamily="34" charset="-122"/>
                <a:cs typeface="Space Grotesk" pitchFamily="34" charset="-120"/>
              </a:rPr>
              <a:t>Quality, effort, and progress are measured. What you can measure, you can manage, improve, and defend with evidence.</a:t>
            </a:r>
          </a:p>
        </p:txBody>
      </p:sp>
      <p:sp>
        <p:nvSpPr>
          <p:cNvPr id="28" name="Shape 24"/>
          <p:cNvSpPr/>
          <p:nvPr/>
        </p:nvSpPr>
        <p:spPr>
          <a:xfrm>
            <a:off x="15663639" y="7806779"/>
            <a:ext cx="1333500" cy="1333500"/>
          </a:xfrm>
          <a:prstGeom prst="roundRect">
            <a:avLst>
              <a:gd name="adj" fmla="val 17143"/>
            </a:avLst>
          </a:prstGeom>
          <a:solidFill>
            <a:srgbClr val="FFFFFF">
              <a:alpha val="80000"/>
            </a:srgbClr>
          </a:solidFill>
          <a:ln w="9525"/>
        </p:spPr>
        <p:txBody>
          <a:bodyPr/>
          <a:lstStyle/>
          <a:p>
            <a:endParaRPr lang="en-TH"/>
          </a:p>
        </p:txBody>
      </p:sp>
      <p:pic>
        <p:nvPicPr>
          <p:cNvPr id="77450564" name="77450564"/>
          <p:cNvPicPr/>
          <p:nvPr/>
        </p:nvPicPr>
        <p:blipFill rotWithShape="1">
          <a:blip>
            <a:extLst>
              <a:ext uri="{96DAC541-7B7A-43D3-8B79-37D633B846F1}">
                <asvg:svgBlip xmlns:asvg="http://schemas.microsoft.com/office/drawing/2016/SVG/main" r:embed="rId3"/>
              </a:ext>
            </a:extLst>
          </a:blip>
          <a:srcRect/>
          <a:stretch>
            <a:fillRect/>
          </a:stretch>
        </p:blipFill>
        <p:spPr>
          <a:xfrm>
            <a:off x="4648564" y="7993103"/>
            <a:ext cx="960854" cy="960854"/>
          </a:xfrm>
          <a:prstGeom prst="rect">
            <a:avLst/>
          </a:prstGeom>
        </p:spPr>
      </p:pic>
      <p:pic>
        <p:nvPicPr>
          <p:cNvPr id="68865761" name="77450564"/>
          <p:cNvPicPr/>
          <p:nvPr/>
        </p:nvPicPr>
        <p:blipFill rotWithShape="1">
          <a:blip>
            <a:extLst>
              <a:ext uri="{96DAC541-7B7A-43D3-8B79-37D633B846F1}">
                <asvg:svgBlip xmlns:asvg="http://schemas.microsoft.com/office/drawing/2016/SVG/main" r:embed="rId4"/>
              </a:ext>
            </a:extLst>
          </a:blip>
          <a:srcRect/>
          <a:stretch>
            <a:fillRect/>
          </a:stretch>
        </p:blipFill>
        <p:spPr>
          <a:xfrm>
            <a:off x="10249264" y="7993103"/>
            <a:ext cx="960854" cy="960854"/>
          </a:xfrm>
          <a:prstGeom prst="rect">
            <a:avLst/>
          </a:prstGeom>
        </p:spPr>
      </p:pic>
      <p:pic>
        <p:nvPicPr>
          <p:cNvPr id="53248808" name="77450564"/>
          <p:cNvPicPr/>
          <p:nvPr/>
        </p:nvPicPr>
        <p:blipFill rotWithShape="1">
          <a:blip>
            <a:extLst>
              <a:ext uri="{96DAC541-7B7A-43D3-8B79-37D633B846F1}">
                <asvg:svgBlip xmlns:asvg="http://schemas.microsoft.com/office/drawing/2016/SVG/main" r:embed="rId5"/>
              </a:ext>
            </a:extLst>
          </a:blip>
          <a:srcRect/>
          <a:stretch>
            <a:fillRect/>
          </a:stretch>
        </p:blipFill>
        <p:spPr>
          <a:xfrm>
            <a:off x="15849964" y="7993103"/>
            <a:ext cx="960854" cy="960854"/>
          </a:xfrm>
          <a:prstGeom prst="rect">
            <a:avLst/>
          </a:prstGeom>
        </p:spPr>
      </p:pic>
    </p:spTree>
    <p:extLst>
      <p:ext uri="{BB962C8B-B14F-4D97-AF65-F5344CB8AC3E}">
        <p14:creationId xmlns:p14="http://schemas.microsoft.com/office/powerpoint/2010/main" val="22863860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99305" name="Shape 12"/>
          <p:cNvSpPr/>
          <p:nvPr/>
        </p:nvSpPr>
        <p:spPr>
          <a:xfrm>
            <a:off x="15590128" y="2338481"/>
            <a:ext cx="3914387" cy="3914387"/>
          </a:xfrm>
          <a:prstGeom prst="ellipse">
            <a:avLst/>
          </a:prstGeom>
          <a:solidFill>
            <a:srgbClr val="16B670"/>
          </a:solidFill>
          <a:ln w="9525"/>
        </p:spPr>
        <p:txBody>
          <a:bodyPr/>
          <a:lstStyle/>
          <a:p>
            <a:endParaRPr lang="en-TH"/>
          </a:p>
        </p:txBody>
      </p:sp>
      <p:sp>
        <p:nvSpPr>
          <p:cNvPr id="13646681" name="Shape 15"/>
          <p:cNvSpPr/>
          <p:nvPr/>
        </p:nvSpPr>
        <p:spPr>
          <a:xfrm>
            <a:off x="13004474" y="8185958"/>
            <a:ext cx="3889733" cy="3889733"/>
          </a:xfrm>
          <a:prstGeom prst="ellipse">
            <a:avLst/>
          </a:prstGeom>
          <a:solidFill>
            <a:srgbClr val="FF5A47"/>
          </a:solidFill>
          <a:ln w="9525"/>
        </p:spPr>
        <p:txBody>
          <a:bodyPr/>
          <a:lstStyle/>
          <a:p>
            <a:endParaRPr lang="en-TH"/>
          </a:p>
        </p:txBody>
      </p:sp>
      <p:sp>
        <p:nvSpPr>
          <p:cNvPr id="61482237" name="Shape 12"/>
          <p:cNvSpPr/>
          <p:nvPr/>
        </p:nvSpPr>
        <p:spPr>
          <a:xfrm>
            <a:off x="16624442" y="7059391"/>
            <a:ext cx="2087699" cy="2087699"/>
          </a:xfrm>
          <a:prstGeom prst="ellipse">
            <a:avLst/>
          </a:prstGeom>
          <a:solidFill>
            <a:schemeClr val="accent1"/>
          </a:solidFill>
          <a:ln w="9525"/>
        </p:spPr>
        <p:txBody>
          <a:bodyPr rtlCol="0" anchor="ctr"/>
          <a:lstStyle/>
          <a:p>
            <a:pPr algn="ctr"/>
            <a:endParaRPr/>
          </a:p>
        </p:txBody>
      </p:sp>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1" y="154783"/>
            <a:ext cx="213866" cy="338138"/>
          </a:xfrm>
          <a:prstGeom prst="rect">
            <a:avLst/>
          </a:prstGeom>
          <a:noFill/>
          <a:ln w="9525"/>
        </p:spPr>
        <p:txBody>
          <a:bodyPr wrap="square" lIns="25400" tIns="25400" rIns="25400" bIns="25400" rtlCol="0" anchor="t">
            <a:normAutofit/>
          </a:bodyPr>
          <a:lstStyle/>
          <a:p>
            <a:r>
              <a:rPr lang="en-US" b="1" dirty="0">
                <a:solidFill>
                  <a:srgbClr val="0B0F19"/>
                </a:solidFill>
                <a:latin typeface="JetBrains Mono" pitchFamily="34" charset="0"/>
                <a:ea typeface="JetBrains Mono" pitchFamily="34" charset="-122"/>
                <a:cs typeface="JetBrains Mono" pitchFamily="34" charset="-120"/>
              </a:rPr>
              <a:t>▶</a:t>
            </a:r>
            <a:endParaRPr lang="en-US" dirty="0"/>
          </a:p>
        </p:txBody>
      </p:sp>
      <p:sp>
        <p:nvSpPr>
          <p:cNvPr id="5" name="Text 3"/>
          <p:cNvSpPr/>
          <p:nvPr/>
        </p:nvSpPr>
        <p:spPr>
          <a:xfrm>
            <a:off x="728216" y="154783"/>
            <a:ext cx="3889733"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p:cNvSpPr/>
          <p:nvPr/>
        </p:nvSpPr>
        <p:spPr>
          <a:xfrm>
            <a:off x="4771357" y="154783"/>
            <a:ext cx="4936877" cy="338138"/>
          </a:xfrm>
          <a:prstGeom prst="rect">
            <a:avLst/>
          </a:prstGeom>
          <a:noFill/>
          <a:ln w="9525"/>
        </p:spPr>
        <p:txBody>
          <a:bodyPr wrap="square" lIns="25400" tIns="25400" rIns="25400" bIns="25400" rtlCol="0" anchor="t">
            <a:normAutofit/>
          </a:bodyPr>
          <a:lstStyle/>
          <a:p>
            <a:r>
              <a:rPr lang="en-US" dirty="0">
                <a:solidFill>
                  <a:srgbClr val="7A8290"/>
                </a:solidFill>
                <a:latin typeface="JetBrains Mono" pitchFamily="34" charset="0"/>
                <a:ea typeface="JetBrains Mono" pitchFamily="34" charset="-122"/>
                <a:cs typeface="JetBrains Mono" pitchFamily="34" charset="-120"/>
              </a:rPr>
              <a:t>Page · Programming vs Engineering</a:t>
            </a:r>
          </a:p>
        </p:txBody>
      </p:sp>
      <p:sp>
        <p:nvSpPr>
          <p:cNvPr id="7" name="Text 5"/>
          <p:cNvSpPr/>
          <p:nvPr/>
        </p:nvSpPr>
        <p:spPr>
          <a:xfrm>
            <a:off x="16997139" y="154783"/>
            <a:ext cx="1100361" cy="338138"/>
          </a:xfrm>
          <a:prstGeom prst="rect">
            <a:avLst/>
          </a:prstGeom>
          <a:noFill/>
          <a:ln w="9525"/>
        </p:spPr>
        <p:txBody>
          <a:bodyPr wrap="square" lIns="25400" tIns="25400" rIns="25400" bIns="25400" rtlCol="0" anchor="t">
            <a:normAutofit/>
          </a:bodyPr>
          <a:lstStyle/>
          <a:p>
            <a:r>
              <a:rPr lang="en-US" kern="0" spc="72" dirty="0">
                <a:solidFill>
                  <a:srgbClr val="7A8290"/>
                </a:solidFill>
                <a:latin typeface="JetBrains Mono" pitchFamily="34" charset="0"/>
                <a:ea typeface="JetBrains Mono" pitchFamily="34" charset="-122"/>
                <a:cs typeface="JetBrains Mono" pitchFamily="34" charset="-120"/>
              </a:rPr>
              <a:t>24 / 32</a:t>
            </a:r>
            <a:endParaRPr lang="en-US" dirty="0"/>
          </a:p>
        </p:txBody>
      </p:sp>
      <p:sp>
        <p:nvSpPr>
          <p:cNvPr id="9" name="Text 7"/>
          <p:cNvSpPr/>
          <p:nvPr/>
        </p:nvSpPr>
        <p:spPr>
          <a:xfrm>
            <a:off x="914400" y="1524001"/>
            <a:ext cx="9222718" cy="775469"/>
          </a:xfrm>
          <a:prstGeom prst="rect">
            <a:avLst/>
          </a:prstGeom>
          <a:noFill/>
          <a:ln w="9525"/>
        </p:spPr>
        <p:txBody>
          <a:bodyPr wrap="none" lIns="25400" tIns="25400" rIns="25400" bIns="25400" rtlCol="0" anchor="t">
            <a:spAutoFit/>
          </a:bodyPr>
          <a:lstStyle/>
          <a:p>
            <a:r>
              <a:rPr lang="en-US" sz="4706" b="1" kern="0" spc="-120" dirty="0">
                <a:solidFill>
                  <a:srgbClr val="0B0F19"/>
                </a:solidFill>
                <a:latin typeface="Space Grotesk" pitchFamily="34" charset="0"/>
                <a:ea typeface="Space Grotesk" pitchFamily="34" charset="-122"/>
                <a:cs typeface="Space Grotesk" pitchFamily="34" charset="-120"/>
              </a:rPr>
              <a:t>Programming vs. Software Engineering</a:t>
            </a:r>
          </a:p>
        </p:txBody>
      </p:sp>
      <p:sp>
        <p:nvSpPr>
          <p:cNvPr id="10" name="Text 8"/>
          <p:cNvSpPr/>
          <p:nvPr/>
        </p:nvSpPr>
        <p:spPr>
          <a:xfrm>
            <a:off x="914400" y="2539937"/>
            <a:ext cx="11772900" cy="371897"/>
          </a:xfrm>
          <a:prstGeom prst="rect">
            <a:avLst/>
          </a:prstGeom>
          <a:noFill/>
          <a:ln w="9525"/>
        </p:spPr>
        <p:txBody>
          <a:bodyPr wrap="square" lIns="25400" tIns="25400" rIns="25400" bIns="25400" rtlCol="0" anchor="t">
            <a:spAutoFit/>
          </a:bodyPr>
          <a:lstStyle/>
          <a:p>
            <a:pPr>
              <a:lnSpc>
                <a:spcPct val="125000"/>
              </a:lnSpc>
            </a:pPr>
            <a:r>
              <a:rPr lang="en-US" dirty="0">
                <a:solidFill>
                  <a:srgbClr val="3A4250"/>
                </a:solidFill>
                <a:latin typeface="Space Grotesk" pitchFamily="34" charset="0"/>
                <a:ea typeface="Space Grotesk" pitchFamily="34" charset="-122"/>
                <a:cs typeface="Space Grotesk" pitchFamily="34" charset="-120"/>
              </a:rPr>
              <a:t>One is a task. The other is a discipline. The difference is scale, teamwork, and what happens when it breaks.</a:t>
            </a:r>
          </a:p>
        </p:txBody>
      </p:sp>
      <p:sp>
        <p:nvSpPr>
          <p:cNvPr id="11" name="Shape 9"/>
          <p:cNvSpPr/>
          <p:nvPr/>
        </p:nvSpPr>
        <p:spPr>
          <a:xfrm>
            <a:off x="914400" y="3896271"/>
            <a:ext cx="8001000" cy="4058469"/>
          </a:xfrm>
          <a:prstGeom prst="roundRect">
            <a:avLst>
              <a:gd name="adj" fmla="val 4694"/>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12" name="Shape 10"/>
          <p:cNvSpPr/>
          <p:nvPr/>
        </p:nvSpPr>
        <p:spPr>
          <a:xfrm>
            <a:off x="914400" y="4239171"/>
            <a:ext cx="8001000" cy="9525"/>
          </a:xfrm>
          <a:prstGeom prst="rect">
            <a:avLst/>
          </a:prstGeom>
          <a:solidFill>
            <a:srgbClr val="EDEFF2"/>
          </a:solidFill>
          <a:ln w="9525"/>
        </p:spPr>
        <p:txBody>
          <a:bodyPr/>
          <a:lstStyle/>
          <a:p>
            <a:endParaRPr lang="en-TH"/>
          </a:p>
        </p:txBody>
      </p:sp>
      <p:sp>
        <p:nvSpPr>
          <p:cNvPr id="13" name="Shape 11"/>
          <p:cNvSpPr/>
          <p:nvPr/>
        </p:nvSpPr>
        <p:spPr>
          <a:xfrm>
            <a:off x="1047750" y="4010571"/>
            <a:ext cx="114300" cy="114300"/>
          </a:xfrm>
          <a:prstGeom prst="ellipse">
            <a:avLst/>
          </a:prstGeom>
          <a:solidFill>
            <a:srgbClr val="FF6058"/>
          </a:solidFill>
          <a:ln w="9525"/>
        </p:spPr>
        <p:txBody>
          <a:bodyPr/>
          <a:lstStyle/>
          <a:p>
            <a:endParaRPr lang="en-TH"/>
          </a:p>
        </p:txBody>
      </p:sp>
      <p:sp>
        <p:nvSpPr>
          <p:cNvPr id="14" name="Shape 12"/>
          <p:cNvSpPr/>
          <p:nvPr/>
        </p:nvSpPr>
        <p:spPr>
          <a:xfrm>
            <a:off x="1238250" y="4010571"/>
            <a:ext cx="114300" cy="114300"/>
          </a:xfrm>
          <a:prstGeom prst="ellipse">
            <a:avLst/>
          </a:prstGeom>
          <a:solidFill>
            <a:srgbClr val="FFBE2E"/>
          </a:solidFill>
          <a:ln w="9525"/>
        </p:spPr>
        <p:txBody>
          <a:bodyPr/>
          <a:lstStyle/>
          <a:p>
            <a:endParaRPr lang="en-TH"/>
          </a:p>
        </p:txBody>
      </p:sp>
      <p:sp>
        <p:nvSpPr>
          <p:cNvPr id="15" name="Shape 13"/>
          <p:cNvSpPr/>
          <p:nvPr/>
        </p:nvSpPr>
        <p:spPr>
          <a:xfrm>
            <a:off x="1428750" y="4010571"/>
            <a:ext cx="114300" cy="114300"/>
          </a:xfrm>
          <a:prstGeom prst="ellipse">
            <a:avLst/>
          </a:prstGeom>
          <a:solidFill>
            <a:srgbClr val="29CC42"/>
          </a:solidFill>
          <a:ln w="9525"/>
        </p:spPr>
        <p:txBody>
          <a:bodyPr/>
          <a:lstStyle/>
          <a:p>
            <a:endParaRPr lang="en-TH"/>
          </a:p>
        </p:txBody>
      </p:sp>
      <p:sp>
        <p:nvSpPr>
          <p:cNvPr id="16" name="Text 14"/>
          <p:cNvSpPr/>
          <p:nvPr/>
        </p:nvSpPr>
        <p:spPr>
          <a:xfrm>
            <a:off x="1295400" y="4472534"/>
            <a:ext cx="7456170" cy="338138"/>
          </a:xfrm>
          <a:prstGeom prst="rect">
            <a:avLst/>
          </a:prstGeom>
          <a:noFill/>
          <a:ln w="9525"/>
        </p:spPr>
        <p:txBody>
          <a:bodyPr wrap="square" lIns="25400" tIns="25400" rIns="25400" bIns="25400" rtlCol="0" anchor="t"/>
          <a:lstStyle/>
          <a:p>
            <a:r>
              <a:rPr lang="en-US" dirty="0">
                <a:solidFill>
                  <a:srgbClr val="7A8290"/>
                </a:solidFill>
                <a:latin typeface="JetBrains Mono" pitchFamily="34" charset="0"/>
                <a:ea typeface="JetBrains Mono" pitchFamily="34" charset="-122"/>
                <a:cs typeface="JetBrains Mono" pitchFamily="34" charset="-120"/>
              </a:rPr>
              <a:t>APPROACH 01</a:t>
            </a:r>
          </a:p>
        </p:txBody>
      </p:sp>
      <p:sp>
        <p:nvSpPr>
          <p:cNvPr id="17" name="Text 15"/>
          <p:cNvSpPr/>
          <p:nvPr/>
        </p:nvSpPr>
        <p:spPr>
          <a:xfrm>
            <a:off x="1295400" y="4905922"/>
            <a:ext cx="7456170" cy="500063"/>
          </a:xfrm>
          <a:prstGeom prst="rect">
            <a:avLst/>
          </a:prstGeom>
          <a:noFill/>
          <a:ln w="9525"/>
        </p:spPr>
        <p:txBody>
          <a:bodyPr wrap="square" lIns="25400" tIns="25400" rIns="25400" bIns="25400" rtlCol="0" anchor="t"/>
          <a:lstStyle/>
          <a:p>
            <a:r>
              <a:rPr lang="en-US" sz="3000" b="1" kern="0" spc="-57" dirty="0">
                <a:solidFill>
                  <a:srgbClr val="0B0F19"/>
                </a:solidFill>
                <a:latin typeface="Space Grotesk" pitchFamily="34" charset="0"/>
                <a:ea typeface="Space Grotesk" pitchFamily="34" charset="-122"/>
                <a:cs typeface="Space Grotesk" pitchFamily="34" charset="-120"/>
              </a:rPr>
              <a:t>Programming — the doghouse</a:t>
            </a:r>
          </a:p>
        </p:txBody>
      </p:sp>
      <p:sp>
        <p:nvSpPr>
          <p:cNvPr id="18" name="Text 16"/>
          <p:cNvSpPr/>
          <p:nvPr/>
        </p:nvSpPr>
        <p:spPr>
          <a:xfrm>
            <a:off x="1295400" y="5552033"/>
            <a:ext cx="7239000" cy="1115244"/>
          </a:xfrm>
          <a:prstGeom prst="rect">
            <a:avLst/>
          </a:prstGeom>
          <a:noFill/>
          <a:ln w="9525"/>
          <a:effectLst/>
        </p:spPr>
        <p:txBody>
          <a:bodyPr wrap="square" lIns="25400" tIns="25400" rIns="25400" bIns="25400" rtlCol="0" anchor="t"/>
          <a:lstStyle/>
          <a:p>
            <a:pPr>
              <a:lnSpc>
                <a:spcPct val="125000"/>
              </a:lnSpc>
            </a:pPr>
            <a:r>
              <a:rPr lang="en-US" dirty="0">
                <a:solidFill>
                  <a:srgbClr val="3A4250"/>
                </a:solidFill>
                <a:latin typeface="Space Grotesk" pitchFamily="34" charset="0"/>
                <a:ea typeface="Space Grotesk" pitchFamily="34" charset="-122"/>
                <a:cs typeface="Space Grotesk" pitchFamily="34" charset="-120"/>
              </a:rPr>
              <a:t>One person, a few materials, little planning. If it breaks, you build another. Small scope, low stakes.</a:t>
            </a:r>
          </a:p>
        </p:txBody>
      </p:sp>
      <p:sp>
        <p:nvSpPr>
          <p:cNvPr id="19" name="Shape 17"/>
          <p:cNvSpPr/>
          <p:nvPr/>
        </p:nvSpPr>
        <p:spPr>
          <a:xfrm>
            <a:off x="1295400" y="7002239"/>
            <a:ext cx="533400" cy="533400"/>
          </a:xfrm>
          <a:prstGeom prst="roundRect">
            <a:avLst>
              <a:gd name="adj" fmla="val 17857"/>
            </a:avLst>
          </a:prstGeom>
          <a:solidFill>
            <a:schemeClr val="accent1"/>
          </a:solidFill>
          <a:ln w="9525"/>
        </p:spPr>
        <p:txBody>
          <a:bodyPr/>
          <a:lstStyle/>
          <a:p>
            <a:endParaRPr lang="en-TH"/>
          </a:p>
        </p:txBody>
      </p:sp>
      <p:sp>
        <p:nvSpPr>
          <p:cNvPr id="20" name="Shape 18"/>
          <p:cNvSpPr/>
          <p:nvPr/>
        </p:nvSpPr>
        <p:spPr>
          <a:xfrm>
            <a:off x="1924050" y="7002239"/>
            <a:ext cx="533400" cy="533400"/>
          </a:xfrm>
          <a:prstGeom prst="roundRect">
            <a:avLst>
              <a:gd name="adj" fmla="val 17857"/>
            </a:avLst>
          </a:prstGeom>
          <a:solidFill>
            <a:schemeClr val="accent2"/>
          </a:solidFill>
          <a:ln w="9525"/>
        </p:spPr>
        <p:txBody>
          <a:bodyPr/>
          <a:lstStyle/>
          <a:p>
            <a:endParaRPr lang="en-TH"/>
          </a:p>
        </p:txBody>
      </p:sp>
      <p:sp>
        <p:nvSpPr>
          <p:cNvPr id="21" name="Shape 19"/>
          <p:cNvSpPr/>
          <p:nvPr/>
        </p:nvSpPr>
        <p:spPr>
          <a:xfrm>
            <a:off x="2552700" y="7002239"/>
            <a:ext cx="533400" cy="533400"/>
          </a:xfrm>
          <a:prstGeom prst="roundRect">
            <a:avLst>
              <a:gd name="adj" fmla="val 17857"/>
            </a:avLst>
          </a:prstGeom>
          <a:solidFill>
            <a:schemeClr val="accent3"/>
          </a:solidFill>
          <a:ln w="9525"/>
        </p:spPr>
        <p:txBody>
          <a:bodyPr/>
          <a:lstStyle/>
          <a:p>
            <a:endParaRPr lang="en-TH"/>
          </a:p>
        </p:txBody>
      </p:sp>
      <p:sp>
        <p:nvSpPr>
          <p:cNvPr id="25" name="Shape 23"/>
          <p:cNvSpPr/>
          <p:nvPr/>
        </p:nvSpPr>
        <p:spPr>
          <a:xfrm>
            <a:off x="9372600" y="3896271"/>
            <a:ext cx="8001000" cy="4058469"/>
          </a:xfrm>
          <a:prstGeom prst="roundRect">
            <a:avLst>
              <a:gd name="adj" fmla="val 4694"/>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6" name="Shape 24"/>
          <p:cNvSpPr/>
          <p:nvPr/>
        </p:nvSpPr>
        <p:spPr>
          <a:xfrm>
            <a:off x="9372600" y="4239171"/>
            <a:ext cx="8001000" cy="9525"/>
          </a:xfrm>
          <a:prstGeom prst="rect">
            <a:avLst/>
          </a:prstGeom>
          <a:solidFill>
            <a:srgbClr val="EDEFF2"/>
          </a:solidFill>
          <a:ln w="9525"/>
        </p:spPr>
        <p:txBody>
          <a:bodyPr/>
          <a:lstStyle/>
          <a:p>
            <a:endParaRPr lang="en-TH"/>
          </a:p>
        </p:txBody>
      </p:sp>
      <p:sp>
        <p:nvSpPr>
          <p:cNvPr id="27" name="Shape 25"/>
          <p:cNvSpPr/>
          <p:nvPr/>
        </p:nvSpPr>
        <p:spPr>
          <a:xfrm>
            <a:off x="9505950" y="4010571"/>
            <a:ext cx="114300" cy="114300"/>
          </a:xfrm>
          <a:prstGeom prst="ellipse">
            <a:avLst/>
          </a:prstGeom>
          <a:solidFill>
            <a:srgbClr val="FF6058"/>
          </a:solidFill>
          <a:ln w="9525"/>
        </p:spPr>
        <p:txBody>
          <a:bodyPr/>
          <a:lstStyle/>
          <a:p>
            <a:endParaRPr lang="en-TH"/>
          </a:p>
        </p:txBody>
      </p:sp>
      <p:sp>
        <p:nvSpPr>
          <p:cNvPr id="28" name="Shape 26"/>
          <p:cNvSpPr/>
          <p:nvPr/>
        </p:nvSpPr>
        <p:spPr>
          <a:xfrm>
            <a:off x="9696450" y="4010571"/>
            <a:ext cx="114300" cy="114300"/>
          </a:xfrm>
          <a:prstGeom prst="ellipse">
            <a:avLst/>
          </a:prstGeom>
          <a:solidFill>
            <a:srgbClr val="FFBE2E"/>
          </a:solidFill>
          <a:ln w="9525"/>
        </p:spPr>
        <p:txBody>
          <a:bodyPr/>
          <a:lstStyle/>
          <a:p>
            <a:endParaRPr lang="en-TH"/>
          </a:p>
        </p:txBody>
      </p:sp>
      <p:sp>
        <p:nvSpPr>
          <p:cNvPr id="29" name="Shape 27"/>
          <p:cNvSpPr/>
          <p:nvPr/>
        </p:nvSpPr>
        <p:spPr>
          <a:xfrm>
            <a:off x="9886950" y="4010571"/>
            <a:ext cx="114300" cy="114300"/>
          </a:xfrm>
          <a:prstGeom prst="ellipse">
            <a:avLst/>
          </a:prstGeom>
          <a:solidFill>
            <a:srgbClr val="29CC42"/>
          </a:solidFill>
          <a:ln w="9525"/>
        </p:spPr>
        <p:txBody>
          <a:bodyPr/>
          <a:lstStyle/>
          <a:p>
            <a:endParaRPr lang="en-TH"/>
          </a:p>
        </p:txBody>
      </p:sp>
      <p:sp>
        <p:nvSpPr>
          <p:cNvPr id="30" name="Text 28"/>
          <p:cNvSpPr/>
          <p:nvPr/>
        </p:nvSpPr>
        <p:spPr>
          <a:xfrm>
            <a:off x="9753600" y="4472534"/>
            <a:ext cx="7456170" cy="338138"/>
          </a:xfrm>
          <a:prstGeom prst="rect">
            <a:avLst/>
          </a:prstGeom>
          <a:noFill/>
          <a:ln w="9525"/>
        </p:spPr>
        <p:txBody>
          <a:bodyPr wrap="square" lIns="25400" tIns="25400" rIns="25400" bIns="25400" rtlCol="0" anchor="t"/>
          <a:lstStyle/>
          <a:p>
            <a:r>
              <a:rPr lang="en-US" dirty="0">
                <a:solidFill>
                  <a:srgbClr val="7A8290"/>
                </a:solidFill>
                <a:latin typeface="JetBrains Mono" pitchFamily="34" charset="0"/>
                <a:ea typeface="JetBrains Mono" pitchFamily="34" charset="-122"/>
                <a:cs typeface="JetBrains Mono" pitchFamily="34" charset="-120"/>
              </a:rPr>
              <a:t>APPROACH 02</a:t>
            </a:r>
          </a:p>
        </p:txBody>
      </p:sp>
      <p:sp>
        <p:nvSpPr>
          <p:cNvPr id="31" name="Text 29"/>
          <p:cNvSpPr/>
          <p:nvPr/>
        </p:nvSpPr>
        <p:spPr>
          <a:xfrm>
            <a:off x="9753600" y="4905922"/>
            <a:ext cx="7456170" cy="500063"/>
          </a:xfrm>
          <a:prstGeom prst="rect">
            <a:avLst/>
          </a:prstGeom>
          <a:noFill/>
          <a:ln w="9525"/>
        </p:spPr>
        <p:txBody>
          <a:bodyPr wrap="square" lIns="25400" tIns="25400" rIns="25400" bIns="25400" rtlCol="0" anchor="t"/>
          <a:lstStyle/>
          <a:p>
            <a:r>
              <a:rPr lang="en-US" sz="3000" b="1" kern="0" spc="-57" dirty="0">
                <a:solidFill>
                  <a:srgbClr val="0B0F19"/>
                </a:solidFill>
                <a:latin typeface="Space Grotesk" pitchFamily="34" charset="0"/>
                <a:ea typeface="Space Grotesk" pitchFamily="34" charset="-122"/>
                <a:cs typeface="Space Grotesk" pitchFamily="34" charset="-120"/>
              </a:rPr>
              <a:t>Engineering — the skyscraper</a:t>
            </a:r>
          </a:p>
        </p:txBody>
      </p:sp>
      <p:sp>
        <p:nvSpPr>
          <p:cNvPr id="32" name="Text 30"/>
          <p:cNvSpPr/>
          <p:nvPr/>
        </p:nvSpPr>
        <p:spPr>
          <a:xfrm>
            <a:off x="9753600" y="5552033"/>
            <a:ext cx="7456170" cy="1115244"/>
          </a:xfrm>
          <a:prstGeom prst="rect">
            <a:avLst/>
          </a:prstGeom>
          <a:noFill/>
          <a:ln w="9525"/>
        </p:spPr>
        <p:txBody>
          <a:bodyPr wrap="square" lIns="25400" tIns="25400" rIns="25400" bIns="25400" rtlCol="0" anchor="t"/>
          <a:lstStyle/>
          <a:p>
            <a:pPr>
              <a:lnSpc>
                <a:spcPct val="125000"/>
              </a:lnSpc>
            </a:pPr>
            <a:r>
              <a:rPr lang="en-US" dirty="0">
                <a:solidFill>
                  <a:srgbClr val="3A4250"/>
                </a:solidFill>
                <a:latin typeface="Space Grotesk" pitchFamily="34" charset="0"/>
                <a:ea typeface="Space Grotesk" pitchFamily="34" charset="-122"/>
                <a:cs typeface="Space Grotesk" pitchFamily="34" charset="-120"/>
              </a:rPr>
              <a:t>A team, blueprints, structural math, and years of planned maintenance. Failure is costly and affects real lives and businesses.</a:t>
            </a:r>
          </a:p>
        </p:txBody>
      </p:sp>
      <p:sp>
        <p:nvSpPr>
          <p:cNvPr id="33" name="Shape 31"/>
          <p:cNvSpPr/>
          <p:nvPr/>
        </p:nvSpPr>
        <p:spPr>
          <a:xfrm>
            <a:off x="9753600" y="7002239"/>
            <a:ext cx="1485156" cy="381000"/>
          </a:xfrm>
          <a:prstGeom prst="roundRect">
            <a:avLst>
              <a:gd name="adj" fmla="val 50000"/>
            </a:avLst>
          </a:prstGeom>
          <a:solidFill>
            <a:srgbClr val="D8F0E4"/>
          </a:solidFill>
          <a:ln w="9525"/>
        </p:spPr>
        <p:txBody>
          <a:bodyPr/>
          <a:lstStyle/>
          <a:p>
            <a:endParaRPr lang="en-TH"/>
          </a:p>
        </p:txBody>
      </p:sp>
      <p:sp>
        <p:nvSpPr>
          <p:cNvPr id="34" name="Text 32"/>
          <p:cNvSpPr/>
          <p:nvPr/>
        </p:nvSpPr>
        <p:spPr>
          <a:xfrm>
            <a:off x="9886950" y="7059389"/>
            <a:ext cx="1218456" cy="266700"/>
          </a:xfrm>
          <a:prstGeom prst="rect">
            <a:avLst/>
          </a:prstGeom>
          <a:noFill/>
          <a:ln w="9525"/>
        </p:spPr>
        <p:txBody>
          <a:bodyPr wrap="square" lIns="25400" tIns="25400" rIns="25400" bIns="25400" rtlCol="0" anchor="ctr">
            <a:normAutofit fontScale="92500" lnSpcReduction="20000"/>
          </a:bodyPr>
          <a:lstStyle/>
          <a:p>
            <a:pPr algn="ctr"/>
            <a:r>
              <a:rPr lang="en-US" dirty="0">
                <a:solidFill>
                  <a:srgbClr val="0E7C55"/>
                </a:solidFill>
                <a:latin typeface="Space Grotesk" pitchFamily="34" charset="0"/>
                <a:ea typeface="Space Grotesk" pitchFamily="34" charset="-122"/>
                <a:cs typeface="Space Grotesk" pitchFamily="34" charset="-120"/>
              </a:rPr>
              <a:t>team</a:t>
            </a:r>
          </a:p>
        </p:txBody>
      </p:sp>
      <p:sp>
        <p:nvSpPr>
          <p:cNvPr id="35" name="Text 33"/>
          <p:cNvSpPr/>
          <p:nvPr/>
        </p:nvSpPr>
        <p:spPr>
          <a:xfrm>
            <a:off x="11372107" y="7042723"/>
            <a:ext cx="213866" cy="338138"/>
          </a:xfrm>
          <a:prstGeom prst="rect">
            <a:avLst/>
          </a:prstGeom>
          <a:noFill/>
          <a:ln w="9525"/>
        </p:spPr>
        <p:txBody>
          <a:bodyPr wrap="square" lIns="25400" tIns="25400" rIns="25400" bIns="25400" rtlCol="0" anchor="t">
            <a:normAutofit/>
          </a:bodyPr>
          <a:lstStyle/>
          <a:p>
            <a:pPr algn="ctr"/>
            <a:r>
              <a:rPr lang="en-US" dirty="0">
                <a:solidFill>
                  <a:srgbClr val="7A8290"/>
                </a:solidFill>
                <a:latin typeface="Space Grotesk" pitchFamily="34" charset="0"/>
                <a:ea typeface="Space Grotesk" pitchFamily="34" charset="-122"/>
                <a:cs typeface="Space Grotesk" pitchFamily="34" charset="-120"/>
              </a:rPr>
              <a:t>·</a:t>
            </a:r>
          </a:p>
        </p:txBody>
      </p:sp>
      <p:sp>
        <p:nvSpPr>
          <p:cNvPr id="36" name="Shape 34"/>
          <p:cNvSpPr/>
          <p:nvPr/>
        </p:nvSpPr>
        <p:spPr>
          <a:xfrm>
            <a:off x="11643122" y="7002239"/>
            <a:ext cx="1248743" cy="381000"/>
          </a:xfrm>
          <a:prstGeom prst="roundRect">
            <a:avLst>
              <a:gd name="adj" fmla="val 50000"/>
            </a:avLst>
          </a:prstGeom>
          <a:solidFill>
            <a:srgbClr val="D8F0E4"/>
          </a:solidFill>
          <a:ln w="9525"/>
        </p:spPr>
        <p:txBody>
          <a:bodyPr/>
          <a:lstStyle/>
          <a:p>
            <a:endParaRPr lang="en-TH"/>
          </a:p>
        </p:txBody>
      </p:sp>
      <p:sp>
        <p:nvSpPr>
          <p:cNvPr id="37" name="Text 35"/>
          <p:cNvSpPr/>
          <p:nvPr/>
        </p:nvSpPr>
        <p:spPr>
          <a:xfrm>
            <a:off x="11776472" y="7059389"/>
            <a:ext cx="982043" cy="266700"/>
          </a:xfrm>
          <a:prstGeom prst="rect">
            <a:avLst/>
          </a:prstGeom>
          <a:noFill/>
          <a:ln w="9525"/>
        </p:spPr>
        <p:txBody>
          <a:bodyPr wrap="square" lIns="25400" tIns="25400" rIns="25400" bIns="25400" rtlCol="0" anchor="ctr">
            <a:normAutofit fontScale="92500" lnSpcReduction="20000"/>
          </a:bodyPr>
          <a:lstStyle/>
          <a:p>
            <a:pPr algn="ctr"/>
            <a:r>
              <a:rPr lang="en-US" dirty="0">
                <a:solidFill>
                  <a:srgbClr val="0E7C55"/>
                </a:solidFill>
                <a:latin typeface="Space Grotesk" pitchFamily="34" charset="0"/>
                <a:ea typeface="Space Grotesk" pitchFamily="34" charset="-122"/>
                <a:cs typeface="Space Grotesk" pitchFamily="34" charset="-120"/>
              </a:rPr>
              <a:t>plan</a:t>
            </a:r>
          </a:p>
        </p:txBody>
      </p:sp>
      <p:sp>
        <p:nvSpPr>
          <p:cNvPr id="38" name="Text 36"/>
          <p:cNvSpPr/>
          <p:nvPr/>
        </p:nvSpPr>
        <p:spPr>
          <a:xfrm>
            <a:off x="13025215" y="7042723"/>
            <a:ext cx="213866" cy="338138"/>
          </a:xfrm>
          <a:prstGeom prst="rect">
            <a:avLst/>
          </a:prstGeom>
          <a:noFill/>
          <a:ln w="9525"/>
        </p:spPr>
        <p:txBody>
          <a:bodyPr wrap="square" lIns="25400" tIns="25400" rIns="25400" bIns="25400" rtlCol="0" anchor="t">
            <a:normAutofit/>
          </a:bodyPr>
          <a:lstStyle/>
          <a:p>
            <a:pPr algn="ctr"/>
            <a:r>
              <a:rPr lang="en-US" dirty="0">
                <a:solidFill>
                  <a:srgbClr val="7A8290"/>
                </a:solidFill>
                <a:latin typeface="Space Grotesk" pitchFamily="34" charset="0"/>
                <a:ea typeface="Space Grotesk" pitchFamily="34" charset="-122"/>
                <a:cs typeface="Space Grotesk" pitchFamily="34" charset="-120"/>
              </a:rPr>
              <a:t>·</a:t>
            </a:r>
          </a:p>
        </p:txBody>
      </p:sp>
      <p:sp>
        <p:nvSpPr>
          <p:cNvPr id="39" name="Shape 37"/>
          <p:cNvSpPr/>
          <p:nvPr/>
        </p:nvSpPr>
        <p:spPr>
          <a:xfrm>
            <a:off x="13296230" y="7002239"/>
            <a:ext cx="1248743" cy="381000"/>
          </a:xfrm>
          <a:prstGeom prst="roundRect">
            <a:avLst>
              <a:gd name="adj" fmla="val 50000"/>
            </a:avLst>
          </a:prstGeom>
          <a:solidFill>
            <a:srgbClr val="D8F0E4"/>
          </a:solidFill>
          <a:ln w="9525"/>
        </p:spPr>
        <p:txBody>
          <a:bodyPr/>
          <a:lstStyle/>
          <a:p>
            <a:endParaRPr lang="en-TH"/>
          </a:p>
        </p:txBody>
      </p:sp>
      <p:sp>
        <p:nvSpPr>
          <p:cNvPr id="40" name="Text 38"/>
          <p:cNvSpPr/>
          <p:nvPr/>
        </p:nvSpPr>
        <p:spPr>
          <a:xfrm>
            <a:off x="13429580" y="7059389"/>
            <a:ext cx="982043" cy="266700"/>
          </a:xfrm>
          <a:prstGeom prst="rect">
            <a:avLst/>
          </a:prstGeom>
          <a:noFill/>
          <a:ln w="9525"/>
        </p:spPr>
        <p:txBody>
          <a:bodyPr wrap="square" lIns="25400" tIns="25400" rIns="25400" bIns="25400" rtlCol="0" anchor="ctr">
            <a:normAutofit fontScale="92500" lnSpcReduction="20000"/>
          </a:bodyPr>
          <a:lstStyle/>
          <a:p>
            <a:pPr algn="ctr"/>
            <a:r>
              <a:rPr lang="en-US" dirty="0">
                <a:solidFill>
                  <a:srgbClr val="0E7C55"/>
                </a:solidFill>
                <a:latin typeface="Space Grotesk" pitchFamily="34" charset="0"/>
                <a:ea typeface="Space Grotesk" pitchFamily="34" charset="-122"/>
                <a:cs typeface="Space Grotesk" pitchFamily="34" charset="-120"/>
              </a:rPr>
              <a:t>scale</a:t>
            </a:r>
          </a:p>
        </p:txBody>
      </p:sp>
      <p:sp>
        <p:nvSpPr>
          <p:cNvPr id="41" name="Text 39"/>
          <p:cNvSpPr/>
          <p:nvPr/>
        </p:nvSpPr>
        <p:spPr>
          <a:xfrm>
            <a:off x="14678324" y="7042723"/>
            <a:ext cx="213866" cy="338138"/>
          </a:xfrm>
          <a:prstGeom prst="rect">
            <a:avLst/>
          </a:prstGeom>
          <a:noFill/>
          <a:ln w="9525"/>
        </p:spPr>
        <p:txBody>
          <a:bodyPr wrap="square" lIns="25400" tIns="25400" rIns="25400" bIns="25400" rtlCol="0" anchor="t">
            <a:normAutofit/>
          </a:bodyPr>
          <a:lstStyle/>
          <a:p>
            <a:pPr algn="ctr"/>
            <a:r>
              <a:rPr lang="en-US" dirty="0">
                <a:solidFill>
                  <a:srgbClr val="7A8290"/>
                </a:solidFill>
                <a:latin typeface="Space Grotesk" pitchFamily="34" charset="0"/>
                <a:ea typeface="Space Grotesk" pitchFamily="34" charset="-122"/>
                <a:cs typeface="Space Grotesk" pitchFamily="34" charset="-120"/>
              </a:rPr>
              <a:t>·</a:t>
            </a:r>
          </a:p>
        </p:txBody>
      </p:sp>
      <p:sp>
        <p:nvSpPr>
          <p:cNvPr id="42" name="Shape 40"/>
          <p:cNvSpPr/>
          <p:nvPr/>
        </p:nvSpPr>
        <p:spPr>
          <a:xfrm>
            <a:off x="14949341" y="7002239"/>
            <a:ext cx="1513805" cy="381000"/>
          </a:xfrm>
          <a:prstGeom prst="roundRect">
            <a:avLst>
              <a:gd name="adj" fmla="val 50000"/>
            </a:avLst>
          </a:prstGeom>
          <a:solidFill>
            <a:srgbClr val="D8F0E4"/>
          </a:solidFill>
          <a:ln w="9525"/>
        </p:spPr>
        <p:txBody>
          <a:bodyPr/>
          <a:lstStyle/>
          <a:p>
            <a:endParaRPr lang="en-TH"/>
          </a:p>
        </p:txBody>
      </p:sp>
      <p:sp>
        <p:nvSpPr>
          <p:cNvPr id="43" name="Text 41"/>
          <p:cNvSpPr/>
          <p:nvPr/>
        </p:nvSpPr>
        <p:spPr>
          <a:xfrm>
            <a:off x="15082691" y="7059389"/>
            <a:ext cx="1247105" cy="266700"/>
          </a:xfrm>
          <a:prstGeom prst="rect">
            <a:avLst/>
          </a:prstGeom>
          <a:noFill/>
          <a:ln w="9525"/>
        </p:spPr>
        <p:txBody>
          <a:bodyPr wrap="square" lIns="25400" tIns="25400" rIns="25400" bIns="25400" rtlCol="0" anchor="ctr">
            <a:normAutofit fontScale="92500" lnSpcReduction="20000"/>
          </a:bodyPr>
          <a:lstStyle/>
          <a:p>
            <a:pPr algn="ctr"/>
            <a:r>
              <a:rPr lang="en-US" dirty="0">
                <a:solidFill>
                  <a:srgbClr val="0E7C55"/>
                </a:solidFill>
                <a:latin typeface="Space Grotesk" pitchFamily="34" charset="0"/>
                <a:ea typeface="Space Grotesk" pitchFamily="34" charset="-122"/>
                <a:cs typeface="Space Grotesk" pitchFamily="34" charset="-120"/>
              </a:rPr>
              <a:t>maintain</a:t>
            </a:r>
          </a:p>
        </p:txBody>
      </p:sp>
    </p:spTree>
    <p:extLst>
      <p:ext uri="{BB962C8B-B14F-4D97-AF65-F5344CB8AC3E}">
        <p14:creationId xmlns:p14="http://schemas.microsoft.com/office/powerpoint/2010/main" val="8019043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p:cNvSpPr/>
          <p:nvPr/>
        </p:nvSpPr>
        <p:spPr>
          <a:xfrm>
            <a:off x="728216" y="154781"/>
            <a:ext cx="3889732" cy="338138"/>
          </a:xfrm>
          <a:prstGeom prst="rect">
            <a:avLst/>
          </a:prstGeom>
          <a:noFill/>
          <a:ln w="9525"/>
        </p:spPr>
        <p:txBody>
          <a:bodyPr wrap="square" lIns="25400" tIns="25400" rIns="25400" bIns="25400" rtlCol="0" anchor="t">
            <a:normAutofit/>
          </a:bodyPr>
          <a:lstStyle/>
          <a:p>
            <a:pPr marL="0" indent="0" algn="l">
              <a:buNone/>
            </a:pPr>
            <a:r>
              <a:rPr lang="en-US" sz="1800" b="1" kern="0" spc="-18" dirty="0">
                <a:solidFill>
                  <a:srgbClr val="0B0F19"/>
                </a:solidFill>
                <a:latin typeface="JetBrains Mono" pitchFamily="34" charset="0"/>
                <a:ea typeface="JetBrains Mono" pitchFamily="34" charset="-122"/>
                <a:cs typeface="JetBrains Mono" pitchFamily="34" charset="-120"/>
              </a:rPr>
              <a:t>intro2se-week01.fig</a:t>
            </a:r>
            <a:endParaRPr lang="en-US" sz="1800" dirty="0"/>
          </a:p>
        </p:txBody>
      </p:sp>
      <p:sp>
        <p:nvSpPr>
          <p:cNvPr id="6" name="Text 4"/>
          <p:cNvSpPr/>
          <p:nvPr/>
        </p:nvSpPr>
        <p:spPr>
          <a:xfrm>
            <a:off x="4771355" y="154781"/>
            <a:ext cx="3382869"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Chapter 1 · Types</a:t>
            </a:r>
            <a:endParaRPr lang="en-US" sz="1800" dirty="0"/>
          </a:p>
        </p:txBody>
      </p:sp>
      <p:sp>
        <p:nvSpPr>
          <p:cNvPr id="7" name="Text 5"/>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kern="0" spc="72" dirty="0">
                <a:solidFill>
                  <a:srgbClr val="7A8290"/>
                </a:solidFill>
                <a:latin typeface="JetBrains Mono" pitchFamily="34" charset="0"/>
                <a:ea typeface="JetBrains Mono" pitchFamily="34" charset="-122"/>
                <a:cs typeface="JetBrains Mono" pitchFamily="34" charset="-120"/>
              </a:rPr>
              <a:t>25</a:t>
            </a:r>
            <a:r>
              <a:rPr lang="en-US" sz="1800" kern="0" spc="72" dirty="0">
                <a:solidFill>
                  <a:srgbClr val="7A8290"/>
                </a:solidFill>
                <a:latin typeface="JetBrains Mono" pitchFamily="34" charset="0"/>
                <a:ea typeface="JetBrains Mono" pitchFamily="34" charset="-122"/>
                <a:cs typeface="JetBrains Mono" pitchFamily="34" charset="-120"/>
              </a:rPr>
              <a:t> / 32</a:t>
            </a:r>
            <a:endParaRPr lang="en-US" sz="1800" dirty="0"/>
          </a:p>
        </p:txBody>
      </p:sp>
      <p:sp>
        <p:nvSpPr>
          <p:cNvPr id="9" name="Text 7"/>
          <p:cNvSpPr/>
          <p:nvPr/>
        </p:nvSpPr>
        <p:spPr>
          <a:xfrm>
            <a:off x="914400" y="1524000"/>
            <a:ext cx="16952976"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TYPES OF SOFTWARE</a:t>
            </a:r>
            <a:endParaRPr lang="en-US" sz="1800" dirty="0"/>
          </a:p>
        </p:txBody>
      </p:sp>
      <p:sp>
        <p:nvSpPr>
          <p:cNvPr id="10" name="Text 8"/>
          <p:cNvSpPr/>
          <p:nvPr/>
        </p:nvSpPr>
        <p:spPr>
          <a:xfrm>
            <a:off x="914400" y="1995487"/>
            <a:ext cx="16952976" cy="908051"/>
          </a:xfrm>
          <a:prstGeom prst="rect">
            <a:avLst/>
          </a:prstGeom>
          <a:noFill/>
          <a:ln w="9525"/>
        </p:spPr>
        <p:txBody>
          <a:bodyPr wrap="square" lIns="25400" tIns="25400" rIns="25400" bIns="25400" rtlCol="0" anchor="t">
            <a:normAutofit/>
          </a:bodyPr>
          <a:lstStyle/>
          <a:p>
            <a:pPr marL="0" indent="0" algn="l">
              <a:lnSpc>
                <a:spcPct val="100000"/>
              </a:lnSpc>
              <a:buNone/>
            </a:pPr>
            <a:r>
              <a:rPr lang="en-US" sz="4800" b="1" kern="0" spc="-120" dirty="0">
                <a:solidFill>
                  <a:srgbClr val="0B0F19"/>
                </a:solidFill>
                <a:latin typeface="Space Grotesk" pitchFamily="34" charset="0"/>
                <a:ea typeface="Space Grotesk" pitchFamily="34" charset="-122"/>
                <a:cs typeface="Space Grotesk" pitchFamily="34" charset="-120"/>
              </a:rPr>
              <a:t>Different types, different requirements</a:t>
            </a:r>
            <a:endParaRPr lang="en-US" sz="4800" dirty="0"/>
          </a:p>
        </p:txBody>
      </p:sp>
      <p:sp>
        <p:nvSpPr>
          <p:cNvPr id="11" name="Text 9"/>
          <p:cNvSpPr/>
          <p:nvPr/>
        </p:nvSpPr>
        <p:spPr>
          <a:xfrm>
            <a:off x="914400" y="2903538"/>
            <a:ext cx="16459200" cy="908051"/>
          </a:xfrm>
          <a:prstGeom prst="rect">
            <a:avLst/>
          </a:prstGeom>
          <a:noFill/>
          <a:ln w="9525"/>
        </p:spPr>
        <p:txBody>
          <a:bodyPr wrap="square" lIns="25400" tIns="25400" rIns="25400" bIns="25400" rtlCol="0" anchor="t">
            <a:noAutofit/>
          </a:bodyPr>
          <a:lstStyle/>
          <a:p>
            <a:pPr marL="0" indent="0" algn="l">
              <a:lnSpc>
                <a:spcPct val="125000"/>
              </a:lnSpc>
              <a:buNone/>
            </a:pPr>
            <a:r>
              <a:rPr lang="en-US" sz="2000" dirty="0">
                <a:solidFill>
                  <a:srgbClr val="3A4250"/>
                </a:solidFill>
                <a:latin typeface="Space Grotesk" pitchFamily="34" charset="0"/>
                <a:ea typeface="Space Grotesk" pitchFamily="34" charset="-122"/>
                <a:cs typeface="Space Grotesk" pitchFamily="34" charset="-120"/>
              </a:rPr>
              <a:t>First split: generic products are built for an open market and the vendor imagines the requirements (Excel, LINE); custom or bespoke software is built for one customer who states their need (a hospital's queue system). Then the platform changes the constraints again — which is why Chapter 3 is about capturing requirements before building.</a:t>
            </a:r>
            <a:endParaRPr lang="en-US" sz="2000" dirty="0"/>
          </a:p>
        </p:txBody>
      </p:sp>
      <p:sp>
        <p:nvSpPr>
          <p:cNvPr id="12" name="Shape 10"/>
          <p:cNvSpPr/>
          <p:nvPr/>
        </p:nvSpPr>
        <p:spPr>
          <a:xfrm>
            <a:off x="914400" y="4026098"/>
            <a:ext cx="3943350" cy="5427924"/>
          </a:xfrm>
          <a:prstGeom prst="roundRect">
            <a:avLst>
              <a:gd name="adj" fmla="val 5083"/>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13" name="Text 11"/>
          <p:cNvSpPr/>
          <p:nvPr/>
        </p:nvSpPr>
        <p:spPr>
          <a:xfrm>
            <a:off x="1181100" y="4311848"/>
            <a:ext cx="3512249"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TYPE 01</a:t>
            </a:r>
            <a:endParaRPr lang="en-US" sz="1800" dirty="0"/>
          </a:p>
        </p:txBody>
      </p:sp>
      <p:sp>
        <p:nvSpPr>
          <p:cNvPr id="14" name="Text 12"/>
          <p:cNvSpPr/>
          <p:nvPr/>
        </p:nvSpPr>
        <p:spPr>
          <a:xfrm>
            <a:off x="1181100" y="4707136"/>
            <a:ext cx="3512249" cy="373335"/>
          </a:xfrm>
          <a:prstGeom prst="rect">
            <a:avLst/>
          </a:prstGeom>
          <a:noFill/>
          <a:ln w="9525"/>
        </p:spPr>
        <p:txBody>
          <a:bodyPr wrap="square" lIns="25400" tIns="25400" rIns="25400" bIns="25400" rtlCol="0" anchor="t">
            <a:normAutofit fontScale="92500" lnSpcReduction="20000"/>
          </a:bodyPr>
          <a:lstStyle/>
          <a:p>
            <a:pPr marL="0" indent="0" algn="l">
              <a:lnSpc>
                <a:spcPct val="110000"/>
              </a:lnSpc>
              <a:buNone/>
            </a:pPr>
            <a:r>
              <a:rPr lang="en-US" sz="2400" b="1" kern="0" spc="-36" dirty="0">
                <a:solidFill>
                  <a:srgbClr val="0B0F19"/>
                </a:solidFill>
                <a:latin typeface="Space Grotesk" pitchFamily="34" charset="0"/>
                <a:ea typeface="Space Grotesk" pitchFamily="34" charset="-122"/>
                <a:cs typeface="Space Grotesk" pitchFamily="34" charset="-120"/>
              </a:rPr>
              <a:t>Web</a:t>
            </a:r>
            <a:endParaRPr lang="en-US" sz="2400" dirty="0"/>
          </a:p>
        </p:txBody>
      </p:sp>
      <p:sp>
        <p:nvSpPr>
          <p:cNvPr id="15" name="Text 13"/>
          <p:cNvSpPr/>
          <p:nvPr/>
        </p:nvSpPr>
        <p:spPr>
          <a:xfrm>
            <a:off x="1181100" y="5175721"/>
            <a:ext cx="3512249" cy="2676310"/>
          </a:xfrm>
          <a:prstGeom prst="rect">
            <a:avLst/>
          </a:prstGeom>
          <a:noFill/>
          <a:ln w="9525"/>
        </p:spPr>
        <p:txBody>
          <a:bodyPr wrap="square" lIns="25400" tIns="25400" rIns="25400" bIns="25400" rtlCol="0" anchor="t">
            <a:spAutoFit/>
          </a:bodyPr>
          <a:lstStyle/>
          <a:p>
            <a:pPr marL="0" indent="0" algn="l">
              <a:lnSpc>
                <a:spcPct val="145000"/>
              </a:lnSpc>
              <a:buNone/>
            </a:pPr>
            <a:r>
              <a:rPr lang="en-US" sz="2400" dirty="0">
                <a:solidFill>
                  <a:srgbClr val="3A4250"/>
                </a:solidFill>
                <a:latin typeface="Space Grotesk" pitchFamily="34" charset="0"/>
                <a:ea typeface="Space Grotesk" pitchFamily="34" charset="-122"/>
                <a:cs typeface="Space Grotesk" pitchFamily="34" charset="-120"/>
              </a:rPr>
              <a:t>Runs in a browser, updates for everyone at once. Constraints: connectivity, many browsers, and load at peak times.</a:t>
            </a:r>
            <a:endParaRPr lang="en-US" sz="2400" dirty="0"/>
          </a:p>
        </p:txBody>
      </p:sp>
      <p:grpSp>
        <p:nvGrpSpPr>
          <p:cNvPr id="92241334" name="Group 92241334"/>
          <p:cNvGrpSpPr/>
          <p:nvPr/>
        </p:nvGrpSpPr>
        <p:grpSpPr>
          <a:xfrm>
            <a:off x="1181100" y="9061994"/>
            <a:ext cx="3409950" cy="95250"/>
            <a:chOff x="1181100" y="7061522"/>
            <a:chExt cx="3409950" cy="95250"/>
          </a:xfrm>
        </p:grpSpPr>
        <p:sp>
          <p:nvSpPr>
            <p:cNvPr id="16" name="Shape 14"/>
            <p:cNvSpPr/>
            <p:nvPr/>
          </p:nvSpPr>
          <p:spPr>
            <a:xfrm>
              <a:off x="1181100" y="7061522"/>
              <a:ext cx="809625" cy="95250"/>
            </a:xfrm>
            <a:prstGeom prst="roundRect">
              <a:avLst>
                <a:gd name="adj" fmla="val 40000"/>
              </a:avLst>
            </a:prstGeom>
            <a:solidFill>
              <a:srgbClr val="FF5A47"/>
            </a:solidFill>
            <a:ln w="9525"/>
          </p:spPr>
          <p:txBody>
            <a:bodyPr/>
            <a:lstStyle/>
            <a:p>
              <a:endParaRPr lang="en-TH"/>
            </a:p>
          </p:txBody>
        </p:sp>
        <p:sp>
          <p:nvSpPr>
            <p:cNvPr id="17" name="Shape 15"/>
            <p:cNvSpPr/>
            <p:nvPr/>
          </p:nvSpPr>
          <p:spPr>
            <a:xfrm>
              <a:off x="2047875" y="7061522"/>
              <a:ext cx="809625" cy="95250"/>
            </a:xfrm>
            <a:prstGeom prst="roundRect">
              <a:avLst>
                <a:gd name="adj" fmla="val 40000"/>
              </a:avLst>
            </a:prstGeom>
            <a:solidFill>
              <a:srgbClr val="E4E7EC"/>
            </a:solidFill>
            <a:ln w="9525"/>
          </p:spPr>
          <p:txBody>
            <a:bodyPr/>
            <a:lstStyle/>
            <a:p>
              <a:endParaRPr lang="en-TH"/>
            </a:p>
          </p:txBody>
        </p:sp>
        <p:sp>
          <p:nvSpPr>
            <p:cNvPr id="18" name="Shape 16"/>
            <p:cNvSpPr/>
            <p:nvPr/>
          </p:nvSpPr>
          <p:spPr>
            <a:xfrm>
              <a:off x="2914650" y="7061522"/>
              <a:ext cx="809625" cy="95250"/>
            </a:xfrm>
            <a:prstGeom prst="roundRect">
              <a:avLst>
                <a:gd name="adj" fmla="val 40000"/>
              </a:avLst>
            </a:prstGeom>
            <a:solidFill>
              <a:srgbClr val="E4E7EC"/>
            </a:solidFill>
            <a:ln w="9525"/>
          </p:spPr>
          <p:txBody>
            <a:bodyPr/>
            <a:lstStyle/>
            <a:p>
              <a:endParaRPr lang="en-TH"/>
            </a:p>
          </p:txBody>
        </p:sp>
        <p:sp>
          <p:nvSpPr>
            <p:cNvPr id="19" name="Shape 17"/>
            <p:cNvSpPr/>
            <p:nvPr/>
          </p:nvSpPr>
          <p:spPr>
            <a:xfrm>
              <a:off x="3781425" y="7061522"/>
              <a:ext cx="809625" cy="95250"/>
            </a:xfrm>
            <a:prstGeom prst="roundRect">
              <a:avLst>
                <a:gd name="adj" fmla="val 40000"/>
              </a:avLst>
            </a:prstGeom>
            <a:solidFill>
              <a:srgbClr val="E4E7EC"/>
            </a:solidFill>
            <a:ln w="9525"/>
          </p:spPr>
          <p:txBody>
            <a:bodyPr/>
            <a:lstStyle/>
            <a:p>
              <a:endParaRPr lang="en-TH"/>
            </a:p>
          </p:txBody>
        </p:sp>
      </p:grpSp>
      <p:sp>
        <p:nvSpPr>
          <p:cNvPr id="20" name="Shape 18"/>
          <p:cNvSpPr/>
          <p:nvPr/>
        </p:nvSpPr>
        <p:spPr>
          <a:xfrm>
            <a:off x="5086350" y="4026098"/>
            <a:ext cx="3943350" cy="5427924"/>
          </a:xfrm>
          <a:prstGeom prst="roundRect">
            <a:avLst>
              <a:gd name="adj" fmla="val 5083"/>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1" name="Text 19"/>
          <p:cNvSpPr/>
          <p:nvPr/>
        </p:nvSpPr>
        <p:spPr>
          <a:xfrm>
            <a:off x="5353050" y="4311848"/>
            <a:ext cx="3512249"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TYPE 02</a:t>
            </a:r>
            <a:endParaRPr lang="en-US" sz="1800" dirty="0"/>
          </a:p>
        </p:txBody>
      </p:sp>
      <p:sp>
        <p:nvSpPr>
          <p:cNvPr id="22" name="Text 20"/>
          <p:cNvSpPr/>
          <p:nvPr/>
        </p:nvSpPr>
        <p:spPr>
          <a:xfrm>
            <a:off x="5353050" y="4707136"/>
            <a:ext cx="3512249" cy="373335"/>
          </a:xfrm>
          <a:prstGeom prst="rect">
            <a:avLst/>
          </a:prstGeom>
          <a:noFill/>
          <a:ln w="9525"/>
        </p:spPr>
        <p:txBody>
          <a:bodyPr wrap="square" lIns="25400" tIns="25400" rIns="25400" bIns="25400" rtlCol="0" anchor="t">
            <a:normAutofit fontScale="92500" lnSpcReduction="20000"/>
          </a:bodyPr>
          <a:lstStyle/>
          <a:p>
            <a:pPr marL="0" indent="0" algn="l">
              <a:lnSpc>
                <a:spcPct val="110000"/>
              </a:lnSpc>
              <a:buNone/>
            </a:pPr>
            <a:r>
              <a:rPr lang="en-US" sz="2400" b="1" kern="0" spc="-36" dirty="0">
                <a:solidFill>
                  <a:srgbClr val="0B0F19"/>
                </a:solidFill>
                <a:latin typeface="Space Grotesk" pitchFamily="34" charset="0"/>
                <a:ea typeface="Space Grotesk" pitchFamily="34" charset="-122"/>
                <a:cs typeface="Space Grotesk" pitchFamily="34" charset="-120"/>
              </a:rPr>
              <a:t>Mobile</a:t>
            </a:r>
            <a:endParaRPr lang="en-US" sz="2400" dirty="0"/>
          </a:p>
        </p:txBody>
      </p:sp>
      <p:sp>
        <p:nvSpPr>
          <p:cNvPr id="23" name="Text 21"/>
          <p:cNvSpPr/>
          <p:nvPr/>
        </p:nvSpPr>
        <p:spPr>
          <a:xfrm>
            <a:off x="5353050" y="5175721"/>
            <a:ext cx="3512249" cy="2676310"/>
          </a:xfrm>
          <a:prstGeom prst="rect">
            <a:avLst/>
          </a:prstGeom>
          <a:noFill/>
          <a:ln w="9525"/>
        </p:spPr>
        <p:txBody>
          <a:bodyPr wrap="square" lIns="25400" tIns="25400" rIns="25400" bIns="25400" rtlCol="0" anchor="t">
            <a:spAutoFit/>
          </a:bodyPr>
          <a:lstStyle/>
          <a:p>
            <a:pPr marL="0" indent="0" algn="l">
              <a:lnSpc>
                <a:spcPct val="145000"/>
              </a:lnSpc>
              <a:buNone/>
            </a:pPr>
            <a:r>
              <a:rPr lang="en-US" sz="2400" dirty="0">
                <a:solidFill>
                  <a:srgbClr val="3A4250"/>
                </a:solidFill>
                <a:latin typeface="Space Grotesk" pitchFamily="34" charset="0"/>
                <a:ea typeface="Space Grotesk" pitchFamily="34" charset="-122"/>
                <a:cs typeface="Space Grotesk" pitchFamily="34" charset="-120"/>
              </a:rPr>
              <a:t>Lives on a personal device. Constraints: battery, small screen, offline use, and app-store review before every release.</a:t>
            </a:r>
            <a:endParaRPr lang="en-US" sz="2400" dirty="0"/>
          </a:p>
        </p:txBody>
      </p:sp>
      <p:grpSp>
        <p:nvGrpSpPr>
          <p:cNvPr id="37399629" name="Group 37399629"/>
          <p:cNvGrpSpPr/>
          <p:nvPr/>
        </p:nvGrpSpPr>
        <p:grpSpPr>
          <a:xfrm>
            <a:off x="5353050" y="9061994"/>
            <a:ext cx="3409950" cy="95250"/>
            <a:chOff x="5353050" y="7392963"/>
            <a:chExt cx="3409950" cy="95250"/>
          </a:xfrm>
        </p:grpSpPr>
        <p:sp>
          <p:nvSpPr>
            <p:cNvPr id="24" name="Shape 22"/>
            <p:cNvSpPr/>
            <p:nvPr/>
          </p:nvSpPr>
          <p:spPr>
            <a:xfrm>
              <a:off x="5353050" y="7392963"/>
              <a:ext cx="809625" cy="95250"/>
            </a:xfrm>
            <a:prstGeom prst="roundRect">
              <a:avLst>
                <a:gd name="adj" fmla="val 40000"/>
              </a:avLst>
            </a:prstGeom>
            <a:solidFill>
              <a:srgbClr val="FFC233"/>
            </a:solidFill>
            <a:ln w="9525"/>
          </p:spPr>
          <p:txBody>
            <a:bodyPr/>
            <a:lstStyle/>
            <a:p>
              <a:endParaRPr lang="en-TH"/>
            </a:p>
          </p:txBody>
        </p:sp>
        <p:sp>
          <p:nvSpPr>
            <p:cNvPr id="25" name="Shape 23"/>
            <p:cNvSpPr/>
            <p:nvPr/>
          </p:nvSpPr>
          <p:spPr>
            <a:xfrm>
              <a:off x="6219825" y="7392963"/>
              <a:ext cx="809625" cy="95250"/>
            </a:xfrm>
            <a:prstGeom prst="roundRect">
              <a:avLst>
                <a:gd name="adj" fmla="val 40000"/>
              </a:avLst>
            </a:prstGeom>
            <a:solidFill>
              <a:srgbClr val="FFC233"/>
            </a:solidFill>
            <a:ln w="9525"/>
          </p:spPr>
          <p:txBody>
            <a:bodyPr/>
            <a:lstStyle/>
            <a:p>
              <a:endParaRPr lang="en-TH"/>
            </a:p>
          </p:txBody>
        </p:sp>
        <p:sp>
          <p:nvSpPr>
            <p:cNvPr id="26" name="Shape 24"/>
            <p:cNvSpPr/>
            <p:nvPr/>
          </p:nvSpPr>
          <p:spPr>
            <a:xfrm>
              <a:off x="7086600" y="7392963"/>
              <a:ext cx="809625" cy="95250"/>
            </a:xfrm>
            <a:prstGeom prst="roundRect">
              <a:avLst>
                <a:gd name="adj" fmla="val 40000"/>
              </a:avLst>
            </a:prstGeom>
            <a:solidFill>
              <a:srgbClr val="E4E7EC"/>
            </a:solidFill>
            <a:ln w="9525"/>
          </p:spPr>
          <p:txBody>
            <a:bodyPr/>
            <a:lstStyle/>
            <a:p>
              <a:endParaRPr lang="en-TH"/>
            </a:p>
          </p:txBody>
        </p:sp>
        <p:sp>
          <p:nvSpPr>
            <p:cNvPr id="27" name="Shape 25"/>
            <p:cNvSpPr/>
            <p:nvPr/>
          </p:nvSpPr>
          <p:spPr>
            <a:xfrm>
              <a:off x="7953375" y="7392963"/>
              <a:ext cx="809625" cy="95250"/>
            </a:xfrm>
            <a:prstGeom prst="roundRect">
              <a:avLst>
                <a:gd name="adj" fmla="val 40000"/>
              </a:avLst>
            </a:prstGeom>
            <a:solidFill>
              <a:srgbClr val="E4E7EC"/>
            </a:solidFill>
            <a:ln w="9525"/>
          </p:spPr>
          <p:txBody>
            <a:bodyPr/>
            <a:lstStyle/>
            <a:p>
              <a:endParaRPr lang="en-TH"/>
            </a:p>
          </p:txBody>
        </p:sp>
      </p:grpSp>
      <p:sp>
        <p:nvSpPr>
          <p:cNvPr id="28" name="Shape 26"/>
          <p:cNvSpPr/>
          <p:nvPr/>
        </p:nvSpPr>
        <p:spPr>
          <a:xfrm>
            <a:off x="9258300" y="4026098"/>
            <a:ext cx="3943350" cy="5427924"/>
          </a:xfrm>
          <a:prstGeom prst="roundRect">
            <a:avLst>
              <a:gd name="adj" fmla="val 5083"/>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9" name="Text 27"/>
          <p:cNvSpPr/>
          <p:nvPr/>
        </p:nvSpPr>
        <p:spPr>
          <a:xfrm>
            <a:off x="9525000" y="4311848"/>
            <a:ext cx="3512249"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TYPE 03</a:t>
            </a:r>
            <a:endParaRPr lang="en-US" sz="1800" dirty="0"/>
          </a:p>
        </p:txBody>
      </p:sp>
      <p:sp>
        <p:nvSpPr>
          <p:cNvPr id="30" name="Text 28"/>
          <p:cNvSpPr/>
          <p:nvPr/>
        </p:nvSpPr>
        <p:spPr>
          <a:xfrm>
            <a:off x="9525000" y="4707136"/>
            <a:ext cx="3512249" cy="373335"/>
          </a:xfrm>
          <a:prstGeom prst="rect">
            <a:avLst/>
          </a:prstGeom>
          <a:noFill/>
          <a:ln w="9525"/>
        </p:spPr>
        <p:txBody>
          <a:bodyPr wrap="square" lIns="25400" tIns="25400" rIns="25400" bIns="25400" rtlCol="0" anchor="t">
            <a:normAutofit fontScale="92500" lnSpcReduction="20000"/>
          </a:bodyPr>
          <a:lstStyle/>
          <a:p>
            <a:pPr marL="0" indent="0" algn="l">
              <a:lnSpc>
                <a:spcPct val="110000"/>
              </a:lnSpc>
              <a:buNone/>
            </a:pPr>
            <a:r>
              <a:rPr lang="en-US" sz="2400" b="1" kern="0" spc="-36" dirty="0">
                <a:solidFill>
                  <a:srgbClr val="0B0F19"/>
                </a:solidFill>
                <a:latin typeface="Space Grotesk" pitchFamily="34" charset="0"/>
                <a:ea typeface="Space Grotesk" pitchFamily="34" charset="-122"/>
                <a:cs typeface="Space Grotesk" pitchFamily="34" charset="-120"/>
              </a:rPr>
              <a:t>Embedded</a:t>
            </a:r>
            <a:endParaRPr lang="en-US" sz="2400" dirty="0"/>
          </a:p>
        </p:txBody>
      </p:sp>
      <p:sp>
        <p:nvSpPr>
          <p:cNvPr id="31" name="Text 29"/>
          <p:cNvSpPr/>
          <p:nvPr/>
        </p:nvSpPr>
        <p:spPr>
          <a:xfrm>
            <a:off x="9525000" y="5175721"/>
            <a:ext cx="3512249" cy="2676310"/>
          </a:xfrm>
          <a:prstGeom prst="rect">
            <a:avLst/>
          </a:prstGeom>
          <a:noFill/>
          <a:ln w="9525"/>
        </p:spPr>
        <p:txBody>
          <a:bodyPr wrap="square" lIns="25400" tIns="25400" rIns="25400" bIns="25400" rtlCol="0" anchor="t">
            <a:spAutoFit/>
          </a:bodyPr>
          <a:lstStyle/>
          <a:p>
            <a:pPr marL="0" indent="0" algn="l">
              <a:lnSpc>
                <a:spcPct val="145000"/>
              </a:lnSpc>
              <a:buNone/>
            </a:pPr>
            <a:r>
              <a:rPr lang="en-US" sz="2400" dirty="0">
                <a:solidFill>
                  <a:srgbClr val="3A4250"/>
                </a:solidFill>
                <a:latin typeface="Space Grotesk" pitchFamily="34" charset="0"/>
                <a:ea typeface="Space Grotesk" pitchFamily="34" charset="-122"/>
                <a:cs typeface="Space Grotesk" pitchFamily="34" charset="-120"/>
              </a:rPr>
              <a:t>Inside a car, a rice cooker, a medical device. Constraints: tiny memory, real-time response, and safety — you cannot patch it easily.</a:t>
            </a:r>
            <a:endParaRPr lang="en-US" sz="2400" dirty="0"/>
          </a:p>
        </p:txBody>
      </p:sp>
      <p:grpSp>
        <p:nvGrpSpPr>
          <p:cNvPr id="41997815" name="Group 41997815"/>
          <p:cNvGrpSpPr/>
          <p:nvPr/>
        </p:nvGrpSpPr>
        <p:grpSpPr>
          <a:xfrm>
            <a:off x="9525000" y="9061994"/>
            <a:ext cx="3409950" cy="95250"/>
            <a:chOff x="9525000" y="7061522"/>
            <a:chExt cx="3409950" cy="95250"/>
          </a:xfrm>
        </p:grpSpPr>
        <p:sp>
          <p:nvSpPr>
            <p:cNvPr id="32" name="Shape 30"/>
            <p:cNvSpPr/>
            <p:nvPr/>
          </p:nvSpPr>
          <p:spPr>
            <a:xfrm>
              <a:off x="9525000" y="7061522"/>
              <a:ext cx="809625" cy="95250"/>
            </a:xfrm>
            <a:prstGeom prst="roundRect">
              <a:avLst>
                <a:gd name="adj" fmla="val 40000"/>
              </a:avLst>
            </a:prstGeom>
            <a:solidFill>
              <a:srgbClr val="2D5BFF"/>
            </a:solidFill>
            <a:ln w="9525"/>
          </p:spPr>
          <p:txBody>
            <a:bodyPr/>
            <a:lstStyle/>
            <a:p>
              <a:endParaRPr lang="en-TH"/>
            </a:p>
          </p:txBody>
        </p:sp>
        <p:sp>
          <p:nvSpPr>
            <p:cNvPr id="33" name="Shape 31"/>
            <p:cNvSpPr/>
            <p:nvPr/>
          </p:nvSpPr>
          <p:spPr>
            <a:xfrm>
              <a:off x="10391775" y="7061522"/>
              <a:ext cx="809625" cy="95250"/>
            </a:xfrm>
            <a:prstGeom prst="roundRect">
              <a:avLst>
                <a:gd name="adj" fmla="val 40000"/>
              </a:avLst>
            </a:prstGeom>
            <a:solidFill>
              <a:srgbClr val="2D5BFF"/>
            </a:solidFill>
            <a:ln w="9525"/>
          </p:spPr>
          <p:txBody>
            <a:bodyPr/>
            <a:lstStyle/>
            <a:p>
              <a:endParaRPr lang="en-TH"/>
            </a:p>
          </p:txBody>
        </p:sp>
        <p:sp>
          <p:nvSpPr>
            <p:cNvPr id="34" name="Shape 32"/>
            <p:cNvSpPr/>
            <p:nvPr/>
          </p:nvSpPr>
          <p:spPr>
            <a:xfrm>
              <a:off x="11258550" y="7061522"/>
              <a:ext cx="809625" cy="95250"/>
            </a:xfrm>
            <a:prstGeom prst="roundRect">
              <a:avLst>
                <a:gd name="adj" fmla="val 40000"/>
              </a:avLst>
            </a:prstGeom>
            <a:solidFill>
              <a:srgbClr val="2D5BFF"/>
            </a:solidFill>
            <a:ln w="9525"/>
          </p:spPr>
          <p:txBody>
            <a:bodyPr/>
            <a:lstStyle/>
            <a:p>
              <a:endParaRPr lang="en-TH"/>
            </a:p>
          </p:txBody>
        </p:sp>
        <p:sp>
          <p:nvSpPr>
            <p:cNvPr id="35" name="Shape 33"/>
            <p:cNvSpPr/>
            <p:nvPr/>
          </p:nvSpPr>
          <p:spPr>
            <a:xfrm>
              <a:off x="12125325" y="7061522"/>
              <a:ext cx="809625" cy="95250"/>
            </a:xfrm>
            <a:prstGeom prst="roundRect">
              <a:avLst>
                <a:gd name="adj" fmla="val 40000"/>
              </a:avLst>
            </a:prstGeom>
            <a:solidFill>
              <a:srgbClr val="E4E7EC"/>
            </a:solidFill>
            <a:ln w="9525"/>
          </p:spPr>
          <p:txBody>
            <a:bodyPr/>
            <a:lstStyle/>
            <a:p>
              <a:endParaRPr lang="en-TH"/>
            </a:p>
          </p:txBody>
        </p:sp>
      </p:grpSp>
      <p:sp>
        <p:nvSpPr>
          <p:cNvPr id="36" name="Shape 34"/>
          <p:cNvSpPr/>
          <p:nvPr/>
        </p:nvSpPr>
        <p:spPr>
          <a:xfrm>
            <a:off x="13430250" y="4026098"/>
            <a:ext cx="3943350" cy="5427924"/>
          </a:xfrm>
          <a:prstGeom prst="roundRect">
            <a:avLst>
              <a:gd name="adj" fmla="val 5083"/>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37" name="Text 35"/>
          <p:cNvSpPr/>
          <p:nvPr/>
        </p:nvSpPr>
        <p:spPr>
          <a:xfrm>
            <a:off x="13696950" y="4311848"/>
            <a:ext cx="3512249"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TYPE 04</a:t>
            </a:r>
            <a:endParaRPr lang="en-US" sz="1800" dirty="0"/>
          </a:p>
        </p:txBody>
      </p:sp>
      <p:sp>
        <p:nvSpPr>
          <p:cNvPr id="38" name="Text 36"/>
          <p:cNvSpPr/>
          <p:nvPr/>
        </p:nvSpPr>
        <p:spPr>
          <a:xfrm>
            <a:off x="13696950" y="4707136"/>
            <a:ext cx="3512249" cy="373335"/>
          </a:xfrm>
          <a:prstGeom prst="rect">
            <a:avLst/>
          </a:prstGeom>
          <a:noFill/>
          <a:ln w="9525"/>
        </p:spPr>
        <p:txBody>
          <a:bodyPr wrap="square" lIns="25400" tIns="25400" rIns="25400" bIns="25400" rtlCol="0" anchor="t">
            <a:normAutofit fontScale="92500" lnSpcReduction="20000"/>
          </a:bodyPr>
          <a:lstStyle/>
          <a:p>
            <a:pPr marL="0" indent="0" algn="l">
              <a:lnSpc>
                <a:spcPct val="110000"/>
              </a:lnSpc>
              <a:buNone/>
            </a:pPr>
            <a:r>
              <a:rPr lang="en-US" sz="2400" b="1" kern="0" spc="-36" dirty="0">
                <a:solidFill>
                  <a:srgbClr val="0B0F19"/>
                </a:solidFill>
                <a:latin typeface="Space Grotesk" pitchFamily="34" charset="0"/>
                <a:ea typeface="Space Grotesk" pitchFamily="34" charset="-122"/>
                <a:cs typeface="Space Grotesk" pitchFamily="34" charset="-120"/>
              </a:rPr>
              <a:t>Data &amp; AI</a:t>
            </a:r>
            <a:endParaRPr lang="en-US" sz="2400" dirty="0"/>
          </a:p>
        </p:txBody>
      </p:sp>
      <p:sp>
        <p:nvSpPr>
          <p:cNvPr id="39" name="Text 37"/>
          <p:cNvSpPr/>
          <p:nvPr/>
        </p:nvSpPr>
        <p:spPr>
          <a:xfrm>
            <a:off x="13696950" y="5175721"/>
            <a:ext cx="3512249" cy="3211841"/>
          </a:xfrm>
          <a:prstGeom prst="rect">
            <a:avLst/>
          </a:prstGeom>
          <a:noFill/>
          <a:ln w="9525"/>
        </p:spPr>
        <p:txBody>
          <a:bodyPr wrap="square" lIns="25400" tIns="25400" rIns="25400" bIns="25400" rtlCol="0" anchor="t">
            <a:spAutoFit/>
          </a:bodyPr>
          <a:lstStyle/>
          <a:p>
            <a:pPr marL="0" indent="0" algn="l">
              <a:lnSpc>
                <a:spcPct val="145000"/>
              </a:lnSpc>
              <a:buNone/>
            </a:pPr>
            <a:r>
              <a:rPr lang="en-US" sz="2400" dirty="0">
                <a:solidFill>
                  <a:srgbClr val="3A4250"/>
                </a:solidFill>
                <a:latin typeface="Space Grotesk" pitchFamily="34" charset="0"/>
                <a:ea typeface="Space Grotesk" pitchFamily="34" charset="-122"/>
                <a:cs typeface="Space Grotesk" pitchFamily="34" charset="-120"/>
              </a:rPr>
              <a:t>Behaviour comes partly from data, not only code. Constraints: data quality, and outputs that are hard to test because they are not always the same.</a:t>
            </a:r>
            <a:endParaRPr lang="en-US" sz="2400" dirty="0"/>
          </a:p>
        </p:txBody>
      </p:sp>
      <p:grpSp>
        <p:nvGrpSpPr>
          <p:cNvPr id="58338088" name="Group 58338088"/>
          <p:cNvGrpSpPr/>
          <p:nvPr/>
        </p:nvGrpSpPr>
        <p:grpSpPr>
          <a:xfrm>
            <a:off x="13696950" y="9061994"/>
            <a:ext cx="3409950" cy="95250"/>
            <a:chOff x="13696950" y="7061522"/>
            <a:chExt cx="3409950" cy="95250"/>
          </a:xfrm>
        </p:grpSpPr>
        <p:sp>
          <p:nvSpPr>
            <p:cNvPr id="40" name="Shape 38"/>
            <p:cNvSpPr/>
            <p:nvPr/>
          </p:nvSpPr>
          <p:spPr>
            <a:xfrm>
              <a:off x="13696950" y="7061522"/>
              <a:ext cx="809625" cy="95250"/>
            </a:xfrm>
            <a:prstGeom prst="roundRect">
              <a:avLst>
                <a:gd name="adj" fmla="val 40000"/>
              </a:avLst>
            </a:prstGeom>
            <a:solidFill>
              <a:srgbClr val="16B670"/>
            </a:solidFill>
            <a:ln w="9525"/>
          </p:spPr>
          <p:txBody>
            <a:bodyPr/>
            <a:lstStyle/>
            <a:p>
              <a:endParaRPr lang="en-TH"/>
            </a:p>
          </p:txBody>
        </p:sp>
        <p:sp>
          <p:nvSpPr>
            <p:cNvPr id="41" name="Shape 39"/>
            <p:cNvSpPr/>
            <p:nvPr/>
          </p:nvSpPr>
          <p:spPr>
            <a:xfrm>
              <a:off x="14563725" y="7061522"/>
              <a:ext cx="809625" cy="95250"/>
            </a:xfrm>
            <a:prstGeom prst="roundRect">
              <a:avLst>
                <a:gd name="adj" fmla="val 40000"/>
              </a:avLst>
            </a:prstGeom>
            <a:solidFill>
              <a:srgbClr val="16B670"/>
            </a:solidFill>
            <a:ln w="9525"/>
          </p:spPr>
          <p:txBody>
            <a:bodyPr/>
            <a:lstStyle/>
            <a:p>
              <a:endParaRPr lang="en-TH"/>
            </a:p>
          </p:txBody>
        </p:sp>
        <p:sp>
          <p:nvSpPr>
            <p:cNvPr id="42" name="Shape 40"/>
            <p:cNvSpPr/>
            <p:nvPr/>
          </p:nvSpPr>
          <p:spPr>
            <a:xfrm>
              <a:off x="15430500" y="7061522"/>
              <a:ext cx="809625" cy="95250"/>
            </a:xfrm>
            <a:prstGeom prst="roundRect">
              <a:avLst>
                <a:gd name="adj" fmla="val 40000"/>
              </a:avLst>
            </a:prstGeom>
            <a:solidFill>
              <a:srgbClr val="16B670"/>
            </a:solidFill>
            <a:ln w="9525"/>
          </p:spPr>
          <p:txBody>
            <a:bodyPr/>
            <a:lstStyle/>
            <a:p>
              <a:endParaRPr lang="en-TH"/>
            </a:p>
          </p:txBody>
        </p:sp>
        <p:sp>
          <p:nvSpPr>
            <p:cNvPr id="43" name="Shape 41"/>
            <p:cNvSpPr/>
            <p:nvPr/>
          </p:nvSpPr>
          <p:spPr>
            <a:xfrm>
              <a:off x="16297275" y="7061522"/>
              <a:ext cx="809625" cy="95250"/>
            </a:xfrm>
            <a:prstGeom prst="roundRect">
              <a:avLst>
                <a:gd name="adj" fmla="val 40000"/>
              </a:avLst>
            </a:prstGeom>
            <a:solidFill>
              <a:srgbClr val="16B670"/>
            </a:solidFill>
            <a:ln w="9525"/>
          </p:spPr>
          <p:txBody>
            <a:bodyPr/>
            <a:lstStyle/>
            <a:p>
              <a:endParaRPr lang="en-TH"/>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p:cNvSpPr/>
          <p:nvPr/>
        </p:nvSpPr>
        <p:spPr>
          <a:xfrm>
            <a:off x="728216" y="154781"/>
            <a:ext cx="3889732" cy="338138"/>
          </a:xfrm>
          <a:prstGeom prst="rect">
            <a:avLst/>
          </a:prstGeom>
          <a:noFill/>
          <a:ln w="9525"/>
        </p:spPr>
        <p:txBody>
          <a:bodyPr wrap="square" lIns="25400" tIns="25400" rIns="25400" bIns="25400" rtlCol="0" anchor="t">
            <a:normAutofit/>
          </a:bodyPr>
          <a:lstStyle/>
          <a:p>
            <a:pPr marL="0" indent="0" algn="l">
              <a:buNone/>
            </a:pPr>
            <a:r>
              <a:rPr lang="en-US" sz="1800" b="1" kern="0" spc="-18" dirty="0">
                <a:solidFill>
                  <a:srgbClr val="0B0F19"/>
                </a:solidFill>
                <a:latin typeface="JetBrains Mono" pitchFamily="34" charset="0"/>
                <a:ea typeface="JetBrains Mono" pitchFamily="34" charset="-122"/>
                <a:cs typeface="JetBrains Mono" pitchFamily="34" charset="-120"/>
              </a:rPr>
              <a:t>intro2se-week01.fig</a:t>
            </a:r>
            <a:endParaRPr lang="en-US" sz="1800" dirty="0"/>
          </a:p>
        </p:txBody>
      </p:sp>
      <p:sp>
        <p:nvSpPr>
          <p:cNvPr id="6" name="Text 4"/>
          <p:cNvSpPr/>
          <p:nvPr/>
        </p:nvSpPr>
        <p:spPr>
          <a:xfrm>
            <a:off x="4771355" y="154781"/>
            <a:ext cx="3100274"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Chapter 1 · Quality</a:t>
            </a:r>
            <a:endParaRPr lang="en-US" sz="1800" dirty="0"/>
          </a:p>
        </p:txBody>
      </p:sp>
      <p:sp>
        <p:nvSpPr>
          <p:cNvPr id="7" name="Text 5"/>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kern="0" spc="72" dirty="0">
                <a:solidFill>
                  <a:srgbClr val="7A8290"/>
                </a:solidFill>
                <a:latin typeface="JetBrains Mono" pitchFamily="34" charset="0"/>
                <a:ea typeface="JetBrains Mono" pitchFamily="34" charset="-122"/>
                <a:cs typeface="JetBrains Mono" pitchFamily="34" charset="-120"/>
              </a:rPr>
              <a:t>26</a:t>
            </a:r>
            <a:r>
              <a:rPr lang="en-US" sz="1800" kern="0" spc="72" dirty="0">
                <a:solidFill>
                  <a:srgbClr val="7A8290"/>
                </a:solidFill>
                <a:latin typeface="JetBrains Mono" pitchFamily="34" charset="0"/>
                <a:ea typeface="JetBrains Mono" pitchFamily="34" charset="-122"/>
                <a:cs typeface="JetBrains Mono" pitchFamily="34" charset="-120"/>
              </a:rPr>
              <a:t> / </a:t>
            </a:r>
            <a:r>
              <a:rPr lang="en-US" kern="0" spc="72" dirty="0">
                <a:solidFill>
                  <a:srgbClr val="7A8290"/>
                </a:solidFill>
                <a:latin typeface="JetBrains Mono" pitchFamily="34" charset="0"/>
                <a:ea typeface="JetBrains Mono" pitchFamily="34" charset="-122"/>
                <a:cs typeface="JetBrains Mono" pitchFamily="34" charset="-120"/>
              </a:rPr>
              <a:t>32</a:t>
            </a:r>
            <a:endParaRPr lang="en-US" sz="1800" dirty="0"/>
          </a:p>
        </p:txBody>
      </p:sp>
      <p:sp>
        <p:nvSpPr>
          <p:cNvPr id="9" name="Shape 7"/>
          <p:cNvSpPr/>
          <p:nvPr/>
        </p:nvSpPr>
        <p:spPr>
          <a:xfrm>
            <a:off x="914400" y="1524000"/>
            <a:ext cx="1653555" cy="419100"/>
          </a:xfrm>
          <a:prstGeom prst="roundRect">
            <a:avLst>
              <a:gd name="adj" fmla="val 50000"/>
            </a:avLst>
          </a:prstGeom>
          <a:solidFill>
            <a:srgbClr val="FF5A47"/>
          </a:solidFill>
          <a:ln w="9525"/>
        </p:spPr>
        <p:txBody>
          <a:bodyPr/>
          <a:lstStyle/>
          <a:p>
            <a:endParaRPr lang="en-TH"/>
          </a:p>
        </p:txBody>
      </p:sp>
      <p:sp>
        <p:nvSpPr>
          <p:cNvPr id="10" name="Text 8"/>
          <p:cNvSpPr/>
          <p:nvPr/>
        </p:nvSpPr>
        <p:spPr>
          <a:xfrm>
            <a:off x="1085850" y="1619250"/>
            <a:ext cx="1310655" cy="266700"/>
          </a:xfrm>
          <a:prstGeom prst="rect">
            <a:avLst/>
          </a:prstGeom>
          <a:noFill/>
          <a:ln w="9525"/>
        </p:spPr>
        <p:txBody>
          <a:bodyPr wrap="square" lIns="25400" tIns="25400" rIns="25400" bIns="25400" rtlCol="0" anchor="ctr">
            <a:normAutofit fontScale="92500" lnSpcReduction="20000"/>
          </a:bodyPr>
          <a:lstStyle/>
          <a:p>
            <a:pPr marL="0" indent="0" algn="ctr">
              <a:lnSpc>
                <a:spcPct val="100000"/>
              </a:lnSpc>
              <a:buNone/>
            </a:pPr>
            <a:r>
              <a:rPr lang="en-US" sz="1800" dirty="0">
                <a:solidFill>
                  <a:srgbClr val="FFFFFF"/>
                </a:solidFill>
                <a:latin typeface="JetBrains Mono" pitchFamily="34" charset="0"/>
                <a:ea typeface="JetBrains Mono" pitchFamily="34" charset="-122"/>
                <a:cs typeface="JetBrains Mono" pitchFamily="34" charset="-120"/>
              </a:rPr>
              <a:t>CHAPTER 01</a:t>
            </a:r>
            <a:endParaRPr lang="en-US" sz="1800" dirty="0"/>
          </a:p>
        </p:txBody>
      </p:sp>
      <p:sp>
        <p:nvSpPr>
          <p:cNvPr id="11" name="Text 9"/>
          <p:cNvSpPr/>
          <p:nvPr/>
        </p:nvSpPr>
        <p:spPr>
          <a:xfrm>
            <a:off x="2796555" y="1583531"/>
            <a:ext cx="2339355"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QUALITY ATTRIBUTES</a:t>
            </a:r>
            <a:endParaRPr lang="en-US" sz="1800" dirty="0"/>
          </a:p>
        </p:txBody>
      </p:sp>
      <p:sp>
        <p:nvSpPr>
          <p:cNvPr id="12" name="Text 10"/>
          <p:cNvSpPr/>
          <p:nvPr/>
        </p:nvSpPr>
        <p:spPr>
          <a:xfrm>
            <a:off x="914400" y="2114550"/>
            <a:ext cx="16952976" cy="1022745"/>
          </a:xfrm>
          <a:prstGeom prst="rect">
            <a:avLst/>
          </a:prstGeom>
          <a:noFill/>
          <a:ln w="9525"/>
        </p:spPr>
        <p:txBody>
          <a:bodyPr wrap="square" lIns="25400" tIns="25400" rIns="25400" bIns="25400" rtlCol="0" anchor="t">
            <a:normAutofit/>
          </a:bodyPr>
          <a:lstStyle/>
          <a:p>
            <a:pPr marL="0" indent="0" algn="l">
              <a:lnSpc>
                <a:spcPct val="100000"/>
              </a:lnSpc>
              <a:buNone/>
            </a:pPr>
            <a:r>
              <a:rPr lang="en-US" sz="4800" b="1" kern="0" spc="-120" dirty="0">
                <a:solidFill>
                  <a:srgbClr val="0B0F19"/>
                </a:solidFill>
                <a:latin typeface="Space Grotesk" pitchFamily="34" charset="0"/>
                <a:ea typeface="Space Grotesk" pitchFamily="34" charset="-122"/>
                <a:cs typeface="Space Grotesk" pitchFamily="34" charset="-120"/>
              </a:rPr>
              <a:t>“It runs” proves almost nothing</a:t>
            </a:r>
            <a:endParaRPr lang="en-US" sz="4800" dirty="0"/>
          </a:p>
        </p:txBody>
      </p:sp>
      <p:sp>
        <p:nvSpPr>
          <p:cNvPr id="13" name="Text 11"/>
          <p:cNvSpPr/>
          <p:nvPr/>
        </p:nvSpPr>
        <p:spPr>
          <a:xfrm>
            <a:off x="914400" y="3296842"/>
            <a:ext cx="6957229" cy="404813"/>
          </a:xfrm>
          <a:prstGeom prst="rect">
            <a:avLst/>
          </a:prstGeom>
          <a:noFill/>
          <a:ln w="9525"/>
        </p:spPr>
        <p:txBody>
          <a:bodyPr wrap="square" lIns="25400" tIns="25400" rIns="25400" bIns="25400" rtlCol="0" anchor="t"/>
          <a:lstStyle/>
          <a:p>
            <a:pPr marL="0" indent="0" algn="l">
              <a:buNone/>
            </a:pPr>
            <a:r>
              <a:rPr lang="en-US" sz="2400" kern="0" spc="-34" dirty="0">
                <a:solidFill>
                  <a:srgbClr val="0B0F19"/>
                </a:solidFill>
                <a:latin typeface="Space Grotesk" pitchFamily="34" charset="0"/>
                <a:ea typeface="Space Grotesk" pitchFamily="34" charset="-122"/>
                <a:cs typeface="Space Grotesk" pitchFamily="34" charset="-120"/>
              </a:rPr>
              <a:t>A demo is not evidence</a:t>
            </a:r>
            <a:endParaRPr lang="en-US" sz="2400" dirty="0"/>
          </a:p>
        </p:txBody>
      </p:sp>
      <p:sp>
        <p:nvSpPr>
          <p:cNvPr id="14" name="Text 12"/>
          <p:cNvSpPr/>
          <p:nvPr/>
        </p:nvSpPr>
        <p:spPr>
          <a:xfrm>
            <a:off x="914400" y="3768303"/>
            <a:ext cx="6957229" cy="1026307"/>
          </a:xfrm>
          <a:prstGeom prst="rect">
            <a:avLst/>
          </a:prstGeom>
          <a:noFill/>
          <a:ln w="9525"/>
        </p:spPr>
        <p:txBody>
          <a:bodyPr wrap="square" lIns="25400" tIns="25400" rIns="25400" bIns="25400" rtlCol="0" anchor="t">
            <a:spAutoFit/>
          </a:bodyPr>
          <a:lstStyle/>
          <a:p>
            <a:pPr marL="0" indent="0" algn="l">
              <a:lnSpc>
                <a:spcPct val="120000"/>
              </a:lnSpc>
              <a:buNone/>
            </a:pPr>
            <a:r>
              <a:rPr lang="en-US" dirty="0">
                <a:solidFill>
                  <a:srgbClr val="3A4250"/>
                </a:solidFill>
                <a:latin typeface="Space Grotesk" pitchFamily="34" charset="0"/>
                <a:ea typeface="Space Grotesk" pitchFamily="34" charset="-122"/>
                <a:cs typeface="Space Grotesk" pitchFamily="34" charset="-120"/>
              </a:rPr>
              <a:t>Working once, on your laptop, with data you chose, tells you very little about whether the software is any good. Quality is a set of attributes you have to check deliberately.</a:t>
            </a:r>
            <a:endParaRPr lang="en-US" dirty="0"/>
          </a:p>
        </p:txBody>
      </p:sp>
      <p:sp>
        <p:nvSpPr>
          <p:cNvPr id="15" name="Text 13"/>
          <p:cNvSpPr/>
          <p:nvPr/>
        </p:nvSpPr>
        <p:spPr>
          <a:xfrm>
            <a:off x="914400" y="5378055"/>
            <a:ext cx="6957229" cy="404813"/>
          </a:xfrm>
          <a:prstGeom prst="rect">
            <a:avLst/>
          </a:prstGeom>
          <a:noFill/>
          <a:ln w="9525"/>
        </p:spPr>
        <p:txBody>
          <a:bodyPr wrap="square" lIns="25400" tIns="25400" rIns="25400" bIns="25400" rtlCol="0" anchor="t"/>
          <a:lstStyle/>
          <a:p>
            <a:pPr marL="0" indent="0" algn="l">
              <a:buNone/>
            </a:pPr>
            <a:r>
              <a:rPr lang="en-US" sz="2400" kern="0" spc="-34" dirty="0">
                <a:solidFill>
                  <a:srgbClr val="0B0F19"/>
                </a:solidFill>
                <a:latin typeface="Space Grotesk" pitchFamily="34" charset="0"/>
                <a:ea typeface="Space Grotesk" pitchFamily="34" charset="-122"/>
                <a:cs typeface="Space Grotesk" pitchFamily="34" charset="-120"/>
              </a:rPr>
              <a:t>Five to remember this term</a:t>
            </a:r>
            <a:endParaRPr lang="en-US" sz="2400" dirty="0"/>
          </a:p>
        </p:txBody>
      </p:sp>
      <p:sp>
        <p:nvSpPr>
          <p:cNvPr id="16" name="Text 14"/>
          <p:cNvSpPr/>
          <p:nvPr/>
        </p:nvSpPr>
        <p:spPr>
          <a:xfrm>
            <a:off x="914400" y="5849515"/>
            <a:ext cx="6957229" cy="1026307"/>
          </a:xfrm>
          <a:prstGeom prst="rect">
            <a:avLst/>
          </a:prstGeom>
          <a:noFill/>
          <a:ln w="9525"/>
        </p:spPr>
        <p:txBody>
          <a:bodyPr wrap="square" lIns="25400" tIns="25400" rIns="25400" bIns="25400" rtlCol="0" anchor="t">
            <a:spAutoFit/>
          </a:bodyPr>
          <a:lstStyle/>
          <a:p>
            <a:pPr marL="0" indent="0" algn="l">
              <a:lnSpc>
                <a:spcPct val="120000"/>
              </a:lnSpc>
              <a:buNone/>
            </a:pPr>
            <a:r>
              <a:rPr lang="en-US" dirty="0">
                <a:solidFill>
                  <a:srgbClr val="3A4250"/>
                </a:solidFill>
                <a:latin typeface="Space Grotesk" pitchFamily="34" charset="0"/>
                <a:ea typeface="Space Grotesk" pitchFamily="34" charset="-122"/>
                <a:cs typeface="Space Grotesk" pitchFamily="34" charset="-120"/>
              </a:rPr>
              <a:t>The list on the right is the short version we will use. The international standard ISO/IEC 25010 defines the full catalogue if you want the complete picture.</a:t>
            </a:r>
            <a:endParaRPr lang="en-US" dirty="0"/>
          </a:p>
        </p:txBody>
      </p:sp>
      <p:sp>
        <p:nvSpPr>
          <p:cNvPr id="17" name="Text 15"/>
          <p:cNvSpPr/>
          <p:nvPr/>
        </p:nvSpPr>
        <p:spPr>
          <a:xfrm>
            <a:off x="914400" y="7442599"/>
            <a:ext cx="6957229" cy="404813"/>
          </a:xfrm>
          <a:prstGeom prst="rect">
            <a:avLst/>
          </a:prstGeom>
          <a:noFill/>
          <a:ln w="9525"/>
        </p:spPr>
        <p:txBody>
          <a:bodyPr wrap="square" lIns="25400" tIns="25400" rIns="25400" bIns="25400" rtlCol="0" anchor="t"/>
          <a:lstStyle/>
          <a:p>
            <a:pPr marL="0" indent="0" algn="l">
              <a:buNone/>
            </a:pPr>
            <a:r>
              <a:rPr lang="en-US" sz="2400" kern="0" spc="-34" dirty="0">
                <a:solidFill>
                  <a:srgbClr val="0B0F19"/>
                </a:solidFill>
                <a:latin typeface="Space Grotesk" pitchFamily="34" charset="0"/>
                <a:ea typeface="Space Grotesk" pitchFamily="34" charset="-122"/>
                <a:cs typeface="Space Grotesk" pitchFamily="34" charset="-120"/>
              </a:rPr>
              <a:t>Where each one returns</a:t>
            </a:r>
            <a:endParaRPr lang="en-US" sz="2400" dirty="0"/>
          </a:p>
        </p:txBody>
      </p:sp>
      <p:sp>
        <p:nvSpPr>
          <p:cNvPr id="18" name="Text 16"/>
          <p:cNvSpPr/>
          <p:nvPr/>
        </p:nvSpPr>
        <p:spPr>
          <a:xfrm>
            <a:off x="914400" y="7914060"/>
            <a:ext cx="6957229" cy="1026307"/>
          </a:xfrm>
          <a:prstGeom prst="rect">
            <a:avLst/>
          </a:prstGeom>
          <a:noFill/>
          <a:ln w="9525"/>
        </p:spPr>
        <p:txBody>
          <a:bodyPr wrap="square" lIns="25400" tIns="25400" rIns="25400" bIns="25400" rtlCol="0" anchor="t">
            <a:spAutoFit/>
          </a:bodyPr>
          <a:lstStyle/>
          <a:p>
            <a:pPr marL="0" indent="0" algn="l">
              <a:lnSpc>
                <a:spcPct val="120000"/>
              </a:lnSpc>
              <a:buNone/>
            </a:pPr>
            <a:r>
              <a:rPr lang="en-US" dirty="0">
                <a:solidFill>
                  <a:srgbClr val="3A4250"/>
                </a:solidFill>
                <a:latin typeface="Space Grotesk" pitchFamily="34" charset="0"/>
                <a:ea typeface="Space Grotesk" pitchFamily="34" charset="-122"/>
                <a:cs typeface="Space Grotesk" pitchFamily="34" charset="-120"/>
              </a:rPr>
              <a:t>Security and quality get their own chapter (Ch8), testing checks reliability (Ch7), and maintainability is why we care about readable code and version control (Ch6).</a:t>
            </a:r>
            <a:endParaRPr lang="en-US" dirty="0"/>
          </a:p>
        </p:txBody>
      </p:sp>
      <p:sp>
        <p:nvSpPr>
          <p:cNvPr id="19" name="Shape 17"/>
          <p:cNvSpPr/>
          <p:nvPr/>
        </p:nvSpPr>
        <p:spPr>
          <a:xfrm>
            <a:off x="9642053" y="3296842"/>
            <a:ext cx="7731547" cy="5667375"/>
          </a:xfrm>
          <a:prstGeom prst="roundRect">
            <a:avLst>
              <a:gd name="adj" fmla="val 3361"/>
            </a:avLst>
          </a:prstGeom>
          <a:solidFill>
            <a:srgbClr val="FFFFFF"/>
          </a:solidFill>
          <a:ln w="9525"/>
          <a:effectLst>
            <a:outerShdw blurRad="101600" dist="19050" dir="5400000" algn="bl" rotWithShape="0">
              <a:srgbClr val="0B0F19">
                <a:alpha val="4000"/>
              </a:srgbClr>
            </a:outerShdw>
          </a:effectLst>
        </p:spPr>
        <p:txBody>
          <a:bodyPr/>
          <a:lstStyle/>
          <a:p>
            <a:endParaRPr lang="en-TH" sz="2400"/>
          </a:p>
        </p:txBody>
      </p:sp>
      <p:sp>
        <p:nvSpPr>
          <p:cNvPr id="20" name="Shape 18"/>
          <p:cNvSpPr/>
          <p:nvPr/>
        </p:nvSpPr>
        <p:spPr>
          <a:xfrm>
            <a:off x="10023053" y="3996930"/>
            <a:ext cx="228600" cy="228600"/>
          </a:xfrm>
          <a:prstGeom prst="roundRect">
            <a:avLst>
              <a:gd name="adj" fmla="val 25000"/>
            </a:avLst>
          </a:prstGeom>
          <a:solidFill>
            <a:srgbClr val="2D5BFF"/>
          </a:solidFill>
          <a:ln w="9525"/>
        </p:spPr>
        <p:txBody>
          <a:bodyPr/>
          <a:lstStyle/>
          <a:p>
            <a:endParaRPr lang="en-TH" sz="2400"/>
          </a:p>
        </p:txBody>
      </p:sp>
      <p:sp>
        <p:nvSpPr>
          <p:cNvPr id="21" name="Text 19"/>
          <p:cNvSpPr/>
          <p:nvPr/>
        </p:nvSpPr>
        <p:spPr>
          <a:xfrm>
            <a:off x="10481519" y="3820717"/>
            <a:ext cx="2041084" cy="420628"/>
          </a:xfrm>
          <a:prstGeom prst="rect">
            <a:avLst/>
          </a:prstGeom>
          <a:noFill/>
          <a:ln w="9525"/>
        </p:spPr>
        <p:txBody>
          <a:bodyPr lIns="25400" tIns="25400" rIns="25400" bIns="25400" rtlCol="0" anchor="t">
            <a:spAutoFit/>
          </a:bodyPr>
          <a:lstStyle/>
          <a:p>
            <a:pPr marL="0" indent="0" algn="l">
              <a:buNone/>
            </a:pPr>
            <a:r>
              <a:rPr lang="en-US" sz="2400" dirty="0">
                <a:solidFill>
                  <a:srgbClr val="0B0F19"/>
                </a:solidFill>
                <a:latin typeface="Space Grotesk" pitchFamily="34" charset="0"/>
                <a:ea typeface="Space Grotesk" pitchFamily="34" charset="-122"/>
                <a:cs typeface="Space Grotesk" pitchFamily="34" charset="-120"/>
              </a:rPr>
              <a:t>Reliable</a:t>
            </a:r>
            <a:endParaRPr lang="en-US" sz="2400" dirty="0"/>
          </a:p>
        </p:txBody>
      </p:sp>
      <p:sp>
        <p:nvSpPr>
          <p:cNvPr id="22" name="Text 20"/>
          <p:cNvSpPr/>
          <p:nvPr/>
        </p:nvSpPr>
        <p:spPr>
          <a:xfrm>
            <a:off x="10481519" y="4179219"/>
            <a:ext cx="1395126"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keeps working</a:t>
            </a:r>
            <a:endParaRPr lang="en-US" dirty="0"/>
          </a:p>
        </p:txBody>
      </p:sp>
      <p:sp>
        <p:nvSpPr>
          <p:cNvPr id="23" name="Text 21"/>
          <p:cNvSpPr/>
          <p:nvPr/>
        </p:nvSpPr>
        <p:spPr>
          <a:xfrm>
            <a:off x="16579025" y="3968531"/>
            <a:ext cx="413575"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Ch7</a:t>
            </a:r>
            <a:endParaRPr lang="en-US" dirty="0"/>
          </a:p>
        </p:txBody>
      </p:sp>
      <p:sp>
        <p:nvSpPr>
          <p:cNvPr id="24" name="Shape 22"/>
          <p:cNvSpPr/>
          <p:nvPr/>
        </p:nvSpPr>
        <p:spPr>
          <a:xfrm>
            <a:off x="9946853" y="4620817"/>
            <a:ext cx="7121947" cy="9525"/>
          </a:xfrm>
          <a:prstGeom prst="rect">
            <a:avLst/>
          </a:prstGeom>
          <a:solidFill>
            <a:srgbClr val="ECEEF1"/>
          </a:solidFill>
          <a:ln w="9525"/>
        </p:spPr>
        <p:txBody>
          <a:bodyPr/>
          <a:lstStyle/>
          <a:p>
            <a:endParaRPr lang="en-TH" sz="2400"/>
          </a:p>
        </p:txBody>
      </p:sp>
      <p:sp>
        <p:nvSpPr>
          <p:cNvPr id="25" name="Shape 23"/>
          <p:cNvSpPr/>
          <p:nvPr/>
        </p:nvSpPr>
        <p:spPr>
          <a:xfrm>
            <a:off x="10023053" y="5016105"/>
            <a:ext cx="228600" cy="228600"/>
          </a:xfrm>
          <a:prstGeom prst="roundRect">
            <a:avLst>
              <a:gd name="adj" fmla="val 25000"/>
            </a:avLst>
          </a:prstGeom>
          <a:solidFill>
            <a:srgbClr val="FF5A47"/>
          </a:solidFill>
          <a:ln w="9525"/>
        </p:spPr>
        <p:txBody>
          <a:bodyPr/>
          <a:lstStyle/>
          <a:p>
            <a:endParaRPr lang="en-TH" sz="2400"/>
          </a:p>
        </p:txBody>
      </p:sp>
      <p:sp>
        <p:nvSpPr>
          <p:cNvPr id="26" name="Text 24"/>
          <p:cNvSpPr/>
          <p:nvPr/>
        </p:nvSpPr>
        <p:spPr>
          <a:xfrm>
            <a:off x="10481519" y="4839892"/>
            <a:ext cx="1594364" cy="420628"/>
          </a:xfrm>
          <a:prstGeom prst="rect">
            <a:avLst/>
          </a:prstGeom>
          <a:noFill/>
          <a:ln w="9525"/>
        </p:spPr>
        <p:txBody>
          <a:bodyPr lIns="25400" tIns="25400" rIns="25400" bIns="25400" rtlCol="0" anchor="t">
            <a:spAutoFit/>
          </a:bodyPr>
          <a:lstStyle/>
          <a:p>
            <a:pPr marL="0" indent="0" algn="l">
              <a:buNone/>
            </a:pPr>
            <a:r>
              <a:rPr lang="en-US" sz="2400" dirty="0">
                <a:solidFill>
                  <a:srgbClr val="0B0F19"/>
                </a:solidFill>
                <a:latin typeface="Space Grotesk" pitchFamily="34" charset="0"/>
                <a:ea typeface="Space Grotesk" pitchFamily="34" charset="-122"/>
                <a:cs typeface="Space Grotesk" pitchFamily="34" charset="-120"/>
              </a:rPr>
              <a:t>Usable</a:t>
            </a:r>
            <a:endParaRPr lang="en-US" sz="2400" dirty="0"/>
          </a:p>
        </p:txBody>
      </p:sp>
      <p:sp>
        <p:nvSpPr>
          <p:cNvPr id="27" name="Text 25"/>
          <p:cNvSpPr/>
          <p:nvPr/>
        </p:nvSpPr>
        <p:spPr>
          <a:xfrm>
            <a:off x="10481519" y="5198394"/>
            <a:ext cx="1897058"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real users can use it</a:t>
            </a:r>
            <a:endParaRPr lang="en-US" dirty="0"/>
          </a:p>
        </p:txBody>
      </p:sp>
      <p:sp>
        <p:nvSpPr>
          <p:cNvPr id="28" name="Text 26"/>
          <p:cNvSpPr/>
          <p:nvPr/>
        </p:nvSpPr>
        <p:spPr>
          <a:xfrm>
            <a:off x="16579025" y="4997231"/>
            <a:ext cx="413575"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Ch5</a:t>
            </a:r>
            <a:endParaRPr lang="en-US" dirty="0"/>
          </a:p>
        </p:txBody>
      </p:sp>
      <p:sp>
        <p:nvSpPr>
          <p:cNvPr id="29" name="Shape 27"/>
          <p:cNvSpPr/>
          <p:nvPr/>
        </p:nvSpPr>
        <p:spPr>
          <a:xfrm>
            <a:off x="9946853" y="5630467"/>
            <a:ext cx="7121947" cy="9525"/>
          </a:xfrm>
          <a:prstGeom prst="rect">
            <a:avLst/>
          </a:prstGeom>
          <a:solidFill>
            <a:srgbClr val="ECEEF1"/>
          </a:solidFill>
          <a:ln w="9525"/>
        </p:spPr>
        <p:txBody>
          <a:bodyPr/>
          <a:lstStyle/>
          <a:p>
            <a:endParaRPr lang="en-TH" sz="2400"/>
          </a:p>
        </p:txBody>
      </p:sp>
      <p:sp>
        <p:nvSpPr>
          <p:cNvPr id="30" name="Shape 28"/>
          <p:cNvSpPr/>
          <p:nvPr/>
        </p:nvSpPr>
        <p:spPr>
          <a:xfrm>
            <a:off x="10023053" y="6025755"/>
            <a:ext cx="228600" cy="228600"/>
          </a:xfrm>
          <a:prstGeom prst="roundRect">
            <a:avLst>
              <a:gd name="adj" fmla="val 25000"/>
            </a:avLst>
          </a:prstGeom>
          <a:solidFill>
            <a:srgbClr val="FFC233"/>
          </a:solidFill>
          <a:ln w="9525"/>
        </p:spPr>
        <p:txBody>
          <a:bodyPr/>
          <a:lstStyle/>
          <a:p>
            <a:endParaRPr lang="en-TH" sz="2400"/>
          </a:p>
        </p:txBody>
      </p:sp>
      <p:sp>
        <p:nvSpPr>
          <p:cNvPr id="31" name="Text 29"/>
          <p:cNvSpPr/>
          <p:nvPr/>
        </p:nvSpPr>
        <p:spPr>
          <a:xfrm>
            <a:off x="10481518" y="5849542"/>
            <a:ext cx="2527615" cy="420628"/>
          </a:xfrm>
          <a:prstGeom prst="rect">
            <a:avLst/>
          </a:prstGeom>
          <a:noFill/>
          <a:ln w="9525"/>
        </p:spPr>
        <p:txBody>
          <a:bodyPr wrap="square" lIns="25400" tIns="25400" rIns="25400" bIns="25400" rtlCol="0" anchor="t">
            <a:spAutoFit/>
          </a:bodyPr>
          <a:lstStyle/>
          <a:p>
            <a:pPr marL="0" indent="0" algn="l">
              <a:buNone/>
            </a:pPr>
            <a:r>
              <a:rPr lang="en-US" sz="2400" dirty="0">
                <a:solidFill>
                  <a:srgbClr val="0B0F19"/>
                </a:solidFill>
                <a:latin typeface="Space Grotesk" pitchFamily="34" charset="0"/>
                <a:ea typeface="Space Grotesk" pitchFamily="34" charset="-122"/>
                <a:cs typeface="Space Grotesk" pitchFamily="34" charset="-120"/>
              </a:rPr>
              <a:t>Maintainable</a:t>
            </a:r>
            <a:endParaRPr lang="en-US" sz="2400" dirty="0"/>
          </a:p>
        </p:txBody>
      </p:sp>
      <p:sp>
        <p:nvSpPr>
          <p:cNvPr id="32" name="Text 30"/>
          <p:cNvSpPr/>
          <p:nvPr/>
        </p:nvSpPr>
        <p:spPr>
          <a:xfrm>
            <a:off x="10481519" y="6208044"/>
            <a:ext cx="2513765"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the next dev can change it</a:t>
            </a:r>
            <a:endParaRPr lang="en-US" dirty="0"/>
          </a:p>
        </p:txBody>
      </p:sp>
      <p:sp>
        <p:nvSpPr>
          <p:cNvPr id="33" name="Text 31"/>
          <p:cNvSpPr/>
          <p:nvPr/>
        </p:nvSpPr>
        <p:spPr>
          <a:xfrm>
            <a:off x="16576625" y="5990036"/>
            <a:ext cx="413575"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Ch6</a:t>
            </a:r>
            <a:endParaRPr lang="en-US" dirty="0"/>
          </a:p>
        </p:txBody>
      </p:sp>
      <p:sp>
        <p:nvSpPr>
          <p:cNvPr id="34" name="Shape 32"/>
          <p:cNvSpPr/>
          <p:nvPr/>
        </p:nvSpPr>
        <p:spPr>
          <a:xfrm>
            <a:off x="9946853" y="6640117"/>
            <a:ext cx="7121947" cy="9525"/>
          </a:xfrm>
          <a:prstGeom prst="rect">
            <a:avLst/>
          </a:prstGeom>
          <a:solidFill>
            <a:srgbClr val="ECEEF1"/>
          </a:solidFill>
          <a:ln w="9525"/>
        </p:spPr>
        <p:txBody>
          <a:bodyPr/>
          <a:lstStyle/>
          <a:p>
            <a:endParaRPr lang="en-TH" sz="2400"/>
          </a:p>
        </p:txBody>
      </p:sp>
      <p:sp>
        <p:nvSpPr>
          <p:cNvPr id="35" name="Shape 33"/>
          <p:cNvSpPr/>
          <p:nvPr/>
        </p:nvSpPr>
        <p:spPr>
          <a:xfrm>
            <a:off x="10023053" y="7035405"/>
            <a:ext cx="228600" cy="228600"/>
          </a:xfrm>
          <a:prstGeom prst="roundRect">
            <a:avLst>
              <a:gd name="adj" fmla="val 25000"/>
            </a:avLst>
          </a:prstGeom>
          <a:solidFill>
            <a:srgbClr val="16B670"/>
          </a:solidFill>
          <a:ln w="9525"/>
        </p:spPr>
        <p:txBody>
          <a:bodyPr/>
          <a:lstStyle/>
          <a:p>
            <a:endParaRPr lang="en-TH" sz="2400"/>
          </a:p>
        </p:txBody>
      </p:sp>
      <p:sp>
        <p:nvSpPr>
          <p:cNvPr id="36" name="Text 34"/>
          <p:cNvSpPr/>
          <p:nvPr/>
        </p:nvSpPr>
        <p:spPr>
          <a:xfrm>
            <a:off x="10481519" y="6859192"/>
            <a:ext cx="3335738" cy="420628"/>
          </a:xfrm>
          <a:prstGeom prst="rect">
            <a:avLst/>
          </a:prstGeom>
          <a:noFill/>
          <a:ln w="9525"/>
        </p:spPr>
        <p:txBody>
          <a:bodyPr lIns="25400" tIns="25400" rIns="25400" bIns="25400" rtlCol="0" anchor="t">
            <a:spAutoFit/>
          </a:bodyPr>
          <a:lstStyle/>
          <a:p>
            <a:pPr marL="0" indent="0" algn="l">
              <a:buNone/>
            </a:pPr>
            <a:r>
              <a:rPr lang="en-US" sz="2400" dirty="0">
                <a:solidFill>
                  <a:srgbClr val="0B0F19"/>
                </a:solidFill>
                <a:latin typeface="Space Grotesk" pitchFamily="34" charset="0"/>
                <a:ea typeface="Space Grotesk" pitchFamily="34" charset="-122"/>
                <a:cs typeface="Space Grotesk" pitchFamily="34" charset="-120"/>
              </a:rPr>
              <a:t>Secure</a:t>
            </a:r>
            <a:endParaRPr lang="en-US" sz="2400" dirty="0"/>
          </a:p>
        </p:txBody>
      </p:sp>
      <p:sp>
        <p:nvSpPr>
          <p:cNvPr id="37" name="Text 35"/>
          <p:cNvSpPr/>
          <p:nvPr/>
        </p:nvSpPr>
        <p:spPr>
          <a:xfrm>
            <a:off x="10481519" y="7217694"/>
            <a:ext cx="2246705"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protects users and data</a:t>
            </a:r>
            <a:endParaRPr lang="en-US" dirty="0"/>
          </a:p>
        </p:txBody>
      </p:sp>
      <p:sp>
        <p:nvSpPr>
          <p:cNvPr id="38" name="Text 36"/>
          <p:cNvSpPr/>
          <p:nvPr/>
        </p:nvSpPr>
        <p:spPr>
          <a:xfrm>
            <a:off x="16579025" y="6999686"/>
            <a:ext cx="413575"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Ch8</a:t>
            </a:r>
            <a:endParaRPr lang="en-US" dirty="0"/>
          </a:p>
        </p:txBody>
      </p:sp>
      <p:sp>
        <p:nvSpPr>
          <p:cNvPr id="39" name="Shape 37"/>
          <p:cNvSpPr/>
          <p:nvPr/>
        </p:nvSpPr>
        <p:spPr>
          <a:xfrm>
            <a:off x="9946853" y="7649767"/>
            <a:ext cx="7121947" cy="9525"/>
          </a:xfrm>
          <a:prstGeom prst="rect">
            <a:avLst/>
          </a:prstGeom>
          <a:solidFill>
            <a:srgbClr val="ECEEF1"/>
          </a:solidFill>
          <a:ln w="9525"/>
        </p:spPr>
        <p:txBody>
          <a:bodyPr/>
          <a:lstStyle/>
          <a:p>
            <a:endParaRPr lang="en-TH" sz="2400"/>
          </a:p>
        </p:txBody>
      </p:sp>
      <p:sp>
        <p:nvSpPr>
          <p:cNvPr id="40" name="Shape 38"/>
          <p:cNvSpPr/>
          <p:nvPr/>
        </p:nvSpPr>
        <p:spPr>
          <a:xfrm>
            <a:off x="10023053" y="8045055"/>
            <a:ext cx="228600" cy="228600"/>
          </a:xfrm>
          <a:prstGeom prst="roundRect">
            <a:avLst>
              <a:gd name="adj" fmla="val 25000"/>
            </a:avLst>
          </a:prstGeom>
          <a:solidFill>
            <a:srgbClr val="7A4FFF"/>
          </a:solidFill>
          <a:ln w="9525"/>
        </p:spPr>
        <p:txBody>
          <a:bodyPr/>
          <a:lstStyle/>
          <a:p>
            <a:endParaRPr lang="en-TH" sz="2400"/>
          </a:p>
        </p:txBody>
      </p:sp>
      <p:sp>
        <p:nvSpPr>
          <p:cNvPr id="41" name="Text 39"/>
          <p:cNvSpPr/>
          <p:nvPr/>
        </p:nvSpPr>
        <p:spPr>
          <a:xfrm>
            <a:off x="10481519" y="7868842"/>
            <a:ext cx="634774" cy="420628"/>
          </a:xfrm>
          <a:prstGeom prst="rect">
            <a:avLst/>
          </a:prstGeom>
          <a:noFill/>
          <a:ln w="9525"/>
        </p:spPr>
        <p:txBody>
          <a:bodyPr lIns="25400" tIns="25400" rIns="25400" bIns="25400" rtlCol="0" anchor="t">
            <a:spAutoFit/>
          </a:bodyPr>
          <a:lstStyle/>
          <a:p>
            <a:pPr marL="0" indent="0" algn="l">
              <a:buNone/>
            </a:pPr>
            <a:r>
              <a:rPr lang="en-US" sz="2400" dirty="0">
                <a:solidFill>
                  <a:srgbClr val="0B0F19"/>
                </a:solidFill>
                <a:latin typeface="Space Grotesk" pitchFamily="34" charset="0"/>
                <a:ea typeface="Space Grotesk" pitchFamily="34" charset="-122"/>
                <a:cs typeface="Space Grotesk" pitchFamily="34" charset="-120"/>
              </a:rPr>
              <a:t>Fast</a:t>
            </a:r>
            <a:endParaRPr lang="en-US" sz="2400" dirty="0"/>
          </a:p>
        </p:txBody>
      </p:sp>
      <p:sp>
        <p:nvSpPr>
          <p:cNvPr id="42" name="Text 40"/>
          <p:cNvSpPr/>
          <p:nvPr/>
        </p:nvSpPr>
        <p:spPr>
          <a:xfrm>
            <a:off x="10481519" y="8164418"/>
            <a:ext cx="2527615" cy="328295"/>
          </a:xfrm>
          <a:prstGeom prst="rect">
            <a:avLst/>
          </a:prstGeom>
          <a:noFill/>
          <a:ln w="9525"/>
        </p:spPr>
        <p:txBody>
          <a:bodyPr wrap="none" lIns="25400" tIns="25400" rIns="25400" bIns="25400" rtlCol="0" anchor="t">
            <a:spAutoFit/>
          </a:bodyPr>
          <a:lstStyle/>
          <a:p>
            <a:pPr marL="0" indent="0" algn="l">
              <a:buNone/>
            </a:pPr>
            <a:r>
              <a:rPr lang="en-US" dirty="0">
                <a:solidFill>
                  <a:srgbClr val="7A8290"/>
                </a:solidFill>
                <a:latin typeface="Space Grotesk" pitchFamily="34" charset="0"/>
                <a:ea typeface="Space Grotesk" pitchFamily="34" charset="-122"/>
                <a:cs typeface="Space Grotesk" pitchFamily="34" charset="-120"/>
              </a:rPr>
              <a:t>acceptable speed and cost</a:t>
            </a:r>
            <a:endParaRPr lang="en-US" dirty="0"/>
          </a:p>
        </p:txBody>
      </p:sp>
      <p:sp>
        <p:nvSpPr>
          <p:cNvPr id="43" name="Text 41"/>
          <p:cNvSpPr/>
          <p:nvPr/>
        </p:nvSpPr>
        <p:spPr>
          <a:xfrm>
            <a:off x="16579025" y="8018016"/>
            <a:ext cx="413575" cy="328295"/>
          </a:xfrm>
          <a:prstGeom prst="rect">
            <a:avLst/>
          </a:prstGeom>
          <a:noFill/>
          <a:ln w="9525"/>
        </p:spPr>
        <p:txBody>
          <a:bodyPr wrap="none" lIns="25400" tIns="25400" rIns="25400" bIns="25400" rtlCol="0" anchor="t">
            <a:spAutoFit/>
          </a:bodyPr>
          <a:lstStyle/>
          <a:p>
            <a:pPr marL="0" indent="0" algn="r">
              <a:buNone/>
            </a:pPr>
            <a:r>
              <a:rPr lang="en-US" dirty="0">
                <a:solidFill>
                  <a:srgbClr val="7A8290"/>
                </a:solidFill>
                <a:latin typeface="JetBrains Mono" pitchFamily="34" charset="0"/>
                <a:ea typeface="JetBrains Mono" pitchFamily="34" charset="-122"/>
                <a:cs typeface="JetBrains Mono" pitchFamily="34" charset="-120"/>
              </a:rPr>
              <a:t>Ch8</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p:cNvSpPr/>
          <p:nvPr/>
        </p:nvSpPr>
        <p:spPr>
          <a:xfrm>
            <a:off x="728216" y="154781"/>
            <a:ext cx="3889732"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p:cNvSpPr/>
          <p:nvPr/>
        </p:nvSpPr>
        <p:spPr>
          <a:xfrm>
            <a:off x="4771355" y="154781"/>
            <a:ext cx="3524129"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Chapter 1 · The process</a:t>
            </a:r>
            <a:endParaRPr lang="en-US" sz="1800" dirty="0"/>
          </a:p>
        </p:txBody>
      </p:sp>
      <p:sp>
        <p:nvSpPr>
          <p:cNvPr id="7" name="Text 5"/>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kern="0" spc="72" dirty="0">
                <a:solidFill>
                  <a:srgbClr val="7A8290"/>
                </a:solidFill>
                <a:latin typeface="JetBrains Mono" pitchFamily="34" charset="0"/>
                <a:ea typeface="JetBrains Mono" pitchFamily="34" charset="-122"/>
                <a:cs typeface="JetBrains Mono" pitchFamily="34" charset="-120"/>
              </a:rPr>
              <a:t>27</a:t>
            </a:r>
            <a:r>
              <a:rPr lang="en-US" sz="1800" kern="0" spc="72" dirty="0">
                <a:solidFill>
                  <a:srgbClr val="7A8290"/>
                </a:solidFill>
                <a:latin typeface="JetBrains Mono" pitchFamily="34" charset="0"/>
                <a:ea typeface="JetBrains Mono" pitchFamily="34" charset="-122"/>
                <a:cs typeface="JetBrains Mono" pitchFamily="34" charset="-120"/>
              </a:rPr>
              <a:t> / </a:t>
            </a:r>
            <a:r>
              <a:rPr lang="en-US" kern="0" spc="72" dirty="0">
                <a:solidFill>
                  <a:srgbClr val="7A8290"/>
                </a:solidFill>
                <a:latin typeface="JetBrains Mono" pitchFamily="34" charset="0"/>
                <a:ea typeface="JetBrains Mono" pitchFamily="34" charset="-122"/>
                <a:cs typeface="JetBrains Mono" pitchFamily="34" charset="-120"/>
              </a:rPr>
              <a:t>32</a:t>
            </a:r>
            <a:endParaRPr lang="en-US" sz="1800" dirty="0"/>
          </a:p>
        </p:txBody>
      </p:sp>
      <p:sp>
        <p:nvSpPr>
          <p:cNvPr id="9" name="Shape 7"/>
          <p:cNvSpPr/>
          <p:nvPr/>
        </p:nvSpPr>
        <p:spPr>
          <a:xfrm>
            <a:off x="914400" y="1524000"/>
            <a:ext cx="1653555" cy="419100"/>
          </a:xfrm>
          <a:prstGeom prst="roundRect">
            <a:avLst>
              <a:gd name="adj" fmla="val 50000"/>
            </a:avLst>
          </a:prstGeom>
          <a:solidFill>
            <a:srgbClr val="FFC233"/>
          </a:solidFill>
          <a:ln w="9525"/>
        </p:spPr>
        <p:txBody>
          <a:bodyPr/>
          <a:lstStyle/>
          <a:p>
            <a:endParaRPr lang="en-TH"/>
          </a:p>
        </p:txBody>
      </p:sp>
      <p:sp>
        <p:nvSpPr>
          <p:cNvPr id="10" name="Text 8"/>
          <p:cNvSpPr/>
          <p:nvPr/>
        </p:nvSpPr>
        <p:spPr>
          <a:xfrm>
            <a:off x="1085850" y="1619250"/>
            <a:ext cx="1310655" cy="266700"/>
          </a:xfrm>
          <a:prstGeom prst="rect">
            <a:avLst/>
          </a:prstGeom>
          <a:noFill/>
          <a:ln w="9525"/>
        </p:spPr>
        <p:txBody>
          <a:bodyPr wrap="square" lIns="25400" tIns="25400" rIns="25400" bIns="25400" rtlCol="0" anchor="ctr">
            <a:normAutofit fontScale="92500" lnSpcReduction="20000"/>
          </a:bodyPr>
          <a:lstStyle/>
          <a:p>
            <a:pPr marL="0" indent="0" algn="ctr">
              <a:lnSpc>
                <a:spcPct val="100000"/>
              </a:lnSpc>
              <a:buNone/>
            </a:pPr>
            <a:r>
              <a:rPr lang="en-US" sz="1800" dirty="0">
                <a:solidFill>
                  <a:srgbClr val="0B0F19"/>
                </a:solidFill>
                <a:latin typeface="JetBrains Mono" pitchFamily="34" charset="0"/>
                <a:ea typeface="JetBrains Mono" pitchFamily="34" charset="-122"/>
                <a:cs typeface="JetBrains Mono" pitchFamily="34" charset="-120"/>
              </a:rPr>
              <a:t>CHAPTER 01</a:t>
            </a:r>
            <a:endParaRPr lang="en-US" sz="1800" dirty="0"/>
          </a:p>
        </p:txBody>
      </p:sp>
      <p:sp>
        <p:nvSpPr>
          <p:cNvPr id="11" name="Text 9"/>
          <p:cNvSpPr/>
          <p:nvPr/>
        </p:nvSpPr>
        <p:spPr>
          <a:xfrm>
            <a:off x="2796555" y="1583531"/>
            <a:ext cx="2641851" cy="338138"/>
          </a:xfrm>
          <a:prstGeom prst="rect">
            <a:avLst/>
          </a:prstGeom>
          <a:noFill/>
          <a:ln w="9525"/>
        </p:spPr>
        <p:txBody>
          <a:bodyPr wrap="square" lIns="25400" tIns="25400" rIns="25400" bIns="25400" rtlCol="0" anchor="t">
            <a:normAutofit fontScale="92500"/>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THE SOFTWARE PROCESS</a:t>
            </a:r>
            <a:endParaRPr lang="en-US" sz="1800" dirty="0"/>
          </a:p>
        </p:txBody>
      </p:sp>
      <p:sp>
        <p:nvSpPr>
          <p:cNvPr id="12" name="Text 10"/>
          <p:cNvSpPr/>
          <p:nvPr/>
        </p:nvSpPr>
        <p:spPr>
          <a:xfrm>
            <a:off x="914400" y="2114550"/>
            <a:ext cx="10859213" cy="1506328"/>
          </a:xfrm>
          <a:prstGeom prst="rect">
            <a:avLst/>
          </a:prstGeom>
          <a:noFill/>
          <a:ln w="9525"/>
        </p:spPr>
        <p:txBody>
          <a:bodyPr wrap="square" lIns="25400" tIns="25400" rIns="25400" bIns="25400" rtlCol="0" anchor="t">
            <a:normAutofit/>
          </a:bodyPr>
          <a:lstStyle/>
          <a:p>
            <a:pPr marL="0" indent="0" algn="l">
              <a:lnSpc>
                <a:spcPct val="100000"/>
              </a:lnSpc>
              <a:buNone/>
            </a:pPr>
            <a:r>
              <a:rPr lang="en-US" sz="4800" b="1" kern="0" spc="-120" dirty="0">
                <a:solidFill>
                  <a:srgbClr val="0B0F19"/>
                </a:solidFill>
                <a:latin typeface="Space Grotesk" pitchFamily="34" charset="0"/>
                <a:ea typeface="Space Grotesk" pitchFamily="34" charset="-122"/>
                <a:cs typeface="Space Grotesk" pitchFamily="34" charset="-120"/>
              </a:rPr>
              <a:t>Five activities, repeated until it ships</a:t>
            </a:r>
            <a:endParaRPr lang="en-US" sz="4800" dirty="0"/>
          </a:p>
        </p:txBody>
      </p:sp>
      <p:sp>
        <p:nvSpPr>
          <p:cNvPr id="13" name="Shape 11"/>
          <p:cNvSpPr/>
          <p:nvPr/>
        </p:nvSpPr>
        <p:spPr>
          <a:xfrm>
            <a:off x="914400" y="5834257"/>
            <a:ext cx="3124200" cy="3614589"/>
          </a:xfrm>
          <a:prstGeom prst="roundRect">
            <a:avLst>
              <a:gd name="adj" fmla="val 6098"/>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14" name="Text 12"/>
          <p:cNvSpPr/>
          <p:nvPr/>
        </p:nvSpPr>
        <p:spPr>
          <a:xfrm>
            <a:off x="1162050" y="6100957"/>
            <a:ext cx="2707767"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STEP 01</a:t>
            </a:r>
            <a:endParaRPr lang="en-US" sz="1800" dirty="0"/>
          </a:p>
        </p:txBody>
      </p:sp>
      <p:sp>
        <p:nvSpPr>
          <p:cNvPr id="15" name="Text 13"/>
          <p:cNvSpPr/>
          <p:nvPr/>
        </p:nvSpPr>
        <p:spPr>
          <a:xfrm>
            <a:off x="1162050" y="6515295"/>
            <a:ext cx="2707767" cy="404813"/>
          </a:xfrm>
          <a:prstGeom prst="rect">
            <a:avLst/>
          </a:prstGeom>
          <a:noFill/>
          <a:ln w="9525"/>
        </p:spPr>
        <p:txBody>
          <a:bodyPr wrap="square" lIns="25400" tIns="25400" rIns="25400" bIns="25400" rtlCol="0" anchor="t">
            <a:normAutofit/>
          </a:bodyPr>
          <a:lstStyle/>
          <a:p>
            <a:pPr marL="0" indent="0" algn="l">
              <a:buNone/>
            </a:pPr>
            <a:r>
              <a:rPr lang="en-US" sz="2250" b="1" kern="0" spc="-34" dirty="0">
                <a:solidFill>
                  <a:srgbClr val="0B0F19"/>
                </a:solidFill>
                <a:latin typeface="Space Grotesk" pitchFamily="34" charset="0"/>
                <a:ea typeface="Space Grotesk" pitchFamily="34" charset="-122"/>
                <a:cs typeface="Space Grotesk" pitchFamily="34" charset="-120"/>
              </a:rPr>
              <a:t>Specify</a:t>
            </a:r>
            <a:endParaRPr lang="en-US" sz="2250" dirty="0"/>
          </a:p>
        </p:txBody>
      </p:sp>
      <p:sp>
        <p:nvSpPr>
          <p:cNvPr id="16" name="Text 14"/>
          <p:cNvSpPr/>
          <p:nvPr/>
        </p:nvSpPr>
        <p:spPr>
          <a:xfrm>
            <a:off x="1162050" y="6977257"/>
            <a:ext cx="2707767" cy="1756891"/>
          </a:xfrm>
          <a:prstGeom prst="rect">
            <a:avLst/>
          </a:prstGeom>
          <a:noFill/>
          <a:ln w="9525"/>
        </p:spPr>
        <p:txBody>
          <a:bodyPr wrap="square" lIns="25400" tIns="25400" rIns="25400" bIns="25400" rtlCol="0" anchor="t">
            <a:spAutoFit/>
          </a:bodyPr>
          <a:lstStyle/>
          <a:p>
            <a:pPr marL="0" indent="0" algn="l">
              <a:lnSpc>
                <a:spcPct val="125000"/>
              </a:lnSpc>
              <a:buNone/>
            </a:pPr>
            <a:r>
              <a:rPr lang="en-US" dirty="0">
                <a:solidFill>
                  <a:srgbClr val="3A4250"/>
                </a:solidFill>
                <a:latin typeface="Space Grotesk" pitchFamily="34" charset="0"/>
                <a:ea typeface="Space Grotesk" pitchFamily="34" charset="-122"/>
                <a:cs typeface="Space Grotesk" pitchFamily="34" charset="-120"/>
              </a:rPr>
              <a:t>Decide what to build and write it down so it can be checked. Most failed projects fail here, not in the code.</a:t>
            </a:r>
            <a:endParaRPr lang="en-US" dirty="0"/>
          </a:p>
        </p:txBody>
      </p:sp>
      <p:grpSp>
        <p:nvGrpSpPr>
          <p:cNvPr id="60087382" name="Group 60087382"/>
          <p:cNvGrpSpPr/>
          <p:nvPr/>
        </p:nvGrpSpPr>
        <p:grpSpPr>
          <a:xfrm>
            <a:off x="1162050" y="8786858"/>
            <a:ext cx="1287810" cy="376238"/>
            <a:chOff x="1162050" y="6088261"/>
            <a:chExt cx="1287810" cy="376238"/>
          </a:xfrm>
        </p:grpSpPr>
        <p:sp>
          <p:nvSpPr>
            <p:cNvPr id="17" name="Shape 15"/>
            <p:cNvSpPr/>
            <p:nvPr/>
          </p:nvSpPr>
          <p:spPr>
            <a:xfrm>
              <a:off x="1162050" y="6088261"/>
              <a:ext cx="1287810" cy="376238"/>
            </a:xfrm>
            <a:prstGeom prst="roundRect">
              <a:avLst>
                <a:gd name="adj" fmla="val 15190"/>
              </a:avLst>
            </a:prstGeom>
            <a:solidFill>
              <a:srgbClr val="E4E7EC"/>
            </a:solidFill>
            <a:ln w="9525"/>
          </p:spPr>
          <p:txBody>
            <a:bodyPr/>
            <a:lstStyle/>
            <a:p>
              <a:endParaRPr lang="en-TH"/>
            </a:p>
          </p:txBody>
        </p:sp>
        <p:sp>
          <p:nvSpPr>
            <p:cNvPr id="18" name="Text 16"/>
            <p:cNvSpPr/>
            <p:nvPr/>
          </p:nvSpPr>
          <p:spPr>
            <a:xfrm>
              <a:off x="1219200" y="6107311"/>
              <a:ext cx="1173510"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3A4250"/>
                  </a:solidFill>
                  <a:latin typeface="JetBrains Mono" pitchFamily="34" charset="0"/>
                  <a:ea typeface="JetBrains Mono" pitchFamily="34" charset="-122"/>
                  <a:cs typeface="JetBrains Mono" pitchFamily="34" charset="-120"/>
                </a:rPr>
                <a:t>the what</a:t>
              </a:r>
              <a:endParaRPr lang="en-US" sz="1800" dirty="0"/>
            </a:p>
          </p:txBody>
        </p:sp>
      </p:grpSp>
      <p:sp>
        <p:nvSpPr>
          <p:cNvPr id="21" name="Shape 19"/>
          <p:cNvSpPr/>
          <p:nvPr/>
        </p:nvSpPr>
        <p:spPr>
          <a:xfrm>
            <a:off x="4248150" y="5834257"/>
            <a:ext cx="3124200" cy="3614589"/>
          </a:xfrm>
          <a:prstGeom prst="roundRect">
            <a:avLst>
              <a:gd name="adj" fmla="val 6098"/>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2" name="Text 20"/>
          <p:cNvSpPr/>
          <p:nvPr/>
        </p:nvSpPr>
        <p:spPr>
          <a:xfrm>
            <a:off x="4495800" y="6100957"/>
            <a:ext cx="2707767"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STEP 02</a:t>
            </a:r>
            <a:endParaRPr lang="en-US" sz="1800" dirty="0"/>
          </a:p>
        </p:txBody>
      </p:sp>
      <p:sp>
        <p:nvSpPr>
          <p:cNvPr id="23" name="Text 21"/>
          <p:cNvSpPr/>
          <p:nvPr/>
        </p:nvSpPr>
        <p:spPr>
          <a:xfrm>
            <a:off x="4495800" y="6515295"/>
            <a:ext cx="2707767" cy="404813"/>
          </a:xfrm>
          <a:prstGeom prst="rect">
            <a:avLst/>
          </a:prstGeom>
          <a:noFill/>
          <a:ln w="9525"/>
        </p:spPr>
        <p:txBody>
          <a:bodyPr wrap="square" lIns="25400" tIns="25400" rIns="25400" bIns="25400" rtlCol="0" anchor="t">
            <a:normAutofit/>
          </a:bodyPr>
          <a:lstStyle/>
          <a:p>
            <a:pPr marL="0" indent="0" algn="l">
              <a:buNone/>
            </a:pPr>
            <a:r>
              <a:rPr lang="en-US" sz="2250" b="1" kern="0" spc="-34" dirty="0">
                <a:solidFill>
                  <a:srgbClr val="0B0F19"/>
                </a:solidFill>
                <a:latin typeface="Space Grotesk" pitchFamily="34" charset="0"/>
                <a:ea typeface="Space Grotesk" pitchFamily="34" charset="-122"/>
                <a:cs typeface="Space Grotesk" pitchFamily="34" charset="-120"/>
              </a:rPr>
              <a:t>Design</a:t>
            </a:r>
            <a:endParaRPr lang="en-US" sz="2250" dirty="0"/>
          </a:p>
        </p:txBody>
      </p:sp>
      <p:sp>
        <p:nvSpPr>
          <p:cNvPr id="24" name="Text 22"/>
          <p:cNvSpPr/>
          <p:nvPr/>
        </p:nvSpPr>
        <p:spPr>
          <a:xfrm>
            <a:off x="4495800" y="6977257"/>
            <a:ext cx="2707767" cy="1410643"/>
          </a:xfrm>
          <a:prstGeom prst="rect">
            <a:avLst/>
          </a:prstGeom>
          <a:noFill/>
          <a:ln w="9525"/>
        </p:spPr>
        <p:txBody>
          <a:bodyPr wrap="square" lIns="25400" tIns="25400" rIns="25400" bIns="25400" rtlCol="0" anchor="t">
            <a:spAutoFit/>
          </a:bodyPr>
          <a:lstStyle/>
          <a:p>
            <a:pPr marL="0" indent="0" algn="l">
              <a:lnSpc>
                <a:spcPct val="125000"/>
              </a:lnSpc>
              <a:buNone/>
            </a:pPr>
            <a:r>
              <a:rPr lang="en-US" dirty="0">
                <a:solidFill>
                  <a:srgbClr val="3A4250"/>
                </a:solidFill>
                <a:latin typeface="Space Grotesk" pitchFamily="34" charset="0"/>
                <a:ea typeface="Space Grotesk" pitchFamily="34" charset="-122"/>
                <a:cs typeface="Space Grotesk" pitchFamily="34" charset="-120"/>
              </a:rPr>
              <a:t>Decide how to build it: the parts, how they connect, and which trade-off you chose and why.</a:t>
            </a:r>
            <a:endParaRPr lang="en-US" dirty="0"/>
          </a:p>
        </p:txBody>
      </p:sp>
      <p:grpSp>
        <p:nvGrpSpPr>
          <p:cNvPr id="91112432" name="Group 91112432"/>
          <p:cNvGrpSpPr/>
          <p:nvPr/>
        </p:nvGrpSpPr>
        <p:grpSpPr>
          <a:xfrm>
            <a:off x="4495800" y="8786858"/>
            <a:ext cx="1699320" cy="376238"/>
            <a:chOff x="4495800" y="6088261"/>
            <a:chExt cx="1699320" cy="376238"/>
          </a:xfrm>
        </p:grpSpPr>
        <p:sp>
          <p:nvSpPr>
            <p:cNvPr id="25" name="Shape 23"/>
            <p:cNvSpPr/>
            <p:nvPr/>
          </p:nvSpPr>
          <p:spPr>
            <a:xfrm>
              <a:off x="4495800" y="6088261"/>
              <a:ext cx="1699320" cy="376238"/>
            </a:xfrm>
            <a:prstGeom prst="roundRect">
              <a:avLst>
                <a:gd name="adj" fmla="val 15190"/>
              </a:avLst>
            </a:prstGeom>
            <a:solidFill>
              <a:srgbClr val="E4E7EC"/>
            </a:solidFill>
            <a:ln w="9525"/>
          </p:spPr>
          <p:txBody>
            <a:bodyPr/>
            <a:lstStyle/>
            <a:p>
              <a:endParaRPr lang="en-TH"/>
            </a:p>
          </p:txBody>
        </p:sp>
        <p:sp>
          <p:nvSpPr>
            <p:cNvPr id="26" name="Text 24"/>
            <p:cNvSpPr/>
            <p:nvPr/>
          </p:nvSpPr>
          <p:spPr>
            <a:xfrm>
              <a:off x="4552950" y="6107311"/>
              <a:ext cx="1585020"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3A4250"/>
                  </a:solidFill>
                  <a:latin typeface="JetBrains Mono" pitchFamily="34" charset="0"/>
                  <a:ea typeface="JetBrains Mono" pitchFamily="34" charset="-122"/>
                  <a:cs typeface="JetBrains Mono" pitchFamily="34" charset="-120"/>
                </a:rPr>
                <a:t>the how</a:t>
              </a:r>
              <a:endParaRPr lang="en-US" sz="1800" dirty="0"/>
            </a:p>
          </p:txBody>
        </p:sp>
      </p:grpSp>
      <p:sp>
        <p:nvSpPr>
          <p:cNvPr id="29" name="Shape 27"/>
          <p:cNvSpPr/>
          <p:nvPr/>
        </p:nvSpPr>
        <p:spPr>
          <a:xfrm>
            <a:off x="7581900" y="5834257"/>
            <a:ext cx="3124200" cy="3614589"/>
          </a:xfrm>
          <a:prstGeom prst="roundRect">
            <a:avLst>
              <a:gd name="adj" fmla="val 6098"/>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30" name="Text 28"/>
          <p:cNvSpPr/>
          <p:nvPr/>
        </p:nvSpPr>
        <p:spPr>
          <a:xfrm>
            <a:off x="7829550" y="6100957"/>
            <a:ext cx="2707767"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STEP 03</a:t>
            </a:r>
            <a:endParaRPr lang="en-US" sz="1800" dirty="0"/>
          </a:p>
        </p:txBody>
      </p:sp>
      <p:sp>
        <p:nvSpPr>
          <p:cNvPr id="31" name="Text 29"/>
          <p:cNvSpPr/>
          <p:nvPr/>
        </p:nvSpPr>
        <p:spPr>
          <a:xfrm>
            <a:off x="7829550" y="6515295"/>
            <a:ext cx="2707767" cy="404813"/>
          </a:xfrm>
          <a:prstGeom prst="rect">
            <a:avLst/>
          </a:prstGeom>
          <a:noFill/>
          <a:ln w="9525"/>
        </p:spPr>
        <p:txBody>
          <a:bodyPr wrap="square" lIns="25400" tIns="25400" rIns="25400" bIns="25400" rtlCol="0" anchor="t">
            <a:normAutofit/>
          </a:bodyPr>
          <a:lstStyle/>
          <a:p>
            <a:pPr marL="0" indent="0" algn="l">
              <a:buNone/>
            </a:pPr>
            <a:r>
              <a:rPr lang="en-US" sz="2250" b="1" kern="0" spc="-34" dirty="0">
                <a:solidFill>
                  <a:srgbClr val="0B0F19"/>
                </a:solidFill>
                <a:latin typeface="Space Grotesk" pitchFamily="34" charset="0"/>
                <a:ea typeface="Space Grotesk" pitchFamily="34" charset="-122"/>
                <a:cs typeface="Space Grotesk" pitchFamily="34" charset="-120"/>
              </a:rPr>
              <a:t>Build</a:t>
            </a:r>
            <a:endParaRPr lang="en-US" sz="2250" dirty="0"/>
          </a:p>
        </p:txBody>
      </p:sp>
      <p:sp>
        <p:nvSpPr>
          <p:cNvPr id="32" name="Text 30"/>
          <p:cNvSpPr/>
          <p:nvPr/>
        </p:nvSpPr>
        <p:spPr>
          <a:xfrm>
            <a:off x="7829550" y="6977257"/>
            <a:ext cx="2707767" cy="1064394"/>
          </a:xfrm>
          <a:prstGeom prst="rect">
            <a:avLst/>
          </a:prstGeom>
          <a:noFill/>
          <a:ln w="9525"/>
        </p:spPr>
        <p:txBody>
          <a:bodyPr wrap="square" lIns="25400" tIns="25400" rIns="25400" bIns="25400" rtlCol="0" anchor="t">
            <a:spAutoFit/>
          </a:bodyPr>
          <a:lstStyle/>
          <a:p>
            <a:pPr marL="0" indent="0" algn="l">
              <a:lnSpc>
                <a:spcPct val="125000"/>
              </a:lnSpc>
              <a:buNone/>
            </a:pPr>
            <a:r>
              <a:rPr lang="en-US" dirty="0">
                <a:solidFill>
                  <a:srgbClr val="3A4250"/>
                </a:solidFill>
                <a:latin typeface="Space Grotesk" pitchFamily="34" charset="0"/>
                <a:ea typeface="Space Grotesk" pitchFamily="34" charset="-122"/>
                <a:cs typeface="Space Grotesk" pitchFamily="34" charset="-120"/>
              </a:rPr>
              <a:t>Write the code. AI-assisted is fine — as long as you can read it, test it and explain it.</a:t>
            </a:r>
            <a:endParaRPr lang="en-US" dirty="0"/>
          </a:p>
        </p:txBody>
      </p:sp>
      <p:grpSp>
        <p:nvGrpSpPr>
          <p:cNvPr id="5611275" name="Group 5611275"/>
          <p:cNvGrpSpPr/>
          <p:nvPr/>
        </p:nvGrpSpPr>
        <p:grpSpPr>
          <a:xfrm>
            <a:off x="7829550" y="8786858"/>
            <a:ext cx="1424955" cy="376238"/>
            <a:chOff x="7829550" y="6419701"/>
            <a:chExt cx="1424955" cy="376238"/>
          </a:xfrm>
        </p:grpSpPr>
        <p:sp>
          <p:nvSpPr>
            <p:cNvPr id="33" name="Shape 31"/>
            <p:cNvSpPr/>
            <p:nvPr/>
          </p:nvSpPr>
          <p:spPr>
            <a:xfrm>
              <a:off x="7829550" y="6419701"/>
              <a:ext cx="1424955" cy="376238"/>
            </a:xfrm>
            <a:prstGeom prst="roundRect">
              <a:avLst>
                <a:gd name="adj" fmla="val 15190"/>
              </a:avLst>
            </a:prstGeom>
            <a:solidFill>
              <a:srgbClr val="E4E7EC"/>
            </a:solidFill>
            <a:ln w="9525"/>
          </p:spPr>
          <p:txBody>
            <a:bodyPr/>
            <a:lstStyle/>
            <a:p>
              <a:endParaRPr lang="en-TH"/>
            </a:p>
          </p:txBody>
        </p:sp>
        <p:sp>
          <p:nvSpPr>
            <p:cNvPr id="34" name="Text 32"/>
            <p:cNvSpPr/>
            <p:nvPr/>
          </p:nvSpPr>
          <p:spPr>
            <a:xfrm>
              <a:off x="7886700" y="6438751"/>
              <a:ext cx="1310655"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3A4250"/>
                  </a:solidFill>
                  <a:latin typeface="JetBrains Mono" pitchFamily="34" charset="0"/>
                  <a:ea typeface="JetBrains Mono" pitchFamily="34" charset="-122"/>
                  <a:cs typeface="JetBrains Mono" pitchFamily="34" charset="-120"/>
                </a:rPr>
                <a:t>with Git</a:t>
              </a:r>
              <a:endParaRPr lang="en-US" sz="1800" dirty="0"/>
            </a:p>
          </p:txBody>
        </p:sp>
      </p:grpSp>
      <p:sp>
        <p:nvSpPr>
          <p:cNvPr id="37" name="Shape 35"/>
          <p:cNvSpPr/>
          <p:nvPr/>
        </p:nvSpPr>
        <p:spPr>
          <a:xfrm>
            <a:off x="10915650" y="5834257"/>
            <a:ext cx="3124200" cy="3614589"/>
          </a:xfrm>
          <a:prstGeom prst="roundRect">
            <a:avLst>
              <a:gd name="adj" fmla="val 6098"/>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38" name="Text 36"/>
          <p:cNvSpPr/>
          <p:nvPr/>
        </p:nvSpPr>
        <p:spPr>
          <a:xfrm>
            <a:off x="11163300" y="6100957"/>
            <a:ext cx="2707767"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STEP 04</a:t>
            </a:r>
            <a:endParaRPr lang="en-US" sz="1800" dirty="0"/>
          </a:p>
        </p:txBody>
      </p:sp>
      <p:sp>
        <p:nvSpPr>
          <p:cNvPr id="39" name="Text 37"/>
          <p:cNvSpPr/>
          <p:nvPr/>
        </p:nvSpPr>
        <p:spPr>
          <a:xfrm>
            <a:off x="11163300" y="6515295"/>
            <a:ext cx="2707767" cy="404813"/>
          </a:xfrm>
          <a:prstGeom prst="rect">
            <a:avLst/>
          </a:prstGeom>
          <a:noFill/>
          <a:ln w="9525"/>
        </p:spPr>
        <p:txBody>
          <a:bodyPr wrap="square" lIns="25400" tIns="25400" rIns="25400" bIns="25400" rtlCol="0" anchor="t">
            <a:normAutofit/>
          </a:bodyPr>
          <a:lstStyle/>
          <a:p>
            <a:pPr marL="0" indent="0" algn="l">
              <a:buNone/>
            </a:pPr>
            <a:r>
              <a:rPr lang="en-US" sz="2250" b="1" kern="0" spc="-34" dirty="0">
                <a:solidFill>
                  <a:srgbClr val="0B0F19"/>
                </a:solidFill>
                <a:latin typeface="Space Grotesk" pitchFamily="34" charset="0"/>
                <a:ea typeface="Space Grotesk" pitchFamily="34" charset="-122"/>
                <a:cs typeface="Space Grotesk" pitchFamily="34" charset="-120"/>
              </a:rPr>
              <a:t>Validate</a:t>
            </a:r>
            <a:endParaRPr lang="en-US" sz="2250" dirty="0"/>
          </a:p>
        </p:txBody>
      </p:sp>
      <p:sp>
        <p:nvSpPr>
          <p:cNvPr id="40" name="Text 38"/>
          <p:cNvSpPr/>
          <p:nvPr/>
        </p:nvSpPr>
        <p:spPr>
          <a:xfrm>
            <a:off x="11163300" y="6977257"/>
            <a:ext cx="2707767" cy="1410643"/>
          </a:xfrm>
          <a:prstGeom prst="rect">
            <a:avLst/>
          </a:prstGeom>
          <a:noFill/>
          <a:ln w="9525"/>
        </p:spPr>
        <p:txBody>
          <a:bodyPr wrap="square" lIns="25400" tIns="25400" rIns="25400" bIns="25400" rtlCol="0" anchor="t">
            <a:spAutoFit/>
          </a:bodyPr>
          <a:lstStyle/>
          <a:p>
            <a:pPr marL="0" indent="0" algn="l">
              <a:lnSpc>
                <a:spcPct val="125000"/>
              </a:lnSpc>
              <a:buNone/>
            </a:pPr>
            <a:r>
              <a:rPr lang="en-US" dirty="0">
                <a:solidFill>
                  <a:srgbClr val="3A4250"/>
                </a:solidFill>
                <a:latin typeface="Space Grotesk" pitchFamily="34" charset="0"/>
                <a:ea typeface="Space Grotesk" pitchFamily="34" charset="-122"/>
                <a:cs typeface="Space Grotesk" pitchFamily="34" charset="-120"/>
              </a:rPr>
              <a:t>Test that it does what the specification promised. A feature with no test is only a rumour.</a:t>
            </a:r>
            <a:endParaRPr lang="en-US" dirty="0"/>
          </a:p>
        </p:txBody>
      </p:sp>
      <p:grpSp>
        <p:nvGrpSpPr>
          <p:cNvPr id="55245507" name="Group 55245507"/>
          <p:cNvGrpSpPr/>
          <p:nvPr/>
        </p:nvGrpSpPr>
        <p:grpSpPr>
          <a:xfrm>
            <a:off x="11163300" y="8786858"/>
            <a:ext cx="1287810" cy="376238"/>
            <a:chOff x="11163300" y="5756821"/>
            <a:chExt cx="1287810" cy="376238"/>
          </a:xfrm>
        </p:grpSpPr>
        <p:sp>
          <p:nvSpPr>
            <p:cNvPr id="41" name="Shape 39"/>
            <p:cNvSpPr/>
            <p:nvPr/>
          </p:nvSpPr>
          <p:spPr>
            <a:xfrm>
              <a:off x="11163300" y="5756821"/>
              <a:ext cx="1287810" cy="376238"/>
            </a:xfrm>
            <a:prstGeom prst="roundRect">
              <a:avLst>
                <a:gd name="adj" fmla="val 15190"/>
              </a:avLst>
            </a:prstGeom>
            <a:solidFill>
              <a:srgbClr val="E4E7EC"/>
            </a:solidFill>
            <a:ln w="9525"/>
          </p:spPr>
          <p:txBody>
            <a:bodyPr/>
            <a:lstStyle/>
            <a:p>
              <a:endParaRPr lang="en-TH"/>
            </a:p>
          </p:txBody>
        </p:sp>
        <p:sp>
          <p:nvSpPr>
            <p:cNvPr id="42" name="Text 40"/>
            <p:cNvSpPr/>
            <p:nvPr/>
          </p:nvSpPr>
          <p:spPr>
            <a:xfrm>
              <a:off x="11220450" y="5775871"/>
              <a:ext cx="1173510"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3A4250"/>
                  </a:solidFill>
                  <a:latin typeface="JetBrains Mono" pitchFamily="34" charset="0"/>
                  <a:ea typeface="JetBrains Mono" pitchFamily="34" charset="-122"/>
                  <a:cs typeface="JetBrains Mono" pitchFamily="34" charset="-120"/>
                </a:rPr>
                <a:t>unit tests</a:t>
              </a:r>
              <a:endParaRPr lang="en-US" sz="1800" dirty="0"/>
            </a:p>
          </p:txBody>
        </p:sp>
      </p:grpSp>
      <p:sp>
        <p:nvSpPr>
          <p:cNvPr id="45" name="Shape 43"/>
          <p:cNvSpPr/>
          <p:nvPr/>
        </p:nvSpPr>
        <p:spPr>
          <a:xfrm>
            <a:off x="14249400" y="5834257"/>
            <a:ext cx="3124200" cy="3614589"/>
          </a:xfrm>
          <a:prstGeom prst="roundRect">
            <a:avLst>
              <a:gd name="adj" fmla="val 6098"/>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46" name="Text 44"/>
          <p:cNvSpPr/>
          <p:nvPr/>
        </p:nvSpPr>
        <p:spPr>
          <a:xfrm>
            <a:off x="14497050" y="6100957"/>
            <a:ext cx="2707767"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STEP 05</a:t>
            </a:r>
            <a:endParaRPr lang="en-US" sz="1800" dirty="0"/>
          </a:p>
        </p:txBody>
      </p:sp>
      <p:sp>
        <p:nvSpPr>
          <p:cNvPr id="47" name="Text 45"/>
          <p:cNvSpPr/>
          <p:nvPr/>
        </p:nvSpPr>
        <p:spPr>
          <a:xfrm>
            <a:off x="14497050" y="6515295"/>
            <a:ext cx="2707767" cy="404813"/>
          </a:xfrm>
          <a:prstGeom prst="rect">
            <a:avLst/>
          </a:prstGeom>
          <a:noFill/>
          <a:ln w="9525"/>
        </p:spPr>
        <p:txBody>
          <a:bodyPr wrap="square" lIns="25400" tIns="25400" rIns="25400" bIns="25400" rtlCol="0" anchor="t">
            <a:normAutofit/>
          </a:bodyPr>
          <a:lstStyle/>
          <a:p>
            <a:pPr marL="0" indent="0" algn="l">
              <a:buNone/>
            </a:pPr>
            <a:r>
              <a:rPr lang="en-US" sz="2250" b="1" kern="0" spc="-34" dirty="0">
                <a:solidFill>
                  <a:srgbClr val="0B0F19"/>
                </a:solidFill>
                <a:latin typeface="Space Grotesk" pitchFamily="34" charset="0"/>
                <a:ea typeface="Space Grotesk" pitchFamily="34" charset="-122"/>
                <a:cs typeface="Space Grotesk" pitchFamily="34" charset="-120"/>
              </a:rPr>
              <a:t>Evolve</a:t>
            </a:r>
            <a:endParaRPr lang="en-US" sz="2250" dirty="0"/>
          </a:p>
        </p:txBody>
      </p:sp>
      <p:sp>
        <p:nvSpPr>
          <p:cNvPr id="48" name="Text 46"/>
          <p:cNvSpPr/>
          <p:nvPr/>
        </p:nvSpPr>
        <p:spPr>
          <a:xfrm>
            <a:off x="14497050" y="6977257"/>
            <a:ext cx="2707767" cy="1756891"/>
          </a:xfrm>
          <a:prstGeom prst="rect">
            <a:avLst/>
          </a:prstGeom>
          <a:noFill/>
          <a:ln w="9525"/>
        </p:spPr>
        <p:txBody>
          <a:bodyPr wrap="square" lIns="25400" tIns="25400" rIns="25400" bIns="25400" rtlCol="0" anchor="t">
            <a:spAutoFit/>
          </a:bodyPr>
          <a:lstStyle/>
          <a:p>
            <a:pPr marL="0" indent="0" algn="l">
              <a:lnSpc>
                <a:spcPct val="125000"/>
              </a:lnSpc>
              <a:buNone/>
            </a:pPr>
            <a:r>
              <a:rPr lang="en-US" dirty="0">
                <a:solidFill>
                  <a:srgbClr val="3A4250"/>
                </a:solidFill>
                <a:latin typeface="Space Grotesk" pitchFamily="34" charset="0"/>
                <a:ea typeface="Space Grotesk" pitchFamily="34" charset="-122"/>
                <a:cs typeface="Space Grotesk" pitchFamily="34" charset="-120"/>
              </a:rPr>
              <a:t>Real software keeps changing. Maintenance is not the clean-up afterwards — it is most of the life of the system.</a:t>
            </a:r>
            <a:endParaRPr lang="en-US" dirty="0"/>
          </a:p>
        </p:txBody>
      </p:sp>
      <p:grpSp>
        <p:nvGrpSpPr>
          <p:cNvPr id="38010581" name="Group 38010581"/>
          <p:cNvGrpSpPr/>
          <p:nvPr/>
        </p:nvGrpSpPr>
        <p:grpSpPr>
          <a:xfrm>
            <a:off x="14497050" y="8786858"/>
            <a:ext cx="1973610" cy="376238"/>
            <a:chOff x="14497050" y="6088261"/>
            <a:chExt cx="1973610" cy="376238"/>
          </a:xfrm>
        </p:grpSpPr>
        <p:sp>
          <p:nvSpPr>
            <p:cNvPr id="49" name="Shape 47"/>
            <p:cNvSpPr/>
            <p:nvPr/>
          </p:nvSpPr>
          <p:spPr>
            <a:xfrm>
              <a:off x="14497050" y="6088261"/>
              <a:ext cx="1973610" cy="376238"/>
            </a:xfrm>
            <a:prstGeom prst="roundRect">
              <a:avLst>
                <a:gd name="adj" fmla="val 15190"/>
              </a:avLst>
            </a:prstGeom>
            <a:solidFill>
              <a:srgbClr val="E4E7EC"/>
            </a:solidFill>
            <a:ln w="9525"/>
          </p:spPr>
          <p:txBody>
            <a:bodyPr/>
            <a:lstStyle/>
            <a:p>
              <a:endParaRPr lang="en-TH"/>
            </a:p>
          </p:txBody>
        </p:sp>
        <p:sp>
          <p:nvSpPr>
            <p:cNvPr id="50" name="Text 48"/>
            <p:cNvSpPr/>
            <p:nvPr/>
          </p:nvSpPr>
          <p:spPr>
            <a:xfrm>
              <a:off x="14554200" y="6107311"/>
              <a:ext cx="1859310" cy="338138"/>
            </a:xfrm>
            <a:prstGeom prst="rect">
              <a:avLst/>
            </a:prstGeom>
            <a:noFill/>
            <a:ln w="9525"/>
          </p:spPr>
          <p:txBody>
            <a:bodyPr wrap="square" lIns="25400" tIns="25400" rIns="25400" bIns="25400" rtlCol="0" anchor="t">
              <a:normAutofit/>
            </a:bodyPr>
            <a:lstStyle/>
            <a:p>
              <a:pPr marL="0" indent="0" algn="l">
                <a:buNone/>
              </a:pPr>
              <a:r>
                <a:rPr lang="en-US" altLang="en-US">
                  <a:solidFill>
                    <a:srgbClr val="3A4250"/>
                  </a:solidFill>
                  <a:latin typeface="JetBrains Mono" pitchFamily="34" charset="0"/>
                  <a:ea typeface="JetBrains Mono" pitchFamily="34" charset="-122"/>
                  <a:cs typeface="JetBrains Mono" pitchFamily="34" charset="-120"/>
                </a:rPr>
                <a:t>all term</a:t>
              </a:r>
              <a:endParaRPr lang="en-US" sz="1800" dirty="0"/>
            </a:p>
          </p:txBody>
        </p:sp>
      </p:grpSp>
      <p:grpSp>
        <p:nvGrpSpPr>
          <p:cNvPr id="7920254" name="Group 7920254"/>
          <p:cNvGrpSpPr/>
          <p:nvPr/>
        </p:nvGrpSpPr>
        <p:grpSpPr>
          <a:xfrm rot="180000">
            <a:off x="13298576" y="1813334"/>
            <a:ext cx="3111583" cy="2393525"/>
            <a:chOff x="1576388" y="3086100"/>
            <a:chExt cx="2476500" cy="1905000"/>
          </a:xfrm>
        </p:grpSpPr>
        <p:sp>
          <p:nvSpPr>
            <p:cNvPr id="2385485" name="Shape 9"/>
            <p:cNvSpPr/>
            <p:nvPr/>
          </p:nvSpPr>
          <p:spPr>
            <a:xfrm>
              <a:off x="1747838" y="3086100"/>
              <a:ext cx="876300" cy="247650"/>
            </a:xfrm>
            <a:prstGeom prst="roundRect">
              <a:avLst>
                <a:gd name="adj" fmla="val 30769"/>
              </a:avLst>
            </a:prstGeom>
            <a:solidFill>
              <a:srgbClr val="E8961F"/>
            </a:solidFill>
            <a:ln w="9525"/>
          </p:spPr>
          <p:txBody>
            <a:bodyPr/>
            <a:lstStyle/>
            <a:p>
              <a:endParaRPr lang="en-TH"/>
            </a:p>
          </p:txBody>
        </p:sp>
        <p:sp>
          <p:nvSpPr>
            <p:cNvPr id="40008253" name="Shape 10"/>
            <p:cNvSpPr/>
            <p:nvPr/>
          </p:nvSpPr>
          <p:spPr>
            <a:xfrm>
              <a:off x="1576388" y="3295650"/>
              <a:ext cx="2476500" cy="1695450"/>
            </a:xfrm>
            <a:prstGeom prst="roundRect">
              <a:avLst>
                <a:gd name="adj" fmla="val 7865"/>
              </a:avLst>
            </a:prstGeom>
            <a:solidFill>
              <a:srgbClr val="FFC233"/>
            </a:solidFill>
            <a:ln w="9525"/>
          </p:spPr>
          <p:txBody>
            <a:bodyPr/>
            <a:lstStyle/>
            <a:p>
              <a:endParaRPr lang="en-TH"/>
            </a:p>
          </p:txBody>
        </p:sp>
      </p:grpSp>
      <p:grpSp>
        <p:nvGrpSpPr>
          <p:cNvPr id="39236351" name="Group 39236351"/>
          <p:cNvGrpSpPr/>
          <p:nvPr/>
        </p:nvGrpSpPr>
        <p:grpSpPr>
          <a:xfrm>
            <a:off x="12451175" y="2438400"/>
            <a:ext cx="3270033" cy="2461353"/>
            <a:chOff x="5795963" y="3086100"/>
            <a:chExt cx="2476500" cy="1905000"/>
          </a:xfrm>
        </p:grpSpPr>
        <p:sp>
          <p:nvSpPr>
            <p:cNvPr id="86887337" name="Shape 14"/>
            <p:cNvSpPr/>
            <p:nvPr/>
          </p:nvSpPr>
          <p:spPr>
            <a:xfrm>
              <a:off x="5967413" y="3086100"/>
              <a:ext cx="876300" cy="247650"/>
            </a:xfrm>
            <a:prstGeom prst="roundRect">
              <a:avLst>
                <a:gd name="adj" fmla="val 30769"/>
              </a:avLst>
            </a:prstGeom>
            <a:solidFill>
              <a:srgbClr val="CC4334"/>
            </a:solidFill>
            <a:ln w="9525"/>
          </p:spPr>
          <p:txBody>
            <a:bodyPr/>
            <a:lstStyle/>
            <a:p>
              <a:endParaRPr lang="en-TH"/>
            </a:p>
          </p:txBody>
        </p:sp>
        <p:sp>
          <p:nvSpPr>
            <p:cNvPr id="30867353" name="Shape 15"/>
            <p:cNvSpPr/>
            <p:nvPr/>
          </p:nvSpPr>
          <p:spPr>
            <a:xfrm>
              <a:off x="5795963" y="3295650"/>
              <a:ext cx="2476500" cy="1695450"/>
            </a:xfrm>
            <a:prstGeom prst="roundRect">
              <a:avLst>
                <a:gd name="adj" fmla="val 7865"/>
              </a:avLst>
            </a:prstGeom>
            <a:solidFill>
              <a:srgbClr val="FF5A47"/>
            </a:solidFill>
            <a:ln w="9525"/>
          </p:spPr>
          <p:txBody>
            <a:bodyPr/>
            <a:lstStyle/>
            <a:p>
              <a:endParaRPr lang="en-TH"/>
            </a:p>
          </p:txBody>
        </p:sp>
      </p:grpSp>
    </p:spTree>
    <p:extLst>
      <p:ext uri="{BB962C8B-B14F-4D97-AF65-F5344CB8AC3E}">
        <p14:creationId xmlns:p14="http://schemas.microsoft.com/office/powerpoint/2010/main" val="33684823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4" name="Text 2"/>
          <p:cNvSpPr/>
          <p:nvPr/>
        </p:nvSpPr>
        <p:spPr>
          <a:xfrm>
            <a:off x="266700" y="154781"/>
            <a:ext cx="213866" cy="338138"/>
          </a:xfrm>
          <a:prstGeom prst="rect">
            <a:avLst/>
          </a:prstGeom>
          <a:noFill/>
          <a:ln w="9525"/>
        </p:spPr>
        <p:txBody>
          <a:bodyPr wrap="square" lIns="25400" tIns="25400" rIns="25400" bIns="25400" rtlCol="0" anchor="t">
            <a:normAutofit/>
          </a:bodyPr>
          <a:lstStyle/>
          <a:p>
            <a:pPr marL="0" indent="0" algn="l">
              <a:buNone/>
            </a:pPr>
            <a:r>
              <a:rPr lang="en-US" sz="1800" b="1" dirty="0">
                <a:solidFill>
                  <a:srgbClr val="0B0F19"/>
                </a:solidFill>
                <a:latin typeface="JetBrains Mono" pitchFamily="34" charset="0"/>
                <a:ea typeface="JetBrains Mono" pitchFamily="34" charset="-122"/>
                <a:cs typeface="JetBrains Mono" pitchFamily="34" charset="-120"/>
              </a:rPr>
              <a:t>▶</a:t>
            </a:r>
            <a:endParaRPr lang="en-US" sz="1800" dirty="0"/>
          </a:p>
        </p:txBody>
      </p:sp>
      <p:sp>
        <p:nvSpPr>
          <p:cNvPr id="5" name="Text 3"/>
          <p:cNvSpPr/>
          <p:nvPr/>
        </p:nvSpPr>
        <p:spPr>
          <a:xfrm>
            <a:off x="728216" y="154781"/>
            <a:ext cx="3889732"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4"/>
          <p:cNvSpPr/>
          <p:nvPr/>
        </p:nvSpPr>
        <p:spPr>
          <a:xfrm>
            <a:off x="4771355" y="154781"/>
            <a:ext cx="2959014"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Chapter 1 · Ethics</a:t>
            </a:r>
            <a:endParaRPr lang="en-US" sz="1800" dirty="0"/>
          </a:p>
        </p:txBody>
      </p:sp>
      <p:sp>
        <p:nvSpPr>
          <p:cNvPr id="7" name="Text 5"/>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sz="1800" kern="0" spc="72" dirty="0">
                <a:solidFill>
                  <a:srgbClr val="7A8290"/>
                </a:solidFill>
                <a:latin typeface="JetBrains Mono" pitchFamily="34" charset="0"/>
                <a:ea typeface="JetBrains Mono" pitchFamily="34" charset="-122"/>
                <a:cs typeface="JetBrains Mono" pitchFamily="34" charset="-120"/>
              </a:rPr>
              <a:t>28/ 32</a:t>
            </a:r>
            <a:endParaRPr lang="en-US" sz="1800" dirty="0"/>
          </a:p>
        </p:txBody>
      </p:sp>
      <p:sp>
        <p:nvSpPr>
          <p:cNvPr id="9" name="Text 7"/>
          <p:cNvSpPr/>
          <p:nvPr/>
        </p:nvSpPr>
        <p:spPr>
          <a:xfrm>
            <a:off x="914400" y="1524000"/>
            <a:ext cx="16952976" cy="338138"/>
          </a:xfrm>
          <a:prstGeom prst="rect">
            <a:avLst/>
          </a:prstGeom>
          <a:noFill/>
          <a:ln w="9525"/>
        </p:spPr>
        <p:txBody>
          <a:bodyPr wrap="square" lIns="25400" tIns="25400" rIns="25400" bIns="25400" rtlCol="0" anchor="t">
            <a:normAutofit/>
          </a:bodyPr>
          <a:lstStyle/>
          <a:p>
            <a:pPr marL="0" indent="0" algn="l">
              <a:buNone/>
            </a:pPr>
            <a:r>
              <a:rPr lang="en-US" sz="1730" kern="0" spc="108" dirty="0">
                <a:solidFill>
                  <a:srgbClr val="7A8290"/>
                </a:solidFill>
                <a:latin typeface="JetBrains Mono" pitchFamily="34" charset="0"/>
                <a:ea typeface="JetBrains Mono" pitchFamily="34" charset="-122"/>
                <a:cs typeface="JetBrains Mono" pitchFamily="34" charset="-120"/>
              </a:rPr>
              <a:t>PROFESSIONAL ETHICS · INTRO</a:t>
            </a:r>
            <a:endParaRPr lang="en-US" sz="1730" dirty="0"/>
          </a:p>
        </p:txBody>
      </p:sp>
      <p:sp>
        <p:nvSpPr>
          <p:cNvPr id="10" name="Text 8"/>
          <p:cNvSpPr/>
          <p:nvPr/>
        </p:nvSpPr>
        <p:spPr>
          <a:xfrm>
            <a:off x="914400" y="1995487"/>
            <a:ext cx="16952976" cy="960853"/>
          </a:xfrm>
          <a:prstGeom prst="rect">
            <a:avLst/>
          </a:prstGeom>
          <a:noFill/>
          <a:ln w="9525"/>
        </p:spPr>
        <p:txBody>
          <a:bodyPr wrap="square" lIns="25400" tIns="25400" rIns="25400" bIns="25400" rtlCol="0" anchor="t">
            <a:normAutofit/>
          </a:bodyPr>
          <a:lstStyle/>
          <a:p>
            <a:pPr marL="0" indent="0" algn="l">
              <a:lnSpc>
                <a:spcPct val="100000"/>
              </a:lnSpc>
              <a:buNone/>
            </a:pPr>
            <a:r>
              <a:rPr lang="en-US" sz="4800" b="1" kern="0" spc="-120" dirty="0">
                <a:solidFill>
                  <a:srgbClr val="0B0F19"/>
                </a:solidFill>
                <a:latin typeface="Space Grotesk" pitchFamily="34" charset="0"/>
                <a:ea typeface="Space Grotesk" pitchFamily="34" charset="-122"/>
                <a:cs typeface="Space Grotesk" pitchFamily="34" charset="-120"/>
              </a:rPr>
              <a:t>Responsibility beyond “it works”</a:t>
            </a:r>
            <a:endParaRPr lang="en-US" sz="4800" dirty="0"/>
          </a:p>
        </p:txBody>
      </p:sp>
      <p:sp>
        <p:nvSpPr>
          <p:cNvPr id="11" name="Text 9"/>
          <p:cNvSpPr/>
          <p:nvPr/>
        </p:nvSpPr>
        <p:spPr>
          <a:xfrm>
            <a:off x="914400" y="2901258"/>
            <a:ext cx="14935562" cy="415925"/>
          </a:xfrm>
          <a:prstGeom prst="rect">
            <a:avLst/>
          </a:prstGeom>
          <a:noFill/>
          <a:ln w="9525"/>
          <a:effectLst/>
        </p:spPr>
        <p:txBody>
          <a:bodyPr wrap="square" lIns="25400" tIns="25400" rIns="25400" bIns="25400" rtlCol="0" anchor="t">
            <a:spAutoFit/>
          </a:bodyPr>
          <a:lstStyle/>
          <a:p>
            <a:pPr marL="0" indent="0" algn="l">
              <a:lnSpc>
                <a:spcPct val="125000"/>
              </a:lnSpc>
              <a:buNone/>
            </a:pPr>
            <a:r>
              <a:rPr lang="en-US" dirty="0">
                <a:solidFill>
                  <a:srgbClr val="3A4250"/>
                </a:solidFill>
                <a:latin typeface="Space Grotesk" pitchFamily="34" charset="0"/>
                <a:ea typeface="Space Grotesk" pitchFamily="34" charset="-122"/>
                <a:cs typeface="Space Grotesk" pitchFamily="34" charset="-120"/>
              </a:rPr>
              <a:t>Engineers have duties that no specification lists. The ACM and IEEE Computer Society publish a Software Engineering Code of Ethics; its first principle puts the public interest ahead of the client, the employer, and you. We come back to this properly in Chapter 10.</a:t>
            </a:r>
            <a:endParaRPr lang="en-US" sz="1800" kern="1200" dirty="0">
              <a:solidFill>
                <a:srgbClr val="3A4250"/>
              </a:solidFill>
              <a:latin typeface="Space Grotesk" pitchFamily="34" charset="0"/>
              <a:ea typeface="Space Grotesk" pitchFamily="34" charset="-122"/>
              <a:cs typeface="Space Grotesk" pitchFamily="34" charset="-120"/>
            </a:endParaRPr>
          </a:p>
        </p:txBody>
      </p:sp>
      <p:sp>
        <p:nvSpPr>
          <p:cNvPr id="12" name="Shape 10"/>
          <p:cNvSpPr/>
          <p:nvPr/>
        </p:nvSpPr>
        <p:spPr>
          <a:xfrm>
            <a:off x="914400" y="3958679"/>
            <a:ext cx="5257800" cy="5562600"/>
          </a:xfrm>
          <a:prstGeom prst="roundRect">
            <a:avLst>
              <a:gd name="adj" fmla="val 4348"/>
            </a:avLst>
          </a:prstGeom>
          <a:solidFill>
            <a:srgbClr val="FF5A47"/>
          </a:solidFill>
          <a:ln w="9525"/>
        </p:spPr>
        <p:txBody>
          <a:bodyPr/>
          <a:lstStyle/>
          <a:p>
            <a:endParaRPr lang="en-TH"/>
          </a:p>
        </p:txBody>
      </p:sp>
      <p:sp>
        <p:nvSpPr>
          <p:cNvPr id="13" name="Text 11"/>
          <p:cNvSpPr/>
          <p:nvPr/>
        </p:nvSpPr>
        <p:spPr>
          <a:xfrm>
            <a:off x="1295400" y="4377779"/>
            <a:ext cx="4630674"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FFFFFF">
                    <a:alpha val="55000"/>
                  </a:srgbClr>
                </a:solidFill>
                <a:latin typeface="JetBrains Mono" pitchFamily="34" charset="0"/>
                <a:ea typeface="JetBrains Mono" pitchFamily="34" charset="-122"/>
                <a:cs typeface="JetBrains Mono" pitchFamily="34" charset="-120"/>
              </a:rPr>
              <a:t>DUTY 01</a:t>
            </a:r>
            <a:endParaRPr lang="en-US" sz="1800" dirty="0"/>
          </a:p>
        </p:txBody>
      </p:sp>
      <p:sp>
        <p:nvSpPr>
          <p:cNvPr id="14" name="Text 12"/>
          <p:cNvSpPr/>
          <p:nvPr/>
        </p:nvSpPr>
        <p:spPr>
          <a:xfrm>
            <a:off x="1295400" y="4849267"/>
            <a:ext cx="4630674" cy="1028700"/>
          </a:xfrm>
          <a:prstGeom prst="rect">
            <a:avLst/>
          </a:prstGeom>
          <a:noFill/>
          <a:ln w="9525"/>
        </p:spPr>
        <p:txBody>
          <a:bodyPr wrap="square" lIns="25400" tIns="25400" rIns="25400" bIns="25400" rtlCol="0" anchor="t">
            <a:normAutofit/>
          </a:bodyPr>
          <a:lstStyle/>
          <a:p>
            <a:pPr marL="0" indent="0" algn="l">
              <a:lnSpc>
                <a:spcPct val="104000"/>
              </a:lnSpc>
              <a:buNone/>
            </a:pPr>
            <a:r>
              <a:rPr lang="en-US" sz="3750" b="1" kern="0" spc="-94" dirty="0">
                <a:solidFill>
                  <a:srgbClr val="FFFFFF"/>
                </a:solidFill>
                <a:latin typeface="Space Grotesk" pitchFamily="34" charset="0"/>
                <a:ea typeface="Space Grotesk" pitchFamily="34" charset="-122"/>
                <a:cs typeface="Space Grotesk" pitchFamily="34" charset="-120"/>
              </a:rPr>
              <a:t>Public interest first</a:t>
            </a:r>
            <a:endParaRPr lang="en-US" sz="3750" dirty="0"/>
          </a:p>
        </p:txBody>
      </p:sp>
      <p:sp>
        <p:nvSpPr>
          <p:cNvPr id="15" name="Text 13"/>
          <p:cNvSpPr/>
          <p:nvPr/>
        </p:nvSpPr>
        <p:spPr>
          <a:xfrm>
            <a:off x="1295400" y="6049417"/>
            <a:ext cx="4630674" cy="1349025"/>
          </a:xfrm>
          <a:prstGeom prst="rect">
            <a:avLst/>
          </a:prstGeom>
          <a:noFill/>
          <a:ln w="9525"/>
        </p:spPr>
        <p:txBody>
          <a:bodyPr wrap="square" lIns="25400" tIns="25400" rIns="25400" bIns="25400" rtlCol="0" anchor="t">
            <a:spAutoFit/>
          </a:bodyPr>
          <a:lstStyle/>
          <a:p>
            <a:pPr marL="0" indent="0" algn="l">
              <a:lnSpc>
                <a:spcPct val="125000"/>
              </a:lnSpc>
              <a:buNone/>
            </a:pPr>
            <a:r>
              <a:rPr lang="en-US" sz="1600" dirty="0">
                <a:solidFill>
                  <a:srgbClr val="FFFFFF"/>
                </a:solidFill>
                <a:latin typeface="Space Grotesk" pitchFamily="34" charset="0"/>
                <a:ea typeface="Space Grotesk" pitchFamily="34" charset="-122"/>
                <a:cs typeface="Space Grotesk" pitchFamily="34" charset="-120"/>
              </a:rPr>
              <a:t>If what you are building could harm the people who use it — lost data, leaked information, unsafe behaviour — you have to raise it, even when raising it slows the project down.</a:t>
            </a:r>
            <a:endParaRPr lang="en-US" sz="1600" dirty="0"/>
          </a:p>
        </p:txBody>
      </p:sp>
      <p:sp>
        <p:nvSpPr>
          <p:cNvPr id="16" name="Shape 14"/>
          <p:cNvSpPr/>
          <p:nvPr/>
        </p:nvSpPr>
        <p:spPr>
          <a:xfrm>
            <a:off x="4462239" y="7806779"/>
            <a:ext cx="1333500" cy="1333500"/>
          </a:xfrm>
          <a:prstGeom prst="roundRect">
            <a:avLst>
              <a:gd name="adj" fmla="val 17143"/>
            </a:avLst>
          </a:prstGeom>
          <a:solidFill>
            <a:srgbClr val="FFFFFF">
              <a:alpha val="80000"/>
            </a:srgbClr>
          </a:solidFill>
          <a:ln w="9525"/>
        </p:spPr>
        <p:txBody>
          <a:bodyPr/>
          <a:lstStyle/>
          <a:p>
            <a:endParaRPr lang="en-TH"/>
          </a:p>
        </p:txBody>
      </p:sp>
      <p:sp>
        <p:nvSpPr>
          <p:cNvPr id="18" name="Shape 15"/>
          <p:cNvSpPr/>
          <p:nvPr/>
        </p:nvSpPr>
        <p:spPr>
          <a:xfrm>
            <a:off x="6515100" y="3958679"/>
            <a:ext cx="5257800" cy="5562600"/>
          </a:xfrm>
          <a:prstGeom prst="roundRect">
            <a:avLst>
              <a:gd name="adj" fmla="val 4348"/>
            </a:avLst>
          </a:prstGeom>
          <a:solidFill>
            <a:srgbClr val="FFC233"/>
          </a:solidFill>
          <a:ln w="9525"/>
        </p:spPr>
        <p:txBody>
          <a:bodyPr/>
          <a:lstStyle/>
          <a:p>
            <a:endParaRPr lang="en-TH"/>
          </a:p>
        </p:txBody>
      </p:sp>
      <p:sp>
        <p:nvSpPr>
          <p:cNvPr id="19" name="Text 16"/>
          <p:cNvSpPr/>
          <p:nvPr/>
        </p:nvSpPr>
        <p:spPr>
          <a:xfrm>
            <a:off x="6896100" y="4377779"/>
            <a:ext cx="4630674"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0B0F19">
                    <a:alpha val="70000"/>
                  </a:srgbClr>
                </a:solidFill>
                <a:latin typeface="JetBrains Mono" pitchFamily="34" charset="0"/>
                <a:ea typeface="JetBrains Mono" pitchFamily="34" charset="-122"/>
                <a:cs typeface="JetBrains Mono" pitchFamily="34" charset="-120"/>
              </a:rPr>
              <a:t>DUTY 02</a:t>
            </a:r>
            <a:endParaRPr lang="en-US" sz="1800" dirty="0"/>
          </a:p>
        </p:txBody>
      </p:sp>
      <p:sp>
        <p:nvSpPr>
          <p:cNvPr id="20" name="Text 17"/>
          <p:cNvSpPr/>
          <p:nvPr/>
        </p:nvSpPr>
        <p:spPr>
          <a:xfrm>
            <a:off x="6896100" y="4849267"/>
            <a:ext cx="4630674" cy="1028700"/>
          </a:xfrm>
          <a:prstGeom prst="rect">
            <a:avLst/>
          </a:prstGeom>
          <a:noFill/>
          <a:ln w="9525"/>
        </p:spPr>
        <p:txBody>
          <a:bodyPr wrap="square" lIns="25400" tIns="25400" rIns="25400" bIns="25400" rtlCol="0" anchor="t">
            <a:normAutofit/>
          </a:bodyPr>
          <a:lstStyle/>
          <a:p>
            <a:pPr marL="0" indent="0" algn="l">
              <a:lnSpc>
                <a:spcPct val="104000"/>
              </a:lnSpc>
              <a:buNone/>
            </a:pPr>
            <a:r>
              <a:rPr lang="en-US" sz="3750" b="1" kern="0" spc="-94" dirty="0">
                <a:solidFill>
                  <a:srgbClr val="0B0F19"/>
                </a:solidFill>
                <a:latin typeface="Space Grotesk" pitchFamily="34" charset="0"/>
                <a:ea typeface="Space Grotesk" pitchFamily="34" charset="-122"/>
                <a:cs typeface="Space Grotesk" pitchFamily="34" charset="-120"/>
              </a:rPr>
              <a:t>Honesty about ability</a:t>
            </a:r>
            <a:endParaRPr lang="en-US" sz="3750" dirty="0"/>
          </a:p>
        </p:txBody>
      </p:sp>
      <p:sp>
        <p:nvSpPr>
          <p:cNvPr id="21" name="Text 18"/>
          <p:cNvSpPr/>
          <p:nvPr/>
        </p:nvSpPr>
        <p:spPr>
          <a:xfrm>
            <a:off x="6896100" y="6049417"/>
            <a:ext cx="4630674" cy="1349025"/>
          </a:xfrm>
          <a:prstGeom prst="rect">
            <a:avLst/>
          </a:prstGeom>
          <a:noFill/>
          <a:ln w="9525"/>
        </p:spPr>
        <p:txBody>
          <a:bodyPr wrap="square" lIns="25400" tIns="25400" rIns="25400" bIns="25400" rtlCol="0" anchor="t">
            <a:spAutoFit/>
          </a:bodyPr>
          <a:lstStyle/>
          <a:p>
            <a:pPr marL="0" indent="0" algn="l">
              <a:lnSpc>
                <a:spcPct val="125000"/>
              </a:lnSpc>
              <a:buNone/>
            </a:pPr>
            <a:r>
              <a:rPr lang="en-US" sz="1600" dirty="0">
                <a:solidFill>
                  <a:srgbClr val="0B0F19"/>
                </a:solidFill>
                <a:latin typeface="Space Grotesk" pitchFamily="34" charset="0"/>
                <a:ea typeface="Space Grotesk" pitchFamily="34" charset="-122"/>
                <a:cs typeface="Space Grotesk" pitchFamily="34" charset="-120"/>
              </a:rPr>
              <a:t>Do not claim skills you do not have, and do not hide what you do not understand. In this course that includes being honest about which parts AI wrote for you.</a:t>
            </a:r>
            <a:endParaRPr lang="en-US" sz="1600" dirty="0"/>
          </a:p>
        </p:txBody>
      </p:sp>
      <p:sp>
        <p:nvSpPr>
          <p:cNvPr id="22" name="Shape 19"/>
          <p:cNvSpPr/>
          <p:nvPr/>
        </p:nvSpPr>
        <p:spPr>
          <a:xfrm>
            <a:off x="10062939" y="7806779"/>
            <a:ext cx="1333500" cy="1333500"/>
          </a:xfrm>
          <a:prstGeom prst="roundRect">
            <a:avLst>
              <a:gd name="adj" fmla="val 17143"/>
            </a:avLst>
          </a:prstGeom>
          <a:solidFill>
            <a:srgbClr val="FFFFFF">
              <a:alpha val="80000"/>
            </a:srgbClr>
          </a:solidFill>
          <a:ln w="9525"/>
        </p:spPr>
        <p:txBody>
          <a:bodyPr/>
          <a:lstStyle/>
          <a:p>
            <a:endParaRPr lang="en-TH"/>
          </a:p>
        </p:txBody>
      </p:sp>
      <p:sp>
        <p:nvSpPr>
          <p:cNvPr id="24" name="Shape 20"/>
          <p:cNvSpPr/>
          <p:nvPr/>
        </p:nvSpPr>
        <p:spPr>
          <a:xfrm>
            <a:off x="12115800" y="3958679"/>
            <a:ext cx="5257800" cy="5562600"/>
          </a:xfrm>
          <a:prstGeom prst="roundRect">
            <a:avLst>
              <a:gd name="adj" fmla="val 4348"/>
            </a:avLst>
          </a:prstGeom>
          <a:solidFill>
            <a:srgbClr val="16B670"/>
          </a:solidFill>
          <a:ln w="9525"/>
        </p:spPr>
        <p:txBody>
          <a:bodyPr/>
          <a:lstStyle/>
          <a:p>
            <a:endParaRPr lang="en-TH"/>
          </a:p>
        </p:txBody>
      </p:sp>
      <p:sp>
        <p:nvSpPr>
          <p:cNvPr id="25" name="Text 21"/>
          <p:cNvSpPr/>
          <p:nvPr/>
        </p:nvSpPr>
        <p:spPr>
          <a:xfrm>
            <a:off x="12496800" y="4377779"/>
            <a:ext cx="4630674"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FFFFFF">
                    <a:alpha val="55000"/>
                  </a:srgbClr>
                </a:solidFill>
                <a:latin typeface="JetBrains Mono" pitchFamily="34" charset="0"/>
                <a:ea typeface="JetBrains Mono" pitchFamily="34" charset="-122"/>
                <a:cs typeface="JetBrains Mono" pitchFamily="34" charset="-120"/>
              </a:rPr>
              <a:t>DUTY 03</a:t>
            </a:r>
            <a:endParaRPr lang="en-US" sz="1800" dirty="0"/>
          </a:p>
        </p:txBody>
      </p:sp>
      <p:sp>
        <p:nvSpPr>
          <p:cNvPr id="26" name="Text 22"/>
          <p:cNvSpPr/>
          <p:nvPr/>
        </p:nvSpPr>
        <p:spPr>
          <a:xfrm>
            <a:off x="12496800" y="4849267"/>
            <a:ext cx="4630674" cy="533400"/>
          </a:xfrm>
          <a:prstGeom prst="rect">
            <a:avLst/>
          </a:prstGeom>
          <a:noFill/>
          <a:ln w="9525"/>
        </p:spPr>
        <p:txBody>
          <a:bodyPr wrap="square" lIns="25400" tIns="25400" rIns="25400" bIns="25400" rtlCol="0" anchor="t">
            <a:normAutofit fontScale="92500" lnSpcReduction="20000"/>
          </a:bodyPr>
          <a:lstStyle/>
          <a:p>
            <a:pPr marL="0" indent="0" algn="l">
              <a:lnSpc>
                <a:spcPct val="104000"/>
              </a:lnSpc>
              <a:buNone/>
            </a:pPr>
            <a:r>
              <a:rPr lang="en-US" sz="3750" b="1" kern="0" spc="-94" dirty="0">
                <a:solidFill>
                  <a:srgbClr val="FFFFFF"/>
                </a:solidFill>
                <a:latin typeface="Space Grotesk" pitchFamily="34" charset="0"/>
                <a:ea typeface="Space Grotesk" pitchFamily="34" charset="-122"/>
                <a:cs typeface="Space Grotesk" pitchFamily="34" charset="-120"/>
              </a:rPr>
              <a:t>Care with user data</a:t>
            </a:r>
            <a:endParaRPr lang="en-US" sz="3750" dirty="0"/>
          </a:p>
        </p:txBody>
      </p:sp>
      <p:sp>
        <p:nvSpPr>
          <p:cNvPr id="27" name="Text 23"/>
          <p:cNvSpPr/>
          <p:nvPr/>
        </p:nvSpPr>
        <p:spPr>
          <a:xfrm>
            <a:off x="12496800" y="6049417"/>
            <a:ext cx="4630674" cy="1349025"/>
          </a:xfrm>
          <a:prstGeom prst="rect">
            <a:avLst/>
          </a:prstGeom>
          <a:noFill/>
          <a:ln w="9525"/>
        </p:spPr>
        <p:txBody>
          <a:bodyPr wrap="square" lIns="25400" tIns="25400" rIns="25400" bIns="25400" rtlCol="0" anchor="t">
            <a:spAutoFit/>
          </a:bodyPr>
          <a:lstStyle/>
          <a:p>
            <a:pPr marL="0" indent="0" algn="l">
              <a:lnSpc>
                <a:spcPct val="125000"/>
              </a:lnSpc>
              <a:buNone/>
            </a:pPr>
            <a:r>
              <a:rPr lang="en-US" sz="1600" dirty="0">
                <a:solidFill>
                  <a:srgbClr val="FFFFFF"/>
                </a:solidFill>
                <a:latin typeface="Space Grotesk" pitchFamily="34" charset="0"/>
                <a:ea typeface="Space Grotesk" pitchFamily="34" charset="-122"/>
                <a:cs typeface="Space Grotesk" pitchFamily="34" charset="-120"/>
              </a:rPr>
              <a:t>Confidentiality, respect for intellectual property, and collecting only the data you actually need. Your project handles student schedules — that is personal data.</a:t>
            </a:r>
            <a:endParaRPr lang="en-US" sz="1600" dirty="0"/>
          </a:p>
        </p:txBody>
      </p:sp>
      <p:sp>
        <p:nvSpPr>
          <p:cNvPr id="28" name="Shape 24"/>
          <p:cNvSpPr/>
          <p:nvPr/>
        </p:nvSpPr>
        <p:spPr>
          <a:xfrm>
            <a:off x="15663639" y="7806779"/>
            <a:ext cx="1333500" cy="1333500"/>
          </a:xfrm>
          <a:prstGeom prst="roundRect">
            <a:avLst>
              <a:gd name="adj" fmla="val 17143"/>
            </a:avLst>
          </a:prstGeom>
          <a:solidFill>
            <a:srgbClr val="FFFFFF">
              <a:alpha val="80000"/>
            </a:srgbClr>
          </a:solidFill>
          <a:ln w="9525"/>
        </p:spPr>
        <p:txBody>
          <a:bodyPr/>
          <a:lstStyle/>
          <a:p>
            <a:endParaRPr lang="en-TH"/>
          </a:p>
        </p:txBody>
      </p:sp>
      <p:pic>
        <p:nvPicPr>
          <p:cNvPr id="77450564" name="77450564"/>
          <p:cNvPicPr/>
          <p:nvPr/>
        </p:nvPicPr>
        <p:blipFill rotWithShape="1">
          <a:blip>
            <a:extLst>
              <a:ext uri="{96DAC541-7B7A-43D3-8B79-37D633B846F1}">
                <asvg:svgBlip xmlns:asvg="http://schemas.microsoft.com/office/drawing/2016/SVG/main" r:embed="rId2"/>
              </a:ext>
            </a:extLst>
          </a:blip>
          <a:srcRect/>
          <a:stretch>
            <a:fillRect/>
          </a:stretch>
        </p:blipFill>
        <p:spPr>
          <a:xfrm>
            <a:off x="4648562" y="7993102"/>
            <a:ext cx="960853" cy="960853"/>
          </a:xfrm>
          <a:prstGeom prst="rect">
            <a:avLst/>
          </a:prstGeom>
        </p:spPr>
      </p:pic>
      <p:pic>
        <p:nvPicPr>
          <p:cNvPr id="68865761" name="77450564"/>
          <p:cNvPicPr/>
          <p:nvPr/>
        </p:nvPicPr>
        <p:blipFill rotWithShape="1">
          <a:blip>
            <a:extLst>
              <a:ext uri="{96DAC541-7B7A-43D3-8B79-37D633B846F1}">
                <asvg:svgBlip xmlns:asvg="http://schemas.microsoft.com/office/drawing/2016/SVG/main" r:embed="rId3"/>
              </a:ext>
            </a:extLst>
          </a:blip>
          <a:srcRect/>
          <a:stretch>
            <a:fillRect/>
          </a:stretch>
        </p:blipFill>
        <p:spPr>
          <a:xfrm>
            <a:off x="10249262" y="7993102"/>
            <a:ext cx="960853" cy="960853"/>
          </a:xfrm>
          <a:prstGeom prst="rect">
            <a:avLst/>
          </a:prstGeom>
        </p:spPr>
      </p:pic>
      <p:pic>
        <p:nvPicPr>
          <p:cNvPr id="53248808" name="77450564"/>
          <p:cNvPicPr/>
          <p:nvPr/>
        </p:nvPicPr>
        <p:blipFill rotWithShape="1">
          <a:blip>
            <a:extLst>
              <a:ext uri="{96DAC541-7B7A-43D3-8B79-37D633B846F1}">
                <asvg:svgBlip xmlns:asvg="http://schemas.microsoft.com/office/drawing/2016/SVG/main" r:embed="rId4"/>
              </a:ext>
            </a:extLst>
          </a:blip>
          <a:srcRect/>
          <a:stretch>
            <a:fillRect/>
          </a:stretch>
        </p:blipFill>
        <p:spPr>
          <a:xfrm>
            <a:off x="15849962" y="7993102"/>
            <a:ext cx="960853" cy="96085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62" y="-4762"/>
            <a:ext cx="18297525" cy="628650"/>
            <a:chOff x="0" y="0"/>
            <a:chExt cx="24396700" cy="838200"/>
          </a:xfrm>
        </p:grpSpPr>
        <p:sp>
          <p:nvSpPr>
            <p:cNvPr id="3" name="Freeform 3"/>
            <p:cNvSpPr/>
            <p:nvPr/>
          </p:nvSpPr>
          <p:spPr>
            <a:xfrm>
              <a:off x="0" y="0"/>
              <a:ext cx="24396700" cy="838200"/>
            </a:xfrm>
            <a:custGeom>
              <a:avLst/>
              <a:gdLst/>
              <a:ahLst/>
              <a:cxnLst/>
              <a:rect l="l" t="t" r="r" b="b"/>
              <a:pathLst>
                <a:path w="24396700" h="838200">
                  <a:moveTo>
                    <a:pt x="0" y="0"/>
                  </a:moveTo>
                  <a:lnTo>
                    <a:pt x="24396700" y="0"/>
                  </a:lnTo>
                  <a:lnTo>
                    <a:pt x="24396700" y="838200"/>
                  </a:lnTo>
                  <a:lnTo>
                    <a:pt x="0" y="838200"/>
                  </a:lnTo>
                  <a:close/>
                </a:path>
              </a:pathLst>
            </a:custGeom>
            <a:solidFill>
              <a:srgbClr val="E4E7EC"/>
            </a:solidFill>
          </p:spPr>
          <p:txBody>
            <a:bodyPr/>
            <a:lstStyle/>
            <a:p>
              <a:endParaRPr lang="en-TH"/>
            </a:p>
          </p:txBody>
        </p:sp>
      </p:grpSp>
      <p:grpSp>
        <p:nvGrpSpPr>
          <p:cNvPr id="4" name="Group 4"/>
          <p:cNvGrpSpPr/>
          <p:nvPr/>
        </p:nvGrpSpPr>
        <p:grpSpPr>
          <a:xfrm>
            <a:off x="-4762" y="604838"/>
            <a:ext cx="18297525" cy="19050"/>
            <a:chOff x="0" y="0"/>
            <a:chExt cx="24396700" cy="25400"/>
          </a:xfrm>
        </p:grpSpPr>
        <p:sp>
          <p:nvSpPr>
            <p:cNvPr id="5" name="Freeform 5"/>
            <p:cNvSpPr/>
            <p:nvPr/>
          </p:nvSpPr>
          <p:spPr>
            <a:xfrm>
              <a:off x="0" y="0"/>
              <a:ext cx="24396700" cy="25400"/>
            </a:xfrm>
            <a:custGeom>
              <a:avLst/>
              <a:gdLst/>
              <a:ahLst/>
              <a:cxnLst/>
              <a:rect l="l" t="t" r="r" b="b"/>
              <a:pathLst>
                <a:path w="24396700" h="25400">
                  <a:moveTo>
                    <a:pt x="0" y="0"/>
                  </a:moveTo>
                  <a:lnTo>
                    <a:pt x="24396700" y="0"/>
                  </a:lnTo>
                  <a:lnTo>
                    <a:pt x="24396700" y="25400"/>
                  </a:lnTo>
                  <a:lnTo>
                    <a:pt x="0" y="25400"/>
                  </a:lnTo>
                  <a:close/>
                </a:path>
              </a:pathLst>
            </a:custGeom>
            <a:solidFill>
              <a:srgbClr val="C8CCD3"/>
            </a:solidFill>
          </p:spPr>
          <p:txBody>
            <a:bodyPr/>
            <a:lstStyle/>
            <a:p>
              <a:endParaRPr lang="en-TH"/>
            </a:p>
          </p:txBody>
        </p:sp>
      </p:grpSp>
      <p:sp>
        <p:nvSpPr>
          <p:cNvPr id="8" name="TextBox 8"/>
          <p:cNvSpPr txBox="1"/>
          <p:nvPr/>
        </p:nvSpPr>
        <p:spPr>
          <a:xfrm>
            <a:off x="4791989" y="175422"/>
            <a:ext cx="3341599" cy="400050"/>
          </a:xfrm>
          <a:prstGeom prst="rect">
            <a:avLst/>
          </a:prstGeom>
        </p:spPr>
        <p:txBody>
          <a:bodyPr lIns="0" tIns="0" rIns="0" bIns="0" rtlCol="0" anchor="t">
            <a:spAutoFit/>
          </a:bodyPr>
          <a:lstStyle/>
          <a:p>
            <a:pPr marL="0" lvl="0" indent="0" algn="l">
              <a:lnSpc>
                <a:spcPts val="1620"/>
              </a:lnSpc>
            </a:pPr>
            <a:r>
              <a:rPr lang="en-US" sz="1350">
                <a:solidFill>
                  <a:srgbClr val="7A8290"/>
                </a:solidFill>
                <a:latin typeface="JetBrains Mono"/>
                <a:ea typeface="JetBrains Mono"/>
                <a:cs typeface="JetBrains Mono"/>
                <a:sym typeface="JetBrains Mono"/>
              </a:rPr>
              <a:t>Week 1 · Developer Role in AI Era</a:t>
            </a:r>
          </a:p>
        </p:txBody>
      </p:sp>
      <p:sp>
        <p:nvSpPr>
          <p:cNvPr id="10" name="TextBox 10"/>
          <p:cNvSpPr txBox="1"/>
          <p:nvPr/>
        </p:nvSpPr>
        <p:spPr>
          <a:xfrm>
            <a:off x="935041" y="1544641"/>
            <a:ext cx="16911704" cy="200025"/>
          </a:xfrm>
          <a:prstGeom prst="rect">
            <a:avLst/>
          </a:prstGeom>
        </p:spPr>
        <p:txBody>
          <a:bodyPr lIns="0" tIns="0" rIns="0" bIns="0" rtlCol="0" anchor="t">
            <a:spAutoFit/>
          </a:bodyPr>
          <a:lstStyle/>
          <a:p>
            <a:pPr marL="0" lvl="0" indent="0" algn="l">
              <a:lnSpc>
                <a:spcPts val="1620"/>
              </a:lnSpc>
            </a:pPr>
            <a:r>
              <a:rPr lang="en-US" sz="1350" spc="81">
                <a:solidFill>
                  <a:srgbClr val="7A8290"/>
                </a:solidFill>
                <a:latin typeface="JetBrains Mono"/>
                <a:ea typeface="JetBrains Mono"/>
                <a:cs typeface="JetBrains Mono"/>
                <a:sym typeface="JetBrains Mono"/>
              </a:rPr>
              <a:t>03 · THE HUMAN ENGINEER IN THE AI ERA</a:t>
            </a:r>
          </a:p>
        </p:txBody>
      </p:sp>
      <p:sp>
        <p:nvSpPr>
          <p:cNvPr id="11" name="TextBox 11"/>
          <p:cNvSpPr txBox="1"/>
          <p:nvPr/>
        </p:nvSpPr>
        <p:spPr>
          <a:xfrm>
            <a:off x="935041" y="1997078"/>
            <a:ext cx="16911704" cy="742950"/>
          </a:xfrm>
          <a:prstGeom prst="rect">
            <a:avLst/>
          </a:prstGeom>
        </p:spPr>
        <p:txBody>
          <a:bodyPr lIns="0" tIns="0" rIns="0" bIns="0" rtlCol="0" anchor="t">
            <a:spAutoFit/>
          </a:bodyPr>
          <a:lstStyle/>
          <a:p>
            <a:pPr marL="0" lvl="0" indent="0" algn="l">
              <a:lnSpc>
                <a:spcPts val="5759"/>
              </a:lnSpc>
            </a:pPr>
            <a:r>
              <a:rPr lang="en-US" sz="4800" b="1" spc="-120">
                <a:solidFill>
                  <a:srgbClr val="0B0F19"/>
                </a:solidFill>
                <a:latin typeface="Arimo Bold"/>
                <a:ea typeface="Arimo Bold"/>
                <a:cs typeface="Arimo Bold"/>
                <a:sym typeface="Arimo Bold"/>
              </a:rPr>
              <a:t>Developer Role in the AI Era</a:t>
            </a:r>
          </a:p>
        </p:txBody>
      </p:sp>
      <p:sp>
        <p:nvSpPr>
          <p:cNvPr id="12" name="TextBox 12"/>
          <p:cNvSpPr txBox="1"/>
          <p:nvPr/>
        </p:nvSpPr>
        <p:spPr>
          <a:xfrm>
            <a:off x="935041" y="2867025"/>
            <a:ext cx="16417928" cy="260071"/>
          </a:xfrm>
          <a:prstGeom prst="rect">
            <a:avLst/>
          </a:prstGeom>
        </p:spPr>
        <p:txBody>
          <a:bodyPr lIns="0" tIns="0" rIns="0" bIns="0" rtlCol="0" anchor="t">
            <a:spAutoFit/>
          </a:bodyPr>
          <a:lstStyle/>
          <a:p>
            <a:pPr marL="0" lvl="0" indent="0" algn="l">
              <a:lnSpc>
                <a:spcPts val="2025"/>
              </a:lnSpc>
            </a:pPr>
            <a:r>
              <a:rPr lang="en-US" sz="2000" dirty="0">
                <a:solidFill>
                  <a:srgbClr val="3A4250"/>
                </a:solidFill>
                <a:latin typeface="Arimo"/>
                <a:ea typeface="Arimo"/>
                <a:cs typeface="Arimo"/>
                <a:sym typeface="Arimo"/>
              </a:rPr>
              <a:t>AI tools accelerate coding — but the engineer's role has expanded, not disappeared. The shift is from writing code to owning outcomes.</a:t>
            </a:r>
          </a:p>
        </p:txBody>
      </p:sp>
      <p:grpSp>
        <p:nvGrpSpPr>
          <p:cNvPr id="13" name="Group 13"/>
          <p:cNvGrpSpPr/>
          <p:nvPr/>
        </p:nvGrpSpPr>
        <p:grpSpPr>
          <a:xfrm>
            <a:off x="909638" y="4021331"/>
            <a:ext cx="3952875" cy="5437451"/>
            <a:chOff x="0" y="0"/>
            <a:chExt cx="5270500" cy="7249935"/>
          </a:xfrm>
        </p:grpSpPr>
        <p:sp>
          <p:nvSpPr>
            <p:cNvPr id="14" name="Freeform 14"/>
            <p:cNvSpPr/>
            <p:nvPr/>
          </p:nvSpPr>
          <p:spPr>
            <a:xfrm>
              <a:off x="0" y="0"/>
              <a:ext cx="5270500" cy="7249923"/>
            </a:xfrm>
            <a:custGeom>
              <a:avLst/>
              <a:gdLst/>
              <a:ahLst/>
              <a:cxnLst/>
              <a:rect l="l" t="t" r="r" b="b"/>
              <a:pathLst>
                <a:path w="5270500" h="7249923">
                  <a:moveTo>
                    <a:pt x="0" y="267843"/>
                  </a:moveTo>
                  <a:cubicBezTo>
                    <a:pt x="0" y="119888"/>
                    <a:pt x="119888" y="0"/>
                    <a:pt x="267843" y="0"/>
                  </a:cubicBezTo>
                  <a:lnTo>
                    <a:pt x="5002657" y="0"/>
                  </a:lnTo>
                  <a:cubicBezTo>
                    <a:pt x="5150612" y="0"/>
                    <a:pt x="5270500" y="119888"/>
                    <a:pt x="5270500" y="267843"/>
                  </a:cubicBezTo>
                  <a:lnTo>
                    <a:pt x="5270500" y="6982079"/>
                  </a:lnTo>
                  <a:cubicBezTo>
                    <a:pt x="5270500" y="7130035"/>
                    <a:pt x="5150612" y="7249923"/>
                    <a:pt x="5002657" y="7249923"/>
                  </a:cubicBezTo>
                  <a:lnTo>
                    <a:pt x="267843" y="7249923"/>
                  </a:lnTo>
                  <a:cubicBezTo>
                    <a:pt x="119888" y="7249922"/>
                    <a:pt x="0" y="7130034"/>
                    <a:pt x="0" y="6982079"/>
                  </a:cubicBezTo>
                  <a:close/>
                </a:path>
              </a:pathLst>
            </a:custGeom>
            <a:solidFill>
              <a:srgbClr val="FFFFFF"/>
            </a:solidFill>
          </p:spPr>
          <p:txBody>
            <a:bodyPr/>
            <a:lstStyle/>
            <a:p>
              <a:endParaRPr lang="en-TH"/>
            </a:p>
          </p:txBody>
        </p:sp>
      </p:grpSp>
      <p:sp>
        <p:nvSpPr>
          <p:cNvPr id="15" name="TextBox 15"/>
          <p:cNvSpPr txBox="1"/>
          <p:nvPr/>
        </p:nvSpPr>
        <p:spPr>
          <a:xfrm>
            <a:off x="1201741" y="4332484"/>
            <a:ext cx="3470977" cy="200025"/>
          </a:xfrm>
          <a:prstGeom prst="rect">
            <a:avLst/>
          </a:prstGeom>
        </p:spPr>
        <p:txBody>
          <a:bodyPr lIns="0" tIns="0" rIns="0" bIns="0" rtlCol="0" anchor="t">
            <a:spAutoFit/>
          </a:bodyPr>
          <a:lstStyle/>
          <a:p>
            <a:pPr marL="0" lvl="0" indent="0" algn="l">
              <a:lnSpc>
                <a:spcPts val="1620"/>
              </a:lnSpc>
            </a:pPr>
            <a:r>
              <a:rPr lang="en-US" sz="1350" spc="81">
                <a:solidFill>
                  <a:srgbClr val="7A8290"/>
                </a:solidFill>
                <a:latin typeface="JetBrains Mono"/>
                <a:ea typeface="JetBrains Mono"/>
                <a:cs typeface="JetBrains Mono"/>
                <a:sym typeface="JetBrains Mono"/>
              </a:rPr>
              <a:t>ROLE 01</a:t>
            </a:r>
          </a:p>
        </p:txBody>
      </p:sp>
      <p:sp>
        <p:nvSpPr>
          <p:cNvPr id="16" name="TextBox 16"/>
          <p:cNvSpPr txBox="1"/>
          <p:nvPr/>
        </p:nvSpPr>
        <p:spPr>
          <a:xfrm>
            <a:off x="1201741" y="4689672"/>
            <a:ext cx="3470977" cy="366754"/>
          </a:xfrm>
          <a:prstGeom prst="rect">
            <a:avLst/>
          </a:prstGeom>
        </p:spPr>
        <p:txBody>
          <a:bodyPr lIns="0" tIns="0" rIns="0" bIns="0" rtlCol="0" anchor="t">
            <a:spAutoFit/>
          </a:bodyPr>
          <a:lstStyle/>
          <a:p>
            <a:pPr marL="0" lvl="0" indent="0" algn="l">
              <a:lnSpc>
                <a:spcPts val="2883"/>
              </a:lnSpc>
            </a:pPr>
            <a:r>
              <a:rPr lang="en-US" sz="2184" b="1" spc="-32">
                <a:solidFill>
                  <a:srgbClr val="0B0F19"/>
                </a:solidFill>
                <a:latin typeface="Arimo Bold"/>
                <a:ea typeface="Arimo Bold"/>
                <a:cs typeface="Arimo Bold"/>
                <a:sym typeface="Arimo Bold"/>
              </a:rPr>
              <a:t>Coder</a:t>
            </a:r>
          </a:p>
        </p:txBody>
      </p:sp>
      <p:sp>
        <p:nvSpPr>
          <p:cNvPr id="17" name="TextBox 17"/>
          <p:cNvSpPr txBox="1"/>
          <p:nvPr/>
        </p:nvSpPr>
        <p:spPr>
          <a:xfrm>
            <a:off x="1201741" y="5120154"/>
            <a:ext cx="3470977" cy="2260619"/>
          </a:xfrm>
          <a:prstGeom prst="rect">
            <a:avLst/>
          </a:prstGeom>
        </p:spPr>
        <p:txBody>
          <a:bodyPr lIns="0" tIns="0" rIns="0" bIns="0" rtlCol="0" anchor="t">
            <a:spAutoFit/>
          </a:bodyPr>
          <a:lstStyle/>
          <a:p>
            <a:pPr marL="0" lvl="0" indent="0" algn="l">
              <a:lnSpc>
                <a:spcPct val="150000"/>
              </a:lnSpc>
            </a:pPr>
            <a:r>
              <a:rPr lang="en-US" sz="2000" dirty="0">
                <a:solidFill>
                  <a:srgbClr val="3A4250"/>
                </a:solidFill>
                <a:latin typeface="Arimo"/>
                <a:ea typeface="Arimo"/>
                <a:cs typeface="Arimo"/>
                <a:sym typeface="Arimo"/>
              </a:rPr>
              <a:t>AI tools assist here. GitHub Copilot, Cursor, Claude Code, and Gemini API generate boilerplate, suggest completions, and speed up implementation.</a:t>
            </a:r>
          </a:p>
        </p:txBody>
      </p:sp>
      <p:sp>
        <p:nvSpPr>
          <p:cNvPr id="18" name="Freeform 18"/>
          <p:cNvSpPr/>
          <p:nvPr/>
        </p:nvSpPr>
        <p:spPr>
          <a:xfrm>
            <a:off x="1176338" y="9057227"/>
            <a:ext cx="3419475" cy="104775"/>
          </a:xfrm>
          <a:custGeom>
            <a:avLst/>
            <a:gdLst/>
            <a:ahLst/>
            <a:cxnLst/>
            <a:rect l="l" t="t" r="r" b="b"/>
            <a:pathLst>
              <a:path w="3419475" h="104775">
                <a:moveTo>
                  <a:pt x="0" y="0"/>
                </a:moveTo>
                <a:lnTo>
                  <a:pt x="3419474" y="0"/>
                </a:lnTo>
                <a:lnTo>
                  <a:pt x="3419474" y="104775"/>
                </a:lnTo>
                <a:lnTo>
                  <a:pt x="0" y="1047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TH"/>
          </a:p>
        </p:txBody>
      </p:sp>
      <p:grpSp>
        <p:nvGrpSpPr>
          <p:cNvPr id="19" name="Group 19"/>
          <p:cNvGrpSpPr/>
          <p:nvPr/>
        </p:nvGrpSpPr>
        <p:grpSpPr>
          <a:xfrm>
            <a:off x="5081588" y="4021331"/>
            <a:ext cx="3952875" cy="5437451"/>
            <a:chOff x="0" y="0"/>
            <a:chExt cx="5270500" cy="7249935"/>
          </a:xfrm>
        </p:grpSpPr>
        <p:sp>
          <p:nvSpPr>
            <p:cNvPr id="20" name="Freeform 20"/>
            <p:cNvSpPr/>
            <p:nvPr/>
          </p:nvSpPr>
          <p:spPr>
            <a:xfrm>
              <a:off x="0" y="0"/>
              <a:ext cx="5270500" cy="7249923"/>
            </a:xfrm>
            <a:custGeom>
              <a:avLst/>
              <a:gdLst/>
              <a:ahLst/>
              <a:cxnLst/>
              <a:rect l="l" t="t" r="r" b="b"/>
              <a:pathLst>
                <a:path w="5270500" h="7249923">
                  <a:moveTo>
                    <a:pt x="0" y="267843"/>
                  </a:moveTo>
                  <a:cubicBezTo>
                    <a:pt x="0" y="119888"/>
                    <a:pt x="119888" y="0"/>
                    <a:pt x="267843" y="0"/>
                  </a:cubicBezTo>
                  <a:lnTo>
                    <a:pt x="5002657" y="0"/>
                  </a:lnTo>
                  <a:cubicBezTo>
                    <a:pt x="5150612" y="0"/>
                    <a:pt x="5270500" y="119888"/>
                    <a:pt x="5270500" y="267843"/>
                  </a:cubicBezTo>
                  <a:lnTo>
                    <a:pt x="5270500" y="6982079"/>
                  </a:lnTo>
                  <a:cubicBezTo>
                    <a:pt x="5270500" y="7130035"/>
                    <a:pt x="5150612" y="7249923"/>
                    <a:pt x="5002657" y="7249923"/>
                  </a:cubicBezTo>
                  <a:lnTo>
                    <a:pt x="267843" y="7249923"/>
                  </a:lnTo>
                  <a:cubicBezTo>
                    <a:pt x="119888" y="7249922"/>
                    <a:pt x="0" y="7130034"/>
                    <a:pt x="0" y="6982079"/>
                  </a:cubicBezTo>
                  <a:close/>
                </a:path>
              </a:pathLst>
            </a:custGeom>
            <a:solidFill>
              <a:srgbClr val="FFFFFF"/>
            </a:solidFill>
          </p:spPr>
          <p:txBody>
            <a:bodyPr/>
            <a:lstStyle/>
            <a:p>
              <a:endParaRPr lang="en-TH"/>
            </a:p>
          </p:txBody>
        </p:sp>
      </p:grpSp>
      <p:sp>
        <p:nvSpPr>
          <p:cNvPr id="21" name="TextBox 21"/>
          <p:cNvSpPr txBox="1"/>
          <p:nvPr/>
        </p:nvSpPr>
        <p:spPr>
          <a:xfrm>
            <a:off x="5373691" y="4332484"/>
            <a:ext cx="3470977" cy="200025"/>
          </a:xfrm>
          <a:prstGeom prst="rect">
            <a:avLst/>
          </a:prstGeom>
        </p:spPr>
        <p:txBody>
          <a:bodyPr lIns="0" tIns="0" rIns="0" bIns="0" rtlCol="0" anchor="t">
            <a:spAutoFit/>
          </a:bodyPr>
          <a:lstStyle/>
          <a:p>
            <a:pPr marL="0" lvl="0" indent="0" algn="l">
              <a:lnSpc>
                <a:spcPts val="1620"/>
              </a:lnSpc>
            </a:pPr>
            <a:r>
              <a:rPr lang="en-US" sz="1350" spc="81" dirty="0">
                <a:solidFill>
                  <a:srgbClr val="7A8290"/>
                </a:solidFill>
                <a:latin typeface="JetBrains Mono"/>
                <a:ea typeface="JetBrains Mono"/>
                <a:cs typeface="JetBrains Mono"/>
                <a:sym typeface="JetBrains Mono"/>
              </a:rPr>
              <a:t>ROLE 02</a:t>
            </a:r>
          </a:p>
        </p:txBody>
      </p:sp>
      <p:sp>
        <p:nvSpPr>
          <p:cNvPr id="22" name="TextBox 22"/>
          <p:cNvSpPr txBox="1"/>
          <p:nvPr/>
        </p:nvSpPr>
        <p:spPr>
          <a:xfrm>
            <a:off x="5373691" y="4689672"/>
            <a:ext cx="3470977" cy="366754"/>
          </a:xfrm>
          <a:prstGeom prst="rect">
            <a:avLst/>
          </a:prstGeom>
        </p:spPr>
        <p:txBody>
          <a:bodyPr lIns="0" tIns="0" rIns="0" bIns="0" rtlCol="0" anchor="t">
            <a:spAutoFit/>
          </a:bodyPr>
          <a:lstStyle/>
          <a:p>
            <a:pPr marL="0" lvl="0" indent="0" algn="l">
              <a:lnSpc>
                <a:spcPts val="2883"/>
              </a:lnSpc>
            </a:pPr>
            <a:r>
              <a:rPr lang="en-US" sz="2184" b="1" spc="-32">
                <a:solidFill>
                  <a:srgbClr val="0B0F19"/>
                </a:solidFill>
                <a:latin typeface="Arimo Bold"/>
                <a:ea typeface="Arimo Bold"/>
                <a:cs typeface="Arimo Bold"/>
                <a:sym typeface="Arimo Bold"/>
              </a:rPr>
              <a:t>Reviewer</a:t>
            </a:r>
          </a:p>
        </p:txBody>
      </p:sp>
      <p:sp>
        <p:nvSpPr>
          <p:cNvPr id="23" name="TextBox 23"/>
          <p:cNvSpPr txBox="1"/>
          <p:nvPr/>
        </p:nvSpPr>
        <p:spPr>
          <a:xfrm>
            <a:off x="5373691" y="5120154"/>
            <a:ext cx="3470977" cy="2260619"/>
          </a:xfrm>
          <a:prstGeom prst="rect">
            <a:avLst/>
          </a:prstGeom>
        </p:spPr>
        <p:txBody>
          <a:bodyPr lIns="0" tIns="0" rIns="0" bIns="0" rtlCol="0" anchor="t">
            <a:spAutoFit/>
          </a:bodyPr>
          <a:lstStyle/>
          <a:p>
            <a:pPr marL="0" lvl="0" indent="0" algn="l">
              <a:lnSpc>
                <a:spcPct val="150000"/>
              </a:lnSpc>
            </a:pPr>
            <a:r>
              <a:rPr lang="en-US" sz="2000">
                <a:solidFill>
                  <a:srgbClr val="3A4250"/>
                </a:solidFill>
                <a:latin typeface="Arimo"/>
                <a:ea typeface="Arimo"/>
                <a:cs typeface="Arimo"/>
                <a:sym typeface="Arimo"/>
              </a:rPr>
              <a:t>You read, question, and validate AI output. Does it meet requirements? Is it secure? Does it handle edge cases? Human judgment cannot be delegated.</a:t>
            </a:r>
          </a:p>
        </p:txBody>
      </p:sp>
      <p:sp>
        <p:nvSpPr>
          <p:cNvPr id="24" name="Freeform 24"/>
          <p:cNvSpPr/>
          <p:nvPr/>
        </p:nvSpPr>
        <p:spPr>
          <a:xfrm>
            <a:off x="5348288" y="9057227"/>
            <a:ext cx="3419475" cy="104775"/>
          </a:xfrm>
          <a:custGeom>
            <a:avLst/>
            <a:gdLst/>
            <a:ahLst/>
            <a:cxnLst/>
            <a:rect l="l" t="t" r="r" b="b"/>
            <a:pathLst>
              <a:path w="3419475" h="104775">
                <a:moveTo>
                  <a:pt x="0" y="0"/>
                </a:moveTo>
                <a:lnTo>
                  <a:pt x="3419474" y="0"/>
                </a:lnTo>
                <a:lnTo>
                  <a:pt x="3419474" y="104775"/>
                </a:lnTo>
                <a:lnTo>
                  <a:pt x="0" y="10477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TH"/>
          </a:p>
        </p:txBody>
      </p:sp>
      <p:grpSp>
        <p:nvGrpSpPr>
          <p:cNvPr id="25" name="Group 25"/>
          <p:cNvGrpSpPr/>
          <p:nvPr/>
        </p:nvGrpSpPr>
        <p:grpSpPr>
          <a:xfrm>
            <a:off x="9253538" y="4021331"/>
            <a:ext cx="3952875" cy="5437451"/>
            <a:chOff x="0" y="0"/>
            <a:chExt cx="5270500" cy="7249935"/>
          </a:xfrm>
        </p:grpSpPr>
        <p:sp>
          <p:nvSpPr>
            <p:cNvPr id="26" name="Freeform 26"/>
            <p:cNvSpPr/>
            <p:nvPr/>
          </p:nvSpPr>
          <p:spPr>
            <a:xfrm>
              <a:off x="0" y="0"/>
              <a:ext cx="5270500" cy="7249923"/>
            </a:xfrm>
            <a:custGeom>
              <a:avLst/>
              <a:gdLst/>
              <a:ahLst/>
              <a:cxnLst/>
              <a:rect l="l" t="t" r="r" b="b"/>
              <a:pathLst>
                <a:path w="5270500" h="7249923">
                  <a:moveTo>
                    <a:pt x="0" y="267843"/>
                  </a:moveTo>
                  <a:cubicBezTo>
                    <a:pt x="0" y="119888"/>
                    <a:pt x="119888" y="0"/>
                    <a:pt x="267843" y="0"/>
                  </a:cubicBezTo>
                  <a:lnTo>
                    <a:pt x="5002657" y="0"/>
                  </a:lnTo>
                  <a:cubicBezTo>
                    <a:pt x="5150612" y="0"/>
                    <a:pt x="5270500" y="119888"/>
                    <a:pt x="5270500" y="267843"/>
                  </a:cubicBezTo>
                  <a:lnTo>
                    <a:pt x="5270500" y="6982079"/>
                  </a:lnTo>
                  <a:cubicBezTo>
                    <a:pt x="5270500" y="7130035"/>
                    <a:pt x="5150612" y="7249923"/>
                    <a:pt x="5002657" y="7249923"/>
                  </a:cubicBezTo>
                  <a:lnTo>
                    <a:pt x="267843" y="7249923"/>
                  </a:lnTo>
                  <a:cubicBezTo>
                    <a:pt x="119888" y="7249922"/>
                    <a:pt x="0" y="7130034"/>
                    <a:pt x="0" y="6982079"/>
                  </a:cubicBezTo>
                  <a:close/>
                </a:path>
              </a:pathLst>
            </a:custGeom>
            <a:solidFill>
              <a:srgbClr val="FFFFFF"/>
            </a:solidFill>
          </p:spPr>
          <p:txBody>
            <a:bodyPr/>
            <a:lstStyle/>
            <a:p>
              <a:endParaRPr lang="en-TH"/>
            </a:p>
          </p:txBody>
        </p:sp>
      </p:grpSp>
      <p:sp>
        <p:nvSpPr>
          <p:cNvPr id="27" name="TextBox 27"/>
          <p:cNvSpPr txBox="1"/>
          <p:nvPr/>
        </p:nvSpPr>
        <p:spPr>
          <a:xfrm>
            <a:off x="9545641" y="4332484"/>
            <a:ext cx="3470977" cy="200025"/>
          </a:xfrm>
          <a:prstGeom prst="rect">
            <a:avLst/>
          </a:prstGeom>
        </p:spPr>
        <p:txBody>
          <a:bodyPr lIns="0" tIns="0" rIns="0" bIns="0" rtlCol="0" anchor="t">
            <a:spAutoFit/>
          </a:bodyPr>
          <a:lstStyle/>
          <a:p>
            <a:pPr marL="0" lvl="0" indent="0" algn="l">
              <a:lnSpc>
                <a:spcPts val="1620"/>
              </a:lnSpc>
            </a:pPr>
            <a:r>
              <a:rPr lang="en-US" sz="1350" spc="81">
                <a:solidFill>
                  <a:srgbClr val="7A8290"/>
                </a:solidFill>
                <a:latin typeface="JetBrains Mono"/>
                <a:ea typeface="JetBrains Mono"/>
                <a:cs typeface="JetBrains Mono"/>
                <a:sym typeface="JetBrains Mono"/>
              </a:rPr>
              <a:t>ROLE 03</a:t>
            </a:r>
          </a:p>
        </p:txBody>
      </p:sp>
      <p:sp>
        <p:nvSpPr>
          <p:cNvPr id="28" name="TextBox 28"/>
          <p:cNvSpPr txBox="1"/>
          <p:nvPr/>
        </p:nvSpPr>
        <p:spPr>
          <a:xfrm>
            <a:off x="9545641" y="4689672"/>
            <a:ext cx="3470977" cy="366754"/>
          </a:xfrm>
          <a:prstGeom prst="rect">
            <a:avLst/>
          </a:prstGeom>
        </p:spPr>
        <p:txBody>
          <a:bodyPr lIns="0" tIns="0" rIns="0" bIns="0" rtlCol="0" anchor="t">
            <a:spAutoFit/>
          </a:bodyPr>
          <a:lstStyle/>
          <a:p>
            <a:pPr marL="0" lvl="0" indent="0" algn="l">
              <a:lnSpc>
                <a:spcPts val="2883"/>
              </a:lnSpc>
            </a:pPr>
            <a:r>
              <a:rPr lang="en-US" sz="2184" b="1" spc="-32">
                <a:solidFill>
                  <a:srgbClr val="0B0F19"/>
                </a:solidFill>
                <a:latin typeface="Arimo Bold"/>
                <a:ea typeface="Arimo Bold"/>
                <a:cs typeface="Arimo Bold"/>
                <a:sym typeface="Arimo Bold"/>
              </a:rPr>
              <a:t>System Orchestrator</a:t>
            </a:r>
          </a:p>
        </p:txBody>
      </p:sp>
      <p:sp>
        <p:nvSpPr>
          <p:cNvPr id="29" name="TextBox 29"/>
          <p:cNvSpPr txBox="1"/>
          <p:nvPr/>
        </p:nvSpPr>
        <p:spPr>
          <a:xfrm>
            <a:off x="9545641" y="5120154"/>
            <a:ext cx="3470977" cy="2722284"/>
          </a:xfrm>
          <a:prstGeom prst="rect">
            <a:avLst/>
          </a:prstGeom>
        </p:spPr>
        <p:txBody>
          <a:bodyPr lIns="0" tIns="0" rIns="0" bIns="0" rtlCol="0" anchor="t">
            <a:spAutoFit/>
          </a:bodyPr>
          <a:lstStyle/>
          <a:p>
            <a:pPr marL="0" lvl="0" indent="0" algn="l">
              <a:lnSpc>
                <a:spcPct val="150000"/>
              </a:lnSpc>
            </a:pPr>
            <a:r>
              <a:rPr lang="en-US" sz="2000">
                <a:solidFill>
                  <a:srgbClr val="3A4250"/>
                </a:solidFill>
                <a:latin typeface="Arimo"/>
                <a:ea typeface="Arimo"/>
                <a:cs typeface="Arimo"/>
                <a:sym typeface="Arimo"/>
              </a:rPr>
              <a:t>Define problems clearly. Integrate AI-generated components. Validate the whole system. Manage dependencies, data flow, and architectural decisions.</a:t>
            </a:r>
          </a:p>
        </p:txBody>
      </p:sp>
      <p:sp>
        <p:nvSpPr>
          <p:cNvPr id="30" name="Freeform 30"/>
          <p:cNvSpPr/>
          <p:nvPr/>
        </p:nvSpPr>
        <p:spPr>
          <a:xfrm>
            <a:off x="9520238" y="9057227"/>
            <a:ext cx="3419475" cy="104775"/>
          </a:xfrm>
          <a:custGeom>
            <a:avLst/>
            <a:gdLst/>
            <a:ahLst/>
            <a:cxnLst/>
            <a:rect l="l" t="t" r="r" b="b"/>
            <a:pathLst>
              <a:path w="3419475" h="104775">
                <a:moveTo>
                  <a:pt x="0" y="0"/>
                </a:moveTo>
                <a:lnTo>
                  <a:pt x="3419474" y="0"/>
                </a:lnTo>
                <a:lnTo>
                  <a:pt x="3419474" y="104775"/>
                </a:lnTo>
                <a:lnTo>
                  <a:pt x="0" y="10477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TH"/>
          </a:p>
        </p:txBody>
      </p:sp>
      <p:grpSp>
        <p:nvGrpSpPr>
          <p:cNvPr id="31" name="Group 31"/>
          <p:cNvGrpSpPr/>
          <p:nvPr/>
        </p:nvGrpSpPr>
        <p:grpSpPr>
          <a:xfrm>
            <a:off x="13425488" y="4021331"/>
            <a:ext cx="3952875" cy="5437451"/>
            <a:chOff x="0" y="0"/>
            <a:chExt cx="5270500" cy="7249935"/>
          </a:xfrm>
        </p:grpSpPr>
        <p:sp>
          <p:nvSpPr>
            <p:cNvPr id="32" name="Freeform 32"/>
            <p:cNvSpPr/>
            <p:nvPr/>
          </p:nvSpPr>
          <p:spPr>
            <a:xfrm>
              <a:off x="0" y="0"/>
              <a:ext cx="5270500" cy="7249923"/>
            </a:xfrm>
            <a:custGeom>
              <a:avLst/>
              <a:gdLst/>
              <a:ahLst/>
              <a:cxnLst/>
              <a:rect l="l" t="t" r="r" b="b"/>
              <a:pathLst>
                <a:path w="5270500" h="7249923">
                  <a:moveTo>
                    <a:pt x="0" y="267843"/>
                  </a:moveTo>
                  <a:cubicBezTo>
                    <a:pt x="0" y="119888"/>
                    <a:pt x="119888" y="0"/>
                    <a:pt x="267843" y="0"/>
                  </a:cubicBezTo>
                  <a:lnTo>
                    <a:pt x="5002657" y="0"/>
                  </a:lnTo>
                  <a:cubicBezTo>
                    <a:pt x="5150612" y="0"/>
                    <a:pt x="5270500" y="119888"/>
                    <a:pt x="5270500" y="267843"/>
                  </a:cubicBezTo>
                  <a:lnTo>
                    <a:pt x="5270500" y="6982079"/>
                  </a:lnTo>
                  <a:cubicBezTo>
                    <a:pt x="5270500" y="7130035"/>
                    <a:pt x="5150612" y="7249923"/>
                    <a:pt x="5002657" y="7249923"/>
                  </a:cubicBezTo>
                  <a:lnTo>
                    <a:pt x="267843" y="7249923"/>
                  </a:lnTo>
                  <a:cubicBezTo>
                    <a:pt x="119888" y="7249922"/>
                    <a:pt x="0" y="7130034"/>
                    <a:pt x="0" y="6982079"/>
                  </a:cubicBezTo>
                  <a:close/>
                </a:path>
              </a:pathLst>
            </a:custGeom>
            <a:solidFill>
              <a:srgbClr val="FFFFFF"/>
            </a:solidFill>
          </p:spPr>
          <p:txBody>
            <a:bodyPr/>
            <a:lstStyle/>
            <a:p>
              <a:endParaRPr lang="en-TH"/>
            </a:p>
          </p:txBody>
        </p:sp>
      </p:grpSp>
      <p:sp>
        <p:nvSpPr>
          <p:cNvPr id="33" name="TextBox 33"/>
          <p:cNvSpPr txBox="1"/>
          <p:nvPr/>
        </p:nvSpPr>
        <p:spPr>
          <a:xfrm>
            <a:off x="13717591" y="4332484"/>
            <a:ext cx="3470977" cy="200025"/>
          </a:xfrm>
          <a:prstGeom prst="rect">
            <a:avLst/>
          </a:prstGeom>
        </p:spPr>
        <p:txBody>
          <a:bodyPr lIns="0" tIns="0" rIns="0" bIns="0" rtlCol="0" anchor="t">
            <a:spAutoFit/>
          </a:bodyPr>
          <a:lstStyle/>
          <a:p>
            <a:pPr marL="0" lvl="0" indent="0" algn="l">
              <a:lnSpc>
                <a:spcPts val="1620"/>
              </a:lnSpc>
            </a:pPr>
            <a:r>
              <a:rPr lang="en-US" sz="1350" spc="81">
                <a:solidFill>
                  <a:srgbClr val="7A8290"/>
                </a:solidFill>
                <a:latin typeface="JetBrains Mono"/>
                <a:ea typeface="JetBrains Mono"/>
                <a:cs typeface="JetBrains Mono"/>
                <a:sym typeface="JetBrains Mono"/>
              </a:rPr>
              <a:t>ROLE 04</a:t>
            </a:r>
          </a:p>
        </p:txBody>
      </p:sp>
      <p:sp>
        <p:nvSpPr>
          <p:cNvPr id="34" name="TextBox 34"/>
          <p:cNvSpPr txBox="1"/>
          <p:nvPr/>
        </p:nvSpPr>
        <p:spPr>
          <a:xfrm>
            <a:off x="13717591" y="4689672"/>
            <a:ext cx="3470977" cy="366754"/>
          </a:xfrm>
          <a:prstGeom prst="rect">
            <a:avLst/>
          </a:prstGeom>
        </p:spPr>
        <p:txBody>
          <a:bodyPr lIns="0" tIns="0" rIns="0" bIns="0" rtlCol="0" anchor="t">
            <a:spAutoFit/>
          </a:bodyPr>
          <a:lstStyle/>
          <a:p>
            <a:pPr marL="0" lvl="0" indent="0" algn="l">
              <a:lnSpc>
                <a:spcPts val="2883"/>
              </a:lnSpc>
            </a:pPr>
            <a:r>
              <a:rPr lang="en-US" sz="2184" b="1" spc="-32">
                <a:solidFill>
                  <a:srgbClr val="0B0F19"/>
                </a:solidFill>
                <a:latin typeface="Arimo Bold"/>
                <a:ea typeface="Arimo Bold"/>
                <a:cs typeface="Arimo Bold"/>
                <a:sym typeface="Arimo Bold"/>
              </a:rPr>
              <a:t>Risk Owner</a:t>
            </a:r>
          </a:p>
        </p:txBody>
      </p:sp>
      <p:sp>
        <p:nvSpPr>
          <p:cNvPr id="35" name="TextBox 35"/>
          <p:cNvSpPr txBox="1"/>
          <p:nvPr/>
        </p:nvSpPr>
        <p:spPr>
          <a:xfrm>
            <a:off x="13717591" y="5120154"/>
            <a:ext cx="3470977" cy="2260619"/>
          </a:xfrm>
          <a:prstGeom prst="rect">
            <a:avLst/>
          </a:prstGeom>
        </p:spPr>
        <p:txBody>
          <a:bodyPr lIns="0" tIns="0" rIns="0" bIns="0" rtlCol="0" anchor="t">
            <a:spAutoFit/>
          </a:bodyPr>
          <a:lstStyle/>
          <a:p>
            <a:pPr marL="0" lvl="0" indent="0" algn="l">
              <a:lnSpc>
                <a:spcPct val="150000"/>
              </a:lnSpc>
            </a:pPr>
            <a:r>
              <a:rPr lang="en-US" sz="2000">
                <a:solidFill>
                  <a:srgbClr val="3A4250"/>
                </a:solidFill>
                <a:latin typeface="Arimo"/>
                <a:ea typeface="Arimo"/>
                <a:cs typeface="Arimo"/>
                <a:sym typeface="Arimo"/>
              </a:rPr>
              <a:t>When AI-generated code fails in production, the engineer is accountable. Identify risks, document decisions, and ensure safety before shipping.</a:t>
            </a:r>
          </a:p>
        </p:txBody>
      </p:sp>
      <p:sp>
        <p:nvSpPr>
          <p:cNvPr id="36" name="Freeform 36"/>
          <p:cNvSpPr/>
          <p:nvPr/>
        </p:nvSpPr>
        <p:spPr>
          <a:xfrm>
            <a:off x="13692188" y="9057227"/>
            <a:ext cx="3419475" cy="104775"/>
          </a:xfrm>
          <a:custGeom>
            <a:avLst/>
            <a:gdLst/>
            <a:ahLst/>
            <a:cxnLst/>
            <a:rect l="l" t="t" r="r" b="b"/>
            <a:pathLst>
              <a:path w="3419475" h="104775">
                <a:moveTo>
                  <a:pt x="0" y="0"/>
                </a:moveTo>
                <a:lnTo>
                  <a:pt x="3419474" y="0"/>
                </a:lnTo>
                <a:lnTo>
                  <a:pt x="3419474" y="104775"/>
                </a:lnTo>
                <a:lnTo>
                  <a:pt x="0" y="10477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TH"/>
          </a:p>
        </p:txBody>
      </p:sp>
      <p:sp>
        <p:nvSpPr>
          <p:cNvPr id="37" name="Text 2">
            <a:extLst>
              <a:ext uri="{FF2B5EF4-FFF2-40B4-BE49-F238E27FC236}">
                <a16:creationId xmlns:a16="http://schemas.microsoft.com/office/drawing/2014/main" id="{3FA7C2F7-A533-CAAD-C6F0-B322A6685A54}"/>
              </a:ext>
            </a:extLst>
          </p:cNvPr>
          <p:cNvSpPr/>
          <p:nvPr/>
        </p:nvSpPr>
        <p:spPr>
          <a:xfrm>
            <a:off x="266701" y="154783"/>
            <a:ext cx="213866" cy="338138"/>
          </a:xfrm>
          <a:prstGeom prst="rect">
            <a:avLst/>
          </a:prstGeom>
          <a:noFill/>
          <a:ln w="9525"/>
        </p:spPr>
        <p:txBody>
          <a:bodyPr wrap="square" lIns="25400" tIns="25400" rIns="25400" bIns="25400" rtlCol="0" anchor="t">
            <a:normAutofit/>
          </a:bodyPr>
          <a:lstStyle/>
          <a:p>
            <a:r>
              <a:rPr lang="en-US" b="1" dirty="0">
                <a:solidFill>
                  <a:srgbClr val="0B0F19"/>
                </a:solidFill>
                <a:latin typeface="JetBrains Mono" pitchFamily="34" charset="0"/>
                <a:ea typeface="JetBrains Mono" pitchFamily="34" charset="-122"/>
                <a:cs typeface="JetBrains Mono" pitchFamily="34" charset="-120"/>
              </a:rPr>
              <a:t>▶</a:t>
            </a:r>
            <a:endParaRPr lang="en-US" dirty="0"/>
          </a:p>
        </p:txBody>
      </p:sp>
      <p:sp>
        <p:nvSpPr>
          <p:cNvPr id="38" name="Text 3">
            <a:extLst>
              <a:ext uri="{FF2B5EF4-FFF2-40B4-BE49-F238E27FC236}">
                <a16:creationId xmlns:a16="http://schemas.microsoft.com/office/drawing/2014/main" id="{5899C319-9E92-DE63-744E-5599CB828321}"/>
              </a:ext>
            </a:extLst>
          </p:cNvPr>
          <p:cNvSpPr/>
          <p:nvPr/>
        </p:nvSpPr>
        <p:spPr>
          <a:xfrm>
            <a:off x="728216" y="154783"/>
            <a:ext cx="3889733"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
        <p:nvSpPr>
          <p:cNvPr id="6" name="Text 5">
            <a:extLst>
              <a:ext uri="{FF2B5EF4-FFF2-40B4-BE49-F238E27FC236}">
                <a16:creationId xmlns:a16="http://schemas.microsoft.com/office/drawing/2014/main" id="{4D3BCCF1-C25F-DC69-FFF7-4CEB786F2BAA}"/>
              </a:ext>
            </a:extLst>
          </p:cNvPr>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sz="1800" kern="0" spc="72" dirty="0">
                <a:solidFill>
                  <a:srgbClr val="7A8290"/>
                </a:solidFill>
                <a:latin typeface="JetBrains Mono" pitchFamily="34" charset="0"/>
                <a:ea typeface="JetBrains Mono" pitchFamily="34" charset="-122"/>
                <a:cs typeface="JetBrains Mono" pitchFamily="34" charset="-120"/>
              </a:rPr>
              <a:t>29/ 32</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62" y="-4762"/>
            <a:ext cx="18297525" cy="628650"/>
            <a:chOff x="0" y="0"/>
            <a:chExt cx="24396700" cy="838200"/>
          </a:xfrm>
        </p:grpSpPr>
        <p:sp>
          <p:nvSpPr>
            <p:cNvPr id="3" name="Freeform 3"/>
            <p:cNvSpPr/>
            <p:nvPr/>
          </p:nvSpPr>
          <p:spPr>
            <a:xfrm>
              <a:off x="0" y="0"/>
              <a:ext cx="24396700" cy="838200"/>
            </a:xfrm>
            <a:custGeom>
              <a:avLst/>
              <a:gdLst/>
              <a:ahLst/>
              <a:cxnLst/>
              <a:rect l="l" t="t" r="r" b="b"/>
              <a:pathLst>
                <a:path w="24396700" h="838200">
                  <a:moveTo>
                    <a:pt x="0" y="0"/>
                  </a:moveTo>
                  <a:lnTo>
                    <a:pt x="24396700" y="0"/>
                  </a:lnTo>
                  <a:lnTo>
                    <a:pt x="24396700" y="838200"/>
                  </a:lnTo>
                  <a:lnTo>
                    <a:pt x="0" y="838200"/>
                  </a:lnTo>
                  <a:close/>
                </a:path>
              </a:pathLst>
            </a:custGeom>
            <a:solidFill>
              <a:srgbClr val="E4E7EC"/>
            </a:solidFill>
          </p:spPr>
          <p:txBody>
            <a:bodyPr/>
            <a:lstStyle/>
            <a:p>
              <a:endParaRPr lang="en-TH"/>
            </a:p>
          </p:txBody>
        </p:sp>
      </p:grpSp>
      <p:grpSp>
        <p:nvGrpSpPr>
          <p:cNvPr id="4" name="Group 4"/>
          <p:cNvGrpSpPr/>
          <p:nvPr/>
        </p:nvGrpSpPr>
        <p:grpSpPr>
          <a:xfrm>
            <a:off x="-4762" y="604838"/>
            <a:ext cx="18297525" cy="19050"/>
            <a:chOff x="0" y="0"/>
            <a:chExt cx="24396700" cy="25400"/>
          </a:xfrm>
        </p:grpSpPr>
        <p:sp>
          <p:nvSpPr>
            <p:cNvPr id="5" name="Freeform 5"/>
            <p:cNvSpPr/>
            <p:nvPr/>
          </p:nvSpPr>
          <p:spPr>
            <a:xfrm>
              <a:off x="0" y="0"/>
              <a:ext cx="24396700" cy="25400"/>
            </a:xfrm>
            <a:custGeom>
              <a:avLst/>
              <a:gdLst/>
              <a:ahLst/>
              <a:cxnLst/>
              <a:rect l="l" t="t" r="r" b="b"/>
              <a:pathLst>
                <a:path w="24396700" h="25400">
                  <a:moveTo>
                    <a:pt x="0" y="0"/>
                  </a:moveTo>
                  <a:lnTo>
                    <a:pt x="24396700" y="0"/>
                  </a:lnTo>
                  <a:lnTo>
                    <a:pt x="24396700" y="25400"/>
                  </a:lnTo>
                  <a:lnTo>
                    <a:pt x="0" y="25400"/>
                  </a:lnTo>
                  <a:close/>
                </a:path>
              </a:pathLst>
            </a:custGeom>
            <a:solidFill>
              <a:srgbClr val="C8CCD3"/>
            </a:solidFill>
          </p:spPr>
          <p:txBody>
            <a:bodyPr/>
            <a:lstStyle/>
            <a:p>
              <a:endParaRPr lang="en-TH"/>
            </a:p>
          </p:txBody>
        </p:sp>
      </p:grpSp>
      <p:sp>
        <p:nvSpPr>
          <p:cNvPr id="8" name="TextBox 8"/>
          <p:cNvSpPr txBox="1"/>
          <p:nvPr/>
        </p:nvSpPr>
        <p:spPr>
          <a:xfrm>
            <a:off x="4791989" y="175422"/>
            <a:ext cx="2917736" cy="266700"/>
          </a:xfrm>
          <a:prstGeom prst="rect">
            <a:avLst/>
          </a:prstGeom>
        </p:spPr>
        <p:txBody>
          <a:bodyPr lIns="0" tIns="0" rIns="0" bIns="0" rtlCol="0" anchor="t">
            <a:spAutoFit/>
          </a:bodyPr>
          <a:lstStyle/>
          <a:p>
            <a:pPr marL="0" lvl="0" indent="0" algn="l">
              <a:lnSpc>
                <a:spcPts val="2160"/>
              </a:lnSpc>
            </a:pPr>
            <a:r>
              <a:rPr lang="en-US" sz="1800">
                <a:solidFill>
                  <a:srgbClr val="7A8290"/>
                </a:solidFill>
                <a:latin typeface="JetBrains Mono"/>
                <a:ea typeface="JetBrains Mono"/>
                <a:cs typeface="JetBrains Mono"/>
                <a:sym typeface="JetBrains Mono"/>
              </a:rPr>
              <a:t>Pillars · Overview</a:t>
            </a:r>
          </a:p>
        </p:txBody>
      </p:sp>
      <p:sp>
        <p:nvSpPr>
          <p:cNvPr id="9" name="TextBox 9"/>
          <p:cNvSpPr txBox="1"/>
          <p:nvPr/>
        </p:nvSpPr>
        <p:spPr>
          <a:xfrm>
            <a:off x="17017775" y="175422"/>
            <a:ext cx="1059085" cy="272510"/>
          </a:xfrm>
          <a:prstGeom prst="rect">
            <a:avLst/>
          </a:prstGeom>
        </p:spPr>
        <p:txBody>
          <a:bodyPr lIns="0" tIns="0" rIns="0" bIns="0" rtlCol="0" anchor="t">
            <a:spAutoFit/>
          </a:bodyPr>
          <a:lstStyle/>
          <a:p>
            <a:pPr marL="0" lvl="0" indent="0" algn="l">
              <a:lnSpc>
                <a:spcPts val="2160"/>
              </a:lnSpc>
            </a:pPr>
            <a:r>
              <a:rPr lang="en-US" spc="72" dirty="0">
                <a:solidFill>
                  <a:srgbClr val="7A8290"/>
                </a:solidFill>
                <a:latin typeface="JetBrains Mono"/>
                <a:ea typeface="JetBrains Mono"/>
                <a:cs typeface="JetBrains Mono"/>
                <a:sym typeface="JetBrains Mono"/>
              </a:rPr>
              <a:t>30</a:t>
            </a:r>
            <a:r>
              <a:rPr lang="en-US" sz="1800" spc="72" dirty="0">
                <a:solidFill>
                  <a:srgbClr val="7A8290"/>
                </a:solidFill>
                <a:latin typeface="JetBrains Mono"/>
                <a:ea typeface="JetBrains Mono"/>
                <a:cs typeface="JetBrains Mono"/>
                <a:sym typeface="JetBrains Mono"/>
              </a:rPr>
              <a:t> / </a:t>
            </a:r>
            <a:r>
              <a:rPr lang="en-US" spc="72" dirty="0">
                <a:solidFill>
                  <a:srgbClr val="7A8290"/>
                </a:solidFill>
                <a:latin typeface="JetBrains Mono"/>
                <a:ea typeface="JetBrains Mono"/>
                <a:cs typeface="JetBrains Mono"/>
                <a:sym typeface="JetBrains Mono"/>
              </a:rPr>
              <a:t>32</a:t>
            </a:r>
            <a:endParaRPr lang="en-US" sz="1800" spc="72" dirty="0">
              <a:solidFill>
                <a:srgbClr val="7A8290"/>
              </a:solidFill>
              <a:latin typeface="JetBrains Mono"/>
              <a:ea typeface="JetBrains Mono"/>
              <a:cs typeface="JetBrains Mono"/>
              <a:sym typeface="JetBrains Mono"/>
            </a:endParaRPr>
          </a:p>
        </p:txBody>
      </p:sp>
      <p:sp>
        <p:nvSpPr>
          <p:cNvPr id="10" name="TextBox 10"/>
          <p:cNvSpPr txBox="1"/>
          <p:nvPr/>
        </p:nvSpPr>
        <p:spPr>
          <a:xfrm>
            <a:off x="935041" y="1544641"/>
            <a:ext cx="16911704" cy="257175"/>
          </a:xfrm>
          <a:prstGeom prst="rect">
            <a:avLst/>
          </a:prstGeom>
        </p:spPr>
        <p:txBody>
          <a:bodyPr lIns="0" tIns="0" rIns="0" bIns="0" rtlCol="0" anchor="t">
            <a:spAutoFit/>
          </a:bodyPr>
          <a:lstStyle/>
          <a:p>
            <a:pPr marL="0" lvl="0" indent="0" algn="l">
              <a:lnSpc>
                <a:spcPts val="2076"/>
              </a:lnSpc>
            </a:pPr>
            <a:r>
              <a:rPr lang="en-US" sz="1730" spc="108">
                <a:solidFill>
                  <a:srgbClr val="7A8290"/>
                </a:solidFill>
                <a:latin typeface="JetBrains Mono"/>
                <a:ea typeface="JetBrains Mono"/>
                <a:cs typeface="JetBrains Mono"/>
                <a:sym typeface="JetBrains Mono"/>
              </a:rPr>
              <a:t>14 · HUMAN VALUE</a:t>
            </a:r>
          </a:p>
        </p:txBody>
      </p:sp>
      <p:sp>
        <p:nvSpPr>
          <p:cNvPr id="11" name="TextBox 11"/>
          <p:cNvSpPr txBox="1"/>
          <p:nvPr/>
        </p:nvSpPr>
        <p:spPr>
          <a:xfrm>
            <a:off x="935041" y="1997078"/>
            <a:ext cx="16911704" cy="742950"/>
          </a:xfrm>
          <a:prstGeom prst="rect">
            <a:avLst/>
          </a:prstGeom>
        </p:spPr>
        <p:txBody>
          <a:bodyPr lIns="0" tIns="0" rIns="0" bIns="0" rtlCol="0" anchor="t">
            <a:spAutoFit/>
          </a:bodyPr>
          <a:lstStyle/>
          <a:p>
            <a:pPr marL="0" lvl="0" indent="0" algn="l">
              <a:lnSpc>
                <a:spcPts val="5759"/>
              </a:lnSpc>
            </a:pPr>
            <a:r>
              <a:rPr lang="en-US" sz="4800" b="1" spc="-120">
                <a:solidFill>
                  <a:srgbClr val="0B0F19"/>
                </a:solidFill>
                <a:latin typeface="Arimo Bold"/>
                <a:ea typeface="Arimo Bold"/>
                <a:cs typeface="Arimo Bold"/>
                <a:sym typeface="Arimo Bold"/>
              </a:rPr>
              <a:t>What only the engineer can own</a:t>
            </a:r>
          </a:p>
        </p:txBody>
      </p:sp>
      <p:sp>
        <p:nvSpPr>
          <p:cNvPr id="12" name="TextBox 12"/>
          <p:cNvSpPr txBox="1"/>
          <p:nvPr/>
        </p:nvSpPr>
        <p:spPr>
          <a:xfrm>
            <a:off x="935041" y="2845699"/>
            <a:ext cx="14894290" cy="350520"/>
          </a:xfrm>
          <a:prstGeom prst="rect">
            <a:avLst/>
          </a:prstGeom>
        </p:spPr>
        <p:txBody>
          <a:bodyPr lIns="0" tIns="0" rIns="0" bIns="0" rtlCol="0" anchor="t">
            <a:spAutoFit/>
          </a:bodyPr>
          <a:lstStyle/>
          <a:p>
            <a:pPr marL="0" lvl="0" indent="0" algn="l">
              <a:lnSpc>
                <a:spcPts val="2700"/>
              </a:lnSpc>
            </a:pPr>
            <a:r>
              <a:rPr lang="en-US" sz="1800">
                <a:solidFill>
                  <a:srgbClr val="3A4250"/>
                </a:solidFill>
                <a:latin typeface="Arimo"/>
                <a:ea typeface="Arimo"/>
                <a:cs typeface="Arimo"/>
                <a:sym typeface="Arimo"/>
              </a:rPr>
              <a:t>AI proposes — the engineer judges. Three irreplaceable human competencies that no model can replace in professional software development.</a:t>
            </a:r>
          </a:p>
        </p:txBody>
      </p:sp>
      <p:grpSp>
        <p:nvGrpSpPr>
          <p:cNvPr id="13" name="Group 13"/>
          <p:cNvGrpSpPr/>
          <p:nvPr/>
        </p:nvGrpSpPr>
        <p:grpSpPr>
          <a:xfrm>
            <a:off x="909638" y="3953913"/>
            <a:ext cx="5267325" cy="5572125"/>
            <a:chOff x="0" y="0"/>
            <a:chExt cx="7023100" cy="7429500"/>
          </a:xfrm>
        </p:grpSpPr>
        <p:sp>
          <p:nvSpPr>
            <p:cNvPr id="14" name="Freeform 14"/>
            <p:cNvSpPr/>
            <p:nvPr/>
          </p:nvSpPr>
          <p:spPr>
            <a:xfrm>
              <a:off x="0" y="0"/>
              <a:ext cx="7023100" cy="7429500"/>
            </a:xfrm>
            <a:custGeom>
              <a:avLst/>
              <a:gdLst/>
              <a:ahLst/>
              <a:cxnLst/>
              <a:rect l="l" t="t" r="r" b="b"/>
              <a:pathLst>
                <a:path w="7023100" h="7429500">
                  <a:moveTo>
                    <a:pt x="0" y="305308"/>
                  </a:moveTo>
                  <a:cubicBezTo>
                    <a:pt x="0" y="136779"/>
                    <a:pt x="136779" y="0"/>
                    <a:pt x="305308" y="0"/>
                  </a:cubicBezTo>
                  <a:lnTo>
                    <a:pt x="6717792" y="0"/>
                  </a:lnTo>
                  <a:cubicBezTo>
                    <a:pt x="6886321" y="0"/>
                    <a:pt x="7023100" y="136779"/>
                    <a:pt x="7023100" y="305308"/>
                  </a:cubicBezTo>
                  <a:lnTo>
                    <a:pt x="7023100" y="7124192"/>
                  </a:lnTo>
                  <a:cubicBezTo>
                    <a:pt x="7023100" y="7292849"/>
                    <a:pt x="6886321" y="7429500"/>
                    <a:pt x="6717792" y="7429500"/>
                  </a:cubicBezTo>
                  <a:lnTo>
                    <a:pt x="305308" y="7429500"/>
                  </a:lnTo>
                  <a:cubicBezTo>
                    <a:pt x="136779" y="7429500"/>
                    <a:pt x="0" y="7292721"/>
                    <a:pt x="0" y="7124192"/>
                  </a:cubicBezTo>
                  <a:close/>
                </a:path>
              </a:pathLst>
            </a:custGeom>
            <a:solidFill>
              <a:srgbClr val="FF5A47"/>
            </a:solidFill>
          </p:spPr>
          <p:txBody>
            <a:bodyPr/>
            <a:lstStyle/>
            <a:p>
              <a:endParaRPr lang="en-TH"/>
            </a:p>
          </p:txBody>
        </p:sp>
      </p:grpSp>
      <p:sp>
        <p:nvSpPr>
          <p:cNvPr id="15" name="TextBox 15"/>
          <p:cNvSpPr txBox="1"/>
          <p:nvPr/>
        </p:nvSpPr>
        <p:spPr>
          <a:xfrm>
            <a:off x="1316041" y="4398416"/>
            <a:ext cx="4589402" cy="247650"/>
          </a:xfrm>
          <a:prstGeom prst="rect">
            <a:avLst/>
          </a:prstGeom>
        </p:spPr>
        <p:txBody>
          <a:bodyPr lIns="0" tIns="0" rIns="0" bIns="0" rtlCol="0" anchor="t">
            <a:spAutoFit/>
          </a:bodyPr>
          <a:lstStyle/>
          <a:p>
            <a:pPr marL="0" lvl="0" indent="0" algn="l">
              <a:lnSpc>
                <a:spcPts val="1997"/>
              </a:lnSpc>
            </a:pPr>
            <a:r>
              <a:rPr lang="en-US" sz="1664">
                <a:solidFill>
                  <a:srgbClr val="FFFFFF">
                    <a:alpha val="54902"/>
                  </a:srgbClr>
                </a:solidFill>
                <a:latin typeface="JetBrains Mono"/>
                <a:ea typeface="JetBrains Mono"/>
                <a:cs typeface="JetBrains Mono"/>
                <a:sym typeface="JetBrains Mono"/>
              </a:rPr>
              <a:t>PILLAR 01</a:t>
            </a:r>
          </a:p>
        </p:txBody>
      </p:sp>
      <p:sp>
        <p:nvSpPr>
          <p:cNvPr id="16" name="TextBox 16"/>
          <p:cNvSpPr txBox="1"/>
          <p:nvPr/>
        </p:nvSpPr>
        <p:spPr>
          <a:xfrm>
            <a:off x="1316041" y="4869904"/>
            <a:ext cx="4589402" cy="478765"/>
          </a:xfrm>
          <a:prstGeom prst="rect">
            <a:avLst/>
          </a:prstGeom>
        </p:spPr>
        <p:txBody>
          <a:bodyPr lIns="0" tIns="0" rIns="0" bIns="0" rtlCol="0" anchor="t">
            <a:spAutoFit/>
          </a:bodyPr>
          <a:lstStyle/>
          <a:p>
            <a:pPr marL="0" lvl="0" indent="0" algn="l">
              <a:lnSpc>
                <a:spcPts val="3580"/>
              </a:lnSpc>
            </a:pPr>
            <a:r>
              <a:rPr lang="en-US" sz="3187" b="1" spc="-94">
                <a:solidFill>
                  <a:srgbClr val="FFFFFF"/>
                </a:solidFill>
                <a:latin typeface="Arimo Bold"/>
                <a:ea typeface="Arimo Bold"/>
                <a:cs typeface="Arimo Bold"/>
                <a:sym typeface="Arimo Bold"/>
              </a:rPr>
              <a:t>Empathy &amp; UX</a:t>
            </a:r>
          </a:p>
        </p:txBody>
      </p:sp>
      <p:sp>
        <p:nvSpPr>
          <p:cNvPr id="17" name="TextBox 17"/>
          <p:cNvSpPr txBox="1"/>
          <p:nvPr/>
        </p:nvSpPr>
        <p:spPr>
          <a:xfrm>
            <a:off x="1316041" y="6012904"/>
            <a:ext cx="4589402" cy="1215076"/>
          </a:xfrm>
          <a:prstGeom prst="rect">
            <a:avLst/>
          </a:prstGeom>
        </p:spPr>
        <p:txBody>
          <a:bodyPr lIns="0" tIns="0" rIns="0" bIns="0" rtlCol="0" anchor="t">
            <a:spAutoFit/>
          </a:bodyPr>
          <a:lstStyle/>
          <a:p>
            <a:pPr marL="0" lvl="0" indent="0" algn="l">
              <a:lnSpc>
                <a:spcPts val="2399"/>
              </a:lnSpc>
            </a:pPr>
            <a:r>
              <a:rPr lang="en-US" dirty="0">
                <a:solidFill>
                  <a:srgbClr val="FFFFFF"/>
                </a:solidFill>
                <a:latin typeface="Arimo"/>
                <a:ea typeface="Arimo"/>
                <a:cs typeface="Arimo"/>
                <a:sym typeface="Arimo"/>
              </a:rPr>
              <a:t>Understanding real user pain, context, and emotion. Engineers translate human needs into design decisions that AI cannot feel or infer from prompts alone.</a:t>
            </a:r>
          </a:p>
        </p:txBody>
      </p:sp>
      <p:grpSp>
        <p:nvGrpSpPr>
          <p:cNvPr id="18" name="Group 18"/>
          <p:cNvGrpSpPr/>
          <p:nvPr/>
        </p:nvGrpSpPr>
        <p:grpSpPr>
          <a:xfrm>
            <a:off x="4457481" y="7802013"/>
            <a:ext cx="1343025" cy="1343025"/>
            <a:chOff x="0" y="0"/>
            <a:chExt cx="1790700" cy="1790700"/>
          </a:xfrm>
        </p:grpSpPr>
        <p:sp>
          <p:nvSpPr>
            <p:cNvPr id="19" name="Freeform 19"/>
            <p:cNvSpPr/>
            <p:nvPr/>
          </p:nvSpPr>
          <p:spPr>
            <a:xfrm>
              <a:off x="0" y="0"/>
              <a:ext cx="1790700" cy="1790700"/>
            </a:xfrm>
            <a:custGeom>
              <a:avLst/>
              <a:gdLst/>
              <a:ahLst/>
              <a:cxnLst/>
              <a:rect l="l" t="t" r="r" b="b"/>
              <a:pathLst>
                <a:path w="1790700" h="1790700">
                  <a:moveTo>
                    <a:pt x="0" y="306959"/>
                  </a:moveTo>
                  <a:cubicBezTo>
                    <a:pt x="0" y="137414"/>
                    <a:pt x="137414" y="0"/>
                    <a:pt x="306959" y="0"/>
                  </a:cubicBezTo>
                  <a:lnTo>
                    <a:pt x="1483741" y="0"/>
                  </a:lnTo>
                  <a:cubicBezTo>
                    <a:pt x="1653286" y="0"/>
                    <a:pt x="1790700" y="137414"/>
                    <a:pt x="1790700" y="306959"/>
                  </a:cubicBezTo>
                  <a:lnTo>
                    <a:pt x="1790700" y="1483741"/>
                  </a:lnTo>
                  <a:cubicBezTo>
                    <a:pt x="1790700" y="1653286"/>
                    <a:pt x="1653286" y="1790700"/>
                    <a:pt x="1483741" y="1790700"/>
                  </a:cubicBezTo>
                  <a:lnTo>
                    <a:pt x="306959" y="1790700"/>
                  </a:lnTo>
                  <a:cubicBezTo>
                    <a:pt x="137414" y="1790700"/>
                    <a:pt x="0" y="1653286"/>
                    <a:pt x="0" y="1483741"/>
                  </a:cubicBezTo>
                  <a:close/>
                </a:path>
              </a:pathLst>
            </a:custGeom>
            <a:solidFill>
              <a:srgbClr val="FFFFFF">
                <a:alpha val="63922"/>
              </a:srgbClr>
            </a:solidFill>
          </p:spPr>
          <p:txBody>
            <a:bodyPr/>
            <a:lstStyle/>
            <a:p>
              <a:endParaRPr lang="en-TH"/>
            </a:p>
          </p:txBody>
        </p:sp>
      </p:grpSp>
      <p:grpSp>
        <p:nvGrpSpPr>
          <p:cNvPr id="20" name="Group 20"/>
          <p:cNvGrpSpPr/>
          <p:nvPr/>
        </p:nvGrpSpPr>
        <p:grpSpPr>
          <a:xfrm>
            <a:off x="6510338" y="3953913"/>
            <a:ext cx="5267325" cy="5572125"/>
            <a:chOff x="0" y="0"/>
            <a:chExt cx="7023100" cy="7429500"/>
          </a:xfrm>
        </p:grpSpPr>
        <p:sp>
          <p:nvSpPr>
            <p:cNvPr id="21" name="Freeform 21"/>
            <p:cNvSpPr/>
            <p:nvPr/>
          </p:nvSpPr>
          <p:spPr>
            <a:xfrm>
              <a:off x="0" y="0"/>
              <a:ext cx="7023100" cy="7429500"/>
            </a:xfrm>
            <a:custGeom>
              <a:avLst/>
              <a:gdLst/>
              <a:ahLst/>
              <a:cxnLst/>
              <a:rect l="l" t="t" r="r" b="b"/>
              <a:pathLst>
                <a:path w="7023100" h="7429500">
                  <a:moveTo>
                    <a:pt x="0" y="305308"/>
                  </a:moveTo>
                  <a:cubicBezTo>
                    <a:pt x="0" y="136779"/>
                    <a:pt x="136779" y="0"/>
                    <a:pt x="305308" y="0"/>
                  </a:cubicBezTo>
                  <a:lnTo>
                    <a:pt x="6717792" y="0"/>
                  </a:lnTo>
                  <a:cubicBezTo>
                    <a:pt x="6886321" y="0"/>
                    <a:pt x="7023100" y="136779"/>
                    <a:pt x="7023100" y="305308"/>
                  </a:cubicBezTo>
                  <a:lnTo>
                    <a:pt x="7023100" y="7124192"/>
                  </a:lnTo>
                  <a:cubicBezTo>
                    <a:pt x="7023100" y="7292849"/>
                    <a:pt x="6886321" y="7429500"/>
                    <a:pt x="6717792" y="7429500"/>
                  </a:cubicBezTo>
                  <a:lnTo>
                    <a:pt x="305308" y="7429500"/>
                  </a:lnTo>
                  <a:cubicBezTo>
                    <a:pt x="136779" y="7429500"/>
                    <a:pt x="0" y="7292721"/>
                    <a:pt x="0" y="7124192"/>
                  </a:cubicBezTo>
                  <a:close/>
                </a:path>
              </a:pathLst>
            </a:custGeom>
            <a:solidFill>
              <a:srgbClr val="FFC233"/>
            </a:solidFill>
          </p:spPr>
          <p:txBody>
            <a:bodyPr/>
            <a:lstStyle/>
            <a:p>
              <a:endParaRPr lang="en-TH"/>
            </a:p>
          </p:txBody>
        </p:sp>
      </p:grpSp>
      <p:sp>
        <p:nvSpPr>
          <p:cNvPr id="22" name="TextBox 22"/>
          <p:cNvSpPr txBox="1"/>
          <p:nvPr/>
        </p:nvSpPr>
        <p:spPr>
          <a:xfrm>
            <a:off x="6916741" y="4398416"/>
            <a:ext cx="4589402" cy="247650"/>
          </a:xfrm>
          <a:prstGeom prst="rect">
            <a:avLst/>
          </a:prstGeom>
        </p:spPr>
        <p:txBody>
          <a:bodyPr lIns="0" tIns="0" rIns="0" bIns="0" rtlCol="0" anchor="t">
            <a:spAutoFit/>
          </a:bodyPr>
          <a:lstStyle/>
          <a:p>
            <a:pPr marL="0" lvl="0" indent="0" algn="l">
              <a:lnSpc>
                <a:spcPts val="1997"/>
              </a:lnSpc>
            </a:pPr>
            <a:r>
              <a:rPr lang="en-US" sz="1664">
                <a:solidFill>
                  <a:srgbClr val="0B0F19">
                    <a:alpha val="69804"/>
                  </a:srgbClr>
                </a:solidFill>
                <a:latin typeface="JetBrains Mono"/>
                <a:ea typeface="JetBrains Mono"/>
                <a:cs typeface="JetBrains Mono"/>
                <a:sym typeface="JetBrains Mono"/>
              </a:rPr>
              <a:t>PILLAR 02</a:t>
            </a:r>
          </a:p>
        </p:txBody>
      </p:sp>
      <p:sp>
        <p:nvSpPr>
          <p:cNvPr id="23" name="TextBox 23"/>
          <p:cNvSpPr txBox="1"/>
          <p:nvPr/>
        </p:nvSpPr>
        <p:spPr>
          <a:xfrm>
            <a:off x="6916741" y="4869904"/>
            <a:ext cx="4589402" cy="478765"/>
          </a:xfrm>
          <a:prstGeom prst="rect">
            <a:avLst/>
          </a:prstGeom>
        </p:spPr>
        <p:txBody>
          <a:bodyPr lIns="0" tIns="0" rIns="0" bIns="0" rtlCol="0" anchor="t">
            <a:spAutoFit/>
          </a:bodyPr>
          <a:lstStyle/>
          <a:p>
            <a:pPr marL="0" lvl="0" indent="0" algn="l">
              <a:lnSpc>
                <a:spcPts val="3580"/>
              </a:lnSpc>
            </a:pPr>
            <a:r>
              <a:rPr lang="en-US" sz="3187" b="1" spc="-94">
                <a:solidFill>
                  <a:srgbClr val="0B0F19"/>
                </a:solidFill>
                <a:latin typeface="Arimo Bold"/>
                <a:ea typeface="Arimo Bold"/>
                <a:cs typeface="Arimo Bold"/>
                <a:sym typeface="Arimo Bold"/>
              </a:rPr>
              <a:t>Requirements Analysis</a:t>
            </a:r>
          </a:p>
        </p:txBody>
      </p:sp>
      <p:sp>
        <p:nvSpPr>
          <p:cNvPr id="24" name="TextBox 24"/>
          <p:cNvSpPr txBox="1"/>
          <p:nvPr/>
        </p:nvSpPr>
        <p:spPr>
          <a:xfrm>
            <a:off x="6916741" y="6012904"/>
            <a:ext cx="4589402" cy="1208279"/>
          </a:xfrm>
          <a:prstGeom prst="rect">
            <a:avLst/>
          </a:prstGeom>
        </p:spPr>
        <p:txBody>
          <a:bodyPr lIns="0" tIns="0" rIns="0" bIns="0" rtlCol="0" anchor="t">
            <a:spAutoFit/>
          </a:bodyPr>
          <a:lstStyle/>
          <a:p>
            <a:pPr marL="0" lvl="0" indent="0" algn="l">
              <a:lnSpc>
                <a:spcPts val="2399"/>
              </a:lnSpc>
            </a:pPr>
            <a:r>
              <a:rPr lang="en-US" dirty="0">
                <a:solidFill>
                  <a:srgbClr val="0B0F19"/>
                </a:solidFill>
                <a:latin typeface="Arimo"/>
                <a:ea typeface="Arimo"/>
                <a:cs typeface="Arimo"/>
                <a:sym typeface="Arimo"/>
              </a:rPr>
              <a:t>Eliciting, clarifying, and prioritizing what stakeholders truly need — not just what they say. Ambiguity resolution requires human judgment and domain knowledge.</a:t>
            </a:r>
          </a:p>
        </p:txBody>
      </p:sp>
      <p:grpSp>
        <p:nvGrpSpPr>
          <p:cNvPr id="25" name="Group 25"/>
          <p:cNvGrpSpPr/>
          <p:nvPr/>
        </p:nvGrpSpPr>
        <p:grpSpPr>
          <a:xfrm>
            <a:off x="10058181" y="7802013"/>
            <a:ext cx="1343025" cy="1343025"/>
            <a:chOff x="0" y="0"/>
            <a:chExt cx="1790700" cy="1790700"/>
          </a:xfrm>
        </p:grpSpPr>
        <p:sp>
          <p:nvSpPr>
            <p:cNvPr id="26" name="Freeform 26"/>
            <p:cNvSpPr/>
            <p:nvPr/>
          </p:nvSpPr>
          <p:spPr>
            <a:xfrm>
              <a:off x="0" y="0"/>
              <a:ext cx="1790700" cy="1790700"/>
            </a:xfrm>
            <a:custGeom>
              <a:avLst/>
              <a:gdLst/>
              <a:ahLst/>
              <a:cxnLst/>
              <a:rect l="l" t="t" r="r" b="b"/>
              <a:pathLst>
                <a:path w="1790700" h="1790700">
                  <a:moveTo>
                    <a:pt x="0" y="306959"/>
                  </a:moveTo>
                  <a:cubicBezTo>
                    <a:pt x="0" y="137414"/>
                    <a:pt x="137414" y="0"/>
                    <a:pt x="306959" y="0"/>
                  </a:cubicBezTo>
                  <a:lnTo>
                    <a:pt x="1483741" y="0"/>
                  </a:lnTo>
                  <a:cubicBezTo>
                    <a:pt x="1653286" y="0"/>
                    <a:pt x="1790700" y="137414"/>
                    <a:pt x="1790700" y="306959"/>
                  </a:cubicBezTo>
                  <a:lnTo>
                    <a:pt x="1790700" y="1483741"/>
                  </a:lnTo>
                  <a:cubicBezTo>
                    <a:pt x="1790700" y="1653286"/>
                    <a:pt x="1653286" y="1790700"/>
                    <a:pt x="1483741" y="1790700"/>
                  </a:cubicBezTo>
                  <a:lnTo>
                    <a:pt x="306959" y="1790700"/>
                  </a:lnTo>
                  <a:cubicBezTo>
                    <a:pt x="137414" y="1790700"/>
                    <a:pt x="0" y="1653286"/>
                    <a:pt x="0" y="1483741"/>
                  </a:cubicBezTo>
                  <a:close/>
                </a:path>
              </a:pathLst>
            </a:custGeom>
            <a:solidFill>
              <a:srgbClr val="FFFFFF">
                <a:alpha val="63922"/>
              </a:srgbClr>
            </a:solidFill>
          </p:spPr>
          <p:txBody>
            <a:bodyPr/>
            <a:lstStyle/>
            <a:p>
              <a:endParaRPr lang="en-TH"/>
            </a:p>
          </p:txBody>
        </p:sp>
      </p:grpSp>
      <p:grpSp>
        <p:nvGrpSpPr>
          <p:cNvPr id="27" name="Group 27"/>
          <p:cNvGrpSpPr/>
          <p:nvPr/>
        </p:nvGrpSpPr>
        <p:grpSpPr>
          <a:xfrm>
            <a:off x="12111038" y="3953913"/>
            <a:ext cx="5267325" cy="5572125"/>
            <a:chOff x="0" y="0"/>
            <a:chExt cx="7023100" cy="7429500"/>
          </a:xfrm>
        </p:grpSpPr>
        <p:sp>
          <p:nvSpPr>
            <p:cNvPr id="28" name="Freeform 28"/>
            <p:cNvSpPr/>
            <p:nvPr/>
          </p:nvSpPr>
          <p:spPr>
            <a:xfrm>
              <a:off x="0" y="0"/>
              <a:ext cx="7023100" cy="7429500"/>
            </a:xfrm>
            <a:custGeom>
              <a:avLst/>
              <a:gdLst/>
              <a:ahLst/>
              <a:cxnLst/>
              <a:rect l="l" t="t" r="r" b="b"/>
              <a:pathLst>
                <a:path w="7023100" h="7429500">
                  <a:moveTo>
                    <a:pt x="0" y="305308"/>
                  </a:moveTo>
                  <a:cubicBezTo>
                    <a:pt x="0" y="136779"/>
                    <a:pt x="136779" y="0"/>
                    <a:pt x="305308" y="0"/>
                  </a:cubicBezTo>
                  <a:lnTo>
                    <a:pt x="6717792" y="0"/>
                  </a:lnTo>
                  <a:cubicBezTo>
                    <a:pt x="6886321" y="0"/>
                    <a:pt x="7023100" y="136779"/>
                    <a:pt x="7023100" y="305308"/>
                  </a:cubicBezTo>
                  <a:lnTo>
                    <a:pt x="7023100" y="7124192"/>
                  </a:lnTo>
                  <a:cubicBezTo>
                    <a:pt x="7023100" y="7292849"/>
                    <a:pt x="6886321" y="7429500"/>
                    <a:pt x="6717792" y="7429500"/>
                  </a:cubicBezTo>
                  <a:lnTo>
                    <a:pt x="305308" y="7429500"/>
                  </a:lnTo>
                  <a:cubicBezTo>
                    <a:pt x="136779" y="7429500"/>
                    <a:pt x="0" y="7292721"/>
                    <a:pt x="0" y="7124192"/>
                  </a:cubicBezTo>
                  <a:close/>
                </a:path>
              </a:pathLst>
            </a:custGeom>
            <a:solidFill>
              <a:srgbClr val="16B670"/>
            </a:solidFill>
          </p:spPr>
          <p:txBody>
            <a:bodyPr/>
            <a:lstStyle/>
            <a:p>
              <a:endParaRPr lang="en-TH"/>
            </a:p>
          </p:txBody>
        </p:sp>
      </p:grpSp>
      <p:sp>
        <p:nvSpPr>
          <p:cNvPr id="29" name="TextBox 29"/>
          <p:cNvSpPr txBox="1"/>
          <p:nvPr/>
        </p:nvSpPr>
        <p:spPr>
          <a:xfrm>
            <a:off x="12517441" y="4398416"/>
            <a:ext cx="4589402" cy="247650"/>
          </a:xfrm>
          <a:prstGeom prst="rect">
            <a:avLst/>
          </a:prstGeom>
        </p:spPr>
        <p:txBody>
          <a:bodyPr lIns="0" tIns="0" rIns="0" bIns="0" rtlCol="0" anchor="t">
            <a:spAutoFit/>
          </a:bodyPr>
          <a:lstStyle/>
          <a:p>
            <a:pPr marL="0" lvl="0" indent="0" algn="l">
              <a:lnSpc>
                <a:spcPts val="1997"/>
              </a:lnSpc>
            </a:pPr>
            <a:r>
              <a:rPr lang="en-US" sz="1664">
                <a:solidFill>
                  <a:srgbClr val="FFFFFF">
                    <a:alpha val="54902"/>
                  </a:srgbClr>
                </a:solidFill>
                <a:latin typeface="JetBrains Mono"/>
                <a:ea typeface="JetBrains Mono"/>
                <a:cs typeface="JetBrains Mono"/>
                <a:sym typeface="JetBrains Mono"/>
              </a:rPr>
              <a:t>PILLAR 03</a:t>
            </a:r>
          </a:p>
        </p:txBody>
      </p:sp>
      <p:sp>
        <p:nvSpPr>
          <p:cNvPr id="30" name="TextBox 30"/>
          <p:cNvSpPr txBox="1"/>
          <p:nvPr/>
        </p:nvSpPr>
        <p:spPr>
          <a:xfrm>
            <a:off x="12517441" y="4908004"/>
            <a:ext cx="4589402" cy="443560"/>
          </a:xfrm>
          <a:prstGeom prst="rect">
            <a:avLst/>
          </a:prstGeom>
        </p:spPr>
        <p:txBody>
          <a:bodyPr lIns="0" tIns="0" rIns="0" bIns="0" rtlCol="0" anchor="t">
            <a:spAutoFit/>
          </a:bodyPr>
          <a:lstStyle/>
          <a:p>
            <a:pPr marL="0" lvl="0" indent="0" algn="l">
              <a:lnSpc>
                <a:spcPts val="3182"/>
              </a:lnSpc>
            </a:pPr>
            <a:r>
              <a:rPr lang="en-US" sz="3187" b="1" spc="-94">
                <a:solidFill>
                  <a:srgbClr val="FFFFFF"/>
                </a:solidFill>
                <a:latin typeface="Arimo Bold"/>
                <a:ea typeface="Arimo Bold"/>
                <a:cs typeface="Arimo Bold"/>
                <a:sym typeface="Arimo Bold"/>
              </a:rPr>
              <a:t>Architectural Decisions</a:t>
            </a:r>
          </a:p>
        </p:txBody>
      </p:sp>
      <p:sp>
        <p:nvSpPr>
          <p:cNvPr id="31" name="TextBox 31"/>
          <p:cNvSpPr txBox="1"/>
          <p:nvPr/>
        </p:nvSpPr>
        <p:spPr>
          <a:xfrm>
            <a:off x="12517441" y="6012904"/>
            <a:ext cx="4589402" cy="1208279"/>
          </a:xfrm>
          <a:prstGeom prst="rect">
            <a:avLst/>
          </a:prstGeom>
        </p:spPr>
        <p:txBody>
          <a:bodyPr lIns="0" tIns="0" rIns="0" bIns="0" rtlCol="0" anchor="t">
            <a:spAutoFit/>
          </a:bodyPr>
          <a:lstStyle/>
          <a:p>
            <a:pPr marL="0" lvl="0" indent="0" algn="l">
              <a:lnSpc>
                <a:spcPts val="2399"/>
              </a:lnSpc>
            </a:pPr>
            <a:r>
              <a:rPr lang="en-US">
                <a:solidFill>
                  <a:srgbClr val="FFFFFF"/>
                </a:solidFill>
                <a:latin typeface="Arimo"/>
                <a:ea typeface="Arimo"/>
                <a:cs typeface="Arimo"/>
                <a:sym typeface="Arimo"/>
              </a:rPr>
              <a:t>Choosing trade-offs across scalability, security, and maintainability for the long term. AI proposes options — the engineer owns the consequences and accountability.</a:t>
            </a:r>
          </a:p>
        </p:txBody>
      </p:sp>
      <p:grpSp>
        <p:nvGrpSpPr>
          <p:cNvPr id="32" name="Group 32"/>
          <p:cNvGrpSpPr/>
          <p:nvPr/>
        </p:nvGrpSpPr>
        <p:grpSpPr>
          <a:xfrm>
            <a:off x="15658881" y="7802013"/>
            <a:ext cx="1343025" cy="1343025"/>
            <a:chOff x="0" y="0"/>
            <a:chExt cx="1790700" cy="1790700"/>
          </a:xfrm>
        </p:grpSpPr>
        <p:sp>
          <p:nvSpPr>
            <p:cNvPr id="33" name="Freeform 33"/>
            <p:cNvSpPr/>
            <p:nvPr/>
          </p:nvSpPr>
          <p:spPr>
            <a:xfrm>
              <a:off x="0" y="0"/>
              <a:ext cx="1790700" cy="1790700"/>
            </a:xfrm>
            <a:custGeom>
              <a:avLst/>
              <a:gdLst/>
              <a:ahLst/>
              <a:cxnLst/>
              <a:rect l="l" t="t" r="r" b="b"/>
              <a:pathLst>
                <a:path w="1790700" h="1790700">
                  <a:moveTo>
                    <a:pt x="0" y="306959"/>
                  </a:moveTo>
                  <a:cubicBezTo>
                    <a:pt x="0" y="137414"/>
                    <a:pt x="137414" y="0"/>
                    <a:pt x="306959" y="0"/>
                  </a:cubicBezTo>
                  <a:lnTo>
                    <a:pt x="1483741" y="0"/>
                  </a:lnTo>
                  <a:cubicBezTo>
                    <a:pt x="1653286" y="0"/>
                    <a:pt x="1790700" y="137414"/>
                    <a:pt x="1790700" y="306959"/>
                  </a:cubicBezTo>
                  <a:lnTo>
                    <a:pt x="1790700" y="1483741"/>
                  </a:lnTo>
                  <a:cubicBezTo>
                    <a:pt x="1790700" y="1653286"/>
                    <a:pt x="1653286" y="1790700"/>
                    <a:pt x="1483741" y="1790700"/>
                  </a:cubicBezTo>
                  <a:lnTo>
                    <a:pt x="306959" y="1790700"/>
                  </a:lnTo>
                  <a:cubicBezTo>
                    <a:pt x="137414" y="1790700"/>
                    <a:pt x="0" y="1653286"/>
                    <a:pt x="0" y="1483741"/>
                  </a:cubicBezTo>
                  <a:close/>
                </a:path>
              </a:pathLst>
            </a:custGeom>
            <a:solidFill>
              <a:srgbClr val="FFFFFF">
                <a:alpha val="63922"/>
              </a:srgbClr>
            </a:solidFill>
          </p:spPr>
          <p:txBody>
            <a:bodyPr/>
            <a:lstStyle/>
            <a:p>
              <a:endParaRPr lang="en-TH"/>
            </a:p>
          </p:txBody>
        </p:sp>
      </p:grpSp>
      <p:sp>
        <p:nvSpPr>
          <p:cNvPr id="36" name="Text 2">
            <a:extLst>
              <a:ext uri="{FF2B5EF4-FFF2-40B4-BE49-F238E27FC236}">
                <a16:creationId xmlns:a16="http://schemas.microsoft.com/office/drawing/2014/main" id="{7571E922-30D8-1619-70EC-91D1AA15FE32}"/>
              </a:ext>
            </a:extLst>
          </p:cNvPr>
          <p:cNvSpPr/>
          <p:nvPr/>
        </p:nvSpPr>
        <p:spPr>
          <a:xfrm>
            <a:off x="266701" y="154783"/>
            <a:ext cx="213866" cy="338138"/>
          </a:xfrm>
          <a:prstGeom prst="rect">
            <a:avLst/>
          </a:prstGeom>
          <a:noFill/>
          <a:ln w="9525"/>
        </p:spPr>
        <p:txBody>
          <a:bodyPr wrap="square" lIns="25400" tIns="25400" rIns="25400" bIns="25400" rtlCol="0" anchor="t">
            <a:normAutofit/>
          </a:bodyPr>
          <a:lstStyle/>
          <a:p>
            <a:r>
              <a:rPr lang="en-US" b="1" dirty="0">
                <a:solidFill>
                  <a:srgbClr val="0B0F19"/>
                </a:solidFill>
                <a:latin typeface="JetBrains Mono" pitchFamily="34" charset="0"/>
                <a:ea typeface="JetBrains Mono" pitchFamily="34" charset="-122"/>
                <a:cs typeface="JetBrains Mono" pitchFamily="34" charset="-120"/>
              </a:rPr>
              <a:t>▶</a:t>
            </a:r>
            <a:endParaRPr lang="en-US" dirty="0"/>
          </a:p>
        </p:txBody>
      </p:sp>
      <p:sp>
        <p:nvSpPr>
          <p:cNvPr id="37" name="Text 3">
            <a:extLst>
              <a:ext uri="{FF2B5EF4-FFF2-40B4-BE49-F238E27FC236}">
                <a16:creationId xmlns:a16="http://schemas.microsoft.com/office/drawing/2014/main" id="{FB08E6D9-C8B9-0C2F-E905-4CEB6D5EF912}"/>
              </a:ext>
            </a:extLst>
          </p:cNvPr>
          <p:cNvSpPr/>
          <p:nvPr/>
        </p:nvSpPr>
        <p:spPr>
          <a:xfrm>
            <a:off x="728216" y="154783"/>
            <a:ext cx="3889733"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62" y="-4762"/>
            <a:ext cx="18297525" cy="628650"/>
            <a:chOff x="0" y="0"/>
            <a:chExt cx="24396700" cy="838200"/>
          </a:xfrm>
        </p:grpSpPr>
        <p:sp>
          <p:nvSpPr>
            <p:cNvPr id="3" name="Freeform 3"/>
            <p:cNvSpPr/>
            <p:nvPr/>
          </p:nvSpPr>
          <p:spPr>
            <a:xfrm>
              <a:off x="0" y="0"/>
              <a:ext cx="24396700" cy="838200"/>
            </a:xfrm>
            <a:custGeom>
              <a:avLst/>
              <a:gdLst/>
              <a:ahLst/>
              <a:cxnLst/>
              <a:rect l="l" t="t" r="r" b="b"/>
              <a:pathLst>
                <a:path w="24396700" h="838200">
                  <a:moveTo>
                    <a:pt x="0" y="0"/>
                  </a:moveTo>
                  <a:lnTo>
                    <a:pt x="24396700" y="0"/>
                  </a:lnTo>
                  <a:lnTo>
                    <a:pt x="24396700" y="838200"/>
                  </a:lnTo>
                  <a:lnTo>
                    <a:pt x="0" y="838200"/>
                  </a:lnTo>
                  <a:close/>
                </a:path>
              </a:pathLst>
            </a:custGeom>
            <a:solidFill>
              <a:srgbClr val="E4E7EC"/>
            </a:solidFill>
          </p:spPr>
          <p:txBody>
            <a:bodyPr/>
            <a:lstStyle/>
            <a:p>
              <a:endParaRPr lang="en-TH"/>
            </a:p>
          </p:txBody>
        </p:sp>
      </p:grpSp>
      <p:grpSp>
        <p:nvGrpSpPr>
          <p:cNvPr id="4" name="Group 4"/>
          <p:cNvGrpSpPr/>
          <p:nvPr/>
        </p:nvGrpSpPr>
        <p:grpSpPr>
          <a:xfrm>
            <a:off x="-4762" y="604838"/>
            <a:ext cx="18297525" cy="19050"/>
            <a:chOff x="0" y="0"/>
            <a:chExt cx="24396700" cy="25400"/>
          </a:xfrm>
        </p:grpSpPr>
        <p:sp>
          <p:nvSpPr>
            <p:cNvPr id="5" name="Freeform 5"/>
            <p:cNvSpPr/>
            <p:nvPr/>
          </p:nvSpPr>
          <p:spPr>
            <a:xfrm>
              <a:off x="0" y="0"/>
              <a:ext cx="24396700" cy="25400"/>
            </a:xfrm>
            <a:custGeom>
              <a:avLst/>
              <a:gdLst/>
              <a:ahLst/>
              <a:cxnLst/>
              <a:rect l="l" t="t" r="r" b="b"/>
              <a:pathLst>
                <a:path w="24396700" h="25400">
                  <a:moveTo>
                    <a:pt x="0" y="0"/>
                  </a:moveTo>
                  <a:lnTo>
                    <a:pt x="24396700" y="0"/>
                  </a:lnTo>
                  <a:lnTo>
                    <a:pt x="24396700" y="25400"/>
                  </a:lnTo>
                  <a:lnTo>
                    <a:pt x="0" y="25400"/>
                  </a:lnTo>
                  <a:close/>
                </a:path>
              </a:pathLst>
            </a:custGeom>
            <a:solidFill>
              <a:srgbClr val="C8CCD3"/>
            </a:solidFill>
          </p:spPr>
          <p:txBody>
            <a:bodyPr/>
            <a:lstStyle/>
            <a:p>
              <a:endParaRPr lang="en-TH"/>
            </a:p>
          </p:txBody>
        </p:sp>
      </p:grpSp>
      <p:sp>
        <p:nvSpPr>
          <p:cNvPr id="8" name="TextBox 8"/>
          <p:cNvSpPr txBox="1"/>
          <p:nvPr/>
        </p:nvSpPr>
        <p:spPr>
          <a:xfrm>
            <a:off x="4791989" y="175422"/>
            <a:ext cx="3059001" cy="228600"/>
          </a:xfrm>
          <a:prstGeom prst="rect">
            <a:avLst/>
          </a:prstGeom>
        </p:spPr>
        <p:txBody>
          <a:bodyPr lIns="0" tIns="0" rIns="0" bIns="0" rtlCol="0" anchor="t">
            <a:spAutoFit/>
          </a:bodyPr>
          <a:lstStyle/>
          <a:p>
            <a:pPr marL="0" lvl="0" indent="0" algn="l">
              <a:lnSpc>
                <a:spcPts val="1851"/>
              </a:lnSpc>
            </a:pPr>
            <a:r>
              <a:rPr lang="en-US" sz="1542">
                <a:solidFill>
                  <a:srgbClr val="7A8290"/>
                </a:solidFill>
                <a:latin typeface="JetBrains Mono"/>
                <a:ea typeface="JetBrains Mono"/>
                <a:cs typeface="JetBrains Mono"/>
                <a:sym typeface="JetBrains Mono"/>
              </a:rPr>
              <a:t>Week 1 · Exit Ticket</a:t>
            </a:r>
          </a:p>
        </p:txBody>
      </p:sp>
      <p:sp>
        <p:nvSpPr>
          <p:cNvPr id="9" name="TextBox 9"/>
          <p:cNvSpPr txBox="1"/>
          <p:nvPr/>
        </p:nvSpPr>
        <p:spPr>
          <a:xfrm>
            <a:off x="17017775" y="175422"/>
            <a:ext cx="1059085" cy="234936"/>
          </a:xfrm>
          <a:prstGeom prst="rect">
            <a:avLst/>
          </a:prstGeom>
        </p:spPr>
        <p:txBody>
          <a:bodyPr lIns="0" tIns="0" rIns="0" bIns="0" rtlCol="0" anchor="t">
            <a:spAutoFit/>
          </a:bodyPr>
          <a:lstStyle/>
          <a:p>
            <a:pPr marL="0" lvl="0" indent="0" algn="l">
              <a:lnSpc>
                <a:spcPts val="1851"/>
              </a:lnSpc>
            </a:pPr>
            <a:r>
              <a:rPr lang="en-US" sz="1542" spc="61" dirty="0">
                <a:solidFill>
                  <a:srgbClr val="7A8290"/>
                </a:solidFill>
                <a:latin typeface="JetBrains Mono"/>
                <a:ea typeface="JetBrains Mono"/>
                <a:cs typeface="JetBrains Mono"/>
                <a:sym typeface="JetBrains Mono"/>
              </a:rPr>
              <a:t>31 / 32</a:t>
            </a:r>
          </a:p>
        </p:txBody>
      </p:sp>
      <p:grpSp>
        <p:nvGrpSpPr>
          <p:cNvPr id="10" name="Group 10"/>
          <p:cNvGrpSpPr/>
          <p:nvPr/>
        </p:nvGrpSpPr>
        <p:grpSpPr>
          <a:xfrm>
            <a:off x="909638" y="1519238"/>
            <a:ext cx="1663084" cy="428625"/>
            <a:chOff x="0" y="0"/>
            <a:chExt cx="2217445" cy="571500"/>
          </a:xfrm>
        </p:grpSpPr>
        <p:sp>
          <p:nvSpPr>
            <p:cNvPr id="11" name="Freeform 11"/>
            <p:cNvSpPr/>
            <p:nvPr/>
          </p:nvSpPr>
          <p:spPr>
            <a:xfrm>
              <a:off x="0" y="0"/>
              <a:ext cx="2217420" cy="571500"/>
            </a:xfrm>
            <a:custGeom>
              <a:avLst/>
              <a:gdLst/>
              <a:ahLst/>
              <a:cxnLst/>
              <a:rect l="l" t="t" r="r" b="b"/>
              <a:pathLst>
                <a:path w="2217420" h="571500">
                  <a:moveTo>
                    <a:pt x="0" y="285750"/>
                  </a:moveTo>
                  <a:cubicBezTo>
                    <a:pt x="0" y="127889"/>
                    <a:pt x="127889" y="0"/>
                    <a:pt x="285750" y="0"/>
                  </a:cubicBezTo>
                  <a:lnTo>
                    <a:pt x="1931670" y="0"/>
                  </a:lnTo>
                  <a:cubicBezTo>
                    <a:pt x="2089531" y="0"/>
                    <a:pt x="2217420" y="127889"/>
                    <a:pt x="2217420" y="285750"/>
                  </a:cubicBezTo>
                  <a:cubicBezTo>
                    <a:pt x="2217420" y="443611"/>
                    <a:pt x="2089531" y="571500"/>
                    <a:pt x="1931670" y="571500"/>
                  </a:cubicBezTo>
                  <a:lnTo>
                    <a:pt x="285750" y="571500"/>
                  </a:lnTo>
                  <a:cubicBezTo>
                    <a:pt x="127889" y="571500"/>
                    <a:pt x="0" y="443611"/>
                    <a:pt x="0" y="285750"/>
                  </a:cubicBezTo>
                  <a:close/>
                </a:path>
              </a:pathLst>
            </a:custGeom>
            <a:solidFill>
              <a:srgbClr val="FF5A47"/>
            </a:solidFill>
          </p:spPr>
          <p:txBody>
            <a:bodyPr/>
            <a:lstStyle/>
            <a:p>
              <a:endParaRPr lang="en-TH"/>
            </a:p>
          </p:txBody>
        </p:sp>
      </p:grpSp>
      <p:grpSp>
        <p:nvGrpSpPr>
          <p:cNvPr id="12" name="Group 12"/>
          <p:cNvGrpSpPr/>
          <p:nvPr/>
        </p:nvGrpSpPr>
        <p:grpSpPr>
          <a:xfrm>
            <a:off x="1081087" y="1614488"/>
            <a:ext cx="1320184" cy="276225"/>
            <a:chOff x="0" y="0"/>
            <a:chExt cx="1760245" cy="368300"/>
          </a:xfrm>
        </p:grpSpPr>
        <p:sp>
          <p:nvSpPr>
            <p:cNvPr id="13" name="Freeform 13"/>
            <p:cNvSpPr/>
            <p:nvPr/>
          </p:nvSpPr>
          <p:spPr>
            <a:xfrm>
              <a:off x="0" y="0"/>
              <a:ext cx="1760240" cy="368300"/>
            </a:xfrm>
            <a:custGeom>
              <a:avLst/>
              <a:gdLst/>
              <a:ahLst/>
              <a:cxnLst/>
              <a:rect l="l" t="t" r="r" b="b"/>
              <a:pathLst>
                <a:path w="1760240" h="368300">
                  <a:moveTo>
                    <a:pt x="0" y="0"/>
                  </a:moveTo>
                  <a:lnTo>
                    <a:pt x="1760240" y="0"/>
                  </a:lnTo>
                  <a:lnTo>
                    <a:pt x="1760240" y="368300"/>
                  </a:lnTo>
                  <a:lnTo>
                    <a:pt x="0" y="368300"/>
                  </a:lnTo>
                  <a:close/>
                </a:path>
              </a:pathLst>
            </a:custGeom>
            <a:blipFill>
              <a:blip r:embed="rId3">
                <a:alphaModFix amt="0"/>
              </a:blip>
              <a:stretch>
                <a:fillRect t="-43126" b="-43126"/>
              </a:stretch>
            </a:blipFill>
          </p:spPr>
          <p:txBody>
            <a:bodyPr/>
            <a:lstStyle/>
            <a:p>
              <a:endParaRPr lang="en-TH"/>
            </a:p>
          </p:txBody>
        </p:sp>
        <p:sp>
          <p:nvSpPr>
            <p:cNvPr id="14" name="TextBox 14"/>
            <p:cNvSpPr txBox="1"/>
            <p:nvPr/>
          </p:nvSpPr>
          <p:spPr>
            <a:xfrm>
              <a:off x="0" y="0"/>
              <a:ext cx="1760245" cy="368300"/>
            </a:xfrm>
            <a:prstGeom prst="rect">
              <a:avLst/>
            </a:prstGeom>
          </p:spPr>
          <p:txBody>
            <a:bodyPr lIns="0" tIns="0" rIns="0" bIns="0" rtlCol="0" anchor="ctr"/>
            <a:lstStyle/>
            <a:p>
              <a:pPr marL="0" lvl="0" indent="0" algn="ctr">
                <a:lnSpc>
                  <a:spcPts val="1851"/>
                </a:lnSpc>
              </a:pPr>
              <a:r>
                <a:rPr lang="en-US" sz="1542">
                  <a:solidFill>
                    <a:srgbClr val="FFFFFF"/>
                  </a:solidFill>
                  <a:latin typeface="JetBrains Mono"/>
                  <a:ea typeface="JetBrains Mono"/>
                  <a:cs typeface="JetBrains Mono"/>
                  <a:sym typeface="JetBrains Mono"/>
                </a:rPr>
                <a:t>SLIDE 16</a:t>
              </a:r>
            </a:p>
          </p:txBody>
        </p:sp>
      </p:grpSp>
      <p:sp>
        <p:nvSpPr>
          <p:cNvPr id="15" name="TextBox 15"/>
          <p:cNvSpPr txBox="1"/>
          <p:nvPr/>
        </p:nvSpPr>
        <p:spPr>
          <a:xfrm>
            <a:off x="2817190" y="1604172"/>
            <a:ext cx="2298078" cy="457200"/>
          </a:xfrm>
          <a:prstGeom prst="rect">
            <a:avLst/>
          </a:prstGeom>
        </p:spPr>
        <p:txBody>
          <a:bodyPr lIns="0" tIns="0" rIns="0" bIns="0" rtlCol="0" anchor="t">
            <a:spAutoFit/>
          </a:bodyPr>
          <a:lstStyle/>
          <a:p>
            <a:pPr marL="0" lvl="0" indent="0" algn="l">
              <a:lnSpc>
                <a:spcPts val="1851"/>
              </a:lnSpc>
            </a:pPr>
            <a:r>
              <a:rPr lang="en-US" sz="1542" spc="92">
                <a:solidFill>
                  <a:srgbClr val="7A8290"/>
                </a:solidFill>
                <a:latin typeface="JetBrains Mono"/>
                <a:ea typeface="JetBrains Mono"/>
                <a:cs typeface="JetBrains Mono"/>
                <a:sym typeface="JetBrains Mono"/>
              </a:rPr>
              <a:t>AI CRITIQUE EXIT TICKET</a:t>
            </a:r>
          </a:p>
        </p:txBody>
      </p:sp>
      <p:sp>
        <p:nvSpPr>
          <p:cNvPr id="16" name="TextBox 16"/>
          <p:cNvSpPr txBox="1"/>
          <p:nvPr/>
        </p:nvSpPr>
        <p:spPr>
          <a:xfrm>
            <a:off x="935041" y="2116141"/>
            <a:ext cx="16911704" cy="742950"/>
          </a:xfrm>
          <a:prstGeom prst="rect">
            <a:avLst/>
          </a:prstGeom>
        </p:spPr>
        <p:txBody>
          <a:bodyPr lIns="0" tIns="0" rIns="0" bIns="0" rtlCol="0" anchor="t">
            <a:spAutoFit/>
          </a:bodyPr>
          <a:lstStyle/>
          <a:p>
            <a:pPr marL="0" lvl="0" indent="0" algn="l">
              <a:lnSpc>
                <a:spcPts val="5759"/>
              </a:lnSpc>
            </a:pPr>
            <a:r>
              <a:rPr lang="en-US" sz="4800" b="1" spc="-120">
                <a:solidFill>
                  <a:srgbClr val="0B0F19"/>
                </a:solidFill>
                <a:latin typeface="Arimo Bold"/>
                <a:ea typeface="Arimo Bold"/>
                <a:cs typeface="Arimo Bold"/>
                <a:sym typeface="Arimo Bold"/>
              </a:rPr>
              <a:t>Read, Critique &amp; Fix</a:t>
            </a:r>
          </a:p>
        </p:txBody>
      </p:sp>
      <p:sp>
        <p:nvSpPr>
          <p:cNvPr id="17" name="TextBox 17"/>
          <p:cNvSpPr txBox="1"/>
          <p:nvPr/>
        </p:nvSpPr>
        <p:spPr>
          <a:xfrm>
            <a:off x="935041" y="3298431"/>
            <a:ext cx="6915950" cy="276225"/>
          </a:xfrm>
          <a:prstGeom prst="rect">
            <a:avLst/>
          </a:prstGeom>
        </p:spPr>
        <p:txBody>
          <a:bodyPr lIns="0" tIns="0" rIns="0" bIns="0" rtlCol="0" anchor="t">
            <a:spAutoFit/>
          </a:bodyPr>
          <a:lstStyle/>
          <a:p>
            <a:pPr marL="0" lvl="0" indent="0" algn="l">
              <a:lnSpc>
                <a:spcPts val="2040"/>
              </a:lnSpc>
            </a:pPr>
            <a:r>
              <a:rPr lang="en-US" sz="1700" spc="-24">
                <a:solidFill>
                  <a:srgbClr val="0B0F19"/>
                </a:solidFill>
                <a:latin typeface="Arimo"/>
                <a:ea typeface="Arimo"/>
                <a:cs typeface="Arimo"/>
                <a:sym typeface="Arimo"/>
              </a:rPr>
              <a:t>Scenario</a:t>
            </a:r>
          </a:p>
        </p:txBody>
      </p:sp>
      <p:sp>
        <p:nvSpPr>
          <p:cNvPr id="18" name="TextBox 18"/>
          <p:cNvSpPr txBox="1"/>
          <p:nvPr/>
        </p:nvSpPr>
        <p:spPr>
          <a:xfrm>
            <a:off x="935041" y="3741315"/>
            <a:ext cx="8456504" cy="1477328"/>
          </a:xfrm>
          <a:prstGeom prst="rect">
            <a:avLst/>
          </a:prstGeom>
        </p:spPr>
        <p:txBody>
          <a:bodyPr wrap="square" lIns="0" tIns="0" rIns="0" bIns="0" rtlCol="0" anchor="t">
            <a:spAutoFit/>
          </a:bodyPr>
          <a:lstStyle/>
          <a:p>
            <a:pPr marL="0" lvl="0" indent="0" algn="l"/>
            <a:r>
              <a:rPr lang="en-US" sz="2400" b="1" dirty="0">
                <a:solidFill>
                  <a:schemeClr val="accent4">
                    <a:lumMod val="50000"/>
                  </a:schemeClr>
                </a:solidFill>
                <a:latin typeface="Arimo"/>
                <a:ea typeface="Arimo"/>
                <a:cs typeface="Arimo"/>
                <a:sym typeface="Arimo"/>
              </a:rPr>
              <a:t>"To start a large software project, coding speed is the only thing that matters. If you use AI to write code fast, you do not need to plan architecture, talk to users, or document requirements. Just let AI generate the code and the software will succeed."</a:t>
            </a:r>
          </a:p>
        </p:txBody>
      </p:sp>
      <p:sp>
        <p:nvSpPr>
          <p:cNvPr id="19" name="TextBox 19"/>
          <p:cNvSpPr txBox="1"/>
          <p:nvPr/>
        </p:nvSpPr>
        <p:spPr>
          <a:xfrm>
            <a:off x="909638" y="5593289"/>
            <a:ext cx="6915950" cy="276225"/>
          </a:xfrm>
          <a:prstGeom prst="rect">
            <a:avLst/>
          </a:prstGeom>
        </p:spPr>
        <p:txBody>
          <a:bodyPr lIns="0" tIns="0" rIns="0" bIns="0" rtlCol="0" anchor="t">
            <a:spAutoFit/>
          </a:bodyPr>
          <a:lstStyle/>
          <a:p>
            <a:pPr marL="0" lvl="0" indent="0" algn="l">
              <a:lnSpc>
                <a:spcPts val="2040"/>
              </a:lnSpc>
            </a:pPr>
            <a:r>
              <a:rPr lang="en-US" sz="1700" spc="-24" dirty="0">
                <a:solidFill>
                  <a:srgbClr val="0B0F19"/>
                </a:solidFill>
                <a:latin typeface="Arimo"/>
                <a:ea typeface="Arimo"/>
                <a:cs typeface="Arimo"/>
                <a:sym typeface="Arimo"/>
              </a:rPr>
              <a:t>Your Three Tasks</a:t>
            </a:r>
          </a:p>
        </p:txBody>
      </p:sp>
      <p:sp>
        <p:nvSpPr>
          <p:cNvPr id="20" name="TextBox 20"/>
          <p:cNvSpPr txBox="1"/>
          <p:nvPr/>
        </p:nvSpPr>
        <p:spPr>
          <a:xfrm>
            <a:off x="936307" y="6140053"/>
            <a:ext cx="8760038" cy="1846659"/>
          </a:xfrm>
          <a:prstGeom prst="rect">
            <a:avLst/>
          </a:prstGeom>
        </p:spPr>
        <p:txBody>
          <a:bodyPr wrap="square" lIns="0" tIns="0" rIns="0" bIns="0" rtlCol="0" anchor="t">
            <a:spAutoFit/>
          </a:bodyPr>
          <a:lstStyle/>
          <a:p>
            <a:pPr marL="0" lvl="0" indent="0" algn="l"/>
            <a:r>
              <a:rPr lang="en-US" sz="2400" dirty="0">
                <a:solidFill>
                  <a:srgbClr val="3A4250"/>
                </a:solidFill>
                <a:latin typeface="Arimo"/>
                <a:ea typeface="Arimo"/>
                <a:cs typeface="Arimo"/>
                <a:sym typeface="Arimo"/>
              </a:rPr>
              <a:t>① Spot the error — What is the false claim in the scenario above?</a:t>
            </a:r>
          </a:p>
          <a:p>
            <a:pPr marL="0" lvl="0" indent="0" algn="l"/>
            <a:r>
              <a:rPr lang="en-US" sz="2400" dirty="0">
                <a:solidFill>
                  <a:srgbClr val="3A4250"/>
                </a:solidFill>
                <a:latin typeface="Arimo"/>
                <a:ea typeface="Arimo"/>
                <a:cs typeface="Arimo"/>
                <a:sym typeface="Arimo"/>
              </a:rPr>
              <a:t>② Explain why — Use the doghouse vs. skyscraper analogy or explain why AI alone cannot replace planning.</a:t>
            </a:r>
          </a:p>
          <a:p>
            <a:pPr marL="0" lvl="0" indent="0" algn="l"/>
            <a:r>
              <a:rPr lang="en-US" sz="2400" dirty="0">
                <a:solidFill>
                  <a:srgbClr val="3A4250"/>
                </a:solidFill>
                <a:latin typeface="Arimo"/>
                <a:ea typeface="Arimo"/>
                <a:cs typeface="Arimo"/>
                <a:sym typeface="Arimo"/>
              </a:rPr>
              <a:t>③ Fix it — Name at least two things engineers must prioritize before writing any code.</a:t>
            </a:r>
          </a:p>
        </p:txBody>
      </p:sp>
      <p:sp>
        <p:nvSpPr>
          <p:cNvPr id="21" name="TextBox 21"/>
          <p:cNvSpPr txBox="1"/>
          <p:nvPr/>
        </p:nvSpPr>
        <p:spPr>
          <a:xfrm>
            <a:off x="937441" y="8275533"/>
            <a:ext cx="6915950" cy="276225"/>
          </a:xfrm>
          <a:prstGeom prst="rect">
            <a:avLst/>
          </a:prstGeom>
        </p:spPr>
        <p:txBody>
          <a:bodyPr lIns="0" tIns="0" rIns="0" bIns="0" rtlCol="0" anchor="t">
            <a:spAutoFit/>
          </a:bodyPr>
          <a:lstStyle/>
          <a:p>
            <a:pPr marL="0" lvl="0" indent="0" algn="l">
              <a:lnSpc>
                <a:spcPts val="2040"/>
              </a:lnSpc>
            </a:pPr>
            <a:r>
              <a:rPr lang="en-US" sz="1700" spc="-24" dirty="0">
                <a:solidFill>
                  <a:srgbClr val="0B0F19"/>
                </a:solidFill>
                <a:latin typeface="Arimo"/>
                <a:ea typeface="Arimo"/>
                <a:cs typeface="Arimo"/>
                <a:sym typeface="Arimo"/>
              </a:rPr>
              <a:t>Submit Before Leaving</a:t>
            </a:r>
          </a:p>
        </p:txBody>
      </p:sp>
      <p:sp>
        <p:nvSpPr>
          <p:cNvPr id="22" name="TextBox 22"/>
          <p:cNvSpPr txBox="1"/>
          <p:nvPr/>
        </p:nvSpPr>
        <p:spPr>
          <a:xfrm>
            <a:off x="937441" y="8718416"/>
            <a:ext cx="6915950" cy="1107996"/>
          </a:xfrm>
          <a:prstGeom prst="rect">
            <a:avLst/>
          </a:prstGeom>
        </p:spPr>
        <p:txBody>
          <a:bodyPr lIns="0" tIns="0" rIns="0" bIns="0" rtlCol="0" anchor="t">
            <a:spAutoFit/>
          </a:bodyPr>
          <a:lstStyle/>
          <a:p>
            <a:pPr marL="0" lvl="0" indent="0" algn="l"/>
            <a:r>
              <a:rPr lang="en-US" sz="2400" dirty="0">
                <a:solidFill>
                  <a:srgbClr val="3A4250"/>
                </a:solidFill>
                <a:latin typeface="Arimo"/>
                <a:ea typeface="Arimo"/>
                <a:cs typeface="Arimo"/>
                <a:sym typeface="Arimo"/>
              </a:rPr>
              <a:t>Write on A4 or notebook paper. Include your Full Name and Student ID. Hand in to the instructor before you exit the room.</a:t>
            </a:r>
          </a:p>
        </p:txBody>
      </p:sp>
      <p:grpSp>
        <p:nvGrpSpPr>
          <p:cNvPr id="23" name="Group 23"/>
          <p:cNvGrpSpPr/>
          <p:nvPr/>
        </p:nvGrpSpPr>
        <p:grpSpPr>
          <a:xfrm>
            <a:off x="9637290" y="3292078"/>
            <a:ext cx="7741072" cy="5676900"/>
            <a:chOff x="0" y="0"/>
            <a:chExt cx="10321430" cy="7569200"/>
          </a:xfrm>
        </p:grpSpPr>
        <p:sp>
          <p:nvSpPr>
            <p:cNvPr id="24" name="Freeform 24"/>
            <p:cNvSpPr/>
            <p:nvPr/>
          </p:nvSpPr>
          <p:spPr>
            <a:xfrm>
              <a:off x="0" y="0"/>
              <a:ext cx="10321417" cy="7569200"/>
            </a:xfrm>
            <a:custGeom>
              <a:avLst/>
              <a:gdLst/>
              <a:ahLst/>
              <a:cxnLst/>
              <a:rect l="l" t="t" r="r" b="b"/>
              <a:pathLst>
                <a:path w="10321417" h="7569200">
                  <a:moveTo>
                    <a:pt x="0" y="254381"/>
                  </a:moveTo>
                  <a:cubicBezTo>
                    <a:pt x="0" y="113919"/>
                    <a:pt x="113919" y="0"/>
                    <a:pt x="254381" y="0"/>
                  </a:cubicBezTo>
                  <a:lnTo>
                    <a:pt x="10067036" y="0"/>
                  </a:lnTo>
                  <a:cubicBezTo>
                    <a:pt x="10207498" y="0"/>
                    <a:pt x="10321417" y="113919"/>
                    <a:pt x="10321417" y="254381"/>
                  </a:cubicBezTo>
                  <a:lnTo>
                    <a:pt x="10321417" y="7314819"/>
                  </a:lnTo>
                  <a:cubicBezTo>
                    <a:pt x="10321417" y="7455281"/>
                    <a:pt x="10207498" y="7569200"/>
                    <a:pt x="10067036" y="7569200"/>
                  </a:cubicBezTo>
                  <a:lnTo>
                    <a:pt x="254381" y="7569200"/>
                  </a:lnTo>
                  <a:cubicBezTo>
                    <a:pt x="113919" y="7569200"/>
                    <a:pt x="0" y="7455281"/>
                    <a:pt x="0" y="7314819"/>
                  </a:cubicBezTo>
                  <a:close/>
                </a:path>
              </a:pathLst>
            </a:custGeom>
            <a:solidFill>
              <a:srgbClr val="FFFFFF"/>
            </a:solidFill>
          </p:spPr>
          <p:txBody>
            <a:bodyPr/>
            <a:lstStyle/>
            <a:p>
              <a:endParaRPr lang="en-TH" sz="2800"/>
            </a:p>
          </p:txBody>
        </p:sp>
      </p:grpSp>
      <p:grpSp>
        <p:nvGrpSpPr>
          <p:cNvPr id="25" name="Group 25"/>
          <p:cNvGrpSpPr/>
          <p:nvPr/>
        </p:nvGrpSpPr>
        <p:grpSpPr>
          <a:xfrm>
            <a:off x="10018290" y="3992166"/>
            <a:ext cx="238125" cy="238125"/>
            <a:chOff x="0" y="0"/>
            <a:chExt cx="317500" cy="317500"/>
          </a:xfrm>
        </p:grpSpPr>
        <p:sp>
          <p:nvSpPr>
            <p:cNvPr id="26" name="Freeform 26"/>
            <p:cNvSpPr/>
            <p:nvPr/>
          </p:nvSpPr>
          <p:spPr>
            <a:xfrm>
              <a:off x="0" y="0"/>
              <a:ext cx="317500" cy="317500"/>
            </a:xfrm>
            <a:custGeom>
              <a:avLst/>
              <a:gdLst/>
              <a:ahLst/>
              <a:cxnLst/>
              <a:rect l="l" t="t" r="r" b="b"/>
              <a:pathLst>
                <a:path w="317500" h="317500">
                  <a:moveTo>
                    <a:pt x="0" y="79375"/>
                  </a:moveTo>
                  <a:cubicBezTo>
                    <a:pt x="0" y="35560"/>
                    <a:pt x="35560" y="0"/>
                    <a:pt x="79375" y="0"/>
                  </a:cubicBezTo>
                  <a:lnTo>
                    <a:pt x="238125" y="0"/>
                  </a:lnTo>
                  <a:cubicBezTo>
                    <a:pt x="281940" y="0"/>
                    <a:pt x="317500" y="35560"/>
                    <a:pt x="317500" y="79375"/>
                  </a:cubicBezTo>
                  <a:lnTo>
                    <a:pt x="317500" y="238125"/>
                  </a:lnTo>
                  <a:cubicBezTo>
                    <a:pt x="317500" y="281940"/>
                    <a:pt x="281940" y="317500"/>
                    <a:pt x="238125" y="317500"/>
                  </a:cubicBezTo>
                  <a:lnTo>
                    <a:pt x="79375" y="317500"/>
                  </a:lnTo>
                  <a:cubicBezTo>
                    <a:pt x="35560" y="317500"/>
                    <a:pt x="0" y="281940"/>
                    <a:pt x="0" y="238125"/>
                  </a:cubicBezTo>
                  <a:close/>
                </a:path>
              </a:pathLst>
            </a:custGeom>
            <a:solidFill>
              <a:srgbClr val="2D5BFF"/>
            </a:solidFill>
          </p:spPr>
          <p:txBody>
            <a:bodyPr/>
            <a:lstStyle/>
            <a:p>
              <a:endParaRPr lang="en-TH" sz="2800"/>
            </a:p>
          </p:txBody>
        </p:sp>
      </p:grpSp>
      <p:sp>
        <p:nvSpPr>
          <p:cNvPr id="27" name="TextBox 27"/>
          <p:cNvSpPr txBox="1"/>
          <p:nvPr/>
        </p:nvSpPr>
        <p:spPr>
          <a:xfrm>
            <a:off x="10502160" y="3822306"/>
            <a:ext cx="1999812" cy="307777"/>
          </a:xfrm>
          <a:prstGeom prst="rect">
            <a:avLst/>
          </a:prstGeom>
        </p:spPr>
        <p:txBody>
          <a:bodyPr lIns="0" tIns="0" rIns="0" bIns="0" rtlCol="0" anchor="t">
            <a:spAutoFit/>
          </a:bodyPr>
          <a:lstStyle/>
          <a:p>
            <a:pPr marL="0" lvl="0" indent="0" algn="l"/>
            <a:r>
              <a:rPr lang="en-US" sz="2000">
                <a:solidFill>
                  <a:srgbClr val="0B0F19"/>
                </a:solidFill>
                <a:latin typeface="Arimo"/>
                <a:ea typeface="Arimo"/>
                <a:cs typeface="Arimo"/>
                <a:sym typeface="Arimo"/>
              </a:rPr>
              <a:t>Spot the Error</a:t>
            </a:r>
          </a:p>
        </p:txBody>
      </p:sp>
      <p:sp>
        <p:nvSpPr>
          <p:cNvPr id="28" name="TextBox 28"/>
          <p:cNvSpPr txBox="1"/>
          <p:nvPr/>
        </p:nvSpPr>
        <p:spPr>
          <a:xfrm>
            <a:off x="10502160" y="4180808"/>
            <a:ext cx="3918690" cy="276999"/>
          </a:xfrm>
          <a:prstGeom prst="rect">
            <a:avLst/>
          </a:prstGeom>
        </p:spPr>
        <p:txBody>
          <a:bodyPr wrap="square" lIns="0" tIns="0" rIns="0" bIns="0" rtlCol="0" anchor="t">
            <a:spAutoFit/>
          </a:bodyPr>
          <a:lstStyle/>
          <a:p>
            <a:pPr marL="0" lvl="0" indent="0" algn="l"/>
            <a:r>
              <a:rPr lang="en-US" dirty="0">
                <a:solidFill>
                  <a:srgbClr val="7A8290"/>
                </a:solidFill>
                <a:latin typeface="Arimo"/>
                <a:ea typeface="Arimo"/>
                <a:cs typeface="Arimo"/>
                <a:sym typeface="Arimo"/>
              </a:rPr>
              <a:t>Identify the false assumption</a:t>
            </a:r>
          </a:p>
        </p:txBody>
      </p:sp>
      <p:sp>
        <p:nvSpPr>
          <p:cNvPr id="29" name="TextBox 29"/>
          <p:cNvSpPr txBox="1"/>
          <p:nvPr/>
        </p:nvSpPr>
        <p:spPr>
          <a:xfrm>
            <a:off x="15590710" y="3979640"/>
            <a:ext cx="1381249" cy="276999"/>
          </a:xfrm>
          <a:prstGeom prst="rect">
            <a:avLst/>
          </a:prstGeom>
        </p:spPr>
        <p:txBody>
          <a:bodyPr lIns="0" tIns="0" rIns="0" bIns="0" rtlCol="0" anchor="t">
            <a:spAutoFit/>
          </a:bodyPr>
          <a:lstStyle/>
          <a:p>
            <a:pPr marL="0" lvl="0" indent="0" algn="r"/>
            <a:r>
              <a:rPr lang="en-US">
                <a:solidFill>
                  <a:srgbClr val="7A8290"/>
                </a:solidFill>
                <a:latin typeface="JetBrains Mono"/>
                <a:ea typeface="JetBrains Mono"/>
                <a:cs typeface="JetBrains Mono"/>
                <a:sym typeface="JetBrains Mono"/>
              </a:rPr>
              <a:t>Task 1</a:t>
            </a:r>
          </a:p>
        </p:txBody>
      </p:sp>
      <p:grpSp>
        <p:nvGrpSpPr>
          <p:cNvPr id="30" name="Group 30"/>
          <p:cNvGrpSpPr/>
          <p:nvPr/>
        </p:nvGrpSpPr>
        <p:grpSpPr>
          <a:xfrm>
            <a:off x="9942090" y="4616053"/>
            <a:ext cx="7131472" cy="19050"/>
            <a:chOff x="0" y="0"/>
            <a:chExt cx="9508630" cy="25400"/>
          </a:xfrm>
        </p:grpSpPr>
        <p:sp>
          <p:nvSpPr>
            <p:cNvPr id="31" name="Freeform 31"/>
            <p:cNvSpPr/>
            <p:nvPr/>
          </p:nvSpPr>
          <p:spPr>
            <a:xfrm>
              <a:off x="0" y="0"/>
              <a:ext cx="9508617" cy="25400"/>
            </a:xfrm>
            <a:custGeom>
              <a:avLst/>
              <a:gdLst/>
              <a:ahLst/>
              <a:cxnLst/>
              <a:rect l="l" t="t" r="r" b="b"/>
              <a:pathLst>
                <a:path w="9508617" h="25400">
                  <a:moveTo>
                    <a:pt x="0" y="0"/>
                  </a:moveTo>
                  <a:lnTo>
                    <a:pt x="9508617" y="0"/>
                  </a:lnTo>
                  <a:lnTo>
                    <a:pt x="9508617" y="25400"/>
                  </a:lnTo>
                  <a:lnTo>
                    <a:pt x="0" y="25400"/>
                  </a:lnTo>
                  <a:close/>
                </a:path>
              </a:pathLst>
            </a:custGeom>
            <a:solidFill>
              <a:srgbClr val="ECEEF1"/>
            </a:solidFill>
          </p:spPr>
          <p:txBody>
            <a:bodyPr/>
            <a:lstStyle/>
            <a:p>
              <a:endParaRPr lang="en-TH" sz="2800"/>
            </a:p>
          </p:txBody>
        </p:sp>
      </p:grpSp>
      <p:grpSp>
        <p:nvGrpSpPr>
          <p:cNvPr id="32" name="Group 32"/>
          <p:cNvGrpSpPr/>
          <p:nvPr/>
        </p:nvGrpSpPr>
        <p:grpSpPr>
          <a:xfrm>
            <a:off x="10018290" y="5011341"/>
            <a:ext cx="238125" cy="238125"/>
            <a:chOff x="0" y="0"/>
            <a:chExt cx="317500" cy="317500"/>
          </a:xfrm>
        </p:grpSpPr>
        <p:sp>
          <p:nvSpPr>
            <p:cNvPr id="33" name="Freeform 33"/>
            <p:cNvSpPr/>
            <p:nvPr/>
          </p:nvSpPr>
          <p:spPr>
            <a:xfrm>
              <a:off x="0" y="0"/>
              <a:ext cx="317500" cy="317500"/>
            </a:xfrm>
            <a:custGeom>
              <a:avLst/>
              <a:gdLst/>
              <a:ahLst/>
              <a:cxnLst/>
              <a:rect l="l" t="t" r="r" b="b"/>
              <a:pathLst>
                <a:path w="317500" h="317500">
                  <a:moveTo>
                    <a:pt x="0" y="79375"/>
                  </a:moveTo>
                  <a:cubicBezTo>
                    <a:pt x="0" y="35560"/>
                    <a:pt x="35560" y="0"/>
                    <a:pt x="79375" y="0"/>
                  </a:cubicBezTo>
                  <a:lnTo>
                    <a:pt x="238125" y="0"/>
                  </a:lnTo>
                  <a:cubicBezTo>
                    <a:pt x="281940" y="0"/>
                    <a:pt x="317500" y="35560"/>
                    <a:pt x="317500" y="79375"/>
                  </a:cubicBezTo>
                  <a:lnTo>
                    <a:pt x="317500" y="238125"/>
                  </a:lnTo>
                  <a:cubicBezTo>
                    <a:pt x="317500" y="281940"/>
                    <a:pt x="281940" y="317500"/>
                    <a:pt x="238125" y="317500"/>
                  </a:cubicBezTo>
                  <a:lnTo>
                    <a:pt x="79375" y="317500"/>
                  </a:lnTo>
                  <a:cubicBezTo>
                    <a:pt x="35560" y="317500"/>
                    <a:pt x="0" y="281940"/>
                    <a:pt x="0" y="238125"/>
                  </a:cubicBezTo>
                  <a:close/>
                </a:path>
              </a:pathLst>
            </a:custGeom>
            <a:solidFill>
              <a:srgbClr val="FF5A47"/>
            </a:solidFill>
          </p:spPr>
          <p:txBody>
            <a:bodyPr/>
            <a:lstStyle/>
            <a:p>
              <a:endParaRPr lang="en-TH" sz="2800"/>
            </a:p>
          </p:txBody>
        </p:sp>
      </p:grpSp>
      <p:sp>
        <p:nvSpPr>
          <p:cNvPr id="34" name="TextBox 34"/>
          <p:cNvSpPr txBox="1"/>
          <p:nvPr/>
        </p:nvSpPr>
        <p:spPr>
          <a:xfrm>
            <a:off x="10502160" y="4841481"/>
            <a:ext cx="1553089" cy="307777"/>
          </a:xfrm>
          <a:prstGeom prst="rect">
            <a:avLst/>
          </a:prstGeom>
        </p:spPr>
        <p:txBody>
          <a:bodyPr lIns="0" tIns="0" rIns="0" bIns="0" rtlCol="0" anchor="t">
            <a:spAutoFit/>
          </a:bodyPr>
          <a:lstStyle/>
          <a:p>
            <a:pPr marL="0" lvl="0" indent="0" algn="l"/>
            <a:r>
              <a:rPr lang="en-US" sz="2000">
                <a:solidFill>
                  <a:srgbClr val="0B0F19"/>
                </a:solidFill>
                <a:latin typeface="Arimo"/>
                <a:ea typeface="Arimo"/>
                <a:cs typeface="Arimo"/>
                <a:sym typeface="Arimo"/>
              </a:rPr>
              <a:t>Explain Why</a:t>
            </a:r>
          </a:p>
        </p:txBody>
      </p:sp>
      <p:sp>
        <p:nvSpPr>
          <p:cNvPr id="35" name="TextBox 35"/>
          <p:cNvSpPr txBox="1"/>
          <p:nvPr/>
        </p:nvSpPr>
        <p:spPr>
          <a:xfrm>
            <a:off x="10502160" y="5199983"/>
            <a:ext cx="3709140" cy="276999"/>
          </a:xfrm>
          <a:prstGeom prst="rect">
            <a:avLst/>
          </a:prstGeom>
        </p:spPr>
        <p:txBody>
          <a:bodyPr wrap="square" lIns="0" tIns="0" rIns="0" bIns="0" rtlCol="0" anchor="t">
            <a:spAutoFit/>
          </a:bodyPr>
          <a:lstStyle/>
          <a:p>
            <a:pPr marL="0" lvl="0" indent="0" algn="l"/>
            <a:r>
              <a:rPr lang="en-US" dirty="0">
                <a:solidFill>
                  <a:srgbClr val="7A8290"/>
                </a:solidFill>
                <a:latin typeface="Arimo"/>
                <a:ea typeface="Arimo"/>
                <a:cs typeface="Arimo"/>
                <a:sym typeface="Arimo"/>
              </a:rPr>
              <a:t>doghouse vs. skyscraper analogy</a:t>
            </a:r>
          </a:p>
        </p:txBody>
      </p:sp>
      <p:sp>
        <p:nvSpPr>
          <p:cNvPr id="36" name="TextBox 36"/>
          <p:cNvSpPr txBox="1"/>
          <p:nvPr/>
        </p:nvSpPr>
        <p:spPr>
          <a:xfrm>
            <a:off x="15796955" y="5008340"/>
            <a:ext cx="1175004" cy="276999"/>
          </a:xfrm>
          <a:prstGeom prst="rect">
            <a:avLst/>
          </a:prstGeom>
        </p:spPr>
        <p:txBody>
          <a:bodyPr lIns="0" tIns="0" rIns="0" bIns="0" rtlCol="0" anchor="t">
            <a:spAutoFit/>
          </a:bodyPr>
          <a:lstStyle/>
          <a:p>
            <a:pPr marL="0" lvl="0" indent="0" algn="r"/>
            <a:r>
              <a:rPr lang="en-US">
                <a:solidFill>
                  <a:srgbClr val="7A8290"/>
                </a:solidFill>
                <a:latin typeface="JetBrains Mono"/>
                <a:ea typeface="JetBrains Mono"/>
                <a:cs typeface="JetBrains Mono"/>
                <a:sym typeface="JetBrains Mono"/>
              </a:rPr>
              <a:t>Task 2</a:t>
            </a:r>
          </a:p>
        </p:txBody>
      </p:sp>
      <p:grpSp>
        <p:nvGrpSpPr>
          <p:cNvPr id="37" name="Group 37"/>
          <p:cNvGrpSpPr/>
          <p:nvPr/>
        </p:nvGrpSpPr>
        <p:grpSpPr>
          <a:xfrm>
            <a:off x="9942090" y="5625703"/>
            <a:ext cx="7131472" cy="19050"/>
            <a:chOff x="0" y="0"/>
            <a:chExt cx="9508630" cy="25400"/>
          </a:xfrm>
        </p:grpSpPr>
        <p:sp>
          <p:nvSpPr>
            <p:cNvPr id="38" name="Freeform 38"/>
            <p:cNvSpPr/>
            <p:nvPr/>
          </p:nvSpPr>
          <p:spPr>
            <a:xfrm>
              <a:off x="0" y="0"/>
              <a:ext cx="9508617" cy="25400"/>
            </a:xfrm>
            <a:custGeom>
              <a:avLst/>
              <a:gdLst/>
              <a:ahLst/>
              <a:cxnLst/>
              <a:rect l="l" t="t" r="r" b="b"/>
              <a:pathLst>
                <a:path w="9508617" h="25400">
                  <a:moveTo>
                    <a:pt x="0" y="0"/>
                  </a:moveTo>
                  <a:lnTo>
                    <a:pt x="9508617" y="0"/>
                  </a:lnTo>
                  <a:lnTo>
                    <a:pt x="9508617" y="25400"/>
                  </a:lnTo>
                  <a:lnTo>
                    <a:pt x="0" y="25400"/>
                  </a:lnTo>
                  <a:close/>
                </a:path>
              </a:pathLst>
            </a:custGeom>
            <a:solidFill>
              <a:srgbClr val="ECEEF1"/>
            </a:solidFill>
          </p:spPr>
          <p:txBody>
            <a:bodyPr/>
            <a:lstStyle/>
            <a:p>
              <a:endParaRPr lang="en-TH" sz="2800"/>
            </a:p>
          </p:txBody>
        </p:sp>
      </p:grpSp>
      <p:grpSp>
        <p:nvGrpSpPr>
          <p:cNvPr id="39" name="Group 39"/>
          <p:cNvGrpSpPr/>
          <p:nvPr/>
        </p:nvGrpSpPr>
        <p:grpSpPr>
          <a:xfrm>
            <a:off x="10018290" y="6020991"/>
            <a:ext cx="238125" cy="238125"/>
            <a:chOff x="0" y="0"/>
            <a:chExt cx="317500" cy="317500"/>
          </a:xfrm>
        </p:grpSpPr>
        <p:sp>
          <p:nvSpPr>
            <p:cNvPr id="40" name="Freeform 40"/>
            <p:cNvSpPr/>
            <p:nvPr/>
          </p:nvSpPr>
          <p:spPr>
            <a:xfrm>
              <a:off x="0" y="0"/>
              <a:ext cx="317500" cy="317500"/>
            </a:xfrm>
            <a:custGeom>
              <a:avLst/>
              <a:gdLst/>
              <a:ahLst/>
              <a:cxnLst/>
              <a:rect l="l" t="t" r="r" b="b"/>
              <a:pathLst>
                <a:path w="317500" h="317500">
                  <a:moveTo>
                    <a:pt x="0" y="79375"/>
                  </a:moveTo>
                  <a:cubicBezTo>
                    <a:pt x="0" y="35560"/>
                    <a:pt x="35560" y="0"/>
                    <a:pt x="79375" y="0"/>
                  </a:cubicBezTo>
                  <a:lnTo>
                    <a:pt x="238125" y="0"/>
                  </a:lnTo>
                  <a:cubicBezTo>
                    <a:pt x="281940" y="0"/>
                    <a:pt x="317500" y="35560"/>
                    <a:pt x="317500" y="79375"/>
                  </a:cubicBezTo>
                  <a:lnTo>
                    <a:pt x="317500" y="238125"/>
                  </a:lnTo>
                  <a:cubicBezTo>
                    <a:pt x="317500" y="281940"/>
                    <a:pt x="281940" y="317500"/>
                    <a:pt x="238125" y="317500"/>
                  </a:cubicBezTo>
                  <a:lnTo>
                    <a:pt x="79375" y="317500"/>
                  </a:lnTo>
                  <a:cubicBezTo>
                    <a:pt x="35560" y="317500"/>
                    <a:pt x="0" y="281940"/>
                    <a:pt x="0" y="238125"/>
                  </a:cubicBezTo>
                  <a:close/>
                </a:path>
              </a:pathLst>
            </a:custGeom>
            <a:solidFill>
              <a:srgbClr val="FFC233"/>
            </a:solidFill>
          </p:spPr>
          <p:txBody>
            <a:bodyPr/>
            <a:lstStyle/>
            <a:p>
              <a:endParaRPr lang="en-TH" sz="2800"/>
            </a:p>
          </p:txBody>
        </p:sp>
      </p:grpSp>
      <p:sp>
        <p:nvSpPr>
          <p:cNvPr id="41" name="TextBox 41"/>
          <p:cNvSpPr txBox="1"/>
          <p:nvPr/>
        </p:nvSpPr>
        <p:spPr>
          <a:xfrm>
            <a:off x="10502160" y="5851131"/>
            <a:ext cx="1350845" cy="307777"/>
          </a:xfrm>
          <a:prstGeom prst="rect">
            <a:avLst/>
          </a:prstGeom>
        </p:spPr>
        <p:txBody>
          <a:bodyPr lIns="0" tIns="0" rIns="0" bIns="0" rtlCol="0" anchor="t">
            <a:spAutoFit/>
          </a:bodyPr>
          <a:lstStyle/>
          <a:p>
            <a:pPr marL="0" lvl="0" indent="0" algn="l"/>
            <a:r>
              <a:rPr lang="en-US" sz="2000">
                <a:solidFill>
                  <a:srgbClr val="0B0F19"/>
                </a:solidFill>
                <a:latin typeface="Arimo"/>
                <a:ea typeface="Arimo"/>
                <a:cs typeface="Arimo"/>
                <a:sym typeface="Arimo"/>
              </a:rPr>
              <a:t>Fix It</a:t>
            </a:r>
          </a:p>
        </p:txBody>
      </p:sp>
      <p:sp>
        <p:nvSpPr>
          <p:cNvPr id="42" name="TextBox 42"/>
          <p:cNvSpPr txBox="1"/>
          <p:nvPr/>
        </p:nvSpPr>
        <p:spPr>
          <a:xfrm>
            <a:off x="10502160" y="6209633"/>
            <a:ext cx="4109190" cy="276999"/>
          </a:xfrm>
          <a:prstGeom prst="rect">
            <a:avLst/>
          </a:prstGeom>
        </p:spPr>
        <p:txBody>
          <a:bodyPr wrap="square" lIns="0" tIns="0" rIns="0" bIns="0" rtlCol="0" anchor="t">
            <a:spAutoFit/>
          </a:bodyPr>
          <a:lstStyle/>
          <a:p>
            <a:pPr marL="0" lvl="0" indent="0" algn="l"/>
            <a:r>
              <a:rPr lang="en-US" dirty="0">
                <a:solidFill>
                  <a:srgbClr val="7A8290"/>
                </a:solidFill>
                <a:latin typeface="Arimo"/>
                <a:ea typeface="Arimo"/>
                <a:cs typeface="Arimo"/>
                <a:sym typeface="Arimo"/>
              </a:rPr>
              <a:t>priorities before coding begins</a:t>
            </a:r>
          </a:p>
        </p:txBody>
      </p:sp>
      <p:sp>
        <p:nvSpPr>
          <p:cNvPr id="43" name="TextBox 43"/>
          <p:cNvSpPr txBox="1"/>
          <p:nvPr/>
        </p:nvSpPr>
        <p:spPr>
          <a:xfrm>
            <a:off x="15803089" y="6001150"/>
            <a:ext cx="1166470" cy="276999"/>
          </a:xfrm>
          <a:prstGeom prst="rect">
            <a:avLst/>
          </a:prstGeom>
        </p:spPr>
        <p:txBody>
          <a:bodyPr lIns="0" tIns="0" rIns="0" bIns="0" rtlCol="0" anchor="t">
            <a:spAutoFit/>
          </a:bodyPr>
          <a:lstStyle/>
          <a:p>
            <a:pPr marL="0" lvl="0" indent="0" algn="r"/>
            <a:r>
              <a:rPr lang="en-US">
                <a:solidFill>
                  <a:srgbClr val="7A8290"/>
                </a:solidFill>
                <a:latin typeface="JetBrains Mono"/>
                <a:ea typeface="JetBrains Mono"/>
                <a:cs typeface="JetBrains Mono"/>
                <a:sym typeface="JetBrains Mono"/>
              </a:rPr>
              <a:t>Task 3</a:t>
            </a:r>
          </a:p>
        </p:txBody>
      </p:sp>
      <p:grpSp>
        <p:nvGrpSpPr>
          <p:cNvPr id="44" name="Group 44"/>
          <p:cNvGrpSpPr/>
          <p:nvPr/>
        </p:nvGrpSpPr>
        <p:grpSpPr>
          <a:xfrm>
            <a:off x="9942090" y="6635353"/>
            <a:ext cx="7131472" cy="19050"/>
            <a:chOff x="0" y="0"/>
            <a:chExt cx="9508630" cy="25400"/>
          </a:xfrm>
        </p:grpSpPr>
        <p:sp>
          <p:nvSpPr>
            <p:cNvPr id="45" name="Freeform 45"/>
            <p:cNvSpPr/>
            <p:nvPr/>
          </p:nvSpPr>
          <p:spPr>
            <a:xfrm>
              <a:off x="0" y="0"/>
              <a:ext cx="9508617" cy="25400"/>
            </a:xfrm>
            <a:custGeom>
              <a:avLst/>
              <a:gdLst/>
              <a:ahLst/>
              <a:cxnLst/>
              <a:rect l="l" t="t" r="r" b="b"/>
              <a:pathLst>
                <a:path w="9508617" h="25400">
                  <a:moveTo>
                    <a:pt x="0" y="0"/>
                  </a:moveTo>
                  <a:lnTo>
                    <a:pt x="9508617" y="0"/>
                  </a:lnTo>
                  <a:lnTo>
                    <a:pt x="9508617" y="25400"/>
                  </a:lnTo>
                  <a:lnTo>
                    <a:pt x="0" y="25400"/>
                  </a:lnTo>
                  <a:close/>
                </a:path>
              </a:pathLst>
            </a:custGeom>
            <a:solidFill>
              <a:srgbClr val="ECEEF1"/>
            </a:solidFill>
          </p:spPr>
          <p:txBody>
            <a:bodyPr/>
            <a:lstStyle/>
            <a:p>
              <a:endParaRPr lang="en-TH" sz="2800"/>
            </a:p>
          </p:txBody>
        </p:sp>
      </p:grpSp>
      <p:grpSp>
        <p:nvGrpSpPr>
          <p:cNvPr id="46" name="Group 46"/>
          <p:cNvGrpSpPr/>
          <p:nvPr/>
        </p:nvGrpSpPr>
        <p:grpSpPr>
          <a:xfrm>
            <a:off x="10018290" y="7030641"/>
            <a:ext cx="238125" cy="238125"/>
            <a:chOff x="0" y="0"/>
            <a:chExt cx="317500" cy="317500"/>
          </a:xfrm>
        </p:grpSpPr>
        <p:sp>
          <p:nvSpPr>
            <p:cNvPr id="47" name="Freeform 47"/>
            <p:cNvSpPr/>
            <p:nvPr/>
          </p:nvSpPr>
          <p:spPr>
            <a:xfrm>
              <a:off x="0" y="0"/>
              <a:ext cx="317500" cy="317500"/>
            </a:xfrm>
            <a:custGeom>
              <a:avLst/>
              <a:gdLst/>
              <a:ahLst/>
              <a:cxnLst/>
              <a:rect l="l" t="t" r="r" b="b"/>
              <a:pathLst>
                <a:path w="317500" h="317500">
                  <a:moveTo>
                    <a:pt x="0" y="79375"/>
                  </a:moveTo>
                  <a:cubicBezTo>
                    <a:pt x="0" y="35560"/>
                    <a:pt x="35560" y="0"/>
                    <a:pt x="79375" y="0"/>
                  </a:cubicBezTo>
                  <a:lnTo>
                    <a:pt x="238125" y="0"/>
                  </a:lnTo>
                  <a:cubicBezTo>
                    <a:pt x="281940" y="0"/>
                    <a:pt x="317500" y="35560"/>
                    <a:pt x="317500" y="79375"/>
                  </a:cubicBezTo>
                  <a:lnTo>
                    <a:pt x="317500" y="238125"/>
                  </a:lnTo>
                  <a:cubicBezTo>
                    <a:pt x="317500" y="281940"/>
                    <a:pt x="281940" y="317500"/>
                    <a:pt x="238125" y="317500"/>
                  </a:cubicBezTo>
                  <a:lnTo>
                    <a:pt x="79375" y="317500"/>
                  </a:lnTo>
                  <a:cubicBezTo>
                    <a:pt x="35560" y="317500"/>
                    <a:pt x="0" y="281940"/>
                    <a:pt x="0" y="238125"/>
                  </a:cubicBezTo>
                  <a:close/>
                </a:path>
              </a:pathLst>
            </a:custGeom>
            <a:solidFill>
              <a:srgbClr val="16B670"/>
            </a:solidFill>
          </p:spPr>
          <p:txBody>
            <a:bodyPr/>
            <a:lstStyle/>
            <a:p>
              <a:endParaRPr lang="en-TH" sz="2800"/>
            </a:p>
          </p:txBody>
        </p:sp>
      </p:grpSp>
      <p:sp>
        <p:nvSpPr>
          <p:cNvPr id="48" name="TextBox 48"/>
          <p:cNvSpPr txBox="1"/>
          <p:nvPr/>
        </p:nvSpPr>
        <p:spPr>
          <a:xfrm>
            <a:off x="10502160" y="6860781"/>
            <a:ext cx="3294459" cy="307777"/>
          </a:xfrm>
          <a:prstGeom prst="rect">
            <a:avLst/>
          </a:prstGeom>
        </p:spPr>
        <p:txBody>
          <a:bodyPr lIns="0" tIns="0" rIns="0" bIns="0" rtlCol="0" anchor="t">
            <a:spAutoFit/>
          </a:bodyPr>
          <a:lstStyle/>
          <a:p>
            <a:pPr marL="0" lvl="0" indent="0" algn="l"/>
            <a:r>
              <a:rPr lang="en-US" sz="2000">
                <a:solidFill>
                  <a:srgbClr val="0B0F19"/>
                </a:solidFill>
                <a:latin typeface="Arimo"/>
                <a:ea typeface="Arimo"/>
                <a:cs typeface="Arimo"/>
                <a:sym typeface="Arimo"/>
              </a:rPr>
              <a:t>References</a:t>
            </a:r>
          </a:p>
        </p:txBody>
      </p:sp>
      <p:sp>
        <p:nvSpPr>
          <p:cNvPr id="49" name="TextBox 49"/>
          <p:cNvSpPr txBox="1"/>
          <p:nvPr/>
        </p:nvSpPr>
        <p:spPr>
          <a:xfrm>
            <a:off x="10502160" y="7219283"/>
            <a:ext cx="4433040" cy="276999"/>
          </a:xfrm>
          <a:prstGeom prst="rect">
            <a:avLst/>
          </a:prstGeom>
        </p:spPr>
        <p:txBody>
          <a:bodyPr wrap="square" lIns="0" tIns="0" rIns="0" bIns="0" rtlCol="0" anchor="t">
            <a:spAutoFit/>
          </a:bodyPr>
          <a:lstStyle/>
          <a:p>
            <a:pPr marL="0" lvl="0" indent="0" algn="l"/>
            <a:r>
              <a:rPr lang="en-US" dirty="0">
                <a:solidFill>
                  <a:srgbClr val="7A8290"/>
                </a:solidFill>
                <a:latin typeface="Arimo"/>
                <a:ea typeface="Arimo"/>
                <a:cs typeface="Arimo"/>
                <a:sym typeface="Arimo"/>
              </a:rPr>
              <a:t>Sommerville 2015 · IEEE Std 610.12-1990</a:t>
            </a:r>
          </a:p>
        </p:txBody>
      </p:sp>
      <p:sp>
        <p:nvSpPr>
          <p:cNvPr id="50" name="TextBox 50"/>
          <p:cNvSpPr txBox="1"/>
          <p:nvPr/>
        </p:nvSpPr>
        <p:spPr>
          <a:xfrm>
            <a:off x="14935200" y="7010800"/>
            <a:ext cx="2036759" cy="276999"/>
          </a:xfrm>
          <a:prstGeom prst="rect">
            <a:avLst/>
          </a:prstGeom>
        </p:spPr>
        <p:txBody>
          <a:bodyPr wrap="square" lIns="0" tIns="0" rIns="0" bIns="0" rtlCol="0" anchor="t">
            <a:spAutoFit/>
          </a:bodyPr>
          <a:lstStyle/>
          <a:p>
            <a:pPr marL="0" lvl="0" indent="0" algn="r"/>
            <a:r>
              <a:rPr lang="en-US" dirty="0">
                <a:solidFill>
                  <a:srgbClr val="7A8290"/>
                </a:solidFill>
                <a:latin typeface="JetBrains Mono"/>
                <a:ea typeface="JetBrains Mono"/>
                <a:cs typeface="JetBrains Mono"/>
                <a:sym typeface="JetBrains Mono"/>
              </a:rPr>
              <a:t>O'Reilly 2023</a:t>
            </a:r>
          </a:p>
        </p:txBody>
      </p:sp>
      <p:grpSp>
        <p:nvGrpSpPr>
          <p:cNvPr id="51" name="Group 51"/>
          <p:cNvGrpSpPr/>
          <p:nvPr/>
        </p:nvGrpSpPr>
        <p:grpSpPr>
          <a:xfrm>
            <a:off x="9942090" y="7645003"/>
            <a:ext cx="7131472" cy="19050"/>
            <a:chOff x="0" y="0"/>
            <a:chExt cx="9508630" cy="25400"/>
          </a:xfrm>
        </p:grpSpPr>
        <p:sp>
          <p:nvSpPr>
            <p:cNvPr id="52" name="Freeform 52"/>
            <p:cNvSpPr/>
            <p:nvPr/>
          </p:nvSpPr>
          <p:spPr>
            <a:xfrm>
              <a:off x="0" y="0"/>
              <a:ext cx="9508617" cy="25400"/>
            </a:xfrm>
            <a:custGeom>
              <a:avLst/>
              <a:gdLst/>
              <a:ahLst/>
              <a:cxnLst/>
              <a:rect l="l" t="t" r="r" b="b"/>
              <a:pathLst>
                <a:path w="9508617" h="25400">
                  <a:moveTo>
                    <a:pt x="0" y="0"/>
                  </a:moveTo>
                  <a:lnTo>
                    <a:pt x="9508617" y="0"/>
                  </a:lnTo>
                  <a:lnTo>
                    <a:pt x="9508617" y="25400"/>
                  </a:lnTo>
                  <a:lnTo>
                    <a:pt x="0" y="25400"/>
                  </a:lnTo>
                  <a:close/>
                </a:path>
              </a:pathLst>
            </a:custGeom>
            <a:solidFill>
              <a:srgbClr val="ECEEF1"/>
            </a:solidFill>
          </p:spPr>
          <p:txBody>
            <a:bodyPr/>
            <a:lstStyle/>
            <a:p>
              <a:endParaRPr lang="en-TH" sz="2800"/>
            </a:p>
          </p:txBody>
        </p:sp>
      </p:grpSp>
      <p:grpSp>
        <p:nvGrpSpPr>
          <p:cNvPr id="53" name="Group 53"/>
          <p:cNvGrpSpPr/>
          <p:nvPr/>
        </p:nvGrpSpPr>
        <p:grpSpPr>
          <a:xfrm>
            <a:off x="10018290" y="8040291"/>
            <a:ext cx="238125" cy="238125"/>
            <a:chOff x="0" y="0"/>
            <a:chExt cx="317500" cy="317500"/>
          </a:xfrm>
        </p:grpSpPr>
        <p:sp>
          <p:nvSpPr>
            <p:cNvPr id="54" name="Freeform 54"/>
            <p:cNvSpPr/>
            <p:nvPr/>
          </p:nvSpPr>
          <p:spPr>
            <a:xfrm>
              <a:off x="0" y="0"/>
              <a:ext cx="317500" cy="317500"/>
            </a:xfrm>
            <a:custGeom>
              <a:avLst/>
              <a:gdLst/>
              <a:ahLst/>
              <a:cxnLst/>
              <a:rect l="l" t="t" r="r" b="b"/>
              <a:pathLst>
                <a:path w="317500" h="317500">
                  <a:moveTo>
                    <a:pt x="0" y="79375"/>
                  </a:moveTo>
                  <a:cubicBezTo>
                    <a:pt x="0" y="35560"/>
                    <a:pt x="35560" y="0"/>
                    <a:pt x="79375" y="0"/>
                  </a:cubicBezTo>
                  <a:lnTo>
                    <a:pt x="238125" y="0"/>
                  </a:lnTo>
                  <a:cubicBezTo>
                    <a:pt x="281940" y="0"/>
                    <a:pt x="317500" y="35560"/>
                    <a:pt x="317500" y="79375"/>
                  </a:cubicBezTo>
                  <a:lnTo>
                    <a:pt x="317500" y="238125"/>
                  </a:lnTo>
                  <a:cubicBezTo>
                    <a:pt x="317500" y="281940"/>
                    <a:pt x="281940" y="317500"/>
                    <a:pt x="238125" y="317500"/>
                  </a:cubicBezTo>
                  <a:lnTo>
                    <a:pt x="79375" y="317500"/>
                  </a:lnTo>
                  <a:cubicBezTo>
                    <a:pt x="35560" y="317500"/>
                    <a:pt x="0" y="281940"/>
                    <a:pt x="0" y="238125"/>
                  </a:cubicBezTo>
                  <a:close/>
                </a:path>
              </a:pathLst>
            </a:custGeom>
            <a:solidFill>
              <a:srgbClr val="7A4FFF"/>
            </a:solidFill>
          </p:spPr>
          <p:txBody>
            <a:bodyPr/>
            <a:lstStyle/>
            <a:p>
              <a:endParaRPr lang="en-TH" sz="2800"/>
            </a:p>
          </p:txBody>
        </p:sp>
      </p:grpSp>
      <p:sp>
        <p:nvSpPr>
          <p:cNvPr id="55" name="TextBox 55"/>
          <p:cNvSpPr txBox="1"/>
          <p:nvPr/>
        </p:nvSpPr>
        <p:spPr>
          <a:xfrm>
            <a:off x="10502160" y="7870431"/>
            <a:ext cx="593503" cy="307777"/>
          </a:xfrm>
          <a:prstGeom prst="rect">
            <a:avLst/>
          </a:prstGeom>
        </p:spPr>
        <p:txBody>
          <a:bodyPr lIns="0" tIns="0" rIns="0" bIns="0" rtlCol="0" anchor="t">
            <a:spAutoFit/>
          </a:bodyPr>
          <a:lstStyle/>
          <a:p>
            <a:pPr marL="0" lvl="0" indent="0" algn="l"/>
            <a:r>
              <a:rPr lang="en-US" sz="2000">
                <a:solidFill>
                  <a:srgbClr val="0B0F19"/>
                </a:solidFill>
                <a:latin typeface="Arimo"/>
                <a:ea typeface="Arimo"/>
                <a:cs typeface="Arimo"/>
                <a:sym typeface="Arimo"/>
              </a:rPr>
              <a:t>Due</a:t>
            </a:r>
          </a:p>
        </p:txBody>
      </p:sp>
      <p:sp>
        <p:nvSpPr>
          <p:cNvPr id="56" name="TextBox 56"/>
          <p:cNvSpPr txBox="1"/>
          <p:nvPr/>
        </p:nvSpPr>
        <p:spPr>
          <a:xfrm>
            <a:off x="10502160" y="8166002"/>
            <a:ext cx="2248319" cy="276999"/>
          </a:xfrm>
          <a:prstGeom prst="rect">
            <a:avLst/>
          </a:prstGeom>
        </p:spPr>
        <p:txBody>
          <a:bodyPr lIns="0" tIns="0" rIns="0" bIns="0" rtlCol="0" anchor="t">
            <a:spAutoFit/>
          </a:bodyPr>
          <a:lstStyle/>
          <a:p>
            <a:pPr marL="0" lvl="0" indent="0" algn="l"/>
            <a:r>
              <a:rPr lang="en-US">
                <a:solidFill>
                  <a:srgbClr val="7A8290"/>
                </a:solidFill>
                <a:latin typeface="Arimo"/>
                <a:ea typeface="Arimo"/>
                <a:cs typeface="Arimo"/>
                <a:sym typeface="Arimo"/>
              </a:rPr>
              <a:t>End of class · today</a:t>
            </a:r>
          </a:p>
        </p:txBody>
      </p:sp>
      <p:sp>
        <p:nvSpPr>
          <p:cNvPr id="57" name="TextBox 57"/>
          <p:cNvSpPr txBox="1"/>
          <p:nvPr/>
        </p:nvSpPr>
        <p:spPr>
          <a:xfrm>
            <a:off x="16227409" y="8029127"/>
            <a:ext cx="744550" cy="553998"/>
          </a:xfrm>
          <a:prstGeom prst="rect">
            <a:avLst/>
          </a:prstGeom>
        </p:spPr>
        <p:txBody>
          <a:bodyPr lIns="0" tIns="0" rIns="0" bIns="0" rtlCol="0" anchor="t">
            <a:spAutoFit/>
          </a:bodyPr>
          <a:lstStyle/>
          <a:p>
            <a:pPr marL="0" lvl="0" indent="0" algn="r"/>
            <a:r>
              <a:rPr lang="en-US">
                <a:solidFill>
                  <a:srgbClr val="7A8290"/>
                </a:solidFill>
                <a:latin typeface="JetBrains Mono"/>
                <a:ea typeface="JetBrains Mono"/>
                <a:cs typeface="JetBrains Mono"/>
                <a:sym typeface="JetBrains Mono"/>
              </a:rPr>
              <a:t>Name + ID</a:t>
            </a:r>
          </a:p>
        </p:txBody>
      </p:sp>
      <p:sp>
        <p:nvSpPr>
          <p:cNvPr id="58" name="Text 2">
            <a:extLst>
              <a:ext uri="{FF2B5EF4-FFF2-40B4-BE49-F238E27FC236}">
                <a16:creationId xmlns:a16="http://schemas.microsoft.com/office/drawing/2014/main" id="{6BA77CA9-4169-4987-C73D-FAA79752CEB5}"/>
              </a:ext>
            </a:extLst>
          </p:cNvPr>
          <p:cNvSpPr/>
          <p:nvPr/>
        </p:nvSpPr>
        <p:spPr>
          <a:xfrm>
            <a:off x="266701" y="154783"/>
            <a:ext cx="213866" cy="338138"/>
          </a:xfrm>
          <a:prstGeom prst="rect">
            <a:avLst/>
          </a:prstGeom>
          <a:noFill/>
          <a:ln w="9525"/>
        </p:spPr>
        <p:txBody>
          <a:bodyPr wrap="square" lIns="25400" tIns="25400" rIns="25400" bIns="25400" rtlCol="0" anchor="t">
            <a:normAutofit/>
          </a:bodyPr>
          <a:lstStyle/>
          <a:p>
            <a:r>
              <a:rPr lang="en-US" b="1" dirty="0">
                <a:solidFill>
                  <a:srgbClr val="0B0F19"/>
                </a:solidFill>
                <a:latin typeface="JetBrains Mono" pitchFamily="34" charset="0"/>
                <a:ea typeface="JetBrains Mono" pitchFamily="34" charset="-122"/>
                <a:cs typeface="JetBrains Mono" pitchFamily="34" charset="-120"/>
              </a:rPr>
              <a:t>▶</a:t>
            </a:r>
            <a:endParaRPr lang="en-US" dirty="0"/>
          </a:p>
        </p:txBody>
      </p:sp>
      <p:sp>
        <p:nvSpPr>
          <p:cNvPr id="59" name="Text 3">
            <a:extLst>
              <a:ext uri="{FF2B5EF4-FFF2-40B4-BE49-F238E27FC236}">
                <a16:creationId xmlns:a16="http://schemas.microsoft.com/office/drawing/2014/main" id="{81705BAA-A397-AC3F-A6D3-15707431A917}"/>
              </a:ext>
            </a:extLst>
          </p:cNvPr>
          <p:cNvSpPr/>
          <p:nvPr/>
        </p:nvSpPr>
        <p:spPr>
          <a:xfrm>
            <a:off x="728216" y="154783"/>
            <a:ext cx="3889733"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5">
    <p:bg>
      <p:bgPr>
        <a:solidFill>
          <a:srgbClr val="EEF0F3"/>
        </a:solidFill>
        <a:effectLst/>
      </p:bgPr>
    </p:bg>
    <p:spTree>
      <p:nvGrpSpPr>
        <p:cNvPr id="1" name=""/>
        <p:cNvGrpSpPr/>
        <p:nvPr/>
      </p:nvGrpSpPr>
      <p:grpSpPr>
        <a:xfrm>
          <a:off x="0" y="0"/>
          <a:ext cx="0" cy="0"/>
          <a:chOff x="0" y="0"/>
          <a:chExt cx="0" cy="0"/>
        </a:xfrm>
      </p:grpSpPr>
      <p:sp>
        <p:nvSpPr>
          <p:cNvPr id="2" name="Shape 0"/>
          <p:cNvSpPr/>
          <p:nvPr/>
        </p:nvSpPr>
        <p:spPr>
          <a:xfrm>
            <a:off x="0" y="0"/>
            <a:ext cx="18288000" cy="619125"/>
          </a:xfrm>
          <a:prstGeom prst="rect">
            <a:avLst/>
          </a:prstGeom>
          <a:solidFill>
            <a:srgbClr val="E4E7EC"/>
          </a:solidFill>
          <a:ln w="9525"/>
        </p:spPr>
        <p:txBody>
          <a:bodyPr/>
          <a:lstStyle/>
          <a:p>
            <a:endParaRPr lang="en-TH"/>
          </a:p>
        </p:txBody>
      </p:sp>
      <p:sp>
        <p:nvSpPr>
          <p:cNvPr id="3" name="Shape 1"/>
          <p:cNvSpPr/>
          <p:nvPr/>
        </p:nvSpPr>
        <p:spPr>
          <a:xfrm>
            <a:off x="0" y="609600"/>
            <a:ext cx="18288000" cy="9525"/>
          </a:xfrm>
          <a:prstGeom prst="rect">
            <a:avLst/>
          </a:prstGeom>
          <a:solidFill>
            <a:srgbClr val="C8CCD3"/>
          </a:solidFill>
          <a:ln w="9525"/>
        </p:spPr>
        <p:txBody>
          <a:bodyPr/>
          <a:lstStyle/>
          <a:p>
            <a:endParaRPr lang="en-TH"/>
          </a:p>
        </p:txBody>
      </p:sp>
      <p:sp>
        <p:nvSpPr>
          <p:cNvPr id="6" name="Text 4"/>
          <p:cNvSpPr/>
          <p:nvPr/>
        </p:nvSpPr>
        <p:spPr>
          <a:xfrm>
            <a:off x="4771355" y="154781"/>
            <a:ext cx="1714574" cy="338138"/>
          </a:xfrm>
          <a:prstGeom prst="rect">
            <a:avLst/>
          </a:prstGeom>
          <a:noFill/>
          <a:ln w="9525"/>
        </p:spPr>
        <p:txBody>
          <a:bodyPr wrap="square" lIns="25400" tIns="25400" rIns="25400" bIns="25400" rtlCol="0" anchor="t">
            <a:normAutofit/>
          </a:bodyPr>
          <a:lstStyle/>
          <a:p>
            <a:pPr marL="0" indent="0" algn="l">
              <a:buNone/>
            </a:pPr>
            <a:r>
              <a:rPr lang="en-US" sz="1800" dirty="0">
                <a:solidFill>
                  <a:srgbClr val="7A8290"/>
                </a:solidFill>
                <a:latin typeface="JetBrains Mono" pitchFamily="34" charset="0"/>
                <a:ea typeface="JetBrains Mono" pitchFamily="34" charset="-122"/>
                <a:cs typeface="JetBrains Mono" pitchFamily="34" charset="-120"/>
              </a:rPr>
              <a:t>Now</a:t>
            </a:r>
            <a:endParaRPr lang="en-US" sz="1800" dirty="0"/>
          </a:p>
        </p:txBody>
      </p:sp>
      <p:sp>
        <p:nvSpPr>
          <p:cNvPr id="7" name="Text 5"/>
          <p:cNvSpPr/>
          <p:nvPr/>
        </p:nvSpPr>
        <p:spPr>
          <a:xfrm>
            <a:off x="16997139" y="154781"/>
            <a:ext cx="1100361" cy="338138"/>
          </a:xfrm>
          <a:prstGeom prst="rect">
            <a:avLst/>
          </a:prstGeom>
          <a:noFill/>
          <a:ln w="9525"/>
        </p:spPr>
        <p:txBody>
          <a:bodyPr wrap="square" lIns="25400" tIns="25400" rIns="25400" bIns="25400" rtlCol="0" anchor="t">
            <a:normAutofit/>
          </a:bodyPr>
          <a:lstStyle/>
          <a:p>
            <a:pPr marL="0" indent="0" algn="l">
              <a:buNone/>
            </a:pPr>
            <a:r>
              <a:rPr lang="en-US" sz="1800" kern="0" spc="72" dirty="0">
                <a:solidFill>
                  <a:srgbClr val="7A8290"/>
                </a:solidFill>
                <a:latin typeface="JetBrains Mono" pitchFamily="34" charset="0"/>
                <a:ea typeface="JetBrains Mono" pitchFamily="34" charset="-122"/>
                <a:cs typeface="JetBrains Mono" pitchFamily="34" charset="-120"/>
              </a:rPr>
              <a:t>32/ 32</a:t>
            </a:r>
            <a:endParaRPr lang="en-US" sz="1800" dirty="0"/>
          </a:p>
        </p:txBody>
      </p:sp>
      <p:sp>
        <p:nvSpPr>
          <p:cNvPr id="9" name="Text 7"/>
          <p:cNvSpPr/>
          <p:nvPr/>
        </p:nvSpPr>
        <p:spPr>
          <a:xfrm>
            <a:off x="914400" y="1638300"/>
            <a:ext cx="8904559" cy="338138"/>
          </a:xfrm>
          <a:prstGeom prst="rect">
            <a:avLst/>
          </a:prstGeom>
          <a:noFill/>
          <a:ln w="9525"/>
        </p:spPr>
        <p:txBody>
          <a:bodyPr wrap="square" lIns="25400" tIns="25400" rIns="25400" bIns="25400" rtlCol="0" anchor="t">
            <a:normAutofit/>
          </a:bodyPr>
          <a:lstStyle/>
          <a:p>
            <a:pPr marL="0" indent="0" algn="l">
              <a:buNone/>
            </a:pPr>
            <a:r>
              <a:rPr lang="en-US" sz="1800" kern="0" spc="108" dirty="0">
                <a:solidFill>
                  <a:srgbClr val="7A8290"/>
                </a:solidFill>
                <a:latin typeface="JetBrains Mono" pitchFamily="34" charset="0"/>
                <a:ea typeface="JetBrains Mono" pitchFamily="34" charset="-122"/>
                <a:cs typeface="JetBrains Mono" pitchFamily="34" charset="-120"/>
              </a:rPr>
              <a:t>BEFORE YOU LEAVE</a:t>
            </a:r>
            <a:endParaRPr lang="en-US" sz="1800" dirty="0"/>
          </a:p>
        </p:txBody>
      </p:sp>
      <p:sp>
        <p:nvSpPr>
          <p:cNvPr id="10" name="Text 8"/>
          <p:cNvSpPr/>
          <p:nvPr/>
        </p:nvSpPr>
        <p:spPr>
          <a:xfrm>
            <a:off x="914400" y="2109788"/>
            <a:ext cx="7908302" cy="3376726"/>
          </a:xfrm>
          <a:prstGeom prst="rect">
            <a:avLst/>
          </a:prstGeom>
          <a:noFill/>
          <a:ln w="9525"/>
        </p:spPr>
        <p:txBody>
          <a:bodyPr wrap="square" lIns="25400" tIns="25400" rIns="25400" bIns="25400" rtlCol="0" anchor="t">
            <a:normAutofit/>
          </a:bodyPr>
          <a:lstStyle/>
          <a:p>
            <a:pPr marL="0" indent="0" algn="l">
              <a:lnSpc>
                <a:spcPct val="95000"/>
              </a:lnSpc>
              <a:buNone/>
            </a:pPr>
            <a:r>
              <a:rPr lang="en-US" sz="7200" b="1" kern="0" spc="-252" dirty="0">
                <a:solidFill>
                  <a:srgbClr val="0B0F19"/>
                </a:solidFill>
                <a:latin typeface="Space Grotesk" pitchFamily="34" charset="0"/>
                <a:ea typeface="Space Grotesk" pitchFamily="34" charset="-122"/>
                <a:cs typeface="Space Grotesk" pitchFamily="34" charset="-120"/>
              </a:rPr>
              <a:t>Form your team and name a real problem</a:t>
            </a:r>
            <a:endParaRPr lang="en-US" sz="7200" dirty="0"/>
          </a:p>
        </p:txBody>
      </p:sp>
      <p:sp>
        <p:nvSpPr>
          <p:cNvPr id="11" name="Text 9"/>
          <p:cNvSpPr/>
          <p:nvPr/>
        </p:nvSpPr>
        <p:spPr>
          <a:xfrm>
            <a:off x="914400" y="5780907"/>
            <a:ext cx="7908302" cy="2166232"/>
          </a:xfrm>
          <a:prstGeom prst="rect">
            <a:avLst/>
          </a:prstGeom>
          <a:noFill/>
          <a:ln w="9525"/>
        </p:spPr>
        <p:txBody>
          <a:bodyPr wrap="square" lIns="25400" tIns="25400" rIns="25400" bIns="25400" rtlCol="0" anchor="t"/>
          <a:lstStyle/>
          <a:p>
            <a:pPr marL="0" indent="0" algn="l">
              <a:lnSpc>
                <a:spcPct val="145000"/>
              </a:lnSpc>
              <a:buNone/>
            </a:pPr>
            <a:r>
              <a:rPr lang="en-US" sz="2400" dirty="0">
                <a:solidFill>
                  <a:srgbClr val="3A4250"/>
                </a:solidFill>
                <a:latin typeface="Space Grotesk" pitchFamily="34" charset="0"/>
                <a:ea typeface="Space Grotesk" pitchFamily="34" charset="-122"/>
                <a:cs typeface="Space Grotesk" pitchFamily="34" charset="-120"/>
              </a:rPr>
              <a:t>Get into groups of about five. Each person names one thing about student life that genuinely frustrates them — not a nice idea, a real irritation. Pick the one your team cares about most and write it as a single sentence: who has the problem, and why it matters. That sentence becomes your Team Charter, due next week</a:t>
            </a:r>
            <a:r>
              <a:rPr lang="en-US" sz="2800" dirty="0">
                <a:solidFill>
                  <a:srgbClr val="3A4250"/>
                </a:solidFill>
                <a:latin typeface="Space Grotesk" pitchFamily="34" charset="0"/>
                <a:ea typeface="Space Grotesk" pitchFamily="34" charset="-122"/>
                <a:cs typeface="Space Grotesk" pitchFamily="34" charset="-120"/>
              </a:rPr>
              <a:t>.</a:t>
            </a:r>
            <a:endParaRPr lang="en-US" sz="2800" kern="1200" dirty="0">
              <a:solidFill>
                <a:srgbClr val="3A4250"/>
              </a:solidFill>
              <a:latin typeface="Space Grotesk" pitchFamily="34" charset="0"/>
              <a:ea typeface="Space Grotesk" pitchFamily="34" charset="-122"/>
              <a:cs typeface="Space Grotesk" pitchFamily="34" charset="-120"/>
            </a:endParaRPr>
          </a:p>
        </p:txBody>
      </p:sp>
      <p:sp>
        <p:nvSpPr>
          <p:cNvPr id="20" name="Shape 18"/>
          <p:cNvSpPr/>
          <p:nvPr/>
        </p:nvSpPr>
        <p:spPr>
          <a:xfrm>
            <a:off x="10169203" y="3243376"/>
            <a:ext cx="7204397" cy="1076325"/>
          </a:xfrm>
          <a:prstGeom prst="roundRect">
            <a:avLst>
              <a:gd name="adj" fmla="val 50000"/>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1" name="Text 19"/>
          <p:cNvSpPr/>
          <p:nvPr/>
        </p:nvSpPr>
        <p:spPr>
          <a:xfrm>
            <a:off x="10378753" y="3414826"/>
            <a:ext cx="1981200" cy="771525"/>
          </a:xfrm>
          <a:prstGeom prst="rect">
            <a:avLst/>
          </a:prstGeom>
          <a:noFill/>
          <a:ln w="9525"/>
        </p:spPr>
        <p:txBody>
          <a:bodyPr wrap="square" lIns="25400" tIns="25400" rIns="25400" bIns="25400" rtlCol="0" anchor="ctr">
            <a:normAutofit/>
          </a:bodyPr>
          <a:lstStyle/>
          <a:p>
            <a:pPr marL="0" indent="0" algn="l">
              <a:buNone/>
            </a:pPr>
            <a:r>
              <a:rPr lang="en-US" sz="2250" dirty="0">
                <a:solidFill>
                  <a:srgbClr val="0B0F19"/>
                </a:solidFill>
                <a:latin typeface="Space Grotesk" pitchFamily="34" charset="0"/>
                <a:ea typeface="Space Grotesk" pitchFamily="34" charset="-122"/>
                <a:cs typeface="Space Grotesk" pitchFamily="34" charset="-120"/>
              </a:rPr>
              <a:t>Bring next week</a:t>
            </a:r>
            <a:endParaRPr lang="en-US" sz="2250" dirty="0"/>
          </a:p>
        </p:txBody>
      </p:sp>
      <p:sp>
        <p:nvSpPr>
          <p:cNvPr id="22" name="Shape 20"/>
          <p:cNvSpPr/>
          <p:nvPr/>
        </p:nvSpPr>
        <p:spPr>
          <a:xfrm>
            <a:off x="12550453" y="3483882"/>
            <a:ext cx="4613597" cy="595313"/>
          </a:xfrm>
          <a:prstGeom prst="roundRect">
            <a:avLst>
              <a:gd name="adj" fmla="val 50000"/>
            </a:avLst>
          </a:prstGeom>
          <a:solidFill>
            <a:srgbClr val="2D5BFF"/>
          </a:solidFill>
          <a:ln w="9525"/>
        </p:spPr>
        <p:txBody>
          <a:bodyPr/>
          <a:lstStyle/>
          <a:p>
            <a:endParaRPr lang="en-TH"/>
          </a:p>
        </p:txBody>
      </p:sp>
      <p:sp>
        <p:nvSpPr>
          <p:cNvPr id="23" name="Text 21"/>
          <p:cNvSpPr/>
          <p:nvPr/>
        </p:nvSpPr>
        <p:spPr>
          <a:xfrm>
            <a:off x="12779053" y="3617232"/>
            <a:ext cx="4294805" cy="366712"/>
          </a:xfrm>
          <a:prstGeom prst="rect">
            <a:avLst/>
          </a:prstGeom>
          <a:noFill/>
          <a:ln w="9525"/>
        </p:spPr>
        <p:txBody>
          <a:bodyPr wrap="square" lIns="25400" tIns="25400" rIns="25400" bIns="25400" rtlCol="0" anchor="t">
            <a:normAutofit/>
          </a:bodyPr>
          <a:lstStyle/>
          <a:p>
            <a:pPr marL="0" indent="0" algn="l">
              <a:buNone/>
            </a:pPr>
            <a:r>
              <a:rPr lang="en-US" sz="1950" dirty="0">
                <a:solidFill>
                  <a:srgbClr val="FFFFFF"/>
                </a:solidFill>
                <a:latin typeface="JetBrains Mono" pitchFamily="34" charset="0"/>
                <a:ea typeface="JetBrains Mono" pitchFamily="34" charset="-122"/>
                <a:cs typeface="JetBrains Mono" pitchFamily="34" charset="-120"/>
              </a:rPr>
              <a:t>A4 paper + a pen</a:t>
            </a:r>
            <a:endParaRPr lang="en-US" sz="1950" dirty="0"/>
          </a:p>
        </p:txBody>
      </p:sp>
      <p:sp>
        <p:nvSpPr>
          <p:cNvPr id="24" name="Shape 22"/>
          <p:cNvSpPr/>
          <p:nvPr/>
        </p:nvSpPr>
        <p:spPr>
          <a:xfrm>
            <a:off x="10169203" y="4548301"/>
            <a:ext cx="7204397" cy="938213"/>
          </a:xfrm>
          <a:prstGeom prst="roundRect">
            <a:avLst>
              <a:gd name="adj" fmla="val 50000"/>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5" name="Text 23"/>
          <p:cNvSpPr/>
          <p:nvPr/>
        </p:nvSpPr>
        <p:spPr>
          <a:xfrm>
            <a:off x="10378753" y="4834051"/>
            <a:ext cx="1981200" cy="404813"/>
          </a:xfrm>
          <a:prstGeom prst="rect">
            <a:avLst/>
          </a:prstGeom>
          <a:noFill/>
          <a:ln w="9525"/>
        </p:spPr>
        <p:txBody>
          <a:bodyPr wrap="square" lIns="25400" tIns="25400" rIns="25400" bIns="25400" rtlCol="0" anchor="t">
            <a:normAutofit/>
          </a:bodyPr>
          <a:lstStyle/>
          <a:p>
            <a:pPr marL="0" indent="0" algn="l">
              <a:buNone/>
            </a:pPr>
            <a:r>
              <a:rPr lang="en-US" sz="2250" dirty="0">
                <a:solidFill>
                  <a:srgbClr val="0B0F19"/>
                </a:solidFill>
                <a:latin typeface="Space Grotesk" pitchFamily="34" charset="0"/>
                <a:ea typeface="Space Grotesk" pitchFamily="34" charset="-122"/>
                <a:cs typeface="Space Grotesk" pitchFamily="34" charset="-120"/>
              </a:rPr>
              <a:t>Read before Ch2</a:t>
            </a:r>
            <a:endParaRPr lang="en-US" sz="2250" dirty="0"/>
          </a:p>
        </p:txBody>
      </p:sp>
      <p:sp>
        <p:nvSpPr>
          <p:cNvPr id="26" name="Shape 24"/>
          <p:cNvSpPr/>
          <p:nvPr/>
        </p:nvSpPr>
        <p:spPr>
          <a:xfrm>
            <a:off x="12550453" y="4719751"/>
            <a:ext cx="4613597" cy="595313"/>
          </a:xfrm>
          <a:prstGeom prst="roundRect">
            <a:avLst>
              <a:gd name="adj" fmla="val 50000"/>
            </a:avLst>
          </a:prstGeom>
          <a:solidFill>
            <a:srgbClr val="16B670"/>
          </a:solidFill>
          <a:ln w="9525"/>
        </p:spPr>
        <p:txBody>
          <a:bodyPr/>
          <a:lstStyle/>
          <a:p>
            <a:endParaRPr lang="en-TH"/>
          </a:p>
        </p:txBody>
      </p:sp>
      <p:sp>
        <p:nvSpPr>
          <p:cNvPr id="27" name="Text 25"/>
          <p:cNvSpPr/>
          <p:nvPr/>
        </p:nvSpPr>
        <p:spPr>
          <a:xfrm>
            <a:off x="12779053" y="4853101"/>
            <a:ext cx="4294805" cy="366712"/>
          </a:xfrm>
          <a:prstGeom prst="rect">
            <a:avLst/>
          </a:prstGeom>
          <a:noFill/>
          <a:ln w="9525"/>
        </p:spPr>
        <p:txBody>
          <a:bodyPr wrap="square" lIns="25400" tIns="25400" rIns="25400" bIns="25400" rtlCol="0" anchor="t">
            <a:normAutofit/>
          </a:bodyPr>
          <a:lstStyle/>
          <a:p>
            <a:pPr marL="0" indent="0" algn="l">
              <a:buNone/>
            </a:pPr>
            <a:r>
              <a:rPr lang="en-US" sz="1950" dirty="0">
                <a:solidFill>
                  <a:srgbClr val="FFFFFF"/>
                </a:solidFill>
                <a:latin typeface="JetBrains Mono" pitchFamily="34" charset="0"/>
                <a:ea typeface="JetBrains Mono" pitchFamily="34" charset="-122"/>
                <a:cs typeface="JetBrains Mono" pitchFamily="34" charset="-120"/>
              </a:rPr>
              <a:t>Sommerville chapter 1</a:t>
            </a:r>
            <a:endParaRPr lang="en-US" sz="1950" dirty="0"/>
          </a:p>
        </p:txBody>
      </p:sp>
      <p:sp>
        <p:nvSpPr>
          <p:cNvPr id="28" name="Shape 26"/>
          <p:cNvSpPr/>
          <p:nvPr/>
        </p:nvSpPr>
        <p:spPr>
          <a:xfrm>
            <a:off x="10169203" y="5715114"/>
            <a:ext cx="7204397" cy="938213"/>
          </a:xfrm>
          <a:prstGeom prst="roundRect">
            <a:avLst>
              <a:gd name="adj" fmla="val 50000"/>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29" name="Text 27"/>
          <p:cNvSpPr/>
          <p:nvPr/>
        </p:nvSpPr>
        <p:spPr>
          <a:xfrm>
            <a:off x="10378753" y="6000864"/>
            <a:ext cx="1981200" cy="404813"/>
          </a:xfrm>
          <a:prstGeom prst="rect">
            <a:avLst/>
          </a:prstGeom>
          <a:noFill/>
          <a:ln w="9525"/>
        </p:spPr>
        <p:txBody>
          <a:bodyPr wrap="square" lIns="25400" tIns="25400" rIns="25400" bIns="25400" rtlCol="0" anchor="t">
            <a:normAutofit fontScale="85000" lnSpcReduction="10000"/>
          </a:bodyPr>
          <a:lstStyle/>
          <a:p>
            <a:pPr marL="0" indent="0" algn="l">
              <a:buNone/>
            </a:pPr>
            <a:r>
              <a:rPr lang="en-US" sz="2250" dirty="0">
                <a:solidFill>
                  <a:srgbClr val="0B0F19"/>
                </a:solidFill>
                <a:latin typeface="Space Grotesk" pitchFamily="34" charset="0"/>
                <a:ea typeface="Space Grotesk" pitchFamily="34" charset="-122"/>
                <a:cs typeface="Space Grotesk" pitchFamily="34" charset="-120"/>
              </a:rPr>
              <a:t>Create an account</a:t>
            </a:r>
            <a:endParaRPr lang="en-US" sz="2250" dirty="0"/>
          </a:p>
        </p:txBody>
      </p:sp>
      <p:sp>
        <p:nvSpPr>
          <p:cNvPr id="30" name="Shape 28"/>
          <p:cNvSpPr/>
          <p:nvPr/>
        </p:nvSpPr>
        <p:spPr>
          <a:xfrm>
            <a:off x="12550453" y="5886564"/>
            <a:ext cx="4613597" cy="595313"/>
          </a:xfrm>
          <a:prstGeom prst="roundRect">
            <a:avLst>
              <a:gd name="adj" fmla="val 50000"/>
            </a:avLst>
          </a:prstGeom>
          <a:solidFill>
            <a:srgbClr val="FFC233"/>
          </a:solidFill>
          <a:ln w="9525"/>
        </p:spPr>
        <p:txBody>
          <a:bodyPr/>
          <a:lstStyle/>
          <a:p>
            <a:endParaRPr lang="en-TH"/>
          </a:p>
        </p:txBody>
      </p:sp>
      <p:sp>
        <p:nvSpPr>
          <p:cNvPr id="31" name="Text 29"/>
          <p:cNvSpPr/>
          <p:nvPr/>
        </p:nvSpPr>
        <p:spPr>
          <a:xfrm>
            <a:off x="12779053" y="6019914"/>
            <a:ext cx="4294805" cy="366712"/>
          </a:xfrm>
          <a:prstGeom prst="rect">
            <a:avLst/>
          </a:prstGeom>
          <a:noFill/>
          <a:ln w="9525"/>
        </p:spPr>
        <p:txBody>
          <a:bodyPr wrap="square" lIns="25400" tIns="25400" rIns="25400" bIns="25400" rtlCol="0" anchor="t">
            <a:normAutofit/>
          </a:bodyPr>
          <a:lstStyle/>
          <a:p>
            <a:pPr marL="0" indent="0" algn="l">
              <a:buNone/>
            </a:pPr>
            <a:r>
              <a:rPr lang="en-US" sz="1950" dirty="0">
                <a:solidFill>
                  <a:srgbClr val="0B0F19"/>
                </a:solidFill>
                <a:latin typeface="JetBrains Mono" pitchFamily="34" charset="0"/>
                <a:ea typeface="JetBrains Mono" pitchFamily="34" charset="-122"/>
                <a:cs typeface="JetBrains Mono" pitchFamily="34" charset="-120"/>
              </a:rPr>
              <a:t>github.com</a:t>
            </a:r>
            <a:endParaRPr lang="en-US" sz="1950" dirty="0"/>
          </a:p>
        </p:txBody>
      </p:sp>
      <p:sp>
        <p:nvSpPr>
          <p:cNvPr id="32" name="Shape 30"/>
          <p:cNvSpPr/>
          <p:nvPr/>
        </p:nvSpPr>
        <p:spPr>
          <a:xfrm>
            <a:off x="10169203" y="6881926"/>
            <a:ext cx="7204397" cy="938213"/>
          </a:xfrm>
          <a:prstGeom prst="roundRect">
            <a:avLst>
              <a:gd name="adj" fmla="val 50000"/>
            </a:avLst>
          </a:prstGeom>
          <a:solidFill>
            <a:srgbClr val="FFFFFF"/>
          </a:solidFill>
          <a:ln w="9525"/>
          <a:effectLst>
            <a:outerShdw blurRad="101600" dist="19050" dir="5400000" algn="bl" rotWithShape="0">
              <a:srgbClr val="0B0F19">
                <a:alpha val="4000"/>
              </a:srgbClr>
            </a:outerShdw>
          </a:effectLst>
        </p:spPr>
        <p:txBody>
          <a:bodyPr/>
          <a:lstStyle/>
          <a:p>
            <a:endParaRPr lang="en-TH"/>
          </a:p>
        </p:txBody>
      </p:sp>
      <p:sp>
        <p:nvSpPr>
          <p:cNvPr id="33" name="Text 31"/>
          <p:cNvSpPr/>
          <p:nvPr/>
        </p:nvSpPr>
        <p:spPr>
          <a:xfrm>
            <a:off x="10378753" y="7167676"/>
            <a:ext cx="1981200" cy="404813"/>
          </a:xfrm>
          <a:prstGeom prst="rect">
            <a:avLst/>
          </a:prstGeom>
          <a:noFill/>
          <a:ln w="9525"/>
        </p:spPr>
        <p:txBody>
          <a:bodyPr wrap="square" lIns="25400" tIns="25400" rIns="25400" bIns="25400" rtlCol="0" anchor="t">
            <a:normAutofit/>
          </a:bodyPr>
          <a:lstStyle/>
          <a:p>
            <a:pPr marL="0" indent="0" algn="l">
              <a:buNone/>
            </a:pPr>
            <a:r>
              <a:rPr lang="en-US" sz="2250" dirty="0">
                <a:solidFill>
                  <a:srgbClr val="0B0F19"/>
                </a:solidFill>
                <a:latin typeface="Space Grotesk" pitchFamily="34" charset="0"/>
                <a:ea typeface="Space Grotesk" pitchFamily="34" charset="-122"/>
                <a:cs typeface="Space Grotesk" pitchFamily="34" charset="-120"/>
              </a:rPr>
              <a:t>Next week</a:t>
            </a:r>
            <a:endParaRPr lang="en-US" sz="2250" dirty="0"/>
          </a:p>
        </p:txBody>
      </p:sp>
      <p:sp>
        <p:nvSpPr>
          <p:cNvPr id="34" name="Shape 32"/>
          <p:cNvSpPr/>
          <p:nvPr/>
        </p:nvSpPr>
        <p:spPr>
          <a:xfrm>
            <a:off x="12550453" y="7053376"/>
            <a:ext cx="4613597" cy="595313"/>
          </a:xfrm>
          <a:prstGeom prst="roundRect">
            <a:avLst>
              <a:gd name="adj" fmla="val 50000"/>
            </a:avLst>
          </a:prstGeom>
          <a:solidFill>
            <a:srgbClr val="FF5A47"/>
          </a:solidFill>
          <a:ln w="9525"/>
        </p:spPr>
        <p:txBody>
          <a:bodyPr/>
          <a:lstStyle/>
          <a:p>
            <a:endParaRPr lang="en-TH"/>
          </a:p>
        </p:txBody>
      </p:sp>
      <p:sp>
        <p:nvSpPr>
          <p:cNvPr id="35" name="Text 33"/>
          <p:cNvSpPr/>
          <p:nvPr/>
        </p:nvSpPr>
        <p:spPr>
          <a:xfrm>
            <a:off x="12779053" y="7186726"/>
            <a:ext cx="4294805" cy="366712"/>
          </a:xfrm>
          <a:prstGeom prst="rect">
            <a:avLst/>
          </a:prstGeom>
          <a:noFill/>
          <a:ln w="9525"/>
        </p:spPr>
        <p:txBody>
          <a:bodyPr wrap="square" lIns="25400" tIns="25400" rIns="25400" bIns="25400" rtlCol="0" anchor="t">
            <a:normAutofit/>
          </a:bodyPr>
          <a:lstStyle/>
          <a:p>
            <a:pPr marL="0" indent="0" algn="l">
              <a:buNone/>
            </a:pPr>
            <a:r>
              <a:rPr lang="en-US" sz="1950" dirty="0">
                <a:solidFill>
                  <a:srgbClr val="FFFFFF"/>
                </a:solidFill>
                <a:latin typeface="JetBrains Mono" pitchFamily="34" charset="0"/>
                <a:ea typeface="JetBrains Mono" pitchFamily="34" charset="-122"/>
                <a:cs typeface="JetBrains Mono" pitchFamily="34" charset="-120"/>
              </a:rPr>
              <a:t>Ch2 · Software processes</a:t>
            </a:r>
            <a:endParaRPr lang="en-US" sz="1950" dirty="0"/>
          </a:p>
        </p:txBody>
      </p:sp>
      <p:sp>
        <p:nvSpPr>
          <p:cNvPr id="8" name="Text 2">
            <a:extLst>
              <a:ext uri="{FF2B5EF4-FFF2-40B4-BE49-F238E27FC236}">
                <a16:creationId xmlns:a16="http://schemas.microsoft.com/office/drawing/2014/main" id="{9F3806B5-E226-EF91-419A-0E13B3323FA0}"/>
              </a:ext>
            </a:extLst>
          </p:cNvPr>
          <p:cNvSpPr/>
          <p:nvPr/>
        </p:nvSpPr>
        <p:spPr>
          <a:xfrm>
            <a:off x="266701" y="154783"/>
            <a:ext cx="213866" cy="338138"/>
          </a:xfrm>
          <a:prstGeom prst="rect">
            <a:avLst/>
          </a:prstGeom>
          <a:noFill/>
          <a:ln w="9525"/>
        </p:spPr>
        <p:txBody>
          <a:bodyPr wrap="square" lIns="25400" tIns="25400" rIns="25400" bIns="25400" rtlCol="0" anchor="t">
            <a:normAutofit/>
          </a:bodyPr>
          <a:lstStyle/>
          <a:p>
            <a:r>
              <a:rPr lang="en-US" b="1" dirty="0">
                <a:solidFill>
                  <a:srgbClr val="0B0F19"/>
                </a:solidFill>
                <a:latin typeface="JetBrains Mono" pitchFamily="34" charset="0"/>
                <a:ea typeface="JetBrains Mono" pitchFamily="34" charset="-122"/>
                <a:cs typeface="JetBrains Mono" pitchFamily="34" charset="-120"/>
              </a:rPr>
              <a:t>▶</a:t>
            </a:r>
            <a:endParaRPr lang="en-US" dirty="0"/>
          </a:p>
        </p:txBody>
      </p:sp>
      <p:sp>
        <p:nvSpPr>
          <p:cNvPr id="12" name="Text 3">
            <a:extLst>
              <a:ext uri="{FF2B5EF4-FFF2-40B4-BE49-F238E27FC236}">
                <a16:creationId xmlns:a16="http://schemas.microsoft.com/office/drawing/2014/main" id="{27CAF87C-5460-B696-16D3-CE3BF319EBBD}"/>
              </a:ext>
            </a:extLst>
          </p:cNvPr>
          <p:cNvSpPr/>
          <p:nvPr/>
        </p:nvSpPr>
        <p:spPr>
          <a:xfrm>
            <a:off x="728216" y="154783"/>
            <a:ext cx="3889733" cy="338138"/>
          </a:xfrm>
          <a:prstGeom prst="rect">
            <a:avLst/>
          </a:prstGeom>
          <a:noFill/>
          <a:ln w="9525"/>
        </p:spPr>
        <p:txBody>
          <a:bodyPr wrap="square" lIns="25400" tIns="25400" rIns="25400" bIns="25400" rtlCol="0" anchor="t">
            <a:normAutofit/>
          </a:bodyPr>
          <a:lstStyle/>
          <a:p>
            <a:r>
              <a:rPr lang="en-US" b="1" kern="0" spc="-18" dirty="0">
                <a:solidFill>
                  <a:srgbClr val="0B0F19"/>
                </a:solidFill>
                <a:latin typeface="JetBrains Mono" pitchFamily="34" charset="0"/>
                <a:ea typeface="JetBrains Mono" pitchFamily="34" charset="-122"/>
                <a:cs typeface="JetBrains Mono" pitchFamily="34" charset="-120"/>
              </a:rPr>
              <a:t>intro-to-se · week 01</a:t>
            </a:r>
          </a:p>
        </p:txBody>
      </p:sp>
    </p:spTree>
  </p:cSld>
  <p:clrMapOvr>
    <a:masterClrMapping/>
  </p:clrMapOvr>
</p:sld>
</file>

<file path=ppt/theme/theme1.xml><?xml version="1.0" encoding="utf-8"?>
<a:theme xmlns:a="http://schemas.openxmlformats.org/drawingml/2006/main" name="Scalable Design System Governance">
  <a:themeElements>
    <a:clrScheme name="Office">
      <a:dk1>
        <a:sysClr val="windowText" lastClr="000000"/>
      </a:dk1>
      <a:lt1>
        <a:sysClr val="window" lastClr="FFFFFF"/>
      </a:lt1>
      <a:dk2>
        <a:srgbClr val="44546A"/>
      </a:dk2>
      <a:lt2>
        <a:srgbClr val="E7E6E6"/>
      </a:lt2>
      <a:accent1>
        <a:srgbClr val="FFC233">
          <a:alpha val="100000"/>
        </a:srgbClr>
      </a:accent1>
      <a:accent2>
        <a:srgbClr val="FF5A47">
          <a:alpha val="100000"/>
        </a:srgbClr>
      </a:accent2>
      <a:accent3>
        <a:srgbClr val="16B670">
          <a:alpha val="100000"/>
        </a:srgbClr>
      </a:accent3>
      <a:accent4>
        <a:srgbClr val="2E5BFF">
          <a:alpha val="100000"/>
        </a:srgbClr>
      </a:accent4>
      <a:accent5>
        <a:srgbClr val="16B66F">
          <a:alpha val="100000"/>
        </a:srgbClr>
      </a:accent5>
      <a:accent6>
        <a:srgbClr val="70AD47"/>
      </a:accent6>
      <a:hlink>
        <a:srgbClr val="0563C1"/>
      </a:hlink>
      <a:folHlink>
        <a:srgbClr val="954F72"/>
      </a:folHlink>
    </a:clrScheme>
    <a:fontScheme name="Office">
      <a:majorFont>
        <a:latin typeface="Space Grotesk" panose="020F0302020204030204"/>
        <a:ea typeface="Noto Sans"/>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ace Grotesk" panose="020F0502020204030204"/>
        <a:ea typeface="Noto Sans"/>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Scalable Design System Governance">
  <a:themeElements>
    <a:clrScheme name="Office">
      <a:dk1>
        <a:sysClr val="windowText" lastClr="000000"/>
      </a:dk1>
      <a:lt1>
        <a:sysClr val="window" lastClr="FFFFFF"/>
      </a:lt1>
      <a:dk2>
        <a:srgbClr val="44546A"/>
      </a:dk2>
      <a:lt2>
        <a:srgbClr val="E7E6E6"/>
      </a:lt2>
      <a:accent1>
        <a:srgbClr val="FFC233">
          <a:alpha val="100000"/>
        </a:srgbClr>
      </a:accent1>
      <a:accent2>
        <a:srgbClr val="FF5A47">
          <a:alpha val="100000"/>
        </a:srgbClr>
      </a:accent2>
      <a:accent3>
        <a:srgbClr val="16B670">
          <a:alpha val="100000"/>
        </a:srgbClr>
      </a:accent3>
      <a:accent4>
        <a:srgbClr val="2E5BFF">
          <a:alpha val="100000"/>
        </a:srgbClr>
      </a:accent4>
      <a:accent5>
        <a:srgbClr val="16B66F">
          <a:alpha val="100000"/>
        </a:srgbClr>
      </a:accent5>
      <a:accent6>
        <a:srgbClr val="70AD47"/>
      </a:accent6>
      <a:hlink>
        <a:srgbClr val="0563C1"/>
      </a:hlink>
      <a:folHlink>
        <a:srgbClr val="954F72"/>
      </a:folHlink>
    </a:clrScheme>
    <a:fontScheme name="Office">
      <a:majorFont>
        <a:latin typeface="Space Grotesk" panose="020F0302020204030204"/>
        <a:ea typeface="Noto Sans"/>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ace Grotesk" panose="020F0502020204030204"/>
        <a:ea typeface="Noto Sans"/>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42A7BAD-D2F8-9549-BE64-A18D5C905AE4}">
  <we:reference id="wa200010725" version="1.0.0.1" store="en-US" storeType="OMEX"/>
  <we:alternateReferences>
    <we:reference id="WA200010725" version="1.0.0.1" store="WA200010725" storeType="OMEX"/>
  </we:alternateReferences>
  <we:properties>
    <we:property name="claude.fileId" value="&quot;1e2b3b9d-860d-4b22-a239-26650209cfe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19973</TotalTime>
  <Words>4500</Words>
  <Application>Microsoft Macintosh PowerPoint</Application>
  <PresentationFormat>Custom</PresentationFormat>
  <Paragraphs>664</Paragraphs>
  <Slides>32</Slides>
  <Notes>24</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Arimo</vt:lpstr>
      <vt:lpstr>Arimo Bold</vt:lpstr>
      <vt:lpstr>JetBrains Mono</vt:lpstr>
      <vt:lpstr>JetBrains Mono Bold</vt:lpstr>
      <vt:lpstr>Space Grotesk</vt:lpstr>
      <vt:lpstr>Scalable Design System Governance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Prasara Jakkaew</cp:lastModifiedBy>
  <cp:revision>27</cp:revision>
  <dcterms:modified xsi:type="dcterms:W3CDTF">2026-08-03T01:54:06Z</dcterms:modified>
</cp:coreProperties>
</file>